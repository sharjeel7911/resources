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tags/tag30.xml" ContentType="application/vnd.openxmlformats-officedocument.presentationml.tags+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3"/>
  </p:notesMasterIdLst>
  <p:sldIdLst>
    <p:sldId id="267" r:id="rId3"/>
    <p:sldId id="540" r:id="rId4"/>
    <p:sldId id="616" r:id="rId5"/>
    <p:sldId id="543" r:id="rId6"/>
    <p:sldId id="588" r:id="rId7"/>
    <p:sldId id="537" r:id="rId8"/>
    <p:sldId id="607" r:id="rId9"/>
    <p:sldId id="592" r:id="rId10"/>
    <p:sldId id="593" r:id="rId11"/>
    <p:sldId id="594" r:id="rId12"/>
    <p:sldId id="595" r:id="rId13"/>
    <p:sldId id="596" r:id="rId14"/>
    <p:sldId id="614" r:id="rId15"/>
    <p:sldId id="623" r:id="rId16"/>
    <p:sldId id="615" r:id="rId17"/>
    <p:sldId id="617" r:id="rId18"/>
    <p:sldId id="632" r:id="rId19"/>
    <p:sldId id="633" r:id="rId20"/>
    <p:sldId id="634" r:id="rId21"/>
    <p:sldId id="628" r:id="rId22"/>
    <p:sldId id="629" r:id="rId23"/>
    <p:sldId id="630" r:id="rId24"/>
    <p:sldId id="631" r:id="rId25"/>
    <p:sldId id="618" r:id="rId26"/>
    <p:sldId id="619" r:id="rId27"/>
    <p:sldId id="466" r:id="rId28"/>
    <p:sldId id="626" r:id="rId29"/>
    <p:sldId id="627" r:id="rId30"/>
    <p:sldId id="620" r:id="rId31"/>
    <p:sldId id="597" r:id="rId32"/>
    <p:sldId id="622" r:id="rId33"/>
    <p:sldId id="546" r:id="rId34"/>
    <p:sldId id="621" r:id="rId35"/>
    <p:sldId id="635" r:id="rId36"/>
    <p:sldId id="636" r:id="rId37"/>
    <p:sldId id="637" r:id="rId38"/>
    <p:sldId id="638" r:id="rId39"/>
    <p:sldId id="639" r:id="rId40"/>
    <p:sldId id="640" r:id="rId41"/>
    <p:sldId id="64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7028" autoAdjust="0"/>
  </p:normalViewPr>
  <p:slideViewPr>
    <p:cSldViewPr snapToGrid="0">
      <p:cViewPr varScale="1">
        <p:scale>
          <a:sx n="65" d="100"/>
          <a:sy n="65" d="100"/>
        </p:scale>
        <p:origin x="72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D37C5E1E-F139-4332-ADB1-E8D22FE39AFF}"/>
    <pc:docChg chg="modSld">
      <pc:chgData name="Hasan Jamal" userId="6724a5da2ffd1b8f" providerId="LiveId" clId="{D37C5E1E-F139-4332-ADB1-E8D22FE39AFF}" dt="2024-09-02T06:59:50.959" v="11"/>
      <pc:docMkLst>
        <pc:docMk/>
      </pc:docMkLst>
      <pc:sldChg chg="modAnim">
        <pc:chgData name="Hasan Jamal" userId="6724a5da2ffd1b8f" providerId="LiveId" clId="{D37C5E1E-F139-4332-ADB1-E8D22FE39AFF}" dt="2024-09-02T06:58:36.842" v="4"/>
        <pc:sldMkLst>
          <pc:docMk/>
          <pc:sldMk cId="1191552048" sldId="540"/>
        </pc:sldMkLst>
      </pc:sldChg>
      <pc:sldChg chg="modAnim">
        <pc:chgData name="Hasan Jamal" userId="6724a5da2ffd1b8f" providerId="LiveId" clId="{D37C5E1E-F139-4332-ADB1-E8D22FE39AFF}" dt="2024-09-02T06:59:08.128" v="7"/>
        <pc:sldMkLst>
          <pc:docMk/>
          <pc:sldMk cId="3673589650" sldId="543"/>
        </pc:sldMkLst>
      </pc:sldChg>
      <pc:sldChg chg="modAnim">
        <pc:chgData name="Hasan Jamal" userId="6724a5da2ffd1b8f" providerId="LiveId" clId="{D37C5E1E-F139-4332-ADB1-E8D22FE39AFF}" dt="2024-09-02T06:59:50.959" v="11"/>
        <pc:sldMkLst>
          <pc:docMk/>
          <pc:sldMk cId="4292783830" sldId="588"/>
        </pc:sldMkLst>
      </pc:sldChg>
    </pc:docChg>
  </pc:docChgLst>
  <pc:docChgLst>
    <pc:chgData name="Hasan Jamal" userId="6724a5da2ffd1b8f" providerId="LiveId" clId="{61E96D26-1B3F-4662-B905-3FCAE3ADD352}"/>
    <pc:docChg chg="modSld">
      <pc:chgData name="Hasan Jamal" userId="6724a5da2ffd1b8f" providerId="LiveId" clId="{61E96D26-1B3F-4662-B905-3FCAE3ADD352}" dt="2024-09-16T03:20:22.719" v="0" actId="20577"/>
      <pc:docMkLst>
        <pc:docMk/>
      </pc:docMkLst>
      <pc:sldChg chg="modSp mod">
        <pc:chgData name="Hasan Jamal" userId="6724a5da2ffd1b8f" providerId="LiveId" clId="{61E96D26-1B3F-4662-B905-3FCAE3ADD352}" dt="2024-09-16T03:20:22.719" v="0" actId="20577"/>
        <pc:sldMkLst>
          <pc:docMk/>
          <pc:sldMk cId="1206700031" sldId="592"/>
        </pc:sldMkLst>
        <pc:spChg chg="mod">
          <ac:chgData name="Hasan Jamal" userId="6724a5da2ffd1b8f" providerId="LiveId" clId="{61E96D26-1B3F-4662-B905-3FCAE3ADD352}" dt="2024-09-16T03:20:22.719" v="0" actId="20577"/>
          <ac:spMkLst>
            <pc:docMk/>
            <pc:sldMk cId="1206700031" sldId="592"/>
            <ac:spMk id="12" creationId="{A773B303-CEA4-39FE-8190-A77ECCC638B8}"/>
          </ac:spMkLst>
        </pc:spChg>
      </pc:sldChg>
    </pc:docChg>
  </pc:docChgLst>
  <pc:docChgLst>
    <pc:chgData name="Hasan Jamal" userId="6724a5da2ffd1b8f" providerId="LiveId" clId="{57CB2F9D-511D-47A3-97AB-7DD5A4D88522}"/>
    <pc:docChg chg="modSld">
      <pc:chgData name="Hasan Jamal" userId="6724a5da2ffd1b8f" providerId="LiveId" clId="{57CB2F9D-511D-47A3-97AB-7DD5A4D88522}" dt="2022-09-15T03:29:34.839" v="12" actId="20577"/>
      <pc:docMkLst>
        <pc:docMk/>
      </pc:docMkLst>
      <pc:sldChg chg="modSp mod">
        <pc:chgData name="Hasan Jamal" userId="6724a5da2ffd1b8f" providerId="LiveId" clId="{57CB2F9D-511D-47A3-97AB-7DD5A4D88522}" dt="2022-09-15T03:29:34.839" v="12" actId="20577"/>
        <pc:sldMkLst>
          <pc:docMk/>
          <pc:sldMk cId="4276505344" sldId="513"/>
        </pc:sldMkLst>
        <pc:spChg chg="mod">
          <ac:chgData name="Hasan Jamal" userId="6724a5da2ffd1b8f" providerId="LiveId" clId="{57CB2F9D-511D-47A3-97AB-7DD5A4D88522}" dt="2022-09-15T03:29:34.839" v="12" actId="20577"/>
          <ac:spMkLst>
            <pc:docMk/>
            <pc:sldMk cId="4276505344" sldId="513"/>
            <ac:spMk id="3075" creationId="{00000000-0000-0000-0000-000000000000}"/>
          </ac:spMkLst>
        </pc:spChg>
      </pc:sldChg>
      <pc:sldChg chg="modSp mod">
        <pc:chgData name="Hasan Jamal" userId="6724a5da2ffd1b8f" providerId="LiveId" clId="{57CB2F9D-511D-47A3-97AB-7DD5A4D88522}" dt="2022-02-25T04:18:49.826" v="6" actId="113"/>
        <pc:sldMkLst>
          <pc:docMk/>
          <pc:sldMk cId="4101798262" sldId="516"/>
        </pc:sldMkLst>
        <pc:spChg chg="mod">
          <ac:chgData name="Hasan Jamal" userId="6724a5da2ffd1b8f" providerId="LiveId" clId="{57CB2F9D-511D-47A3-97AB-7DD5A4D88522}" dt="2022-02-25T04:18:49.826" v="6" actId="113"/>
          <ac:spMkLst>
            <pc:docMk/>
            <pc:sldMk cId="4101798262" sldId="516"/>
            <ac:spMk id="3075" creationId="{00000000-0000-0000-0000-000000000000}"/>
          </ac:spMkLst>
        </pc:spChg>
      </pc:sldChg>
      <pc:sldChg chg="modNotesTx">
        <pc:chgData name="Hasan Jamal" userId="6724a5da2ffd1b8f" providerId="LiveId" clId="{57CB2F9D-511D-47A3-97AB-7DD5A4D88522}" dt="2022-02-23T10:00:06.570" v="3" actId="20577"/>
        <pc:sldMkLst>
          <pc:docMk/>
          <pc:sldMk cId="1619668140" sldId="523"/>
        </pc:sldMkLst>
      </pc:sldChg>
    </pc:docChg>
  </pc:docChgLst>
  <pc:docChgLst>
    <pc:chgData name="Hasan Jamal" userId="6724a5da2ffd1b8f" providerId="LiveId" clId="{96E91301-8390-499D-83BE-49190A5B0140}"/>
    <pc:docChg chg="modSld">
      <pc:chgData name="Hasan Jamal" userId="6724a5da2ffd1b8f" providerId="LiveId" clId="{96E91301-8390-499D-83BE-49190A5B0140}" dt="2020-06-20T13:15:35.684" v="1"/>
      <pc:docMkLst>
        <pc:docMk/>
      </pc:docMkLst>
      <pc:sldChg chg="modTransition">
        <pc:chgData name="Hasan Jamal" userId="6724a5da2ffd1b8f" providerId="LiveId" clId="{96E91301-8390-499D-83BE-49190A5B0140}" dt="2020-06-20T13:15:35.684" v="1"/>
        <pc:sldMkLst>
          <pc:docMk/>
          <pc:sldMk cId="1423990881" sldId="267"/>
        </pc:sldMkLst>
      </pc:sldChg>
      <pc:sldChg chg="modTransition">
        <pc:chgData name="Hasan Jamal" userId="6724a5da2ffd1b8f" providerId="LiveId" clId="{96E91301-8390-499D-83BE-49190A5B0140}" dt="2020-06-20T13:15:35.684" v="1"/>
        <pc:sldMkLst>
          <pc:docMk/>
          <pc:sldMk cId="578419612" sldId="270"/>
        </pc:sldMkLst>
      </pc:sldChg>
      <pc:sldChg chg="modTransition">
        <pc:chgData name="Hasan Jamal" userId="6724a5da2ffd1b8f" providerId="LiveId" clId="{96E91301-8390-499D-83BE-49190A5B0140}" dt="2020-06-20T13:15:35.684" v="1"/>
        <pc:sldMkLst>
          <pc:docMk/>
          <pc:sldMk cId="1495268929" sldId="274"/>
        </pc:sldMkLst>
      </pc:sldChg>
      <pc:sldChg chg="modTransition">
        <pc:chgData name="Hasan Jamal" userId="6724a5da2ffd1b8f" providerId="LiveId" clId="{96E91301-8390-499D-83BE-49190A5B0140}" dt="2020-06-20T13:15:35.684" v="1"/>
        <pc:sldMkLst>
          <pc:docMk/>
          <pc:sldMk cId="2742951823" sldId="346"/>
        </pc:sldMkLst>
      </pc:sldChg>
      <pc:sldChg chg="modTransition">
        <pc:chgData name="Hasan Jamal" userId="6724a5da2ffd1b8f" providerId="LiveId" clId="{96E91301-8390-499D-83BE-49190A5B0140}" dt="2020-06-20T13:15:35.684" v="1"/>
        <pc:sldMkLst>
          <pc:docMk/>
          <pc:sldMk cId="3076239252" sldId="457"/>
        </pc:sldMkLst>
      </pc:sldChg>
      <pc:sldChg chg="modTransition">
        <pc:chgData name="Hasan Jamal" userId="6724a5da2ffd1b8f" providerId="LiveId" clId="{96E91301-8390-499D-83BE-49190A5B0140}" dt="2020-06-20T13:15:35.684" v="1"/>
        <pc:sldMkLst>
          <pc:docMk/>
          <pc:sldMk cId="3748594262" sldId="458"/>
        </pc:sldMkLst>
      </pc:sldChg>
      <pc:sldChg chg="modTransition">
        <pc:chgData name="Hasan Jamal" userId="6724a5da2ffd1b8f" providerId="LiveId" clId="{96E91301-8390-499D-83BE-49190A5B0140}" dt="2020-06-20T13:15:35.684" v="1"/>
        <pc:sldMkLst>
          <pc:docMk/>
          <pc:sldMk cId="616506392" sldId="459"/>
        </pc:sldMkLst>
      </pc:sldChg>
      <pc:sldChg chg="modTransition">
        <pc:chgData name="Hasan Jamal" userId="6724a5da2ffd1b8f" providerId="LiveId" clId="{96E91301-8390-499D-83BE-49190A5B0140}" dt="2020-06-20T13:15:35.684" v="1"/>
        <pc:sldMkLst>
          <pc:docMk/>
          <pc:sldMk cId="2854303941" sldId="461"/>
        </pc:sldMkLst>
      </pc:sldChg>
      <pc:sldChg chg="modTransition">
        <pc:chgData name="Hasan Jamal" userId="6724a5da2ffd1b8f" providerId="LiveId" clId="{96E91301-8390-499D-83BE-49190A5B0140}" dt="2020-06-20T13:15:35.684" v="1"/>
        <pc:sldMkLst>
          <pc:docMk/>
          <pc:sldMk cId="3095468980" sldId="466"/>
        </pc:sldMkLst>
      </pc:sldChg>
      <pc:sldChg chg="modTransition">
        <pc:chgData name="Hasan Jamal" userId="6724a5da2ffd1b8f" providerId="LiveId" clId="{96E91301-8390-499D-83BE-49190A5B0140}" dt="2020-06-20T13:15:35.684" v="1"/>
        <pc:sldMkLst>
          <pc:docMk/>
          <pc:sldMk cId="2501283379" sldId="467"/>
        </pc:sldMkLst>
      </pc:sldChg>
      <pc:sldChg chg="modTransition">
        <pc:chgData name="Hasan Jamal" userId="6724a5da2ffd1b8f" providerId="LiveId" clId="{96E91301-8390-499D-83BE-49190A5B0140}" dt="2020-06-20T13:15:35.684" v="1"/>
        <pc:sldMkLst>
          <pc:docMk/>
          <pc:sldMk cId="2088484385" sldId="468"/>
        </pc:sldMkLst>
      </pc:sldChg>
      <pc:sldChg chg="modTransition">
        <pc:chgData name="Hasan Jamal" userId="6724a5da2ffd1b8f" providerId="LiveId" clId="{96E91301-8390-499D-83BE-49190A5B0140}" dt="2020-06-20T13:15:35.684" v="1"/>
        <pc:sldMkLst>
          <pc:docMk/>
          <pc:sldMk cId="2487066325" sldId="469"/>
        </pc:sldMkLst>
      </pc:sldChg>
      <pc:sldChg chg="modTransition">
        <pc:chgData name="Hasan Jamal" userId="6724a5da2ffd1b8f" providerId="LiveId" clId="{96E91301-8390-499D-83BE-49190A5B0140}" dt="2020-06-20T13:15:35.684" v="1"/>
        <pc:sldMkLst>
          <pc:docMk/>
          <pc:sldMk cId="1595765672" sldId="470"/>
        </pc:sldMkLst>
      </pc:sldChg>
      <pc:sldChg chg="modTransition">
        <pc:chgData name="Hasan Jamal" userId="6724a5da2ffd1b8f" providerId="LiveId" clId="{96E91301-8390-499D-83BE-49190A5B0140}" dt="2020-06-20T13:15:35.684" v="1"/>
        <pc:sldMkLst>
          <pc:docMk/>
          <pc:sldMk cId="2723844874" sldId="471"/>
        </pc:sldMkLst>
      </pc:sldChg>
      <pc:sldChg chg="modTransition">
        <pc:chgData name="Hasan Jamal" userId="6724a5da2ffd1b8f" providerId="LiveId" clId="{96E91301-8390-499D-83BE-49190A5B0140}" dt="2020-06-20T13:15:35.684" v="1"/>
        <pc:sldMkLst>
          <pc:docMk/>
          <pc:sldMk cId="391945698" sldId="475"/>
        </pc:sldMkLst>
      </pc:sldChg>
      <pc:sldChg chg="modTransition">
        <pc:chgData name="Hasan Jamal" userId="6724a5da2ffd1b8f" providerId="LiveId" clId="{96E91301-8390-499D-83BE-49190A5B0140}" dt="2020-06-20T13:15:35.684" v="1"/>
        <pc:sldMkLst>
          <pc:docMk/>
          <pc:sldMk cId="481662566" sldId="476"/>
        </pc:sldMkLst>
      </pc:sldChg>
      <pc:sldChg chg="modTransition">
        <pc:chgData name="Hasan Jamal" userId="6724a5da2ffd1b8f" providerId="LiveId" clId="{96E91301-8390-499D-83BE-49190A5B0140}" dt="2020-06-20T13:15:35.684" v="1"/>
        <pc:sldMkLst>
          <pc:docMk/>
          <pc:sldMk cId="376348559" sldId="4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8/21/2025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30</a:t>
            </a:fld>
            <a:endParaRPr lang="en-US"/>
          </a:p>
        </p:txBody>
      </p:sp>
    </p:spTree>
    <p:extLst>
      <p:ext uri="{BB962C8B-B14F-4D97-AF65-F5344CB8AC3E}">
        <p14:creationId xmlns:p14="http://schemas.microsoft.com/office/powerpoint/2010/main" val="1238229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31</a:t>
            </a:fld>
            <a:endParaRPr lang="en-US"/>
          </a:p>
        </p:txBody>
      </p:sp>
    </p:spTree>
    <p:extLst>
      <p:ext uri="{BB962C8B-B14F-4D97-AF65-F5344CB8AC3E}">
        <p14:creationId xmlns:p14="http://schemas.microsoft.com/office/powerpoint/2010/main" val="2129955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0CC6-EB59-4447-80BA-9D36C629B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D14A-F511-49B0-A91B-978DAEFBB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739A08-9A7A-49DA-A39B-B0EF1A4801F7}"/>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5" name="Footer Placeholder 4">
            <a:extLst>
              <a:ext uri="{FF2B5EF4-FFF2-40B4-BE49-F238E27FC236}">
                <a16:creationId xmlns:a16="http://schemas.microsoft.com/office/drawing/2014/main" id="{4BAD8D3A-B881-4BC9-A537-ECB468F7F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F4CF0-1776-4F65-BCA7-0F303DF3D42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07157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02DE-303C-4D87-8E77-879FBE1195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B6C54D-48BB-467E-8103-DFE5F6DCED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DAA13-6920-4BB8-A1F1-3A13242790AB}"/>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5" name="Footer Placeholder 4">
            <a:extLst>
              <a:ext uri="{FF2B5EF4-FFF2-40B4-BE49-F238E27FC236}">
                <a16:creationId xmlns:a16="http://schemas.microsoft.com/office/drawing/2014/main" id="{2663360B-5BAB-41D8-A02D-7C1BAB8C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2317C-2498-4AED-8B51-357F03DCA24C}"/>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407313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3ADF-891D-4A12-83B5-454FF556A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492D1F-5588-4349-97C5-EB30CD88E5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24B3D-6B89-4416-A6EB-152D8D49D5E5}"/>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5" name="Footer Placeholder 4">
            <a:extLst>
              <a:ext uri="{FF2B5EF4-FFF2-40B4-BE49-F238E27FC236}">
                <a16:creationId xmlns:a16="http://schemas.microsoft.com/office/drawing/2014/main" id="{C11B9C78-BA9A-479E-A3FF-695287295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8EE37-7497-4B13-94F5-9E33310DD2CF}"/>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11105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8959-A7A6-4D39-AA8B-57C72F6B1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E0084-43D6-45E5-B2FB-83FB50E504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317EC-AA9D-4624-8395-48D0AE97ED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28D681-CD5B-4D0F-A2B0-BF8B8AD77FA8}"/>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6" name="Footer Placeholder 5">
            <a:extLst>
              <a:ext uri="{FF2B5EF4-FFF2-40B4-BE49-F238E27FC236}">
                <a16:creationId xmlns:a16="http://schemas.microsoft.com/office/drawing/2014/main" id="{A8C1E102-0CFC-4C99-8794-DDB15502C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0784B-2F5A-4BD4-9EBE-85512D8646BE}"/>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2050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3181-2412-4949-91A3-23CBDDDBC9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C8FC4-D6CA-4D00-B86A-7336B6E1C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D6D8B-7024-4E37-B53E-016331394C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1DB30-80A3-4DC3-9806-9202A76140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97761-D7C3-42D3-803A-AAC22024F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11AC6-D32A-4EAD-B726-5AE67DFFC05A}"/>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8" name="Footer Placeholder 7">
            <a:extLst>
              <a:ext uri="{FF2B5EF4-FFF2-40B4-BE49-F238E27FC236}">
                <a16:creationId xmlns:a16="http://schemas.microsoft.com/office/drawing/2014/main" id="{3E8607F5-A7FB-40DA-A637-507CECE2A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8571F-5213-44AD-9B39-829F876219D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58411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889-5B79-497C-9736-E9B7A36D06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35B599-D225-4693-9E55-C140F796D09F}"/>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4" name="Footer Placeholder 3">
            <a:extLst>
              <a:ext uri="{FF2B5EF4-FFF2-40B4-BE49-F238E27FC236}">
                <a16:creationId xmlns:a16="http://schemas.microsoft.com/office/drawing/2014/main" id="{055B06CB-70EA-4710-B4B5-59BF2C6247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1CA16-87D7-4A9A-93EE-A252B69E1A12}"/>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294881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141D3-43C6-40C7-A4DB-9BFB3972D39D}"/>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3" name="Footer Placeholder 2">
            <a:extLst>
              <a:ext uri="{FF2B5EF4-FFF2-40B4-BE49-F238E27FC236}">
                <a16:creationId xmlns:a16="http://schemas.microsoft.com/office/drawing/2014/main" id="{20B73F51-C531-4416-9A10-50D5280BF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032B0-273E-4169-9640-156E7D4EA44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669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39EF-1141-43EF-9A25-60CEC3698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A0430-0CCC-4FD2-905C-27F04B93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F68AE7-6F69-4589-A8AF-F2B8927E8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577C-944C-412C-8F52-FFFC45A36846}"/>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6" name="Footer Placeholder 5">
            <a:extLst>
              <a:ext uri="{FF2B5EF4-FFF2-40B4-BE49-F238E27FC236}">
                <a16:creationId xmlns:a16="http://schemas.microsoft.com/office/drawing/2014/main" id="{B4F4FD3B-027E-4C74-964C-C3F64FBB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FEB46-4620-4847-8F68-DB3BB84CBCCA}"/>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46127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19B-EBB5-4FBC-99F6-CD60929B5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6A3050-1640-44D7-B8B2-7F5BC0F2C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7D1C82-DEC0-4624-8D52-79B7F25C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A048C-F343-4D60-96F0-B2859B510C95}"/>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6" name="Footer Placeholder 5">
            <a:extLst>
              <a:ext uri="{FF2B5EF4-FFF2-40B4-BE49-F238E27FC236}">
                <a16:creationId xmlns:a16="http://schemas.microsoft.com/office/drawing/2014/main" id="{22788895-9B51-4541-AAB2-BF16ED7D0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53C80-6CDB-486A-B8CF-AAD127321023}"/>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6327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D555-ABD7-4161-B06F-FCD3143D9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95C10-FF95-4025-B207-9881A1646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42DD-D420-4BAE-A427-F815A4F37271}"/>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5" name="Footer Placeholder 4">
            <a:extLst>
              <a:ext uri="{FF2B5EF4-FFF2-40B4-BE49-F238E27FC236}">
                <a16:creationId xmlns:a16="http://schemas.microsoft.com/office/drawing/2014/main" id="{F551F7B7-D2EB-4517-9D60-26A66FF0E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20148-FE35-475E-9068-7641710E2E47}"/>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80883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4761-8A33-482D-B4B2-18B2A8F89E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B816EB-AB8E-47C2-9A3E-33DE4D4F8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40179-C5D2-4148-BAA2-30F72348BCE2}"/>
              </a:ext>
            </a:extLst>
          </p:cNvPr>
          <p:cNvSpPr>
            <a:spLocks noGrp="1"/>
          </p:cNvSpPr>
          <p:nvPr>
            <p:ph type="dt" sz="half" idx="10"/>
          </p:nvPr>
        </p:nvSpPr>
        <p:spPr/>
        <p:txBody>
          <a:bodyPr/>
          <a:lstStyle/>
          <a:p>
            <a:fld id="{D2DF8B72-9C19-4DBD-8F3B-D049130D4969}" type="datetimeFigureOut">
              <a:rPr lang="en-US" smtClean="0"/>
              <a:t>8/21/2025</a:t>
            </a:fld>
            <a:endParaRPr lang="en-US"/>
          </a:p>
        </p:txBody>
      </p:sp>
      <p:sp>
        <p:nvSpPr>
          <p:cNvPr id="5" name="Footer Placeholder 4">
            <a:extLst>
              <a:ext uri="{FF2B5EF4-FFF2-40B4-BE49-F238E27FC236}">
                <a16:creationId xmlns:a16="http://schemas.microsoft.com/office/drawing/2014/main" id="{31A0BD9F-3BB0-4D0E-9EBA-8CC5FDF82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69872-32D9-46E9-AB85-0ABCDEE88AE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83686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B5029-5875-48B9-9C22-38D785FCE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0B3BA-C511-4FC7-AA99-072F757CF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00382-92E4-4D10-875A-89C34EF30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F8B72-9C19-4DBD-8F3B-D049130D4969}" type="datetimeFigureOut">
              <a:rPr lang="en-US" smtClean="0"/>
              <a:t>8/21/2025</a:t>
            </a:fld>
            <a:endParaRPr lang="en-US"/>
          </a:p>
        </p:txBody>
      </p:sp>
      <p:sp>
        <p:nvSpPr>
          <p:cNvPr id="5" name="Footer Placeholder 4">
            <a:extLst>
              <a:ext uri="{FF2B5EF4-FFF2-40B4-BE49-F238E27FC236}">
                <a16:creationId xmlns:a16="http://schemas.microsoft.com/office/drawing/2014/main" id="{29CD864E-90F0-4014-8C2D-CE853EFCB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062C12-0EAF-4F9E-BB1B-EED572C6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366AE-5A89-45B7-9EA8-7C0EFF44206E}" type="slidenum">
              <a:rPr lang="en-US" smtClean="0"/>
              <a:t>‹#›</a:t>
            </a:fld>
            <a:endParaRPr lang="en-US"/>
          </a:p>
        </p:txBody>
      </p:sp>
    </p:spTree>
    <p:extLst>
      <p:ext uri="{BB962C8B-B14F-4D97-AF65-F5344CB8AC3E}">
        <p14:creationId xmlns:p14="http://schemas.microsoft.com/office/powerpoint/2010/main" val="9752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30.xml"/><Relationship Id="rId4" Type="http://schemas.openxmlformats.org/officeDocument/2006/relationships/image" Target="../media/image13.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13.xml"/><Relationship Id="rId1" Type="http://schemas.openxmlformats.org/officeDocument/2006/relationships/tags" Target="../tags/tag3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323 – Principles of Operating Systems</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Ms. </a:t>
            </a:r>
            <a:r>
              <a:rPr lang="en-US" sz="2800" b="1" spc="-100">
                <a:solidFill>
                  <a:srgbClr val="675E47"/>
                </a:solidFill>
                <a:latin typeface="Cambria"/>
              </a:rPr>
              <a:t>Mamoona Tasadduq</a:t>
            </a:r>
            <a:endParaRPr lang="en-US" sz="2800" b="1" spc="-100" dirty="0">
              <a:solidFill>
                <a:srgbClr val="675E47"/>
              </a:solidFill>
              <a:latin typeface="Cambria"/>
            </a:endParaRPr>
          </a:p>
          <a:p>
            <a:pPr algn="ctr">
              <a:buClr>
                <a:srgbClr val="A9A57C"/>
              </a:buClr>
            </a:pPr>
            <a:r>
              <a:rPr lang="en-US" sz="2800" b="1" spc="-100" dirty="0">
                <a:solidFill>
                  <a:srgbClr val="675E47"/>
                </a:solidFill>
                <a:latin typeface="Cambria"/>
              </a:rPr>
              <a:t>Lecture# 02: Operating System Structure and Services </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072EEAA-6E8C-3C8E-B4F4-58EE52BE48EE}"/>
              </a:ext>
            </a:extLst>
          </p:cNvPr>
          <p:cNvCxnSpPr/>
          <p:nvPr/>
        </p:nvCxnSpPr>
        <p:spPr bwMode="auto">
          <a:xfrm>
            <a:off x="2354655" y="3601270"/>
            <a:ext cx="7620000" cy="0"/>
          </a:xfrm>
          <a:prstGeom prst="line">
            <a:avLst/>
          </a:prstGeom>
          <a:solidFill>
            <a:schemeClr val="accent1"/>
          </a:solidFill>
          <a:ln w="28575" cap="flat" cmpd="sng" algn="ctr">
            <a:solidFill>
              <a:schemeClr val="tx1"/>
            </a:solidFill>
            <a:prstDash val="dash"/>
            <a:round/>
            <a:headEnd type="none" w="med" len="med"/>
            <a:tailEnd type="none" w="med" len="med"/>
          </a:ln>
          <a:effectLst/>
        </p:spPr>
      </p:cxnSp>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Typical Operating System Structure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2" name="TextBox 1"/>
          <p:cNvSpPr txBox="1"/>
          <p:nvPr/>
        </p:nvSpPr>
        <p:spPr>
          <a:xfrm>
            <a:off x="4059762" y="2086711"/>
            <a:ext cx="2971800" cy="1015663"/>
          </a:xfrm>
          <a:prstGeom prst="rect">
            <a:avLst/>
          </a:prstGeom>
          <a:solidFill>
            <a:srgbClr val="92D050"/>
          </a:solidFill>
          <a:ln w="19050">
            <a:solidFill>
              <a:schemeClr val="tx1"/>
            </a:solidFill>
          </a:ln>
        </p:spPr>
        <p:txBody>
          <a:bodyPr wrap="square" rtlCol="0">
            <a:spAutoFit/>
          </a:bodyPr>
          <a:lstStyle/>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Applications</a:t>
            </a:r>
          </a:p>
          <a:p>
            <a:pPr algn="ctr"/>
            <a:endParaRPr lang="en-US" sz="2000" dirty="0">
              <a:latin typeface="Arial" panose="020B0604020202020204" pitchFamily="34" charset="0"/>
              <a:cs typeface="Arial" panose="020B0604020202020204" pitchFamily="34" charset="0"/>
            </a:endParaRPr>
          </a:p>
        </p:txBody>
      </p:sp>
      <p:sp>
        <p:nvSpPr>
          <p:cNvPr id="7" name="TextBox 6"/>
          <p:cNvSpPr txBox="1"/>
          <p:nvPr/>
        </p:nvSpPr>
        <p:spPr>
          <a:xfrm>
            <a:off x="4059762" y="3010041"/>
            <a:ext cx="2971800" cy="400110"/>
          </a:xfrm>
          <a:prstGeom prst="rect">
            <a:avLst/>
          </a:prstGeom>
          <a:solidFill>
            <a:srgbClr val="92D050"/>
          </a:solidFill>
          <a:ln w="19050">
            <a:solidFill>
              <a:schemeClr val="tx1"/>
            </a:solidFill>
          </a:ln>
        </p:spPr>
        <p:txBody>
          <a:bodyPr wrap="square" rtlCol="0">
            <a:spAutoFit/>
          </a:bodyPr>
          <a:lstStyle/>
          <a:p>
            <a:pPr algn="ctr"/>
            <a:r>
              <a:rPr lang="en-US" sz="2000" dirty="0">
                <a:latin typeface="Arial" panose="020B0604020202020204" pitchFamily="34" charset="0"/>
                <a:cs typeface="Arial" panose="020B0604020202020204" pitchFamily="34" charset="0"/>
              </a:rPr>
              <a:t>Libraries</a:t>
            </a:r>
          </a:p>
        </p:txBody>
      </p:sp>
      <p:sp>
        <p:nvSpPr>
          <p:cNvPr id="9" name="TextBox 8"/>
          <p:cNvSpPr txBox="1"/>
          <p:nvPr/>
        </p:nvSpPr>
        <p:spPr>
          <a:xfrm>
            <a:off x="4059762" y="3763111"/>
            <a:ext cx="2971800" cy="2100575"/>
          </a:xfrm>
          <a:prstGeom prst="rect">
            <a:avLst/>
          </a:prstGeom>
          <a:solidFill>
            <a:srgbClr val="92D050"/>
          </a:solidFill>
          <a:ln w="19050">
            <a:solidFill>
              <a:schemeClr val="tx1"/>
            </a:solidFill>
          </a:ln>
        </p:spPr>
        <p:txBody>
          <a:bodyPr wrap="square" rtlCol="0">
            <a:spAutoFit/>
          </a:bodyPr>
          <a:lstStyle/>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Machine-Dependent Layer</a:t>
            </a:r>
          </a:p>
          <a:p>
            <a:pPr algn="ctr"/>
            <a:endParaRPr lang="en-US" sz="1100" dirty="0">
              <a:latin typeface="Arial" panose="020B0604020202020204" pitchFamily="34" charset="0"/>
              <a:cs typeface="Arial" panose="020B0604020202020204" pitchFamily="34" charset="0"/>
            </a:endParaRPr>
          </a:p>
        </p:txBody>
      </p:sp>
      <p:sp>
        <p:nvSpPr>
          <p:cNvPr id="8" name="TextBox 7"/>
          <p:cNvSpPr txBox="1"/>
          <p:nvPr/>
        </p:nvSpPr>
        <p:spPr>
          <a:xfrm>
            <a:off x="4059762" y="3765849"/>
            <a:ext cx="2133600" cy="1015663"/>
          </a:xfrm>
          <a:prstGeom prst="rect">
            <a:avLst/>
          </a:prstGeom>
          <a:solidFill>
            <a:srgbClr val="92D050"/>
          </a:solidFill>
          <a:ln w="19050">
            <a:solidFill>
              <a:schemeClr val="tx1"/>
            </a:solidFill>
          </a:ln>
        </p:spPr>
        <p:txBody>
          <a:bodyPr wrap="square" rtlCol="0">
            <a:spAutoFit/>
          </a:bodyPr>
          <a:lstStyle/>
          <a:p>
            <a:pPr algn="ctr"/>
            <a:endParaRPr lang="en-US" sz="1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Portable OS Layer</a:t>
            </a:r>
          </a:p>
          <a:p>
            <a:pPr algn="ctr"/>
            <a:endParaRPr lang="en-US" sz="1000" dirty="0">
              <a:latin typeface="Arial" panose="020B0604020202020204" pitchFamily="34" charset="0"/>
              <a:cs typeface="Arial" panose="020B0604020202020204" pitchFamily="34" charset="0"/>
            </a:endParaRPr>
          </a:p>
        </p:txBody>
      </p:sp>
      <p:grpSp>
        <p:nvGrpSpPr>
          <p:cNvPr id="10" name="Group 9"/>
          <p:cNvGrpSpPr/>
          <p:nvPr/>
        </p:nvGrpSpPr>
        <p:grpSpPr>
          <a:xfrm>
            <a:off x="7653147" y="1419210"/>
            <a:ext cx="3083163" cy="1346485"/>
            <a:chOff x="4953007" y="1667470"/>
            <a:chExt cx="3083163" cy="1053078"/>
          </a:xfrm>
          <a:solidFill>
            <a:srgbClr val="5CD2FF"/>
          </a:solidFill>
        </p:grpSpPr>
        <p:sp>
          <p:nvSpPr>
            <p:cNvPr id="4" name="Rectangular Callout 3"/>
            <p:cNvSpPr/>
            <p:nvPr/>
          </p:nvSpPr>
          <p:spPr bwMode="auto">
            <a:xfrm rot="5400000">
              <a:off x="5950467" y="670009"/>
              <a:ext cx="1053078" cy="3048000"/>
            </a:xfrm>
            <a:prstGeom prst="wedgeRectCallout">
              <a:avLst>
                <a:gd name="adj1" fmla="val 38292"/>
                <a:gd name="adj2" fmla="val 78911"/>
              </a:avLst>
            </a:prstGeom>
            <a:gr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6" name="TextBox 5"/>
            <p:cNvSpPr txBox="1"/>
            <p:nvPr/>
          </p:nvSpPr>
          <p:spPr>
            <a:xfrm>
              <a:off x="5064370" y="1708729"/>
              <a:ext cx="2971800" cy="96284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Written by programmer</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Compiled by programmer </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Uses library calls</a:t>
              </a:r>
            </a:p>
          </p:txBody>
        </p:sp>
      </p:grpSp>
      <p:grpSp>
        <p:nvGrpSpPr>
          <p:cNvPr id="13" name="Group 12"/>
          <p:cNvGrpSpPr/>
          <p:nvPr/>
        </p:nvGrpSpPr>
        <p:grpSpPr>
          <a:xfrm>
            <a:off x="619608" y="1780908"/>
            <a:ext cx="3129361" cy="2800767"/>
            <a:chOff x="4670897" y="1761172"/>
            <a:chExt cx="3015394" cy="2658689"/>
          </a:xfrm>
          <a:solidFill>
            <a:srgbClr val="5CD2FF"/>
          </a:solidFill>
        </p:grpSpPr>
        <p:sp>
          <p:nvSpPr>
            <p:cNvPr id="14" name="Rectangular Callout 13"/>
            <p:cNvSpPr/>
            <p:nvPr/>
          </p:nvSpPr>
          <p:spPr bwMode="auto">
            <a:xfrm rot="5400000">
              <a:off x="4840634" y="1593596"/>
              <a:ext cx="2656528" cy="2996001"/>
            </a:xfrm>
            <a:prstGeom prst="wedgeRectCallout">
              <a:avLst>
                <a:gd name="adj1" fmla="val 2565"/>
                <a:gd name="adj2" fmla="val -68923"/>
              </a:avLst>
            </a:prstGeom>
            <a:gr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5" name="TextBox 14"/>
            <p:cNvSpPr txBox="1"/>
            <p:nvPr/>
          </p:nvSpPr>
          <p:spPr>
            <a:xfrm>
              <a:off x="4721731" y="1761172"/>
              <a:ext cx="2964560" cy="265868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Written by gurus</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Provided pre-compiled</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Interface defined in headers </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Invoked like functions</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Input to linker (compiler)</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Maybe “resolved” when program is loaded</a:t>
              </a:r>
            </a:p>
          </p:txBody>
        </p:sp>
      </p:grpSp>
      <p:grpSp>
        <p:nvGrpSpPr>
          <p:cNvPr id="11" name="Group 10"/>
          <p:cNvGrpSpPr/>
          <p:nvPr/>
        </p:nvGrpSpPr>
        <p:grpSpPr>
          <a:xfrm>
            <a:off x="878815" y="5401038"/>
            <a:ext cx="2617189" cy="925296"/>
            <a:chOff x="5095876" y="5051849"/>
            <a:chExt cx="2937442" cy="1272747"/>
          </a:xfrm>
          <a:solidFill>
            <a:srgbClr val="5CD2FF"/>
          </a:solidFill>
        </p:grpSpPr>
        <p:sp>
          <p:nvSpPr>
            <p:cNvPr id="16" name="Rectangular Callout 15"/>
            <p:cNvSpPr/>
            <p:nvPr/>
          </p:nvSpPr>
          <p:spPr bwMode="auto">
            <a:xfrm rot="5400000">
              <a:off x="5928223" y="4219502"/>
              <a:ext cx="1272747" cy="2937442"/>
            </a:xfrm>
            <a:prstGeom prst="wedgeRectCallout">
              <a:avLst>
                <a:gd name="adj1" fmla="val -142545"/>
                <a:gd name="adj2" fmla="val -81121"/>
              </a:avLst>
            </a:prstGeom>
            <a:gr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17" name="TextBox 16"/>
            <p:cNvSpPr txBox="1"/>
            <p:nvPr/>
          </p:nvSpPr>
          <p:spPr>
            <a:xfrm>
              <a:off x="5181599" y="5108441"/>
              <a:ext cx="2851719" cy="854886"/>
            </a:xfrm>
            <a:prstGeom prst="rect">
              <a:avLst/>
            </a:prstGeom>
            <a:grpFill/>
          </p:spPr>
          <p:txBody>
            <a:bodyPr wrap="square" rtlCol="0">
              <a:spAutoFit/>
            </a:bodyPr>
            <a:lstStyle/>
            <a:p>
              <a:r>
                <a:rPr lang="en-US" dirty="0">
                  <a:latin typeface="Arial" panose="020B0604020202020204" pitchFamily="34" charset="0"/>
                  <a:cs typeface="Arial" panose="020B0604020202020204" pitchFamily="34" charset="0"/>
                </a:rPr>
                <a:t>“Guts” of system calls</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All “high-level” code</a:t>
              </a:r>
            </a:p>
          </p:txBody>
        </p:sp>
      </p:grpSp>
      <p:grpSp>
        <p:nvGrpSpPr>
          <p:cNvPr id="19" name="Group 18"/>
          <p:cNvGrpSpPr/>
          <p:nvPr/>
        </p:nvGrpSpPr>
        <p:grpSpPr>
          <a:xfrm>
            <a:off x="7505366" y="4073400"/>
            <a:ext cx="3247174" cy="2655276"/>
            <a:chOff x="5093043" y="1729948"/>
            <a:chExt cx="2590800" cy="2339548"/>
          </a:xfrm>
          <a:solidFill>
            <a:srgbClr val="5CD2FF"/>
          </a:solidFill>
        </p:grpSpPr>
        <p:sp>
          <p:nvSpPr>
            <p:cNvPr id="20" name="Rectangular Callout 19"/>
            <p:cNvSpPr/>
            <p:nvPr/>
          </p:nvSpPr>
          <p:spPr bwMode="auto">
            <a:xfrm rot="5400000">
              <a:off x="5218669" y="1604322"/>
              <a:ext cx="2339548" cy="2590800"/>
            </a:xfrm>
            <a:prstGeom prst="wedgeRectCallout">
              <a:avLst>
                <a:gd name="adj1" fmla="val 3387"/>
                <a:gd name="adj2" fmla="val 74489"/>
              </a:avLst>
            </a:prstGeom>
            <a:gr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1" name="TextBox 20"/>
            <p:cNvSpPr txBox="1"/>
            <p:nvPr/>
          </p:nvSpPr>
          <p:spPr>
            <a:xfrm>
              <a:off x="5163066" y="1763956"/>
              <a:ext cx="2514600" cy="216664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Bootstrap</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System Initialization</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I/O device driver</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Kernel/user mode switching</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Interrupt and exception</a:t>
              </a:r>
            </a:p>
            <a:p>
              <a:endParaRPr lang="en-US" sz="1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Process management</a:t>
              </a:r>
            </a:p>
          </p:txBody>
        </p:sp>
      </p:grpSp>
      <p:sp>
        <p:nvSpPr>
          <p:cNvPr id="18" name="TextBox 17">
            <a:extLst>
              <a:ext uri="{FF2B5EF4-FFF2-40B4-BE49-F238E27FC236}">
                <a16:creationId xmlns:a16="http://schemas.microsoft.com/office/drawing/2014/main" id="{A38E4A86-1D58-A3EB-B48C-2393AA265EFA}"/>
              </a:ext>
            </a:extLst>
          </p:cNvPr>
          <p:cNvSpPr txBox="1"/>
          <p:nvPr/>
        </p:nvSpPr>
        <p:spPr>
          <a:xfrm>
            <a:off x="7764855" y="3106110"/>
            <a:ext cx="1676400" cy="954107"/>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User level</a:t>
            </a:r>
          </a:p>
          <a:p>
            <a:pPr algn="ctr"/>
            <a:endParaRPr lang="en-US" sz="1000" dirty="0">
              <a:latin typeface="Arial" panose="020B0604020202020204" pitchFamily="34" charset="0"/>
              <a:cs typeface="Arial" panose="020B0604020202020204" pitchFamily="34" charset="0"/>
            </a:endParaRPr>
          </a:p>
          <a:p>
            <a:pPr algn="ctr"/>
            <a:endParaRPr lang="en-US" sz="1000"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Kernel level</a:t>
            </a:r>
          </a:p>
        </p:txBody>
      </p:sp>
    </p:spTree>
    <p:custDataLst>
      <p:tags r:id="rId1"/>
    </p:custDataLst>
    <p:extLst>
      <p:ext uri="{BB962C8B-B14F-4D97-AF65-F5344CB8AC3E}">
        <p14:creationId xmlns:p14="http://schemas.microsoft.com/office/powerpoint/2010/main" val="119155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3"/>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Typical Operating System Structure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3171" y="2093776"/>
            <a:ext cx="5887302" cy="4210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3">
            <a:extLst>
              <a:ext uri="{FF2B5EF4-FFF2-40B4-BE49-F238E27FC236}">
                <a16:creationId xmlns:a16="http://schemas.microsoft.com/office/drawing/2014/main" id="{11A83FA2-35C2-8DD4-D5EF-BE725506B3E9}"/>
              </a:ext>
            </a:extLst>
          </p:cNvPr>
          <p:cNvSpPr txBox="1">
            <a:spLocks noChangeArrowheads="1"/>
          </p:cNvSpPr>
          <p:nvPr/>
        </p:nvSpPr>
        <p:spPr>
          <a:xfrm>
            <a:off x="632150" y="1453242"/>
            <a:ext cx="10463741" cy="498272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Another Look: Unix “Onion”</a:t>
            </a:r>
          </a:p>
        </p:txBody>
      </p:sp>
    </p:spTree>
    <p:custDataLst>
      <p:tags r:id="rId1"/>
    </p:custDataLst>
    <p:extLst>
      <p:ext uri="{BB962C8B-B14F-4D97-AF65-F5344CB8AC3E}">
        <p14:creationId xmlns:p14="http://schemas.microsoft.com/office/powerpoint/2010/main" val="4193847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Operating System Kernel</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463741" cy="498272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kernel is a central component of an operating system and is the one program always running. It acts as an interface between the user applications and the hardware. Everything else is either a system program or an application program.</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main tasks of the kernel include process management, device management, memory management, interrupt handling, I/O communication and file system management.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Classified mainly into two categories</a:t>
            </a:r>
          </a:p>
          <a:p>
            <a:pPr lvl="1" algn="just"/>
            <a:r>
              <a:rPr lang="en-US" b="1" dirty="0">
                <a:solidFill>
                  <a:srgbClr val="FF0000"/>
                </a:solidFill>
                <a:latin typeface="Arial" panose="020B0604020202020204" pitchFamily="34" charset="0"/>
                <a:cs typeface="Arial" panose="020B0604020202020204" pitchFamily="34" charset="0"/>
              </a:rPr>
              <a:t>Monolithic</a:t>
            </a:r>
            <a:r>
              <a:rPr lang="en-US" dirty="0">
                <a:latin typeface="Arial" panose="020B0604020202020204" pitchFamily="34" charset="0"/>
                <a:cs typeface="Arial" panose="020B0604020202020204" pitchFamily="34" charset="0"/>
              </a:rPr>
              <a:t> (Mono means single, Lithic means layer)</a:t>
            </a:r>
          </a:p>
          <a:p>
            <a:pPr lvl="1" algn="just"/>
            <a:r>
              <a:rPr lang="en-US" b="1" dirty="0">
                <a:solidFill>
                  <a:srgbClr val="FF0000"/>
                </a:solidFill>
                <a:latin typeface="Arial" panose="020B0604020202020204" pitchFamily="34" charset="0"/>
                <a:cs typeface="Arial" panose="020B0604020202020204" pitchFamily="34" charset="0"/>
              </a:rPr>
              <a:t>Micro Kernel</a:t>
            </a:r>
          </a:p>
          <a:p>
            <a:pPr marL="114300" indent="0" algn="just">
              <a:buNone/>
            </a:pP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673589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Monolithic Kernel</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70312" cy="526408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An old approach where basic system services like process and memory management, interrupt handling etc. were packed into a single module in kernel space.</a:t>
            </a:r>
          </a:p>
          <a:p>
            <a:pPr algn="just"/>
            <a:endParaRPr lang="en-US" sz="105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Some serious problems like</a:t>
            </a:r>
          </a:p>
          <a:p>
            <a:pPr lvl="1" algn="just"/>
            <a:r>
              <a:rPr lang="en-US" dirty="0">
                <a:latin typeface="Arial" panose="020B0604020202020204" pitchFamily="34" charset="0"/>
                <a:cs typeface="Arial" panose="020B0604020202020204" pitchFamily="34" charset="0"/>
              </a:rPr>
              <a:t>Huge size, </a:t>
            </a:r>
          </a:p>
          <a:p>
            <a:pPr lvl="1" algn="just"/>
            <a:r>
              <a:rPr lang="en-US" dirty="0">
                <a:latin typeface="Arial" panose="020B0604020202020204" pitchFamily="34" charset="0"/>
                <a:cs typeface="Arial" panose="020B0604020202020204" pitchFamily="34" charset="0"/>
              </a:rPr>
              <a:t>Poor maintainability (bug fixing and addition of new features results in recompilation of the whole kernel code which could consume hours)</a:t>
            </a:r>
          </a:p>
          <a:p>
            <a:pPr lvl="1" algn="just"/>
            <a:r>
              <a:rPr lang="en-US" dirty="0">
                <a:latin typeface="Arial" panose="020B0604020202020204" pitchFamily="34" charset="0"/>
                <a:cs typeface="Arial" panose="020B0604020202020204" pitchFamily="34" charset="0"/>
              </a:rPr>
              <a:t>E.g., MS-DOS</a:t>
            </a:r>
          </a:p>
        </p:txBody>
      </p:sp>
      <p:pic>
        <p:nvPicPr>
          <p:cNvPr id="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13885" y="4273060"/>
            <a:ext cx="4022425" cy="244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292783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Micro Kernel</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16495" cy="3066005"/>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Modular Approach: Moves as much from the kernel into the user space</a:t>
            </a:r>
          </a:p>
          <a:p>
            <a:pPr algn="just"/>
            <a:r>
              <a:rPr lang="en-US" dirty="0">
                <a:latin typeface="Arial" panose="020B0604020202020204" pitchFamily="34" charset="0"/>
                <a:cs typeface="Arial" panose="020B0604020202020204" pitchFamily="34" charset="0"/>
              </a:rPr>
              <a:t>Easily maintainable as different modules can be dynamically loaded/un-loaded.</a:t>
            </a:r>
          </a:p>
          <a:p>
            <a:pPr algn="just"/>
            <a:r>
              <a:rPr lang="en-US" dirty="0">
                <a:latin typeface="Arial" panose="020B0604020202020204" pitchFamily="34" charset="0"/>
                <a:cs typeface="Arial" panose="020B0604020202020204" pitchFamily="34" charset="0"/>
              </a:rPr>
              <a:t>Communication takes place between user modules using message passing</a:t>
            </a:r>
          </a:p>
          <a:p>
            <a:pPr algn="just"/>
            <a:r>
              <a:rPr lang="en-US" dirty="0">
                <a:latin typeface="Arial" panose="020B0604020202020204" pitchFamily="34" charset="0"/>
                <a:cs typeface="Arial" panose="020B0604020202020204" pitchFamily="34" charset="0"/>
              </a:rPr>
              <a:t>Easier to extend a microkernel and port the OS to new architectures</a:t>
            </a:r>
          </a:p>
          <a:p>
            <a:pPr algn="just"/>
            <a:r>
              <a:rPr lang="en-US" dirty="0">
                <a:latin typeface="Arial" panose="020B0604020202020204" pitchFamily="34" charset="0"/>
                <a:cs typeface="Arial" panose="020B0604020202020204" pitchFamily="34" charset="0"/>
              </a:rPr>
              <a:t>More reliable and secure due to reduced kernel size. e.g., if network service crashes due to buffer overflow, then only the networking services memory would be corrupted, leaving the rest of the system still functional.</a:t>
            </a:r>
          </a:p>
        </p:txBody>
      </p:sp>
      <p:pic>
        <p:nvPicPr>
          <p:cNvPr id="88067" name="Picture 2">
            <a:extLst>
              <a:ext uri="{FF2B5EF4-FFF2-40B4-BE49-F238E27FC236}">
                <a16:creationId xmlns:a16="http://schemas.microsoft.com/office/drawing/2014/main" id="{25A0E5C8-7A5F-457D-83DE-F96A7C9EE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7376" y="4353227"/>
            <a:ext cx="4998679" cy="2415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4194052"/>
            <a:ext cx="5182812" cy="283674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Performance overhead of user space to kernel space communication</a:t>
            </a:r>
          </a:p>
          <a:p>
            <a:pPr algn="just"/>
            <a:r>
              <a:rPr lang="en-US" dirty="0">
                <a:latin typeface="Arial" panose="020B0604020202020204" pitchFamily="34" charset="0"/>
                <a:cs typeface="Arial" panose="020B0604020202020204" pitchFamily="34" charset="0"/>
              </a:rPr>
              <a:t>This architecture allows some basic services to run in user space</a:t>
            </a:r>
          </a:p>
          <a:p>
            <a:pPr lvl="1" algn="just"/>
            <a:r>
              <a:rPr lang="en-US" dirty="0">
                <a:latin typeface="Arial" panose="020B0604020202020204" pitchFamily="34" charset="0"/>
                <a:cs typeface="Arial" panose="020B0604020202020204" pitchFamily="34" charset="0"/>
              </a:rPr>
              <a:t>E.g., device driver management, protocol stack, file system etc. </a:t>
            </a:r>
          </a:p>
        </p:txBody>
      </p:sp>
    </p:spTree>
    <p:custDataLst>
      <p:tags r:id="rId1"/>
    </p:custDataLst>
    <p:extLst>
      <p:ext uri="{BB962C8B-B14F-4D97-AF65-F5344CB8AC3E}">
        <p14:creationId xmlns:p14="http://schemas.microsoft.com/office/powerpoint/2010/main" val="104658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Operating System Services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Process Management</a:t>
            </a:r>
          </a:p>
          <a:p>
            <a:pPr algn="just"/>
            <a:r>
              <a:rPr lang="en-US" dirty="0">
                <a:latin typeface="Arial" panose="020B0604020202020204" pitchFamily="34" charset="0"/>
                <a:cs typeface="Arial" panose="020B0604020202020204" pitchFamily="34" charset="0"/>
              </a:rPr>
              <a:t>Memory Management</a:t>
            </a:r>
          </a:p>
          <a:p>
            <a:pPr algn="just"/>
            <a:r>
              <a:rPr lang="en-US" dirty="0">
                <a:latin typeface="Arial" panose="020B0604020202020204" pitchFamily="34" charset="0"/>
                <a:cs typeface="Arial" panose="020B0604020202020204" pitchFamily="34" charset="0"/>
              </a:rPr>
              <a:t>File-system Management</a:t>
            </a:r>
          </a:p>
          <a:p>
            <a:pPr algn="just"/>
            <a:r>
              <a:rPr lang="en-US" dirty="0">
                <a:latin typeface="Arial" panose="020B0604020202020204" pitchFamily="34" charset="0"/>
                <a:cs typeface="Arial" panose="020B0604020202020204" pitchFamily="34" charset="0"/>
              </a:rPr>
              <a:t>Mass-Storage Management</a:t>
            </a:r>
          </a:p>
          <a:p>
            <a:pPr algn="just"/>
            <a:r>
              <a:rPr lang="en-US" dirty="0">
                <a:latin typeface="Arial" panose="020B0604020202020204" pitchFamily="34" charset="0"/>
                <a:cs typeface="Arial" panose="020B0604020202020204" pitchFamily="34" charset="0"/>
              </a:rPr>
              <a:t>Protection and Security</a:t>
            </a:r>
          </a:p>
          <a:p>
            <a:pPr algn="just"/>
            <a:r>
              <a:rPr lang="en-US" dirty="0">
                <a:latin typeface="Arial" panose="020B0604020202020204" pitchFamily="34" charset="0"/>
                <a:cs typeface="Arial" panose="020B0604020202020204" pitchFamily="34" charset="0"/>
              </a:rPr>
              <a:t>I/O System Management</a:t>
            </a:r>
          </a:p>
          <a:p>
            <a:pPr algn="just"/>
            <a:r>
              <a:rPr lang="en-US" dirty="0">
                <a:latin typeface="Arial" panose="020B0604020202020204" pitchFamily="34" charset="0"/>
                <a:cs typeface="Arial" panose="020B0604020202020204" pitchFamily="34" charset="0"/>
              </a:rPr>
              <a:t>Networking (Distributed Systems)</a:t>
            </a:r>
          </a:p>
          <a:p>
            <a:pPr algn="just"/>
            <a:r>
              <a:rPr lang="en-US" dirty="0">
                <a:latin typeface="Arial" panose="020B0604020202020204" pitchFamily="34" charset="0"/>
                <a:cs typeface="Arial" panose="020B0604020202020204" pitchFamily="34" charset="0"/>
              </a:rPr>
              <a:t>Command-interpreter System</a:t>
            </a:r>
          </a:p>
        </p:txBody>
      </p:sp>
    </p:spTree>
    <p:custDataLst>
      <p:tags r:id="rId1"/>
    </p:custDataLst>
    <p:extLst>
      <p:ext uri="{BB962C8B-B14F-4D97-AF65-F5344CB8AC3E}">
        <p14:creationId xmlns:p14="http://schemas.microsoft.com/office/powerpoint/2010/main" val="3051091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Process Management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1098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process is a program in execution. It is a unit of work within the system. Program is a </a:t>
            </a:r>
            <a:r>
              <a:rPr lang="en-US" b="1" i="1" dirty="0">
                <a:solidFill>
                  <a:srgbClr val="00B050"/>
                </a:solidFill>
                <a:latin typeface="Arial" panose="020B0604020202020204" pitchFamily="34" charset="0"/>
                <a:cs typeface="Arial" panose="020B0604020202020204" pitchFamily="34" charset="0"/>
              </a:rPr>
              <a:t>passive entity</a:t>
            </a:r>
            <a:r>
              <a:rPr lang="en-US" dirty="0">
                <a:latin typeface="Arial" panose="020B0604020202020204" pitchFamily="34" charset="0"/>
                <a:cs typeface="Arial" panose="020B0604020202020204" pitchFamily="34" charset="0"/>
              </a:rPr>
              <a:t>; process is an </a:t>
            </a:r>
            <a:r>
              <a:rPr lang="en-US" b="1" i="1" dirty="0">
                <a:solidFill>
                  <a:srgbClr val="00B050"/>
                </a:solidFill>
                <a:latin typeface="Arial" panose="020B0604020202020204" pitchFamily="34" charset="0"/>
                <a:cs typeface="Arial" panose="020B0604020202020204" pitchFamily="34" charset="0"/>
              </a:rPr>
              <a:t>active entity</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Process needs resources to accomplish its task e.g., CPU, memory, I/O, files</a:t>
            </a:r>
          </a:p>
          <a:p>
            <a:pPr algn="just"/>
            <a:r>
              <a:rPr lang="en-US" dirty="0">
                <a:latin typeface="Arial" panose="020B0604020202020204" pitchFamily="34" charset="0"/>
                <a:cs typeface="Arial" panose="020B0604020202020204" pitchFamily="34" charset="0"/>
              </a:rPr>
              <a:t>Process termination requires reclaim of any reusable resources</a:t>
            </a:r>
          </a:p>
          <a:p>
            <a:pPr algn="just"/>
            <a:r>
              <a:rPr lang="en-US" dirty="0">
                <a:latin typeface="Arial" panose="020B0604020202020204" pitchFamily="34" charset="0"/>
                <a:cs typeface="Arial" panose="020B0604020202020204" pitchFamily="34" charset="0"/>
              </a:rPr>
              <a:t>Process executes instructions sequentially, one at a time, until completion. </a:t>
            </a:r>
            <a:r>
              <a:rPr lang="en-US" b="1" dirty="0">
                <a:solidFill>
                  <a:srgbClr val="FF0000"/>
                </a:solidFill>
                <a:latin typeface="Arial" panose="020B0604020202020204" pitchFamily="34" charset="0"/>
                <a:cs typeface="Arial" panose="020B0604020202020204" pitchFamily="34" charset="0"/>
              </a:rPr>
              <a:t>Program counter</a:t>
            </a:r>
            <a:r>
              <a:rPr lang="en-US" dirty="0">
                <a:latin typeface="Arial" panose="020B0604020202020204" pitchFamily="34" charset="0"/>
                <a:cs typeface="Arial" panose="020B0604020202020204" pitchFamily="34" charset="0"/>
              </a:rPr>
              <a:t> of a process specifies location of next instruction to execute</a:t>
            </a:r>
          </a:p>
          <a:p>
            <a:pPr algn="just"/>
            <a:r>
              <a:rPr lang="en-US" dirty="0">
                <a:latin typeface="Arial" panose="020B0604020202020204" pitchFamily="34" charset="0"/>
                <a:cs typeface="Arial" panose="020B0604020202020204" pitchFamily="34" charset="0"/>
              </a:rPr>
              <a:t>Typically, a system has many processes, </a:t>
            </a:r>
            <a:r>
              <a:rPr lang="en-US">
                <a:latin typeface="Arial" panose="020B0604020202020204" pitchFamily="34" charset="0"/>
                <a:cs typeface="Arial" panose="020B0604020202020204" pitchFamily="34" charset="0"/>
              </a:rPr>
              <a:t>some users, </a:t>
            </a:r>
            <a:r>
              <a:rPr lang="en-US" dirty="0">
                <a:latin typeface="Arial" panose="020B0604020202020204" pitchFamily="34" charset="0"/>
                <a:cs typeface="Arial" panose="020B0604020202020204" pitchFamily="34" charset="0"/>
              </a:rPr>
              <a:t>some operating system running </a:t>
            </a:r>
            <a:r>
              <a:rPr lang="en-US" b="1" dirty="0">
                <a:solidFill>
                  <a:srgbClr val="FF0000"/>
                </a:solidFill>
                <a:latin typeface="Arial" panose="020B0604020202020204" pitchFamily="34" charset="0"/>
                <a:cs typeface="Arial" panose="020B0604020202020204" pitchFamily="34" charset="0"/>
              </a:rPr>
              <a:t>concurrently</a:t>
            </a:r>
            <a:r>
              <a:rPr lang="en-US" dirty="0">
                <a:latin typeface="Arial" panose="020B0604020202020204" pitchFamily="34" charset="0"/>
                <a:cs typeface="Arial" panose="020B0604020202020204" pitchFamily="34" charset="0"/>
              </a:rPr>
              <a:t> on one or more CPUs</a:t>
            </a:r>
          </a:p>
          <a:p>
            <a:pPr algn="just"/>
            <a:r>
              <a:rPr lang="en-US" dirty="0">
                <a:latin typeface="Arial" panose="020B0604020202020204" pitchFamily="34" charset="0"/>
                <a:cs typeface="Arial" panose="020B0604020202020204" pitchFamily="34" charset="0"/>
              </a:rPr>
              <a:t>In connection with process management, operating system activities include:</a:t>
            </a:r>
          </a:p>
          <a:p>
            <a:pPr lvl="1" algn="just"/>
            <a:r>
              <a:rPr lang="en-US" dirty="0">
                <a:latin typeface="Arial" panose="020B0604020202020204" pitchFamily="34" charset="0"/>
                <a:cs typeface="Arial" panose="020B0604020202020204" pitchFamily="34" charset="0"/>
              </a:rPr>
              <a:t>Creating, deleting, suspending, and resuming of both user and system processes</a:t>
            </a:r>
          </a:p>
          <a:p>
            <a:pPr lvl="1" algn="just"/>
            <a:r>
              <a:rPr lang="en-US" dirty="0">
                <a:latin typeface="Arial" panose="020B0604020202020204" pitchFamily="34" charset="0"/>
                <a:cs typeface="Arial" panose="020B0604020202020204" pitchFamily="34" charset="0"/>
              </a:rPr>
              <a:t>Provide mechanisms for process communication and process synchronization</a:t>
            </a:r>
          </a:p>
          <a:p>
            <a:pPr lvl="1" algn="just"/>
            <a:r>
              <a:rPr lang="en-US" dirty="0">
                <a:latin typeface="Arial" panose="020B0604020202020204" pitchFamily="34" charset="0"/>
                <a:cs typeface="Arial" panose="020B0604020202020204" pitchFamily="34" charset="0"/>
              </a:rPr>
              <a:t>Providing mechanisms for deadlock handling</a:t>
            </a:r>
          </a:p>
        </p:txBody>
      </p:sp>
    </p:spTree>
    <p:custDataLst>
      <p:tags r:id="rId1"/>
    </p:custDataLst>
    <p:extLst>
      <p:ext uri="{BB962C8B-B14F-4D97-AF65-F5344CB8AC3E}">
        <p14:creationId xmlns:p14="http://schemas.microsoft.com/office/powerpoint/2010/main" val="1206700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Memory Management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1098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To execute a program all (or part) of its instructions must be in memory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Memory management determines what is in memory and when</a:t>
            </a:r>
          </a:p>
          <a:p>
            <a:pPr lvl="1" algn="just"/>
            <a:r>
              <a:rPr lang="en-US" dirty="0">
                <a:latin typeface="Arial" panose="020B0604020202020204" pitchFamily="34" charset="0"/>
                <a:cs typeface="Arial" panose="020B0604020202020204" pitchFamily="34" charset="0"/>
              </a:rPr>
              <a:t>Optimizing CPU utilization and computer response to users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connection with memory management, operating system activities include:</a:t>
            </a:r>
          </a:p>
          <a:p>
            <a:pPr lvl="1" algn="just"/>
            <a:r>
              <a:rPr lang="en-US" dirty="0">
                <a:latin typeface="Arial" panose="020B0604020202020204" pitchFamily="34" charset="0"/>
                <a:cs typeface="Arial" panose="020B0604020202020204" pitchFamily="34" charset="0"/>
              </a:rPr>
              <a:t>Allocating and deallocating memory space as needed</a:t>
            </a:r>
          </a:p>
          <a:p>
            <a:pPr lvl="1" algn="just"/>
            <a:r>
              <a:rPr lang="en-US" dirty="0">
                <a:latin typeface="Arial" panose="020B0604020202020204" pitchFamily="34" charset="0"/>
                <a:cs typeface="Arial" panose="020B0604020202020204" pitchFamily="34" charset="0"/>
              </a:rPr>
              <a:t>Keeping track of which parts of memory are currently being used and by whom</a:t>
            </a:r>
          </a:p>
          <a:p>
            <a:pPr lvl="1" algn="just"/>
            <a:r>
              <a:rPr lang="en-US" dirty="0">
                <a:latin typeface="Arial" panose="020B0604020202020204" pitchFamily="34" charset="0"/>
                <a:cs typeface="Arial" panose="020B0604020202020204" pitchFamily="34" charset="0"/>
              </a:rPr>
              <a:t>Deciding which processes (or parts thereof) and data to move into and out of memory</a:t>
            </a:r>
          </a:p>
          <a:p>
            <a:pPr lvl="1" algn="just"/>
            <a:r>
              <a:rPr lang="en-US" dirty="0">
                <a:latin typeface="Arial" panose="020B0604020202020204" pitchFamily="34" charset="0"/>
                <a:cs typeface="Arial" panose="020B0604020202020204" pitchFamily="34" charset="0"/>
              </a:rPr>
              <a:t>Support larger address space than physical memory</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817948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File-system Management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10988"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OS provides uniform, logical view of information storage</a:t>
            </a:r>
          </a:p>
          <a:p>
            <a:pPr lvl="1" algn="just"/>
            <a:r>
              <a:rPr lang="en-US" dirty="0">
                <a:latin typeface="Arial" panose="020B0604020202020204" pitchFamily="34" charset="0"/>
                <a:cs typeface="Arial" panose="020B0604020202020204" pitchFamily="34" charset="0"/>
              </a:rPr>
              <a:t>Abstracts physical properties to logical storage unit  - </a:t>
            </a:r>
            <a:r>
              <a:rPr lang="en-US" b="1" dirty="0">
                <a:solidFill>
                  <a:srgbClr val="FF0000"/>
                </a:solidFill>
                <a:latin typeface="Arial" panose="020B0604020202020204" pitchFamily="34" charset="0"/>
                <a:cs typeface="Arial" panose="020B0604020202020204" pitchFamily="34" charset="0"/>
              </a:rPr>
              <a:t>file</a:t>
            </a:r>
          </a:p>
          <a:p>
            <a:pPr lvl="1" algn="just"/>
            <a:r>
              <a:rPr lang="en-US" dirty="0">
                <a:latin typeface="Arial" panose="020B0604020202020204" pitchFamily="34" charset="0"/>
                <a:cs typeface="Arial" panose="020B0604020202020204" pitchFamily="34" charset="0"/>
              </a:rPr>
              <a:t>Each medium is controlled by device (i.e., disk drive, tape drive)</a:t>
            </a:r>
          </a:p>
          <a:p>
            <a:pPr lvl="2" algn="just"/>
            <a:r>
              <a:rPr lang="en-US" dirty="0">
                <a:latin typeface="Arial" panose="020B0604020202020204" pitchFamily="34" charset="0"/>
                <a:cs typeface="Arial" panose="020B0604020202020204" pitchFamily="34" charset="0"/>
              </a:rPr>
              <a:t>Varying properties include access speed, capacity, data-transfer rate, access method (sequential or random)</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Files usually organized into directories</a:t>
            </a:r>
          </a:p>
          <a:p>
            <a:pPr algn="just"/>
            <a:r>
              <a:rPr lang="en-US" dirty="0">
                <a:latin typeface="Arial" panose="020B0604020202020204" pitchFamily="34" charset="0"/>
                <a:cs typeface="Arial" panose="020B0604020202020204" pitchFamily="34" charset="0"/>
              </a:rPr>
              <a:t>Access control on most systems to determine who can access what</a:t>
            </a:r>
          </a:p>
          <a:p>
            <a:pPr algn="just"/>
            <a:r>
              <a:rPr lang="en-US" dirty="0">
                <a:latin typeface="Arial" panose="020B0604020202020204" pitchFamily="34" charset="0"/>
                <a:cs typeface="Arial" panose="020B0604020202020204" pitchFamily="34" charset="0"/>
              </a:rPr>
              <a:t>In connection with file-system management, operating system activities include:</a:t>
            </a:r>
          </a:p>
          <a:p>
            <a:pPr lvl="1" algn="just"/>
            <a:r>
              <a:rPr lang="en-US" dirty="0">
                <a:latin typeface="Arial" panose="020B0604020202020204" pitchFamily="34" charset="0"/>
                <a:cs typeface="Arial" panose="020B0604020202020204" pitchFamily="34" charset="0"/>
              </a:rPr>
              <a:t>Creating, deleting, reading and writing files and directories</a:t>
            </a:r>
          </a:p>
          <a:p>
            <a:pPr lvl="1" algn="just"/>
            <a:r>
              <a:rPr lang="en-US" dirty="0">
                <a:latin typeface="Arial" panose="020B0604020202020204" pitchFamily="34" charset="0"/>
                <a:cs typeface="Arial" panose="020B0604020202020204" pitchFamily="34" charset="0"/>
              </a:rPr>
              <a:t>Primitives to search and manipulate files and directories</a:t>
            </a:r>
          </a:p>
          <a:p>
            <a:pPr lvl="1" algn="just"/>
            <a:r>
              <a:rPr lang="en-US" dirty="0">
                <a:latin typeface="Arial" panose="020B0604020202020204" pitchFamily="34" charset="0"/>
                <a:cs typeface="Arial" panose="020B0604020202020204" pitchFamily="34" charset="0"/>
              </a:rPr>
              <a:t>Mapping files onto secondary storage</a:t>
            </a:r>
          </a:p>
          <a:p>
            <a:pPr lvl="1" algn="just"/>
            <a:r>
              <a:rPr lang="en-US" dirty="0">
                <a:latin typeface="Arial" panose="020B0604020202020204" pitchFamily="34" charset="0"/>
                <a:cs typeface="Arial" panose="020B0604020202020204" pitchFamily="34" charset="0"/>
              </a:rPr>
              <a:t>Backup files onto stable (non-volatile) storage media</a:t>
            </a:r>
          </a:p>
          <a:p>
            <a:pPr lvl="1" algn="just"/>
            <a:r>
              <a:rPr lang="en-US" dirty="0">
                <a:latin typeface="Arial" panose="020B0604020202020204" pitchFamily="34" charset="0"/>
                <a:cs typeface="Arial" panose="020B0604020202020204" pitchFamily="34" charset="0"/>
              </a:rPr>
              <a:t>File Sharing and protection</a:t>
            </a:r>
          </a:p>
        </p:txBody>
      </p:sp>
    </p:spTree>
    <p:custDataLst>
      <p:tags r:id="rId1"/>
    </p:custDataLst>
    <p:extLst>
      <p:ext uri="{BB962C8B-B14F-4D97-AF65-F5344CB8AC3E}">
        <p14:creationId xmlns:p14="http://schemas.microsoft.com/office/powerpoint/2010/main" val="551238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Mass-Storage Management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4615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Usually, disks used to store data that does not fit in main memory or data that must be kept for a “long” period</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Proper management is of central importance</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Entire speed of computer operation hinges on disk subsystem and its algorithms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connection with mass-storage management, OS activities include:</a:t>
            </a:r>
          </a:p>
          <a:p>
            <a:pPr lvl="1" algn="just"/>
            <a:r>
              <a:rPr lang="en-US" dirty="0">
                <a:latin typeface="Arial" panose="020B0604020202020204" pitchFamily="34" charset="0"/>
                <a:cs typeface="Arial" panose="020B0604020202020204" pitchFamily="34" charset="0"/>
              </a:rPr>
              <a:t>Mounting and unmounting</a:t>
            </a:r>
          </a:p>
          <a:p>
            <a:pPr lvl="1" algn="just"/>
            <a:r>
              <a:rPr lang="en-US" dirty="0">
                <a:latin typeface="Arial" panose="020B0604020202020204" pitchFamily="34" charset="0"/>
                <a:cs typeface="Arial" panose="020B0604020202020204" pitchFamily="34" charset="0"/>
              </a:rPr>
              <a:t>Free-space management</a:t>
            </a:r>
          </a:p>
          <a:p>
            <a:pPr lvl="1" algn="just"/>
            <a:r>
              <a:rPr lang="en-US" dirty="0">
                <a:latin typeface="Arial" panose="020B0604020202020204" pitchFamily="34" charset="0"/>
                <a:cs typeface="Arial" panose="020B0604020202020204" pitchFamily="34" charset="0"/>
              </a:rPr>
              <a:t>Storage allocation</a:t>
            </a:r>
          </a:p>
          <a:p>
            <a:pPr lvl="1" algn="just"/>
            <a:r>
              <a:rPr lang="en-US" dirty="0">
                <a:latin typeface="Arial" panose="020B0604020202020204" pitchFamily="34" charset="0"/>
                <a:cs typeface="Arial" panose="020B0604020202020204" pitchFamily="34" charset="0"/>
              </a:rPr>
              <a:t>Disk scheduling</a:t>
            </a:r>
          </a:p>
          <a:p>
            <a:pPr lvl="1" algn="just"/>
            <a:r>
              <a:rPr lang="en-US" dirty="0">
                <a:latin typeface="Arial" panose="020B0604020202020204" pitchFamily="34" charset="0"/>
                <a:cs typeface="Arial" panose="020B0604020202020204" pitchFamily="34" charset="0"/>
              </a:rPr>
              <a:t>Partitioning</a:t>
            </a:r>
          </a:p>
          <a:p>
            <a:pPr lvl="1" algn="just"/>
            <a:r>
              <a:rPr lang="en-US" dirty="0">
                <a:latin typeface="Arial" panose="020B0604020202020204" pitchFamily="34" charset="0"/>
                <a:cs typeface="Arial" panose="020B0604020202020204" pitchFamily="34" charset="0"/>
              </a:rPr>
              <a:t>Protection</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732380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Protection and Security</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Protection</a:t>
            </a:r>
            <a:r>
              <a:rPr lang="en-US" dirty="0">
                <a:latin typeface="Arial" panose="020B0604020202020204" pitchFamily="34" charset="0"/>
                <a:cs typeface="Arial" panose="020B0604020202020204" pitchFamily="34" charset="0"/>
              </a:rPr>
              <a:t> – any mechanism for controlling access of processes or users to resources defined by the OS</a:t>
            </a:r>
          </a:p>
          <a:p>
            <a:pPr algn="just"/>
            <a:endParaRPr lang="en-US" sz="16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Security</a:t>
            </a:r>
            <a:r>
              <a:rPr lang="en-US" dirty="0">
                <a:latin typeface="Arial" panose="020B0604020202020204" pitchFamily="34" charset="0"/>
                <a:cs typeface="Arial" panose="020B0604020202020204" pitchFamily="34" charset="0"/>
              </a:rPr>
              <a:t> – defense of the system against internal and external attacks</a:t>
            </a:r>
          </a:p>
          <a:p>
            <a:pPr lvl="1" algn="just"/>
            <a:r>
              <a:rPr lang="en-US" dirty="0">
                <a:latin typeface="Arial" panose="020B0604020202020204" pitchFamily="34" charset="0"/>
                <a:cs typeface="Arial" panose="020B0604020202020204" pitchFamily="34" charset="0"/>
              </a:rPr>
              <a:t>Huge range, including denial-of-service, worms, viruses, identity theft, theft of service</a:t>
            </a:r>
          </a:p>
          <a:p>
            <a:pPr algn="just"/>
            <a:endParaRPr lang="en-US" sz="16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Systems generally first distinguish among users, to determine who can do what</a:t>
            </a:r>
          </a:p>
          <a:p>
            <a:pPr lvl="1" algn="just"/>
            <a:r>
              <a:rPr lang="en-US" dirty="0">
                <a:latin typeface="Arial" panose="020B0604020202020204" pitchFamily="34" charset="0"/>
                <a:cs typeface="Arial" panose="020B0604020202020204" pitchFamily="34" charset="0"/>
              </a:rPr>
              <a:t>User identities (</a:t>
            </a:r>
            <a:r>
              <a:rPr lang="en-US" b="1" dirty="0">
                <a:solidFill>
                  <a:srgbClr val="FF0000"/>
                </a:solidFill>
                <a:latin typeface="Arial" panose="020B0604020202020204" pitchFamily="34" charset="0"/>
                <a:cs typeface="Arial" panose="020B0604020202020204" pitchFamily="34" charset="0"/>
              </a:rPr>
              <a:t>user IDs</a:t>
            </a:r>
            <a:r>
              <a:rPr lang="en-US" dirty="0">
                <a:latin typeface="Arial" panose="020B0604020202020204" pitchFamily="34" charset="0"/>
                <a:cs typeface="Arial" panose="020B0604020202020204" pitchFamily="34" charset="0"/>
              </a:rPr>
              <a:t>, security IDs) include name and associated number, one per user</a:t>
            </a:r>
          </a:p>
          <a:p>
            <a:pPr lvl="1" algn="just"/>
            <a:r>
              <a:rPr lang="en-US" dirty="0">
                <a:latin typeface="Arial" panose="020B0604020202020204" pitchFamily="34" charset="0"/>
                <a:cs typeface="Arial" panose="020B0604020202020204" pitchFamily="34" charset="0"/>
              </a:rPr>
              <a:t>User ID then associated with all files, processes of that user to determine access control</a:t>
            </a:r>
          </a:p>
          <a:p>
            <a:pPr lvl="1" algn="just"/>
            <a:r>
              <a:rPr lang="en-US" dirty="0">
                <a:latin typeface="Arial" panose="020B0604020202020204" pitchFamily="34" charset="0"/>
                <a:cs typeface="Arial" panose="020B0604020202020204" pitchFamily="34" charset="0"/>
              </a:rPr>
              <a:t>Group identifier (</a:t>
            </a:r>
            <a:r>
              <a:rPr lang="en-US" b="1" dirty="0">
                <a:solidFill>
                  <a:srgbClr val="FF0000"/>
                </a:solidFill>
                <a:latin typeface="Arial" panose="020B0604020202020204" pitchFamily="34" charset="0"/>
                <a:cs typeface="Arial" panose="020B0604020202020204" pitchFamily="34" charset="0"/>
              </a:rPr>
              <a:t>group ID</a:t>
            </a:r>
            <a:r>
              <a:rPr lang="en-US" dirty="0">
                <a:latin typeface="Arial" panose="020B0604020202020204" pitchFamily="34" charset="0"/>
                <a:cs typeface="Arial" panose="020B0604020202020204" pitchFamily="34" charset="0"/>
              </a:rPr>
              <a:t>) allows set of users to be defined and controls managed, then also associated with each process, file</a:t>
            </a:r>
          </a:p>
          <a:p>
            <a:pPr lvl="1" algn="just"/>
            <a:r>
              <a:rPr lang="en-US" b="1" dirty="0">
                <a:solidFill>
                  <a:srgbClr val="FF0000"/>
                </a:solidFill>
                <a:latin typeface="Arial" panose="020B0604020202020204" pitchFamily="34" charset="0"/>
                <a:cs typeface="Arial" panose="020B0604020202020204" pitchFamily="34" charset="0"/>
              </a:rPr>
              <a:t>Privilege escalation </a:t>
            </a:r>
            <a:r>
              <a:rPr lang="en-US" dirty="0">
                <a:latin typeface="Arial" panose="020B0604020202020204" pitchFamily="34" charset="0"/>
                <a:cs typeface="Arial" panose="020B0604020202020204" pitchFamily="34" charset="0"/>
              </a:rPr>
              <a:t>allows user to change to effective ID with more rights</a:t>
            </a:r>
          </a:p>
        </p:txBody>
      </p:sp>
    </p:spTree>
    <p:custDataLst>
      <p:tags r:id="rId1"/>
    </p:custDataLst>
    <p:extLst>
      <p:ext uri="{BB962C8B-B14F-4D97-AF65-F5344CB8AC3E}">
        <p14:creationId xmlns:p14="http://schemas.microsoft.com/office/powerpoint/2010/main" val="3073504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I/O System Management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I/O devices of many flavors</a:t>
            </a:r>
          </a:p>
          <a:p>
            <a:pPr lvl="1" algn="just"/>
            <a:r>
              <a:rPr lang="en-US" dirty="0">
                <a:latin typeface="Arial" panose="020B0604020202020204" pitchFamily="34" charset="0"/>
                <a:cs typeface="Arial" panose="020B0604020202020204" pitchFamily="34" charset="0"/>
              </a:rPr>
              <a:t>Storage devices: drives, tapes</a:t>
            </a:r>
          </a:p>
          <a:p>
            <a:pPr lvl="1" algn="just"/>
            <a:r>
              <a:rPr lang="en-US" dirty="0">
                <a:latin typeface="Arial" panose="020B0604020202020204" pitchFamily="34" charset="0"/>
                <a:cs typeface="Arial" panose="020B0604020202020204" pitchFamily="34" charset="0"/>
              </a:rPr>
              <a:t>Transmission devices: NIC, modems</a:t>
            </a:r>
          </a:p>
          <a:p>
            <a:pPr lvl="1" algn="just"/>
            <a:r>
              <a:rPr lang="en-US" dirty="0">
                <a:latin typeface="Arial" panose="020B0604020202020204" pitchFamily="34" charset="0"/>
                <a:cs typeface="Arial" panose="020B0604020202020204" pitchFamily="34" charset="0"/>
              </a:rPr>
              <a:t>Human-interface devices: screen, keyboard, mouse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I/O subsystem hides peculiarities of I/O devices</a:t>
            </a:r>
          </a:p>
          <a:p>
            <a:pPr algn="just"/>
            <a:r>
              <a:rPr lang="en-US" dirty="0">
                <a:latin typeface="Arial" panose="020B0604020202020204" pitchFamily="34" charset="0"/>
                <a:cs typeface="Arial" panose="020B0604020202020204" pitchFamily="34" charset="0"/>
              </a:rPr>
              <a:t>I/O System consists of:</a:t>
            </a:r>
          </a:p>
          <a:p>
            <a:pPr lvl="1" algn="just"/>
            <a:r>
              <a:rPr lang="en-US" dirty="0">
                <a:latin typeface="Arial" panose="020B0604020202020204" pitchFamily="34" charset="0"/>
                <a:cs typeface="Arial" panose="020B0604020202020204" pitchFamily="34" charset="0"/>
              </a:rPr>
              <a:t>A general device-driver interface (wrapper)</a:t>
            </a:r>
          </a:p>
          <a:p>
            <a:pPr lvl="1" algn="just"/>
            <a:r>
              <a:rPr lang="en-US" dirty="0">
                <a:latin typeface="Arial" panose="020B0604020202020204" pitchFamily="34" charset="0"/>
                <a:cs typeface="Arial" panose="020B0604020202020204" pitchFamily="34" charset="0"/>
              </a:rPr>
              <a:t>Drivers for specific hardware devices</a:t>
            </a:r>
          </a:p>
          <a:p>
            <a:pPr lvl="1" algn="just"/>
            <a:r>
              <a:rPr lang="en-US" dirty="0">
                <a:latin typeface="Arial" panose="020B0604020202020204" pitchFamily="34" charset="0"/>
                <a:cs typeface="Arial" panose="020B0604020202020204" pitchFamily="34" charset="0"/>
              </a:rPr>
              <a:t>Buffering/spooling/caching (access locality)</a:t>
            </a:r>
          </a:p>
        </p:txBody>
      </p:sp>
    </p:spTree>
    <p:custDataLst>
      <p:tags r:id="rId1"/>
    </p:custDataLst>
    <p:extLst>
      <p:ext uri="{BB962C8B-B14F-4D97-AF65-F5344CB8AC3E}">
        <p14:creationId xmlns:p14="http://schemas.microsoft.com/office/powerpoint/2010/main" val="1270226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Networking (Distributed Systems)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distributed system</a:t>
            </a:r>
          </a:p>
          <a:p>
            <a:pPr lvl="1" algn="just"/>
            <a:r>
              <a:rPr lang="en-US" dirty="0">
                <a:latin typeface="Arial" panose="020B0604020202020204" pitchFamily="34" charset="0"/>
                <a:cs typeface="Arial" panose="020B0604020202020204" pitchFamily="34" charset="0"/>
              </a:rPr>
              <a:t>A collection of machines that do not share memory or a clock</a:t>
            </a:r>
          </a:p>
          <a:p>
            <a:pPr lvl="1" algn="just"/>
            <a:r>
              <a:rPr lang="en-US" dirty="0">
                <a:latin typeface="Arial" panose="020B0604020202020204" pitchFamily="34" charset="0"/>
                <a:cs typeface="Arial" panose="020B0604020202020204" pitchFamily="34" charset="0"/>
              </a:rPr>
              <a:t>Provides user access to various system resources through a network</a:t>
            </a:r>
          </a:p>
          <a:p>
            <a:pPr lvl="1" algn="just"/>
            <a:r>
              <a:rPr lang="en-US" dirty="0">
                <a:latin typeface="Arial" panose="020B0604020202020204" pitchFamily="34" charset="0"/>
                <a:cs typeface="Arial" panose="020B0604020202020204" pitchFamily="34" charset="0"/>
              </a:rPr>
              <a:t>Examples: WWW, banking, peer-to-peer, Internet, …</a:t>
            </a:r>
          </a:p>
          <a:p>
            <a:pPr lvl="1" algn="just"/>
            <a:r>
              <a:rPr lang="en-US" dirty="0">
                <a:latin typeface="Arial" panose="020B0604020202020204" pitchFamily="34" charset="0"/>
                <a:cs typeface="Arial" panose="020B0604020202020204" pitchFamily="34" charset="0"/>
              </a:rPr>
              <a:t>Allows computation speed-up, increased data availability, enhanced reliability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OS is responsible for</a:t>
            </a:r>
          </a:p>
          <a:p>
            <a:pPr lvl="1" algn="just"/>
            <a:r>
              <a:rPr lang="en-US" dirty="0">
                <a:latin typeface="Arial" panose="020B0604020202020204" pitchFamily="34" charset="0"/>
                <a:cs typeface="Arial" panose="020B0604020202020204" pitchFamily="34" charset="0"/>
              </a:rPr>
              <a:t>Communication between processes</a:t>
            </a:r>
          </a:p>
          <a:p>
            <a:pPr lvl="1" algn="just"/>
            <a:r>
              <a:rPr lang="en-US" dirty="0">
                <a:latin typeface="Arial" panose="020B0604020202020204" pitchFamily="34" charset="0"/>
                <a:cs typeface="Arial" panose="020B0604020202020204" pitchFamily="34" charset="0"/>
              </a:rPr>
              <a:t>Reliability – reliable protocols</a:t>
            </a:r>
          </a:p>
        </p:txBody>
      </p:sp>
    </p:spTree>
    <p:custDataLst>
      <p:tags r:id="rId1"/>
    </p:custDataLst>
    <p:extLst>
      <p:ext uri="{BB962C8B-B14F-4D97-AF65-F5344CB8AC3E}">
        <p14:creationId xmlns:p14="http://schemas.microsoft.com/office/powerpoint/2010/main" val="551383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Command-Interpreter System</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10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Command-Interpreter System: </a:t>
            </a:r>
            <a:r>
              <a:rPr lang="en-US" dirty="0">
                <a:latin typeface="Arial" panose="020B0604020202020204" pitchFamily="34" charset="0"/>
                <a:cs typeface="Arial" panose="020B0604020202020204" pitchFamily="34" charset="0"/>
              </a:rPr>
              <a:t>An interface between user and OS that primarily fetches a command from user and executes it</a:t>
            </a:r>
          </a:p>
          <a:p>
            <a:pPr algn="just"/>
            <a:r>
              <a:rPr lang="en-US" dirty="0">
                <a:latin typeface="Arial" panose="020B0604020202020204" pitchFamily="34" charset="0"/>
                <a:cs typeface="Arial" panose="020B0604020202020204" pitchFamily="34" charset="0"/>
              </a:rPr>
              <a:t>Many commands are given to the OS by control statements which deal with:</a:t>
            </a:r>
          </a:p>
          <a:p>
            <a:pPr lvl="1" algn="just"/>
            <a:r>
              <a:rPr lang="en-US" dirty="0">
                <a:latin typeface="Arial" panose="020B0604020202020204" pitchFamily="34" charset="0"/>
                <a:cs typeface="Arial" panose="020B0604020202020204" pitchFamily="34" charset="0"/>
              </a:rPr>
              <a:t>Process creation and management (</a:t>
            </a:r>
            <a:r>
              <a:rPr lang="en-US" dirty="0" err="1">
                <a:latin typeface="Arial" panose="020B0604020202020204" pitchFamily="34" charset="0"/>
                <a:cs typeface="Arial" panose="020B0604020202020204" pitchFamily="34" charset="0"/>
              </a:rPr>
              <a:t>a.out</a:t>
            </a:r>
            <a:r>
              <a:rPr lang="en-US" dirty="0">
                <a:latin typeface="Arial" panose="020B0604020202020204" pitchFamily="34" charset="0"/>
                <a:cs typeface="Arial" panose="020B0604020202020204" pitchFamily="34" charset="0"/>
              </a:rPr>
              <a:t>, kill -9)</a:t>
            </a:r>
          </a:p>
          <a:p>
            <a:pPr lvl="1" algn="just"/>
            <a:r>
              <a:rPr lang="en-US" dirty="0">
                <a:latin typeface="Arial" panose="020B0604020202020204" pitchFamily="34" charset="0"/>
                <a:cs typeface="Arial" panose="020B0604020202020204" pitchFamily="34" charset="0"/>
              </a:rPr>
              <a:t>Secondary-storage management (partition disk)</a:t>
            </a:r>
          </a:p>
          <a:p>
            <a:pPr lvl="1" algn="just"/>
            <a:r>
              <a:rPr lang="en-US" dirty="0">
                <a:latin typeface="Arial" panose="020B0604020202020204" pitchFamily="34" charset="0"/>
                <a:cs typeface="Arial" panose="020B0604020202020204" pitchFamily="34" charset="0"/>
              </a:rPr>
              <a:t>File system: Access (ls, cat), protection (</a:t>
            </a:r>
            <a:r>
              <a:rPr lang="en-US" dirty="0" err="1">
                <a:latin typeface="Arial" panose="020B0604020202020204" pitchFamily="34" charset="0"/>
                <a:cs typeface="Arial" panose="020B0604020202020204" pitchFamily="34" charset="0"/>
              </a:rPr>
              <a:t>chmod</a:t>
            </a:r>
            <a:r>
              <a:rPr lang="en-US" dirty="0">
                <a:latin typeface="Arial" panose="020B0604020202020204" pitchFamily="34" charset="0"/>
                <a:cs typeface="Arial" panose="020B0604020202020204" pitchFamily="34" charset="0"/>
              </a:rPr>
              <a:t> 700 *, </a:t>
            </a:r>
            <a:r>
              <a:rPr lang="en-US" dirty="0" err="1">
                <a:latin typeface="Arial" panose="020B0604020202020204" pitchFamily="34" charset="0"/>
                <a:cs typeface="Arial" panose="020B0604020202020204" pitchFamily="34" charset="0"/>
              </a:rPr>
              <a:t>umask</a:t>
            </a:r>
            <a:r>
              <a:rPr lang="en-US" dirty="0">
                <a:latin typeface="Arial" panose="020B0604020202020204" pitchFamily="34" charset="0"/>
                <a:cs typeface="Arial" panose="020B0604020202020204" pitchFamily="34" charset="0"/>
              </a:rPr>
              <a:t> 077)</a:t>
            </a:r>
          </a:p>
          <a:p>
            <a:pPr lvl="1" algn="just"/>
            <a:r>
              <a:rPr lang="en-US" dirty="0">
                <a:latin typeface="Arial" panose="020B0604020202020204" pitchFamily="34" charset="0"/>
                <a:cs typeface="Arial" panose="020B0604020202020204" pitchFamily="34" charset="0"/>
              </a:rPr>
              <a:t>Networking (telnet, ssh)</a:t>
            </a:r>
          </a:p>
          <a:p>
            <a:pPr lvl="1" algn="just"/>
            <a:r>
              <a:rPr lang="en-US" dirty="0">
                <a:latin typeface="Arial" panose="020B0604020202020204" pitchFamily="34" charset="0"/>
                <a:cs typeface="Arial" panose="020B0604020202020204" pitchFamily="34" charset="0"/>
              </a:rPr>
              <a:t>Monitoring (</a:t>
            </a:r>
            <a:r>
              <a:rPr lang="en-US" dirty="0" err="1">
                <a:latin typeface="Arial" panose="020B0604020202020204" pitchFamily="34" charset="0"/>
                <a:cs typeface="Arial" panose="020B0604020202020204" pitchFamily="34" charset="0"/>
              </a:rPr>
              <a:t>ps</a:t>
            </a:r>
            <a:r>
              <a:rPr lang="en-US" dirty="0">
                <a:latin typeface="Arial" panose="020B0604020202020204" pitchFamily="34" charset="0"/>
                <a:cs typeface="Arial" panose="020B0604020202020204" pitchFamily="34" charset="0"/>
              </a:rPr>
              <a:t>, top, </a:t>
            </a:r>
            <a:r>
              <a:rPr lang="en-US" dirty="0" err="1">
                <a:latin typeface="Arial" panose="020B0604020202020204" pitchFamily="34" charset="0"/>
                <a:cs typeface="Arial" panose="020B0604020202020204" pitchFamily="34" charset="0"/>
              </a:rPr>
              <a:t>vmstat</a:t>
            </a:r>
            <a:r>
              <a:rPr lang="en-US" dirty="0">
                <a:latin typeface="Arial" panose="020B0604020202020204" pitchFamily="34" charset="0"/>
                <a:cs typeface="Arial" panose="020B0604020202020204" pitchFamily="34" charset="0"/>
              </a:rPr>
              <a:t>, netstat)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Wide range of different approaches to the interface</a:t>
            </a:r>
          </a:p>
          <a:p>
            <a:pPr lvl="1" algn="just"/>
            <a:r>
              <a:rPr lang="en-US" dirty="0">
                <a:latin typeface="Arial" panose="020B0604020202020204" pitchFamily="34" charset="0"/>
                <a:cs typeface="Arial" panose="020B0604020202020204" pitchFamily="34" charset="0"/>
              </a:rPr>
              <a:t>Mouse-based windows-and-menus GUI (Mac, Windows)</a:t>
            </a:r>
          </a:p>
          <a:p>
            <a:pPr lvl="1" algn="just"/>
            <a:r>
              <a:rPr lang="en-US" dirty="0">
                <a:latin typeface="Arial" panose="020B0604020202020204" pitchFamily="34" charset="0"/>
                <a:cs typeface="Arial" panose="020B0604020202020204" pitchFamily="34" charset="0"/>
              </a:rPr>
              <a:t>Command line (UNIX)</a:t>
            </a:r>
          </a:p>
          <a:p>
            <a:pPr lvl="1" algn="just"/>
            <a:r>
              <a:rPr lang="en-US" dirty="0">
                <a:latin typeface="Arial" panose="020B0604020202020204" pitchFamily="34" charset="0"/>
                <a:cs typeface="Arial" panose="020B0604020202020204" pitchFamily="34" charset="0"/>
              </a:rPr>
              <a:t>Touchscreen (Mobile devices)</a:t>
            </a:r>
          </a:p>
          <a:p>
            <a:pPr lvl="1" algn="just"/>
            <a:r>
              <a:rPr lang="en-US" dirty="0">
                <a:latin typeface="Arial" panose="020B0604020202020204" pitchFamily="34" charset="0"/>
                <a:cs typeface="Arial" panose="020B0604020202020204" pitchFamily="34" charset="0"/>
              </a:rPr>
              <a:t>Voice Commands</a:t>
            </a:r>
          </a:p>
        </p:txBody>
      </p:sp>
      <p:pic>
        <p:nvPicPr>
          <p:cNvPr id="21507" name="Picture 2">
            <a:extLst>
              <a:ext uri="{FF2B5EF4-FFF2-40B4-BE49-F238E27FC236}">
                <a16:creationId xmlns:a16="http://schemas.microsoft.com/office/drawing/2014/main" id="{1A3B6206-A655-48E2-8075-716970A25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5108" y="5207894"/>
            <a:ext cx="2298497" cy="1591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2">
            <a:extLst>
              <a:ext uri="{FF2B5EF4-FFF2-40B4-BE49-F238E27FC236}">
                <a16:creationId xmlns:a16="http://schemas.microsoft.com/office/drawing/2014/main" id="{CCAA7F76-25AE-454A-9EE9-98408A6110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4602" y="2813539"/>
            <a:ext cx="1278937" cy="227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304447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 View of Operating System Services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pic>
        <p:nvPicPr>
          <p:cNvPr id="9219" name="Picture 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620" y="1549400"/>
            <a:ext cx="9964325" cy="4974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109018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Operating System Debugging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16495" cy="524649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Debugging</a:t>
            </a:r>
            <a:r>
              <a:rPr lang="en-US" dirty="0">
                <a:latin typeface="Arial" panose="020B0604020202020204" pitchFamily="34" charset="0"/>
                <a:cs typeface="Arial" panose="020B0604020202020204" pitchFamily="34" charset="0"/>
              </a:rPr>
              <a:t> is finding and fixing errors, or </a:t>
            </a:r>
            <a:r>
              <a:rPr lang="en-US" b="1" dirty="0">
                <a:solidFill>
                  <a:srgbClr val="FF0000"/>
                </a:solidFill>
                <a:latin typeface="Arial" panose="020B0604020202020204" pitchFamily="34" charset="0"/>
                <a:cs typeface="Arial" panose="020B0604020202020204" pitchFamily="34" charset="0"/>
              </a:rPr>
              <a:t>bugs</a:t>
            </a:r>
          </a:p>
          <a:p>
            <a:pPr algn="just"/>
            <a:r>
              <a:rPr lang="en-US" dirty="0">
                <a:latin typeface="Arial" panose="020B0604020202020204" pitchFamily="34" charset="0"/>
                <a:cs typeface="Arial" panose="020B0604020202020204" pitchFamily="34" charset="0"/>
              </a:rPr>
              <a:t>OS generate </a:t>
            </a:r>
            <a:r>
              <a:rPr lang="en-US" b="1" dirty="0">
                <a:solidFill>
                  <a:srgbClr val="FF0000"/>
                </a:solidFill>
                <a:latin typeface="Arial" panose="020B0604020202020204" pitchFamily="34" charset="0"/>
                <a:cs typeface="Arial" panose="020B0604020202020204" pitchFamily="34" charset="0"/>
              </a:rPr>
              <a:t>log files </a:t>
            </a:r>
            <a:r>
              <a:rPr lang="en-US" dirty="0">
                <a:latin typeface="Arial" panose="020B0604020202020204" pitchFamily="34" charset="0"/>
                <a:cs typeface="Arial" panose="020B0604020202020204" pitchFamily="34" charset="0"/>
              </a:rPr>
              <a:t>containing error information</a:t>
            </a:r>
          </a:p>
          <a:p>
            <a:pPr algn="just"/>
            <a:r>
              <a:rPr lang="en-US" dirty="0">
                <a:latin typeface="Arial" panose="020B0604020202020204" pitchFamily="34" charset="0"/>
                <a:cs typeface="Arial" panose="020B0604020202020204" pitchFamily="34" charset="0"/>
              </a:rPr>
              <a:t>Application failure generates </a:t>
            </a:r>
            <a:r>
              <a:rPr lang="en-US" b="1" dirty="0">
                <a:solidFill>
                  <a:srgbClr val="FF0000"/>
                </a:solidFill>
                <a:latin typeface="Arial" panose="020B0604020202020204" pitchFamily="34" charset="0"/>
                <a:cs typeface="Arial" panose="020B0604020202020204" pitchFamily="34" charset="0"/>
              </a:rPr>
              <a:t>core dump</a:t>
            </a:r>
            <a:r>
              <a:rPr lang="en-US" dirty="0">
                <a:latin typeface="Arial" panose="020B0604020202020204" pitchFamily="34" charset="0"/>
                <a:cs typeface="Arial" panose="020B0604020202020204" pitchFamily="34" charset="0"/>
              </a:rPr>
              <a:t> file capturing memory of the process</a:t>
            </a:r>
          </a:p>
          <a:p>
            <a:pPr algn="just"/>
            <a:r>
              <a:rPr lang="en-US" dirty="0">
                <a:latin typeface="Arial" panose="020B0604020202020204" pitchFamily="34" charset="0"/>
                <a:cs typeface="Arial" panose="020B0604020202020204" pitchFamily="34" charset="0"/>
              </a:rPr>
              <a:t>OS failure generates </a:t>
            </a:r>
            <a:r>
              <a:rPr lang="en-US" b="1" dirty="0">
                <a:solidFill>
                  <a:srgbClr val="FF0000"/>
                </a:solidFill>
                <a:latin typeface="Arial" panose="020B0604020202020204" pitchFamily="34" charset="0"/>
                <a:cs typeface="Arial" panose="020B0604020202020204" pitchFamily="34" charset="0"/>
              </a:rPr>
              <a:t>crash dump </a:t>
            </a:r>
            <a:r>
              <a:rPr lang="en-US" dirty="0">
                <a:latin typeface="Arial" panose="020B0604020202020204" pitchFamily="34" charset="0"/>
                <a:cs typeface="Arial" panose="020B0604020202020204" pitchFamily="34" charset="0"/>
              </a:rPr>
              <a:t>file containing kernel memory</a:t>
            </a:r>
          </a:p>
          <a:p>
            <a:pPr algn="just"/>
            <a:r>
              <a:rPr lang="en-US" dirty="0">
                <a:latin typeface="Arial" panose="020B0604020202020204" pitchFamily="34" charset="0"/>
                <a:cs typeface="Arial" panose="020B0604020202020204" pitchFamily="34" charset="0"/>
              </a:rPr>
              <a:t>Beyond crashes, performance tuning can optimize system performance</a:t>
            </a:r>
          </a:p>
          <a:p>
            <a:pPr lvl="1" algn="just"/>
            <a:r>
              <a:rPr lang="en-US" dirty="0">
                <a:latin typeface="Arial" panose="020B0604020202020204" pitchFamily="34" charset="0"/>
                <a:cs typeface="Arial" panose="020B0604020202020204" pitchFamily="34" charset="0"/>
              </a:rPr>
              <a:t>Sometimes using </a:t>
            </a:r>
            <a:r>
              <a:rPr lang="en-US" b="1" dirty="0">
                <a:latin typeface="Arial" panose="020B0604020202020204" pitchFamily="34" charset="0"/>
                <a:cs typeface="Arial" panose="020B0604020202020204" pitchFamily="34" charset="0"/>
              </a:rPr>
              <a:t>trace listings</a:t>
            </a:r>
            <a:r>
              <a:rPr lang="en-US" dirty="0">
                <a:latin typeface="Arial" panose="020B0604020202020204" pitchFamily="34" charset="0"/>
                <a:cs typeface="Arial" panose="020B0604020202020204" pitchFamily="34" charset="0"/>
              </a:rPr>
              <a:t> of activities, recorded for analysis</a:t>
            </a:r>
          </a:p>
          <a:p>
            <a:pPr lvl="1" algn="just"/>
            <a:r>
              <a:rPr lang="en-US" b="1" dirty="0">
                <a:solidFill>
                  <a:srgbClr val="FF0000"/>
                </a:solidFill>
                <a:latin typeface="Arial" panose="020B0604020202020204" pitchFamily="34" charset="0"/>
                <a:cs typeface="Arial" panose="020B0604020202020204" pitchFamily="34" charset="0"/>
              </a:rPr>
              <a:t>Profiling</a:t>
            </a:r>
            <a:r>
              <a:rPr lang="en-US" dirty="0">
                <a:latin typeface="Arial" panose="020B0604020202020204" pitchFamily="34" charset="0"/>
                <a:cs typeface="Arial" panose="020B0604020202020204" pitchFamily="34" charset="0"/>
              </a:rPr>
              <a:t> is periodic sampling of instruction pointer to look for statistical trends</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marL="114300" indent="0" algn="just">
              <a:buNone/>
            </a:pPr>
            <a:r>
              <a:rPr lang="en-US" b="1" dirty="0">
                <a:latin typeface="Arial" panose="020B0604020202020204" pitchFamily="34" charset="0"/>
                <a:cs typeface="Arial" panose="020B0604020202020204" pitchFamily="34" charset="0"/>
              </a:rPr>
              <a:t>Kernighan’s Law</a:t>
            </a:r>
            <a:r>
              <a:rPr lang="en-US" dirty="0">
                <a:latin typeface="Arial" panose="020B0604020202020204" pitchFamily="34" charset="0"/>
                <a:cs typeface="Arial" panose="020B0604020202020204" pitchFamily="34" charset="0"/>
              </a:rPr>
              <a:t>: “Debugging is twice as hard as writing the code in the first place. Therefore, if you write the code as cleverly as possible, you are, by definition, not smart enough to debug it.”</a:t>
            </a:r>
          </a:p>
        </p:txBody>
      </p:sp>
    </p:spTree>
    <p:custDataLst>
      <p:tags r:id="rId1"/>
    </p:custDataLst>
    <p:extLst>
      <p:ext uri="{BB962C8B-B14F-4D97-AF65-F5344CB8AC3E}">
        <p14:creationId xmlns:p14="http://schemas.microsoft.com/office/powerpoint/2010/main" val="67191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Performance Tuning and Tracing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481327" cy="524649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Debugging interactions between user-level and kernel code nearly impossible without toolset that understands both and an instrument their actions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OS must provide means of computing and displaying measures of system behavior to improve performance by removing bottlenecks </a:t>
            </a:r>
          </a:p>
          <a:p>
            <a:pPr lvl="1" algn="just"/>
            <a:r>
              <a:rPr lang="en-US" dirty="0">
                <a:latin typeface="Arial" panose="020B0604020202020204" pitchFamily="34" charset="0"/>
                <a:cs typeface="Arial" panose="020B0604020202020204" pitchFamily="34" charset="0"/>
              </a:rPr>
              <a:t>top</a:t>
            </a:r>
          </a:p>
          <a:p>
            <a:pPr lvl="1" algn="just"/>
            <a:r>
              <a:rPr lang="en-US" dirty="0">
                <a:latin typeface="Arial" panose="020B0604020202020204" pitchFamily="34" charset="0"/>
                <a:cs typeface="Arial" panose="020B0604020202020204" pitchFamily="34" charset="0"/>
              </a:rPr>
              <a:t>Windows task manager</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OS must provide means of collecting data for a specific event, such as steps involved in a system call invocation</a:t>
            </a:r>
          </a:p>
          <a:p>
            <a:pPr lvl="1" algn="just"/>
            <a:r>
              <a:rPr lang="en-US" dirty="0" err="1">
                <a:latin typeface="Arial" panose="020B0604020202020204" pitchFamily="34" charset="0"/>
                <a:cs typeface="Arial" panose="020B0604020202020204" pitchFamily="34" charset="0"/>
              </a:rPr>
              <a:t>strace</a:t>
            </a:r>
            <a:r>
              <a:rPr lang="en-US" dirty="0">
                <a:latin typeface="Arial" panose="020B0604020202020204" pitchFamily="34" charset="0"/>
                <a:cs typeface="Arial" panose="020B0604020202020204" pitchFamily="34" charset="0"/>
              </a:rPr>
              <a:t> – trace system calls invoked by a process</a:t>
            </a:r>
          </a:p>
          <a:p>
            <a:pPr lvl="1" algn="just"/>
            <a:r>
              <a:rPr lang="en-US" dirty="0" err="1">
                <a:latin typeface="Arial" panose="020B0604020202020204" pitchFamily="34" charset="0"/>
                <a:cs typeface="Arial" panose="020B0604020202020204" pitchFamily="34" charset="0"/>
              </a:rPr>
              <a:t>gdb</a:t>
            </a:r>
            <a:r>
              <a:rPr lang="en-US" dirty="0">
                <a:latin typeface="Arial" panose="020B0604020202020204" pitchFamily="34" charset="0"/>
                <a:cs typeface="Arial" panose="020B0604020202020204" pitchFamily="34" charset="0"/>
              </a:rPr>
              <a:t> – source-level debugger</a:t>
            </a:r>
          </a:p>
          <a:p>
            <a:pPr lvl="1" algn="just"/>
            <a:r>
              <a:rPr lang="en-US" dirty="0">
                <a:latin typeface="Arial" panose="020B0604020202020204" pitchFamily="34" charset="0"/>
                <a:cs typeface="Arial" panose="020B0604020202020204" pitchFamily="34" charset="0"/>
              </a:rPr>
              <a:t>perf – collection of Linux performance tools</a:t>
            </a:r>
          </a:p>
          <a:p>
            <a:pPr lvl="1" algn="just"/>
            <a:r>
              <a:rPr lang="en-US" dirty="0" err="1">
                <a:latin typeface="Arial" panose="020B0604020202020204" pitchFamily="34" charset="0"/>
                <a:cs typeface="Arial" panose="020B0604020202020204" pitchFamily="34" charset="0"/>
              </a:rPr>
              <a:t>tcpdump</a:t>
            </a:r>
            <a:r>
              <a:rPr lang="en-US" dirty="0">
                <a:latin typeface="Arial" panose="020B0604020202020204" pitchFamily="34" charset="0"/>
                <a:cs typeface="Arial" panose="020B0604020202020204" pitchFamily="34" charset="0"/>
              </a:rPr>
              <a:t> – collects network packets</a:t>
            </a:r>
          </a:p>
          <a:p>
            <a:pPr marL="411480" lvl="1" indent="0" algn="just">
              <a:buNone/>
            </a:pP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014495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Linux bcc/BPF Tracing Tools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pic>
        <p:nvPicPr>
          <p:cNvPr id="115715" name="Picture 3">
            <a:extLst>
              <a:ext uri="{FF2B5EF4-FFF2-40B4-BE49-F238E27FC236}">
                <a16:creationId xmlns:a16="http://schemas.microsoft.com/office/drawing/2014/main" id="{4785D27E-8BE3-4317-8EE3-9C44AB56C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915" y="1336431"/>
            <a:ext cx="7531100" cy="527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17824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Why Start With Hardware?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16495"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OS functionality fundamentally depends upon architectural features</a:t>
            </a:r>
          </a:p>
          <a:p>
            <a:pPr lvl="1" algn="just"/>
            <a:r>
              <a:rPr lang="en-US" dirty="0">
                <a:latin typeface="Arial" panose="020B0604020202020204" pitchFamily="34" charset="0"/>
                <a:cs typeface="Arial" panose="020B0604020202020204" pitchFamily="34" charset="0"/>
              </a:rPr>
              <a:t>Key goals of an OS are to enforce </a:t>
            </a:r>
            <a:r>
              <a:rPr lang="en-US" b="1" dirty="0">
                <a:solidFill>
                  <a:srgbClr val="FF0000"/>
                </a:solidFill>
                <a:latin typeface="Arial" panose="020B0604020202020204" pitchFamily="34" charset="0"/>
                <a:cs typeface="Arial" panose="020B0604020202020204" pitchFamily="34" charset="0"/>
              </a:rPr>
              <a:t>protection</a:t>
            </a:r>
            <a:r>
              <a:rPr lang="en-US" dirty="0">
                <a:latin typeface="Arial" panose="020B0604020202020204" pitchFamily="34" charset="0"/>
                <a:cs typeface="Arial" panose="020B0604020202020204" pitchFamily="34" charset="0"/>
              </a:rPr>
              <a:t> and </a:t>
            </a:r>
            <a:r>
              <a:rPr lang="en-US" b="1" dirty="0">
                <a:solidFill>
                  <a:srgbClr val="FF0000"/>
                </a:solidFill>
                <a:latin typeface="Arial" panose="020B0604020202020204" pitchFamily="34" charset="0"/>
                <a:cs typeface="Arial" panose="020B0604020202020204" pitchFamily="34" charset="0"/>
              </a:rPr>
              <a:t>resource sharing</a:t>
            </a:r>
          </a:p>
          <a:p>
            <a:pPr lvl="1" algn="just"/>
            <a:r>
              <a:rPr lang="en-US" dirty="0">
                <a:latin typeface="Arial" panose="020B0604020202020204" pitchFamily="34" charset="0"/>
                <a:cs typeface="Arial" panose="020B0604020202020204" pitchFamily="34" charset="0"/>
              </a:rPr>
              <a:t>If done well, applications can be oblivious to hardware details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Architectural support can greatly simplify or complicate OS tasks</a:t>
            </a:r>
          </a:p>
          <a:p>
            <a:pPr lvl="1" algn="just"/>
            <a:r>
              <a:rPr lang="en-US" dirty="0">
                <a:latin typeface="Arial" panose="020B0604020202020204" pitchFamily="34" charset="0"/>
                <a:cs typeface="Arial" panose="020B0604020202020204" pitchFamily="34" charset="0"/>
              </a:rPr>
              <a:t>Early DOS, MacOS lacked virtual memory in part because the HW did not support it</a:t>
            </a:r>
          </a:p>
          <a:p>
            <a:pPr lvl="1" algn="just"/>
            <a:r>
              <a:rPr lang="en-US" dirty="0">
                <a:latin typeface="Arial" panose="020B0604020202020204" pitchFamily="34" charset="0"/>
                <a:cs typeface="Arial" panose="020B0604020202020204" pitchFamily="34" charset="0"/>
              </a:rPr>
              <a:t>Early Sun I computers used two M68000 CPUs to implement virtual memory</a:t>
            </a:r>
          </a:p>
        </p:txBody>
      </p:sp>
    </p:spTree>
    <p:custDataLst>
      <p:tags r:id="rId1"/>
    </p:custDataLst>
    <p:extLst>
      <p:ext uri="{BB962C8B-B14F-4D97-AF65-F5344CB8AC3E}">
        <p14:creationId xmlns:p14="http://schemas.microsoft.com/office/powerpoint/2010/main" val="1000623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Architectural Features for OS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16495"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Features that directly support the OS include</a:t>
            </a:r>
          </a:p>
          <a:p>
            <a:pPr lvl="1" algn="just"/>
            <a:r>
              <a:rPr lang="en-US" dirty="0">
                <a:latin typeface="Arial" panose="020B0604020202020204" pitchFamily="34" charset="0"/>
                <a:cs typeface="Arial" panose="020B0604020202020204" pitchFamily="34" charset="0"/>
              </a:rPr>
              <a:t>Bootstrapping</a:t>
            </a:r>
            <a:endParaRPr lang="en-US" b="1" dirty="0">
              <a:solidFill>
                <a:srgbClr val="FF0000"/>
              </a:solidFill>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Protection (kernel/user mode)</a:t>
            </a:r>
          </a:p>
          <a:p>
            <a:pPr lvl="1" algn="just"/>
            <a:r>
              <a:rPr lang="en-US" dirty="0">
                <a:latin typeface="Arial" panose="020B0604020202020204" pitchFamily="34" charset="0"/>
                <a:cs typeface="Arial" panose="020B0604020202020204" pitchFamily="34" charset="0"/>
              </a:rPr>
              <a:t>Protected instructions </a:t>
            </a:r>
          </a:p>
          <a:p>
            <a:pPr lvl="1" algn="just"/>
            <a:r>
              <a:rPr lang="en-US" dirty="0">
                <a:latin typeface="Arial" panose="020B0604020202020204" pitchFamily="34" charset="0"/>
                <a:cs typeface="Arial" panose="020B0604020202020204" pitchFamily="34" charset="0"/>
              </a:rPr>
              <a:t>Memory protection</a:t>
            </a:r>
          </a:p>
          <a:p>
            <a:pPr lvl="1" algn="just"/>
            <a:r>
              <a:rPr lang="en-US" dirty="0">
                <a:latin typeface="Arial" panose="020B0604020202020204" pitchFamily="34" charset="0"/>
                <a:cs typeface="Arial" panose="020B0604020202020204" pitchFamily="34" charset="0"/>
              </a:rPr>
              <a:t>System calls</a:t>
            </a:r>
          </a:p>
          <a:p>
            <a:pPr lvl="1" algn="just"/>
            <a:r>
              <a:rPr lang="en-US" dirty="0">
                <a:latin typeface="Arial" panose="020B0604020202020204" pitchFamily="34" charset="0"/>
                <a:cs typeface="Arial" panose="020B0604020202020204" pitchFamily="34" charset="0"/>
              </a:rPr>
              <a:t>Interrupts and exceptions</a:t>
            </a:r>
          </a:p>
          <a:p>
            <a:pPr lvl="1" algn="just"/>
            <a:r>
              <a:rPr lang="en-US" dirty="0">
                <a:latin typeface="Arial" panose="020B0604020202020204" pitchFamily="34" charset="0"/>
                <a:cs typeface="Arial" panose="020B0604020202020204" pitchFamily="34" charset="0"/>
              </a:rPr>
              <a:t>Timer</a:t>
            </a:r>
          </a:p>
          <a:p>
            <a:pPr lvl="1" algn="just"/>
            <a:r>
              <a:rPr lang="en-US" dirty="0">
                <a:latin typeface="Arial" panose="020B0604020202020204" pitchFamily="34" charset="0"/>
                <a:cs typeface="Arial" panose="020B0604020202020204" pitchFamily="34" charset="0"/>
              </a:rPr>
              <a:t>I/O control and operation</a:t>
            </a:r>
          </a:p>
          <a:p>
            <a:pPr lvl="1" algn="just"/>
            <a:r>
              <a:rPr lang="en-US" dirty="0">
                <a:latin typeface="Arial" panose="020B0604020202020204" pitchFamily="34" charset="0"/>
                <a:cs typeface="Arial" panose="020B0604020202020204" pitchFamily="34" charset="0"/>
              </a:rPr>
              <a:t>Synchronization</a:t>
            </a:r>
          </a:p>
        </p:txBody>
      </p:sp>
    </p:spTree>
    <p:custDataLst>
      <p:tags r:id="rId1"/>
    </p:custDataLst>
    <p:extLst>
      <p:ext uri="{BB962C8B-B14F-4D97-AF65-F5344CB8AC3E}">
        <p14:creationId xmlns:p14="http://schemas.microsoft.com/office/powerpoint/2010/main" val="1194400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Types of Architectural Support</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16495"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Manipulating </a:t>
            </a:r>
            <a:r>
              <a:rPr lang="en-US" b="1" dirty="0">
                <a:solidFill>
                  <a:srgbClr val="00B050"/>
                </a:solidFill>
                <a:latin typeface="Arial" panose="020B0604020202020204" pitchFamily="34" charset="0"/>
                <a:cs typeface="Arial" panose="020B0604020202020204" pitchFamily="34" charset="0"/>
              </a:rPr>
              <a:t>privileged</a:t>
            </a:r>
            <a:r>
              <a:rPr lang="en-US" dirty="0">
                <a:latin typeface="Arial" panose="020B0604020202020204" pitchFamily="34" charset="0"/>
                <a:cs typeface="Arial" panose="020B0604020202020204" pitchFamily="34" charset="0"/>
              </a:rPr>
              <a:t> machine state</a:t>
            </a:r>
          </a:p>
          <a:p>
            <a:pPr lvl="1" algn="just"/>
            <a:r>
              <a:rPr lang="en-US" dirty="0">
                <a:latin typeface="Arial" panose="020B0604020202020204" pitchFamily="34" charset="0"/>
                <a:cs typeface="Arial" panose="020B0604020202020204" pitchFamily="34" charset="0"/>
              </a:rPr>
              <a:t>Protected instructions </a:t>
            </a:r>
          </a:p>
          <a:p>
            <a:pPr lvl="1" algn="just"/>
            <a:r>
              <a:rPr lang="en-US" dirty="0">
                <a:latin typeface="Arial" panose="020B0604020202020204" pitchFamily="34" charset="0"/>
                <a:cs typeface="Arial" panose="020B0604020202020204" pitchFamily="34" charset="0"/>
              </a:rPr>
              <a:t>Manipulate device registers, TLB entries, etc.</a:t>
            </a:r>
          </a:p>
        </p:txBody>
      </p:sp>
    </p:spTree>
    <p:custDataLst>
      <p:tags r:id="rId1"/>
    </p:custDataLst>
    <p:extLst>
      <p:ext uri="{BB962C8B-B14F-4D97-AF65-F5344CB8AC3E}">
        <p14:creationId xmlns:p14="http://schemas.microsoft.com/office/powerpoint/2010/main" val="1096720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Thought Experiment: A World of Anarchy</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16495"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Any program in the system can</a:t>
            </a:r>
          </a:p>
          <a:p>
            <a:pPr lvl="1" algn="just"/>
            <a:r>
              <a:rPr lang="en-US" dirty="0">
                <a:latin typeface="Arial" panose="020B0604020202020204" pitchFamily="34" charset="0"/>
                <a:cs typeface="Arial" panose="020B0604020202020204" pitchFamily="34" charset="0"/>
              </a:rPr>
              <a:t>Directly access I/O devices</a:t>
            </a:r>
          </a:p>
          <a:p>
            <a:pPr lvl="1" algn="just"/>
            <a:r>
              <a:rPr lang="en-US" dirty="0">
                <a:latin typeface="Arial" panose="020B0604020202020204" pitchFamily="34" charset="0"/>
                <a:cs typeface="Arial" panose="020B0604020202020204" pitchFamily="34" charset="0"/>
              </a:rPr>
              <a:t>Write anywhere in the memory</a:t>
            </a:r>
          </a:p>
          <a:p>
            <a:pPr lvl="1" algn="just"/>
            <a:r>
              <a:rPr lang="en-US" dirty="0">
                <a:latin typeface="Arial" panose="020B0604020202020204" pitchFamily="34" charset="0"/>
                <a:cs typeface="Arial" panose="020B0604020202020204" pitchFamily="34" charset="0"/>
              </a:rPr>
              <a:t>Read content from any memory address</a:t>
            </a:r>
          </a:p>
          <a:p>
            <a:pPr lvl="1" algn="just"/>
            <a:r>
              <a:rPr lang="en-US" dirty="0">
                <a:latin typeface="Arial" panose="020B0604020202020204" pitchFamily="34" charset="0"/>
                <a:cs typeface="Arial" panose="020B0604020202020204" pitchFamily="34" charset="0"/>
              </a:rPr>
              <a:t>Execute machine halt instruction</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Do you trust such system?</a:t>
            </a:r>
          </a:p>
          <a:p>
            <a:pPr lvl="1" algn="just"/>
            <a:r>
              <a:rPr lang="en-US" dirty="0">
                <a:latin typeface="Arial" panose="020B0604020202020204" pitchFamily="34" charset="0"/>
                <a:cs typeface="Arial" panose="020B0604020202020204" pitchFamily="34" charset="0"/>
              </a:rPr>
              <a:t>Use Facebook app in this system</a:t>
            </a:r>
          </a:p>
          <a:p>
            <a:pPr lvl="1" algn="just"/>
            <a:r>
              <a:rPr lang="en-US" dirty="0">
                <a:latin typeface="Arial" panose="020B0604020202020204" pitchFamily="34" charset="0"/>
                <a:cs typeface="Arial" panose="020B0604020202020204" pitchFamily="34" charset="0"/>
              </a:rPr>
              <a:t>Use Banking app in this system</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Challenge: </a:t>
            </a:r>
            <a:r>
              <a:rPr lang="en-US" b="1" dirty="0">
                <a:solidFill>
                  <a:srgbClr val="00B050"/>
                </a:solidFill>
                <a:latin typeface="Arial" panose="020B0604020202020204" pitchFamily="34" charset="0"/>
                <a:cs typeface="Arial" panose="020B0604020202020204" pitchFamily="34" charset="0"/>
              </a:rPr>
              <a:t>Protection</a:t>
            </a:r>
          </a:p>
          <a:p>
            <a:pPr lvl="1" algn="just"/>
            <a:r>
              <a:rPr lang="en-US" b="1" dirty="0">
                <a:solidFill>
                  <a:srgbClr val="0070C0"/>
                </a:solidFill>
                <a:latin typeface="Arial" panose="020B0604020202020204" pitchFamily="34" charset="0"/>
                <a:cs typeface="Arial" panose="020B0604020202020204" pitchFamily="34" charset="0"/>
              </a:rPr>
              <a:t>How to execute a program with restricted privilege?</a:t>
            </a:r>
          </a:p>
        </p:txBody>
      </p:sp>
    </p:spTree>
    <p:custDataLst>
      <p:tags r:id="rId1"/>
    </p:custDataLst>
    <p:extLst>
      <p:ext uri="{BB962C8B-B14F-4D97-AF65-F5344CB8AC3E}">
        <p14:creationId xmlns:p14="http://schemas.microsoft.com/office/powerpoint/2010/main" val="186910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H/W Support: Dual-mode Operation in CPU</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23530" cy="523711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User-mode</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Limited privileges</a:t>
            </a:r>
          </a:p>
          <a:p>
            <a:pPr lvl="1" algn="just"/>
            <a:r>
              <a:rPr lang="en-US" dirty="0">
                <a:latin typeface="Arial" panose="020B0604020202020204" pitchFamily="34" charset="0"/>
                <a:cs typeface="Arial" panose="020B0604020202020204" pitchFamily="34" charset="0"/>
              </a:rPr>
              <a:t>Only those granted by the operating system kernel</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Kernel-mode</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Execution with full privileges of the hardware</a:t>
            </a:r>
            <a:endParaRPr lang="fr-FR" b="1" dirty="0">
              <a:solidFill>
                <a:srgbClr val="FF0000"/>
              </a:solidFill>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Read/write to any memory, access I/O device, read/write disk sector, send/read packet</a:t>
            </a:r>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Mode bit </a:t>
            </a:r>
            <a:r>
              <a:rPr lang="en-US" dirty="0">
                <a:latin typeface="Arial" panose="020B0604020202020204" pitchFamily="34" charset="0"/>
                <a:cs typeface="Arial" panose="020B0604020202020204" pitchFamily="34" charset="0"/>
              </a:rPr>
              <a:t>provided by hardware helps distinguish when system is running user code or kernel code.</a:t>
            </a:r>
          </a:p>
          <a:p>
            <a:pPr lvl="1" algn="just"/>
            <a:r>
              <a:rPr lang="en-US" dirty="0">
                <a:latin typeface="Arial" panose="020B0604020202020204" pitchFamily="34" charset="0"/>
                <a:cs typeface="Arial" panose="020B0604020202020204" pitchFamily="34" charset="0"/>
              </a:rPr>
              <a:t>When user code is executing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mode bit is set to 1</a:t>
            </a:r>
          </a:p>
          <a:p>
            <a:pPr lvl="1" algn="just"/>
            <a:r>
              <a:rPr lang="en-US" dirty="0">
                <a:latin typeface="Arial" panose="020B0604020202020204" pitchFamily="34" charset="0"/>
                <a:cs typeface="Arial" panose="020B0604020202020204" pitchFamily="34" charset="0"/>
              </a:rPr>
              <a:t>When kernel code is executing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mode bit is set to 0</a:t>
            </a:r>
          </a:p>
        </p:txBody>
      </p:sp>
    </p:spTree>
    <p:custDataLst>
      <p:tags r:id="rId1"/>
    </p:custDataLst>
    <p:extLst>
      <p:ext uri="{BB962C8B-B14F-4D97-AF65-F5344CB8AC3E}">
        <p14:creationId xmlns:p14="http://schemas.microsoft.com/office/powerpoint/2010/main" val="2496997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Transition from User to Kernel Mode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25</a:t>
            </a:fld>
            <a:endParaRPr lang="en-US">
              <a:latin typeface="Calibri"/>
            </a:endParaRP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209" y="3552113"/>
            <a:ext cx="9749701" cy="289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41FA9F6F-8232-B4D8-FC3B-C3B068CDD0BA}"/>
              </a:ext>
            </a:extLst>
          </p:cNvPr>
          <p:cNvSpPr txBox="1">
            <a:spLocks noChangeArrowheads="1"/>
          </p:cNvSpPr>
          <p:nvPr/>
        </p:nvSpPr>
        <p:spPr>
          <a:xfrm>
            <a:off x="632151" y="1453241"/>
            <a:ext cx="10436640"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How does a user program request for accessing shared resources (e.g., HDD)? </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How do we guarantee that user does not explicitly set the mode bit to “kernel”?</a:t>
            </a:r>
          </a:p>
          <a:p>
            <a:pPr lvl="1" algn="just"/>
            <a:r>
              <a:rPr lang="en-US" b="1" dirty="0">
                <a:solidFill>
                  <a:srgbClr val="FF0000"/>
                </a:solidFill>
                <a:latin typeface="Arial" panose="020B0604020202020204" pitchFamily="34" charset="0"/>
                <a:cs typeface="Arial" panose="020B0604020202020204" pitchFamily="34" charset="0"/>
              </a:rPr>
              <a:t>System Calls</a:t>
            </a:r>
          </a:p>
        </p:txBody>
      </p:sp>
    </p:spTree>
    <p:custDataLst>
      <p:tags r:id="rId1"/>
    </p:custDataLst>
    <p:extLst>
      <p:ext uri="{BB962C8B-B14F-4D97-AF65-F5344CB8AC3E}">
        <p14:creationId xmlns:p14="http://schemas.microsoft.com/office/powerpoint/2010/main" val="3009161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Calls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27031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Interface between a process and the OS kernel that can be written in high-level language like C or in assembly language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Applications can invoke kernel through </a:t>
            </a:r>
            <a:r>
              <a:rPr lang="en-US" b="1" dirty="0">
                <a:solidFill>
                  <a:srgbClr val="FF0000"/>
                </a:solidFill>
                <a:latin typeface="Arial" panose="020B0604020202020204" pitchFamily="34" charset="0"/>
                <a:cs typeface="Arial" panose="020B0604020202020204" pitchFamily="34" charset="0"/>
              </a:rPr>
              <a:t>system calls</a:t>
            </a:r>
          </a:p>
          <a:p>
            <a:pPr lvl="1" algn="just"/>
            <a:r>
              <a:rPr lang="en-US" dirty="0">
                <a:latin typeface="Arial" panose="020B0604020202020204" pitchFamily="34" charset="0"/>
                <a:cs typeface="Arial" panose="020B0604020202020204" pitchFamily="34" charset="0"/>
              </a:rPr>
              <a:t>Special instructions transfers control to the kernel which dispatches to one of few hundred </a:t>
            </a:r>
            <a:r>
              <a:rPr lang="en-US" dirty="0" err="1">
                <a:latin typeface="Arial" panose="020B0604020202020204" pitchFamily="34" charset="0"/>
                <a:cs typeface="Arial" panose="020B0604020202020204" pitchFamily="34" charset="0"/>
              </a:rPr>
              <a:t>syscall</a:t>
            </a:r>
            <a:r>
              <a:rPr lang="en-US" dirty="0">
                <a:latin typeface="Arial" panose="020B0604020202020204" pitchFamily="34" charset="0"/>
                <a:cs typeface="Arial" panose="020B0604020202020204" pitchFamily="34" charset="0"/>
              </a:rPr>
              <a:t> handlers</a:t>
            </a:r>
          </a:p>
          <a:p>
            <a:pPr marL="114300" indent="0" algn="just">
              <a:buNone/>
            </a:pPr>
            <a:endParaRPr lang="en-US" sz="1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D0005E4-C2C3-66B1-EF17-3A713FF7B9A2}"/>
              </a:ext>
            </a:extLst>
          </p:cNvPr>
          <p:cNvPicPr>
            <a:picLocks noChangeAspect="1"/>
          </p:cNvPicPr>
          <p:nvPr/>
        </p:nvPicPr>
        <p:blipFill>
          <a:blip r:embed="rId3"/>
          <a:stretch>
            <a:fillRect/>
          </a:stretch>
        </p:blipFill>
        <p:spPr>
          <a:xfrm>
            <a:off x="764620" y="4270508"/>
            <a:ext cx="5739999" cy="2268502"/>
          </a:xfrm>
          <a:prstGeom prst="rect">
            <a:avLst/>
          </a:prstGeom>
        </p:spPr>
      </p:pic>
      <p:pic>
        <p:nvPicPr>
          <p:cNvPr id="5" name="Picture 5" descr="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55635" y="4019870"/>
            <a:ext cx="4279295" cy="262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09546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Calls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49305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a:t>
            </a:r>
            <a:r>
              <a:rPr lang="en-US" b="1" dirty="0">
                <a:solidFill>
                  <a:srgbClr val="00B050"/>
                </a:solidFill>
                <a:latin typeface="Arial" panose="020B0604020202020204" pitchFamily="34" charset="0"/>
                <a:cs typeface="Arial" panose="020B0604020202020204" pitchFamily="34" charset="0"/>
              </a:rPr>
              <a:t>only</a:t>
            </a:r>
            <a:r>
              <a:rPr lang="en-US" dirty="0">
                <a:latin typeface="Arial" panose="020B0604020202020204" pitchFamily="34" charset="0"/>
                <a:cs typeface="Arial" panose="020B0604020202020204" pitchFamily="34" charset="0"/>
              </a:rPr>
              <a:t> way for an application to invoke OS services</a:t>
            </a:r>
            <a:endParaRPr lang="en-US" sz="14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Goal</a:t>
            </a:r>
            <a:r>
              <a:rPr lang="en-US" dirty="0">
                <a:latin typeface="Arial" panose="020B0604020202020204" pitchFamily="34" charset="0"/>
                <a:cs typeface="Arial" panose="020B0604020202020204" pitchFamily="34" charset="0"/>
              </a:rPr>
              <a:t>: Do things applications cannot do in unprivileged mode</a:t>
            </a:r>
          </a:p>
          <a:p>
            <a:pPr lvl="1" algn="just"/>
            <a:r>
              <a:rPr lang="en-US" dirty="0">
                <a:latin typeface="Arial" panose="020B0604020202020204" pitchFamily="34" charset="0"/>
                <a:cs typeface="Arial" panose="020B0604020202020204" pitchFamily="34" charset="0"/>
              </a:rPr>
              <a:t>Like a library call, but into more privileged kernel code</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Kernel supplies well-defined system call interface</a:t>
            </a:r>
          </a:p>
          <a:p>
            <a:pPr lvl="1" algn="just"/>
            <a:r>
              <a:rPr lang="en-US" dirty="0">
                <a:latin typeface="Arial" panose="020B0604020202020204" pitchFamily="34" charset="0"/>
                <a:cs typeface="Arial" panose="020B0604020202020204" pitchFamily="34" charset="0"/>
              </a:rPr>
              <a:t>Applications set up </a:t>
            </a:r>
            <a:r>
              <a:rPr lang="en-US" dirty="0" err="1">
                <a:latin typeface="Arial" panose="020B0604020202020204" pitchFamily="34" charset="0"/>
                <a:cs typeface="Arial" panose="020B0604020202020204" pitchFamily="34" charset="0"/>
              </a:rPr>
              <a:t>syscall</a:t>
            </a:r>
            <a:r>
              <a:rPr lang="en-US" dirty="0">
                <a:latin typeface="Arial" panose="020B0604020202020204" pitchFamily="34" charset="0"/>
                <a:cs typeface="Arial" panose="020B0604020202020204" pitchFamily="34" charset="0"/>
              </a:rPr>
              <a:t> arguments and </a:t>
            </a:r>
            <a:r>
              <a:rPr lang="en-US" b="1" dirty="0">
                <a:solidFill>
                  <a:srgbClr val="FF0000"/>
                </a:solidFill>
                <a:latin typeface="Arial" panose="020B0604020202020204" pitchFamily="34" charset="0"/>
                <a:cs typeface="Arial" panose="020B0604020202020204" pitchFamily="34" charset="0"/>
              </a:rPr>
              <a:t>trap to kernel</a:t>
            </a:r>
          </a:p>
          <a:p>
            <a:pPr lvl="1" algn="just"/>
            <a:r>
              <a:rPr lang="en-US" dirty="0">
                <a:latin typeface="Arial" panose="020B0604020202020204" pitchFamily="34" charset="0"/>
                <a:cs typeface="Arial" panose="020B0604020202020204" pitchFamily="34" charset="0"/>
              </a:rPr>
              <a:t>Kernel performs operations and returns results</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Sometimes, directly invoked in many languages (C or C++, Perl) via a high-level </a:t>
            </a:r>
            <a:r>
              <a:rPr lang="en-US" b="1" dirty="0">
                <a:solidFill>
                  <a:srgbClr val="FF0000"/>
                </a:solidFill>
                <a:latin typeface="Arial" panose="020B0604020202020204" pitchFamily="34" charset="0"/>
                <a:cs typeface="Arial" panose="020B0604020202020204" pitchFamily="34" charset="0"/>
              </a:rPr>
              <a:t>Application Programming Interface (API)</a:t>
            </a:r>
            <a:r>
              <a:rPr lang="en-US" dirty="0">
                <a:latin typeface="Arial" panose="020B0604020202020204" pitchFamily="34" charset="0"/>
                <a:cs typeface="Arial" panose="020B0604020202020204" pitchFamily="34" charset="0"/>
              </a:rPr>
              <a:t> rather than direct system call use.</a:t>
            </a:r>
          </a:p>
          <a:p>
            <a:pPr lvl="1" algn="just"/>
            <a:r>
              <a:rPr lang="en-US" dirty="0">
                <a:latin typeface="Arial" panose="020B0604020202020204" pitchFamily="34" charset="0"/>
                <a:cs typeface="Arial" panose="020B0604020202020204" pitchFamily="34" charset="0"/>
              </a:rPr>
              <a:t>Win32, POSIX, Java</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345523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w: Bent-Up 14">
            <a:extLst>
              <a:ext uri="{FF2B5EF4-FFF2-40B4-BE49-F238E27FC236}">
                <a16:creationId xmlns:a16="http://schemas.microsoft.com/office/drawing/2014/main" id="{166B8FFD-D555-CB07-F4D5-9D57BB8C57CF}"/>
              </a:ext>
            </a:extLst>
          </p:cNvPr>
          <p:cNvSpPr/>
          <p:nvPr/>
        </p:nvSpPr>
        <p:spPr>
          <a:xfrm>
            <a:off x="6993252" y="3984920"/>
            <a:ext cx="1215391" cy="1104901"/>
          </a:xfrm>
          <a:prstGeom prst="bentUpArrow">
            <a:avLst>
              <a:gd name="adj1" fmla="val 9095"/>
              <a:gd name="adj2" fmla="val 11207"/>
              <a:gd name="adj3" fmla="val 25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Calls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3619191" y="1483721"/>
            <a:ext cx="3924609" cy="1747159"/>
          </a:xfrm>
          <a:prstGeom prst="rect">
            <a:avLst/>
          </a:prstGeom>
          <a:solidFill>
            <a:srgbClr val="FFCCCC">
              <a:alpha val="50196"/>
            </a:srgbClr>
          </a:solidFill>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0" indent="0" algn="just">
              <a:buNone/>
            </a:pPr>
            <a:r>
              <a:rPr lang="en-US" sz="1800" b="1" i="1" dirty="0">
                <a:solidFill>
                  <a:srgbClr val="0070C0"/>
                </a:solidFill>
                <a:latin typeface="Courier New" panose="02070309020205020404" pitchFamily="49" charset="0"/>
                <a:cs typeface="Courier New" panose="02070309020205020404" pitchFamily="49" charset="0"/>
              </a:rPr>
              <a:t>#</a:t>
            </a:r>
            <a:r>
              <a:rPr lang="en-US" sz="1800" b="1" dirty="0">
                <a:solidFill>
                  <a:srgbClr val="0070C0"/>
                </a:solidFill>
                <a:latin typeface="Courier New" panose="02070309020205020404" pitchFamily="49" charset="0"/>
                <a:cs typeface="Courier New" panose="02070309020205020404" pitchFamily="49" charset="0"/>
              </a:rPr>
              <a:t>include </a:t>
            </a:r>
            <a:r>
              <a:rPr lang="en-US" sz="1800" b="1" dirty="0">
                <a:solidFill>
                  <a:schemeClr val="accent2">
                    <a:lumMod val="75000"/>
                  </a:schemeClr>
                </a:solidFill>
                <a:latin typeface="Courier New" panose="02070309020205020404" pitchFamily="49" charset="0"/>
                <a:cs typeface="Courier New" panose="02070309020205020404" pitchFamily="49" charset="0"/>
              </a:rPr>
              <a:t>&lt;</a:t>
            </a:r>
            <a:r>
              <a:rPr lang="en-US" sz="1800" b="1" i="1" dirty="0" err="1">
                <a:solidFill>
                  <a:schemeClr val="accent2">
                    <a:lumMod val="75000"/>
                  </a:schemeClr>
                </a:solidFill>
                <a:latin typeface="Courier New" panose="02070309020205020404" pitchFamily="49" charset="0"/>
                <a:cs typeface="Courier New" panose="02070309020205020404" pitchFamily="49" charset="0"/>
              </a:rPr>
              <a:t>stdio.h</a:t>
            </a:r>
            <a:r>
              <a:rPr lang="en-US" sz="1800" b="1" dirty="0">
                <a:solidFill>
                  <a:schemeClr val="accent2">
                    <a:lumMod val="75000"/>
                  </a:schemeClr>
                </a:solidFill>
                <a:latin typeface="Courier New" panose="02070309020205020404" pitchFamily="49" charset="0"/>
                <a:cs typeface="Courier New" panose="02070309020205020404" pitchFamily="49" charset="0"/>
              </a:rPr>
              <a:t>&gt;</a:t>
            </a:r>
          </a:p>
          <a:p>
            <a:pPr marL="0" indent="0" algn="just">
              <a:buNone/>
            </a:pPr>
            <a:r>
              <a:rPr lang="en-US" sz="1800" b="1" dirty="0">
                <a:solidFill>
                  <a:srgbClr val="FF0000"/>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a:t>
            </a:r>
            <a:r>
              <a:rPr lang="en-US" sz="1800" b="1" dirty="0">
                <a:solidFill>
                  <a:srgbClr val="00B0F0"/>
                </a:solidFill>
                <a:latin typeface="Courier New" panose="02070309020205020404" pitchFamily="49" charset="0"/>
                <a:cs typeface="Courier New" panose="02070309020205020404" pitchFamily="49" charset="0"/>
              </a:rPr>
              <a:t>main</a:t>
            </a:r>
            <a:r>
              <a:rPr lang="en-US" sz="1800" b="1" dirty="0">
                <a:latin typeface="Courier New" panose="02070309020205020404" pitchFamily="49" charset="0"/>
                <a:cs typeface="Courier New" panose="02070309020205020404" pitchFamily="49" charset="0"/>
              </a:rPr>
              <a:t>() {</a:t>
            </a:r>
          </a:p>
          <a:p>
            <a:pPr marL="0" indent="0" algn="just">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printf</a:t>
            </a:r>
            <a:r>
              <a:rPr lang="en-US" sz="1800" b="1" dirty="0">
                <a:solidFill>
                  <a:srgbClr val="FF0000"/>
                </a:solidFill>
                <a:latin typeface="Courier New" panose="02070309020205020404" pitchFamily="49" charset="0"/>
                <a:cs typeface="Courier New" panose="02070309020205020404" pitchFamily="49" charset="0"/>
              </a:rPr>
              <a:t>(“Hello OS!\</a:t>
            </a:r>
            <a:r>
              <a:rPr lang="en-US" sz="1800" b="1" dirty="0">
                <a:solidFill>
                  <a:srgbClr val="0070C0"/>
                </a:solidFill>
                <a:latin typeface="Courier New" panose="02070309020205020404" pitchFamily="49" charset="0"/>
                <a:cs typeface="Courier New" panose="02070309020205020404" pitchFamily="49" charset="0"/>
              </a:rPr>
              <a:t>n</a:t>
            </a:r>
            <a:r>
              <a:rPr lang="en-US" sz="1800" b="1" dirty="0">
                <a:solidFill>
                  <a:srgbClr val="FF0000"/>
                </a:solidFill>
                <a:latin typeface="Courier New" panose="02070309020205020404" pitchFamily="49" charset="0"/>
                <a:cs typeface="Courier New" panose="02070309020205020404" pitchFamily="49" charset="0"/>
              </a:rPr>
              <a:t>”</a:t>
            </a:r>
            <a:r>
              <a:rPr lang="en-US" sz="1800" b="1" dirty="0">
                <a:latin typeface="Courier New" panose="02070309020205020404" pitchFamily="49" charset="0"/>
                <a:cs typeface="Courier New" panose="02070309020205020404" pitchFamily="49" charset="0"/>
              </a:rPr>
              <a:t>);</a:t>
            </a:r>
          </a:p>
          <a:p>
            <a:pPr marL="0" indent="0" algn="just">
              <a:buNone/>
            </a:pPr>
            <a:r>
              <a:rPr lang="en-US" sz="1800" b="1" dirty="0">
                <a:latin typeface="Courier New" panose="02070309020205020404" pitchFamily="49" charset="0"/>
                <a:cs typeface="Courier New" panose="02070309020205020404" pitchFamily="49" charset="0"/>
              </a:rPr>
              <a:t>     </a:t>
            </a:r>
            <a:r>
              <a:rPr lang="en-US" sz="1800" b="1" dirty="0">
                <a:solidFill>
                  <a:srgbClr val="00B050"/>
                </a:solidFill>
                <a:latin typeface="Courier New" panose="02070309020205020404" pitchFamily="49" charset="0"/>
                <a:cs typeface="Courier New" panose="02070309020205020404" pitchFamily="49" charset="0"/>
              </a:rPr>
              <a:t>return</a:t>
            </a:r>
            <a:r>
              <a:rPr lang="en-US" sz="1800" b="1" dirty="0">
                <a:latin typeface="Courier New" panose="02070309020205020404" pitchFamily="49" charset="0"/>
                <a:cs typeface="Courier New" panose="02070309020205020404" pitchFamily="49" charset="0"/>
              </a:rPr>
              <a:t> 0;</a:t>
            </a:r>
          </a:p>
          <a:p>
            <a:pPr marL="0" indent="0" algn="just">
              <a:buNone/>
            </a:pPr>
            <a:r>
              <a:rPr lang="en-US" sz="1800" b="1" dirty="0">
                <a:latin typeface="Courier New" panose="02070309020205020404" pitchFamily="49" charset="0"/>
                <a:cs typeface="Courier New" panose="02070309020205020404" pitchFamily="49" charset="0"/>
              </a:rPr>
              <a:t>}</a:t>
            </a:r>
          </a:p>
          <a:p>
            <a:pPr marL="114300" indent="0" algn="just">
              <a:buNone/>
            </a:pPr>
            <a:endParaRPr lang="en-US" dirty="0">
              <a:latin typeface="+mj-lt"/>
              <a:cs typeface="Arial" panose="020B0604020202020204" pitchFamily="34" charset="0"/>
            </a:endParaRPr>
          </a:p>
        </p:txBody>
      </p:sp>
      <p:sp>
        <p:nvSpPr>
          <p:cNvPr id="2" name="TextBox 1">
            <a:extLst>
              <a:ext uri="{FF2B5EF4-FFF2-40B4-BE49-F238E27FC236}">
                <a16:creationId xmlns:a16="http://schemas.microsoft.com/office/drawing/2014/main" id="{C5F21FBA-51F2-DE49-1D8D-C6B7CE9E5DDA}"/>
              </a:ext>
            </a:extLst>
          </p:cNvPr>
          <p:cNvSpPr txBox="1"/>
          <p:nvPr/>
        </p:nvSpPr>
        <p:spPr>
          <a:xfrm>
            <a:off x="2484120" y="3429000"/>
            <a:ext cx="6050280" cy="369332"/>
          </a:xfrm>
          <a:prstGeom prst="rect">
            <a:avLst/>
          </a:prstGeom>
          <a:solidFill>
            <a:schemeClr val="accent2">
              <a:lumMod val="60000"/>
              <a:lumOff val="40000"/>
            </a:schemeClr>
          </a:solidFill>
        </p:spPr>
        <p:txBody>
          <a:bodyPr wrap="square" rtlCol="0">
            <a:spAutoFit/>
          </a:bodyPr>
          <a:lstStyle/>
          <a:p>
            <a:pPr algn="ctr"/>
            <a:r>
              <a:rPr lang="en-US" b="1" dirty="0"/>
              <a:t>standard C library</a:t>
            </a:r>
          </a:p>
        </p:txBody>
      </p:sp>
      <p:sp>
        <p:nvSpPr>
          <p:cNvPr id="4" name="Arrow: Bent-Up 3">
            <a:extLst>
              <a:ext uri="{FF2B5EF4-FFF2-40B4-BE49-F238E27FC236}">
                <a16:creationId xmlns:a16="http://schemas.microsoft.com/office/drawing/2014/main" id="{73251028-F8B5-D126-A09C-EB2225369EB3}"/>
              </a:ext>
            </a:extLst>
          </p:cNvPr>
          <p:cNvSpPr/>
          <p:nvPr/>
        </p:nvSpPr>
        <p:spPr>
          <a:xfrm rot="10800000">
            <a:off x="2990847" y="2324098"/>
            <a:ext cx="1215391" cy="1104901"/>
          </a:xfrm>
          <a:prstGeom prst="bentUpArrow">
            <a:avLst>
              <a:gd name="adj1" fmla="val 9095"/>
              <a:gd name="adj2" fmla="val 11207"/>
              <a:gd name="adj3" fmla="val 25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A2D860-D892-AE3E-CF10-29AD929B4911}"/>
              </a:ext>
            </a:extLst>
          </p:cNvPr>
          <p:cNvSpPr txBox="1"/>
          <p:nvPr/>
        </p:nvSpPr>
        <p:spPr>
          <a:xfrm>
            <a:off x="2484120" y="5698336"/>
            <a:ext cx="6050280" cy="430887"/>
          </a:xfrm>
          <a:prstGeom prst="rect">
            <a:avLst/>
          </a:prstGeom>
          <a:noFill/>
        </p:spPr>
        <p:txBody>
          <a:bodyPr wrap="square" rtlCol="0">
            <a:spAutoFit/>
          </a:bodyPr>
          <a:lstStyle/>
          <a:p>
            <a:pPr algn="ctr"/>
            <a:r>
              <a:rPr lang="en-US" sz="2200" dirty="0">
                <a:latin typeface="Arial" panose="020B0604020202020204" pitchFamily="34" charset="0"/>
                <a:cs typeface="Arial" panose="020B0604020202020204" pitchFamily="34" charset="0"/>
              </a:rPr>
              <a:t>Standard library calls are built on </a:t>
            </a:r>
            <a:r>
              <a:rPr lang="en-US" sz="2200" dirty="0" err="1">
                <a:latin typeface="Arial" panose="020B0604020202020204" pitchFamily="34" charset="0"/>
                <a:cs typeface="Arial" panose="020B0604020202020204" pitchFamily="34" charset="0"/>
              </a:rPr>
              <a:t>syscalls</a:t>
            </a:r>
            <a:endParaRPr lang="en-US" sz="2200" dirty="0">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0AEA714E-7FD8-F3DB-5CED-405156F751CA}"/>
              </a:ext>
            </a:extLst>
          </p:cNvPr>
          <p:cNvCxnSpPr>
            <a:cxnSpLocks/>
          </p:cNvCxnSpPr>
          <p:nvPr/>
        </p:nvCxnSpPr>
        <p:spPr bwMode="auto">
          <a:xfrm flipV="1">
            <a:off x="1196415" y="3890829"/>
            <a:ext cx="7886625" cy="0"/>
          </a:xfrm>
          <a:prstGeom prst="line">
            <a:avLst/>
          </a:prstGeom>
          <a:solidFill>
            <a:schemeClr val="accent1"/>
          </a:solidFill>
          <a:ln w="28575" cap="flat" cmpd="sng" algn="ctr">
            <a:solidFill>
              <a:schemeClr val="tx1"/>
            </a:solidFill>
            <a:prstDash val="dash"/>
            <a:round/>
            <a:headEnd type="none" w="med" len="med"/>
            <a:tailEnd type="none" w="med" len="med"/>
          </a:ln>
          <a:effectLst/>
        </p:spPr>
      </p:cxnSp>
      <p:sp>
        <p:nvSpPr>
          <p:cNvPr id="7" name="TextBox 6">
            <a:extLst>
              <a:ext uri="{FF2B5EF4-FFF2-40B4-BE49-F238E27FC236}">
                <a16:creationId xmlns:a16="http://schemas.microsoft.com/office/drawing/2014/main" id="{93411710-AB42-366E-623A-B2F9E94D0B6F}"/>
              </a:ext>
            </a:extLst>
          </p:cNvPr>
          <p:cNvSpPr txBox="1"/>
          <p:nvPr/>
        </p:nvSpPr>
        <p:spPr>
          <a:xfrm>
            <a:off x="935357" y="3398536"/>
            <a:ext cx="1676400" cy="954107"/>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User mode</a:t>
            </a:r>
          </a:p>
          <a:p>
            <a:pPr algn="ctr"/>
            <a:endParaRPr lang="en-US" sz="1000" dirty="0">
              <a:latin typeface="Arial" panose="020B0604020202020204" pitchFamily="34" charset="0"/>
              <a:cs typeface="Arial" panose="020B0604020202020204" pitchFamily="34" charset="0"/>
            </a:endParaRPr>
          </a:p>
          <a:p>
            <a:pPr algn="ctr"/>
            <a:endParaRPr lang="en-US" sz="1000"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Kernel mode</a:t>
            </a:r>
          </a:p>
        </p:txBody>
      </p:sp>
      <p:sp>
        <p:nvSpPr>
          <p:cNvPr id="9" name="Arrow: Bent-Up 8">
            <a:extLst>
              <a:ext uri="{FF2B5EF4-FFF2-40B4-BE49-F238E27FC236}">
                <a16:creationId xmlns:a16="http://schemas.microsoft.com/office/drawing/2014/main" id="{2866331B-F283-89B8-134E-C0A920437485}"/>
              </a:ext>
            </a:extLst>
          </p:cNvPr>
          <p:cNvSpPr/>
          <p:nvPr/>
        </p:nvSpPr>
        <p:spPr>
          <a:xfrm rot="5400000">
            <a:off x="3046092" y="4076360"/>
            <a:ext cx="1215391" cy="1104901"/>
          </a:xfrm>
          <a:prstGeom prst="bentUpArrow">
            <a:avLst>
              <a:gd name="adj1" fmla="val 9095"/>
              <a:gd name="adj2" fmla="val 11207"/>
              <a:gd name="adj3" fmla="val 25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D77C453-2FDC-A5E1-5181-031777897E06}"/>
              </a:ext>
            </a:extLst>
          </p:cNvPr>
          <p:cNvSpPr txBox="1"/>
          <p:nvPr/>
        </p:nvSpPr>
        <p:spPr>
          <a:xfrm>
            <a:off x="2951798" y="3950732"/>
            <a:ext cx="1676400" cy="369332"/>
          </a:xfrm>
          <a:prstGeom prst="rect">
            <a:avLst/>
          </a:prstGeom>
          <a:noFill/>
        </p:spPr>
        <p:txBody>
          <a:bodyPr wrap="square" rtlCol="0">
            <a:spAutoFit/>
          </a:bodyPr>
          <a:lstStyle/>
          <a:p>
            <a:pPr algn="ctr"/>
            <a:r>
              <a:rPr lang="en-US" b="1" dirty="0">
                <a:solidFill>
                  <a:srgbClr val="00B0F0"/>
                </a:solidFill>
                <a:latin typeface="Courier New" panose="02070309020205020404" pitchFamily="49" charset="0"/>
                <a:cs typeface="Courier New" panose="02070309020205020404" pitchFamily="49" charset="0"/>
              </a:rPr>
              <a:t>write</a:t>
            </a:r>
            <a:r>
              <a:rPr lang="en-US" dirty="0">
                <a:latin typeface="Courier New" panose="02070309020205020404" pitchFamily="49" charset="0"/>
                <a:cs typeface="Courier New" panose="02070309020205020404" pitchFamily="49" charset="0"/>
              </a:rPr>
              <a:t>()</a:t>
            </a:r>
          </a:p>
        </p:txBody>
      </p:sp>
      <p:grpSp>
        <p:nvGrpSpPr>
          <p:cNvPr id="14" name="Group 13">
            <a:extLst>
              <a:ext uri="{FF2B5EF4-FFF2-40B4-BE49-F238E27FC236}">
                <a16:creationId xmlns:a16="http://schemas.microsoft.com/office/drawing/2014/main" id="{DA769CCD-4503-DB39-B097-B4BD7C55F01F}"/>
              </a:ext>
            </a:extLst>
          </p:cNvPr>
          <p:cNvGrpSpPr/>
          <p:nvPr/>
        </p:nvGrpSpPr>
        <p:grpSpPr>
          <a:xfrm>
            <a:off x="4173716" y="4400076"/>
            <a:ext cx="2846037" cy="1215383"/>
            <a:chOff x="5139727" y="4320064"/>
            <a:chExt cx="2846037" cy="1215383"/>
          </a:xfrm>
        </p:grpSpPr>
        <p:sp>
          <p:nvSpPr>
            <p:cNvPr id="11" name="Cloud 10">
              <a:extLst>
                <a:ext uri="{FF2B5EF4-FFF2-40B4-BE49-F238E27FC236}">
                  <a16:creationId xmlns:a16="http://schemas.microsoft.com/office/drawing/2014/main" id="{758F5DC3-AFB5-478B-3654-84EC2D70938E}"/>
                </a:ext>
              </a:extLst>
            </p:cNvPr>
            <p:cNvSpPr/>
            <p:nvPr/>
          </p:nvSpPr>
          <p:spPr>
            <a:xfrm rot="10800000">
              <a:off x="5139727" y="4320064"/>
              <a:ext cx="2846037" cy="1215383"/>
            </a:xfrm>
            <a:prstGeom prst="cloud">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BFAE715-6D05-2FF8-C0B2-855730D17BBA}"/>
                </a:ext>
              </a:extLst>
            </p:cNvPr>
            <p:cNvSpPr txBox="1"/>
            <p:nvPr/>
          </p:nvSpPr>
          <p:spPr>
            <a:xfrm>
              <a:off x="5471160" y="4572000"/>
              <a:ext cx="2179320" cy="615553"/>
            </a:xfrm>
            <a:prstGeom prst="rect">
              <a:avLst/>
            </a:prstGeom>
            <a:noFill/>
          </p:spPr>
          <p:txBody>
            <a:bodyPr wrap="square" rtlCol="0">
              <a:spAutoFit/>
            </a:bodyPr>
            <a:lstStyle/>
            <a:p>
              <a:pPr algn="ctr"/>
              <a:r>
                <a:rPr lang="en-US" b="1" dirty="0">
                  <a:solidFill>
                    <a:schemeClr val="bg1"/>
                  </a:solidFill>
                  <a:latin typeface="Courier New" panose="02070309020205020404" pitchFamily="49" charset="0"/>
                  <a:cs typeface="Courier New" panose="02070309020205020404" pitchFamily="49" charset="0"/>
                </a:rPr>
                <a:t>write()</a:t>
              </a:r>
              <a:r>
                <a:rPr lang="en-US" sz="1600" b="1" dirty="0">
                  <a:solidFill>
                    <a:schemeClr val="bg1"/>
                  </a:solidFill>
                  <a:latin typeface="Arial" panose="020B0604020202020204" pitchFamily="34" charset="0"/>
                  <a:cs typeface="Arial" panose="020B0604020202020204" pitchFamily="34" charset="0"/>
                </a:rPr>
                <a:t> system call implementation</a:t>
              </a:r>
            </a:p>
          </p:txBody>
        </p:sp>
      </p:grpSp>
      <p:sp>
        <p:nvSpPr>
          <p:cNvPr id="16" name="Arrow: Bent-Up 15">
            <a:extLst>
              <a:ext uri="{FF2B5EF4-FFF2-40B4-BE49-F238E27FC236}">
                <a16:creationId xmlns:a16="http://schemas.microsoft.com/office/drawing/2014/main" id="{8EFF18E4-5BD7-2270-9183-75350C0FE351}"/>
              </a:ext>
            </a:extLst>
          </p:cNvPr>
          <p:cNvSpPr/>
          <p:nvPr/>
        </p:nvSpPr>
        <p:spPr>
          <a:xfrm rot="16200000">
            <a:off x="7220816" y="2525155"/>
            <a:ext cx="1104903" cy="702775"/>
          </a:xfrm>
          <a:prstGeom prst="bentUpArrow">
            <a:avLst>
              <a:gd name="adj1" fmla="val 15082"/>
              <a:gd name="adj2" fmla="val 16196"/>
              <a:gd name="adj3" fmla="val 25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5784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animBg="1"/>
      <p:bldP spid="4" grpId="0" animBg="1"/>
      <p:bldP spid="5" grpId="0"/>
      <p:bldP spid="7" grpId="0"/>
      <p:bldP spid="9" grpId="0" animBg="1"/>
      <p:bldP spid="10" grpId="0"/>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Standard API Example</a:t>
            </a:r>
            <a:endParaRPr lang="en-US" sz="4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29</a:t>
            </a:fld>
            <a:endParaRPr lang="en-US">
              <a:latin typeface="Calibri"/>
            </a:endParaRPr>
          </a:p>
        </p:txBody>
      </p:sp>
      <p:pic>
        <p:nvPicPr>
          <p:cNvPr id="25603" name="Picture 1" descr="Screen Shot 2012-12-01 at 12.25.00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3321" y="1436081"/>
            <a:ext cx="5094287"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229825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Call Implementation</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252726" cy="501789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Typically, a number associated with each system call</a:t>
            </a:r>
          </a:p>
          <a:p>
            <a:pPr lvl="1" algn="just">
              <a:spcBef>
                <a:spcPts val="1200"/>
              </a:spcBef>
            </a:pPr>
            <a:r>
              <a:rPr lang="en-US" b="1" dirty="0">
                <a:solidFill>
                  <a:srgbClr val="FF0000"/>
                </a:solidFill>
                <a:latin typeface="Arial" panose="020B0604020202020204" pitchFamily="34" charset="0"/>
                <a:cs typeface="Arial" panose="020B0604020202020204" pitchFamily="34" charset="0"/>
              </a:rPr>
              <a:t>System-call interface</a:t>
            </a:r>
            <a:r>
              <a:rPr lang="en-US" dirty="0">
                <a:latin typeface="Arial" panose="020B0604020202020204" pitchFamily="34" charset="0"/>
                <a:cs typeface="Arial" panose="020B0604020202020204" pitchFamily="34" charset="0"/>
              </a:rPr>
              <a:t> maintains a table indexed according to these numbers</a:t>
            </a:r>
          </a:p>
          <a:p>
            <a:pPr algn="just">
              <a:spcBef>
                <a:spcPts val="1200"/>
              </a:spcBef>
            </a:pPr>
            <a:r>
              <a:rPr lang="en-US" dirty="0">
                <a:latin typeface="Arial" panose="020B0604020202020204" pitchFamily="34" charset="0"/>
                <a:cs typeface="Arial" panose="020B0604020202020204" pitchFamily="34" charset="0"/>
              </a:rPr>
              <a:t>The system call interface invokes intended system call in OS kernel and returns status of the system call and any return values</a:t>
            </a:r>
          </a:p>
          <a:p>
            <a:pPr algn="just">
              <a:spcBef>
                <a:spcPts val="1200"/>
              </a:spcBef>
            </a:pPr>
            <a:r>
              <a:rPr lang="en-US" dirty="0">
                <a:latin typeface="Arial" panose="020B0604020202020204" pitchFamily="34" charset="0"/>
                <a:cs typeface="Arial" panose="020B0604020202020204" pitchFamily="34" charset="0"/>
              </a:rPr>
              <a:t>The caller need know nothing about how the system call is implemented</a:t>
            </a:r>
          </a:p>
          <a:p>
            <a:pPr algn="just">
              <a:spcBef>
                <a:spcPts val="1200"/>
              </a:spcBef>
            </a:pPr>
            <a:r>
              <a:rPr lang="en-US" dirty="0">
                <a:latin typeface="Arial" panose="020B0604020202020204" pitchFamily="34" charset="0"/>
                <a:cs typeface="Arial" panose="020B0604020202020204" pitchFamily="34" charset="0"/>
              </a:rPr>
              <a:t>Just needs to obey API and understand what OS will do as a result call</a:t>
            </a:r>
          </a:p>
          <a:p>
            <a:pPr algn="just">
              <a:spcBef>
                <a:spcPts val="1200"/>
              </a:spcBef>
            </a:pPr>
            <a:r>
              <a:rPr lang="en-US" dirty="0">
                <a:latin typeface="Arial" panose="020B0604020202020204" pitchFamily="34" charset="0"/>
                <a:cs typeface="Arial" panose="020B0604020202020204" pitchFamily="34" charset="0"/>
              </a:rPr>
              <a:t>Most details of  OS interface hidden from programmer by API</a:t>
            </a:r>
          </a:p>
          <a:p>
            <a:pPr lvl="1" algn="just">
              <a:spcBef>
                <a:spcPts val="1200"/>
              </a:spcBef>
            </a:pPr>
            <a:r>
              <a:rPr lang="en-US" dirty="0">
                <a:latin typeface="Arial" panose="020B0604020202020204" pitchFamily="34" charset="0"/>
                <a:cs typeface="Arial" panose="020B0604020202020204" pitchFamily="34" charset="0"/>
              </a:rPr>
              <a:t>Managed by run-time support library (set of functions built into libraries included with compiler)</a:t>
            </a:r>
          </a:p>
        </p:txBody>
      </p:sp>
    </p:spTree>
    <p:custDataLst>
      <p:tags r:id="rId1"/>
    </p:custDataLst>
    <p:extLst>
      <p:ext uri="{BB962C8B-B14F-4D97-AF65-F5344CB8AC3E}">
        <p14:creationId xmlns:p14="http://schemas.microsoft.com/office/powerpoint/2010/main" val="3839249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Call Parameter Passing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05479" cy="500031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Some system calls require additional information that is passed as parameters</a:t>
            </a:r>
          </a:p>
          <a:p>
            <a:pPr algn="just">
              <a:spcBef>
                <a:spcPts val="1200"/>
              </a:spcBef>
            </a:pPr>
            <a:r>
              <a:rPr lang="en-US" dirty="0">
                <a:latin typeface="Arial" panose="020B0604020202020204" pitchFamily="34" charset="0"/>
                <a:cs typeface="Arial" panose="020B0604020202020204" pitchFamily="34" charset="0"/>
              </a:rPr>
              <a:t>Three general methods used to pass parameters to the OS</a:t>
            </a:r>
          </a:p>
          <a:p>
            <a:pPr lvl="1" algn="just">
              <a:spcBef>
                <a:spcPts val="1200"/>
              </a:spcBef>
            </a:pPr>
            <a:r>
              <a:rPr lang="en-US" dirty="0">
                <a:latin typeface="Arial" panose="020B0604020202020204" pitchFamily="34" charset="0"/>
                <a:cs typeface="Arial" panose="020B0604020202020204" pitchFamily="34" charset="0"/>
              </a:rPr>
              <a:t>Simplest:  pass the parameters in registers </a:t>
            </a:r>
          </a:p>
          <a:p>
            <a:pPr lvl="2" algn="just">
              <a:spcBef>
                <a:spcPts val="1200"/>
              </a:spcBef>
            </a:pPr>
            <a:r>
              <a:rPr lang="en-US" dirty="0">
                <a:latin typeface="Arial" panose="020B0604020202020204" pitchFamily="34" charset="0"/>
                <a:cs typeface="Arial" panose="020B0604020202020204" pitchFamily="34" charset="0"/>
              </a:rPr>
              <a:t> In some cases, may be more parameters than registers</a:t>
            </a:r>
          </a:p>
        </p:txBody>
      </p:sp>
      <p:pic>
        <p:nvPicPr>
          <p:cNvPr id="5" name="Picture 7"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7801" y="3531817"/>
            <a:ext cx="4787451" cy="2513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A97DAF13-8E52-B530-9A90-8B2B4F929C3E}"/>
              </a:ext>
            </a:extLst>
          </p:cNvPr>
          <p:cNvSpPr txBox="1">
            <a:spLocks noChangeArrowheads="1"/>
          </p:cNvSpPr>
          <p:nvPr/>
        </p:nvSpPr>
        <p:spPr>
          <a:xfrm>
            <a:off x="632152" y="3358662"/>
            <a:ext cx="5715894" cy="334107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lvl="1" algn="just">
              <a:spcBef>
                <a:spcPts val="1200"/>
              </a:spcBef>
            </a:pPr>
            <a:r>
              <a:rPr lang="en-US" dirty="0">
                <a:latin typeface="Arial" panose="020B0604020202020204" pitchFamily="34" charset="0"/>
                <a:cs typeface="Arial" panose="020B0604020202020204" pitchFamily="34" charset="0"/>
              </a:rPr>
              <a:t>Parameters stored in a block, or table, in memory, and address of block passed as a parameter in a register  (Linux and Solaris)</a:t>
            </a:r>
          </a:p>
          <a:p>
            <a:pPr lvl="1" algn="just">
              <a:spcBef>
                <a:spcPts val="1200"/>
              </a:spcBef>
            </a:pPr>
            <a:r>
              <a:rPr lang="en-US" dirty="0">
                <a:latin typeface="Arial" panose="020B0604020202020204" pitchFamily="34" charset="0"/>
                <a:cs typeface="Arial" panose="020B0604020202020204" pitchFamily="34" charset="0"/>
              </a:rPr>
              <a:t>Parameters </a:t>
            </a:r>
            <a:r>
              <a:rPr lang="en-US" b="1" dirty="0">
                <a:solidFill>
                  <a:srgbClr val="FF0000"/>
                </a:solidFill>
                <a:latin typeface="Arial" panose="020B0604020202020204" pitchFamily="34" charset="0"/>
                <a:cs typeface="Arial" panose="020B0604020202020204" pitchFamily="34" charset="0"/>
              </a:rPr>
              <a:t>pushed</a:t>
            </a:r>
            <a:r>
              <a:rPr lang="en-US" dirty="0">
                <a:latin typeface="Arial" panose="020B0604020202020204" pitchFamily="34" charset="0"/>
                <a:cs typeface="Arial" panose="020B0604020202020204" pitchFamily="34" charset="0"/>
              </a:rPr>
              <a:t> onto the </a:t>
            </a:r>
            <a:r>
              <a:rPr lang="en-US" b="1" dirty="0">
                <a:solidFill>
                  <a:srgbClr val="FF0000"/>
                </a:solidFill>
                <a:latin typeface="Arial" panose="020B0604020202020204" pitchFamily="34" charset="0"/>
                <a:cs typeface="Arial" panose="020B0604020202020204" pitchFamily="34" charset="0"/>
              </a:rPr>
              <a:t>stack</a:t>
            </a:r>
            <a:r>
              <a:rPr lang="en-US" dirty="0">
                <a:latin typeface="Arial" panose="020B0604020202020204" pitchFamily="34" charset="0"/>
                <a:cs typeface="Arial" panose="020B0604020202020204" pitchFamily="34" charset="0"/>
              </a:rPr>
              <a:t> by the program and </a:t>
            </a:r>
            <a:r>
              <a:rPr lang="en-US" b="1" dirty="0">
                <a:solidFill>
                  <a:srgbClr val="FF0000"/>
                </a:solidFill>
                <a:latin typeface="Arial" panose="020B0604020202020204" pitchFamily="34" charset="0"/>
                <a:cs typeface="Arial" panose="020B0604020202020204" pitchFamily="34" charset="0"/>
              </a:rPr>
              <a:t>popped</a:t>
            </a:r>
            <a:r>
              <a:rPr lang="en-US" dirty="0">
                <a:latin typeface="Arial" panose="020B0604020202020204" pitchFamily="34" charset="0"/>
                <a:cs typeface="Arial" panose="020B0604020202020204" pitchFamily="34" charset="0"/>
              </a:rPr>
              <a:t> off the stack by the operating system</a:t>
            </a:r>
          </a:p>
          <a:p>
            <a:pPr algn="just">
              <a:spcBef>
                <a:spcPts val="1200"/>
              </a:spcBef>
            </a:pPr>
            <a:r>
              <a:rPr lang="en-US" dirty="0">
                <a:latin typeface="Arial" panose="020B0604020202020204" pitchFamily="34" charset="0"/>
                <a:cs typeface="Arial" panose="020B0604020202020204" pitchFamily="34" charset="0"/>
              </a:rPr>
              <a:t>Block and stack methods do not limit the number or length of parameters being passed</a:t>
            </a:r>
          </a:p>
        </p:txBody>
      </p:sp>
    </p:spTree>
    <p:custDataLst>
      <p:tags r:id="rId1"/>
    </p:custDataLst>
    <p:extLst>
      <p:ext uri="{BB962C8B-B14F-4D97-AF65-F5344CB8AC3E}">
        <p14:creationId xmlns:p14="http://schemas.microsoft.com/office/powerpoint/2010/main" val="12887126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Calls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252357"/>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Categories</a:t>
            </a:r>
          </a:p>
          <a:p>
            <a:pPr lvl="1" algn="just"/>
            <a:r>
              <a:rPr lang="en-US" b="1" dirty="0">
                <a:solidFill>
                  <a:srgbClr val="FF0000"/>
                </a:solidFill>
                <a:latin typeface="Arial" panose="020B0604020202020204" pitchFamily="34" charset="0"/>
                <a:cs typeface="Arial" panose="020B0604020202020204" pitchFamily="34" charset="0"/>
              </a:rPr>
              <a:t>Process Management</a:t>
            </a:r>
            <a:r>
              <a:rPr lang="en-US" dirty="0">
                <a:latin typeface="Arial" panose="020B0604020202020204" pitchFamily="34" charset="0"/>
                <a:cs typeface="Arial" panose="020B0604020202020204" pitchFamily="34" charset="0"/>
              </a:rPr>
              <a:t>: end, abort, load, execute, create process, terminate process, get process attributes, set process attributes, wait for time, wait event, signal event, allocate and free memory, dump memory if error, </a:t>
            </a:r>
            <a:r>
              <a:rPr lang="en-US" b="1" dirty="0">
                <a:latin typeface="Arial" panose="020B0604020202020204" pitchFamily="34" charset="0"/>
                <a:cs typeface="Arial" panose="020B0604020202020204" pitchFamily="34" charset="0"/>
              </a:rPr>
              <a:t>debugger </a:t>
            </a:r>
            <a:r>
              <a:rPr lang="en-US" dirty="0">
                <a:latin typeface="Arial" panose="020B0604020202020204" pitchFamily="34" charset="0"/>
                <a:cs typeface="Arial" panose="020B0604020202020204" pitchFamily="34" charset="0"/>
              </a:rPr>
              <a:t>for determining </a:t>
            </a:r>
            <a:r>
              <a:rPr lang="en-US" b="1" dirty="0">
                <a:latin typeface="Arial" panose="020B0604020202020204" pitchFamily="34" charset="0"/>
                <a:cs typeface="Arial" panose="020B0604020202020204" pitchFamily="34" charset="0"/>
              </a:rPr>
              <a:t>bugs, single step</a:t>
            </a:r>
            <a:r>
              <a:rPr lang="en-US" dirty="0">
                <a:latin typeface="Arial" panose="020B0604020202020204" pitchFamily="34" charset="0"/>
                <a:cs typeface="Arial" panose="020B0604020202020204" pitchFamily="34" charset="0"/>
              </a:rPr>
              <a:t> execution, locks for managing access to shared data between processes.</a:t>
            </a:r>
          </a:p>
          <a:p>
            <a:pPr lvl="1" algn="just"/>
            <a:r>
              <a:rPr lang="en-US" b="1" dirty="0">
                <a:solidFill>
                  <a:srgbClr val="FF0000"/>
                </a:solidFill>
                <a:latin typeface="Arial" panose="020B0604020202020204" pitchFamily="34" charset="0"/>
                <a:cs typeface="Arial" panose="020B0604020202020204" pitchFamily="34" charset="0"/>
              </a:rPr>
              <a:t>File Management</a:t>
            </a:r>
            <a:r>
              <a:rPr lang="en-US" dirty="0">
                <a:latin typeface="Arial" panose="020B0604020202020204" pitchFamily="34" charset="0"/>
                <a:cs typeface="Arial" panose="020B0604020202020204" pitchFamily="34" charset="0"/>
              </a:rPr>
              <a:t>: create file, delete file, open file, close file, read, write, reposition, get and set file attributes.</a:t>
            </a:r>
          </a:p>
          <a:p>
            <a:pPr lvl="1" algn="just"/>
            <a:r>
              <a:rPr lang="en-US" b="1" dirty="0">
                <a:solidFill>
                  <a:srgbClr val="FF0000"/>
                </a:solidFill>
                <a:latin typeface="Arial" panose="020B0604020202020204" pitchFamily="34" charset="0"/>
                <a:cs typeface="Arial" panose="020B0604020202020204" pitchFamily="34" charset="0"/>
              </a:rPr>
              <a:t>Device Management</a:t>
            </a:r>
            <a:r>
              <a:rPr lang="en-US" dirty="0">
                <a:latin typeface="Arial" panose="020B0604020202020204" pitchFamily="34" charset="0"/>
                <a:cs typeface="Arial" panose="020B0604020202020204" pitchFamily="34" charset="0"/>
              </a:rPr>
              <a:t>: request device, release device, read, write, reposition, get device attributes, set device attributes, logically attach or detach devices</a:t>
            </a:r>
          </a:p>
          <a:p>
            <a:pPr lvl="1" algn="just"/>
            <a:r>
              <a:rPr lang="en-US" b="1" dirty="0">
                <a:solidFill>
                  <a:srgbClr val="FF0000"/>
                </a:solidFill>
                <a:latin typeface="Arial" panose="020B0604020202020204" pitchFamily="34" charset="0"/>
                <a:cs typeface="Arial" panose="020B0604020202020204" pitchFamily="34" charset="0"/>
              </a:rPr>
              <a:t>Protection</a:t>
            </a:r>
            <a:r>
              <a:rPr lang="en-US" dirty="0">
                <a:latin typeface="Arial" panose="020B0604020202020204" pitchFamily="34" charset="0"/>
                <a:cs typeface="Arial" panose="020B0604020202020204" pitchFamily="34" charset="0"/>
              </a:rPr>
              <a:t>: Control access to resources, get and set permissions, allow and deny user access</a:t>
            </a:r>
          </a:p>
          <a:p>
            <a:pPr lvl="1" algn="just"/>
            <a:r>
              <a:rPr lang="en-US" b="1" dirty="0">
                <a:solidFill>
                  <a:srgbClr val="FF0000"/>
                </a:solidFill>
                <a:latin typeface="Arial" panose="020B0604020202020204" pitchFamily="34" charset="0"/>
                <a:cs typeface="Arial" panose="020B0604020202020204" pitchFamily="34" charset="0"/>
              </a:rPr>
              <a:t>Information Maintenance</a:t>
            </a:r>
            <a:r>
              <a:rPr lang="en-US" dirty="0">
                <a:latin typeface="Arial" panose="020B0604020202020204" pitchFamily="34" charset="0"/>
                <a:cs typeface="Arial" panose="020B0604020202020204" pitchFamily="34" charset="0"/>
              </a:rPr>
              <a:t>: get time or date, set time or date, get system data, set system data, get and set process, file, or device attributes</a:t>
            </a:r>
          </a:p>
          <a:p>
            <a:pPr lvl="1" algn="just"/>
            <a:r>
              <a:rPr lang="en-US" b="1" dirty="0">
                <a:solidFill>
                  <a:srgbClr val="FF0000"/>
                </a:solidFill>
                <a:latin typeface="Arial" panose="020B0604020202020204" pitchFamily="34" charset="0"/>
                <a:cs typeface="Arial" panose="020B0604020202020204" pitchFamily="34" charset="0"/>
              </a:rPr>
              <a:t>Communications:</a:t>
            </a:r>
            <a:r>
              <a:rPr lang="en-US" dirty="0">
                <a:latin typeface="Arial" panose="020B0604020202020204" pitchFamily="34" charset="0"/>
                <a:cs typeface="Arial" panose="020B0604020202020204" pitchFamily="34" charset="0"/>
              </a:rPr>
              <a:t> create, delete communication connection, send, receive messages, create and gain access to memory regions, transfer status information, attach and detach remote devices</a:t>
            </a: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2648610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Calls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pic>
        <p:nvPicPr>
          <p:cNvPr id="32771" name="Picture 6" descr="OS8-p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422" y="1647239"/>
            <a:ext cx="4369259" cy="389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0465" y="1647239"/>
            <a:ext cx="5113087" cy="3716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461692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Services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6182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System programs provide a convenient environment for program development and execution. They can be divided into:</a:t>
            </a:r>
          </a:p>
          <a:p>
            <a:pPr lvl="1" algn="just"/>
            <a:r>
              <a:rPr lang="en-US" dirty="0">
                <a:latin typeface="Arial" panose="020B0604020202020204" pitchFamily="34" charset="0"/>
                <a:cs typeface="Arial" panose="020B0604020202020204" pitchFamily="34" charset="0"/>
              </a:rPr>
              <a:t>File Manipulation</a:t>
            </a:r>
          </a:p>
          <a:p>
            <a:pPr lvl="1" algn="just"/>
            <a:r>
              <a:rPr lang="en-US" dirty="0">
                <a:latin typeface="Arial" panose="020B0604020202020204" pitchFamily="34" charset="0"/>
                <a:cs typeface="Arial" panose="020B0604020202020204" pitchFamily="34" charset="0"/>
              </a:rPr>
              <a:t>Status information sometimes stored in a file</a:t>
            </a:r>
          </a:p>
          <a:p>
            <a:pPr lvl="1" algn="just"/>
            <a:r>
              <a:rPr lang="en-US" dirty="0">
                <a:latin typeface="Arial" panose="020B0604020202020204" pitchFamily="34" charset="0"/>
                <a:cs typeface="Arial" panose="020B0604020202020204" pitchFamily="34" charset="0"/>
              </a:rPr>
              <a:t>Programming language support</a:t>
            </a:r>
          </a:p>
          <a:p>
            <a:pPr lvl="1" algn="just"/>
            <a:r>
              <a:rPr lang="en-US" dirty="0">
                <a:latin typeface="Arial" panose="020B0604020202020204" pitchFamily="34" charset="0"/>
                <a:cs typeface="Arial" panose="020B0604020202020204" pitchFamily="34" charset="0"/>
              </a:rPr>
              <a:t>Program loading and execution</a:t>
            </a:r>
          </a:p>
          <a:p>
            <a:pPr lvl="1" algn="just"/>
            <a:r>
              <a:rPr lang="en-US" dirty="0">
                <a:latin typeface="Arial" panose="020B0604020202020204" pitchFamily="34" charset="0"/>
                <a:cs typeface="Arial" panose="020B0604020202020204" pitchFamily="34" charset="0"/>
              </a:rPr>
              <a:t>Communications</a:t>
            </a:r>
          </a:p>
          <a:p>
            <a:pPr lvl="1" algn="just"/>
            <a:r>
              <a:rPr lang="en-US" dirty="0">
                <a:latin typeface="Arial" panose="020B0604020202020204" pitchFamily="34" charset="0"/>
                <a:cs typeface="Arial" panose="020B0604020202020204" pitchFamily="34" charset="0"/>
              </a:rPr>
              <a:t>Background services</a:t>
            </a:r>
          </a:p>
          <a:p>
            <a:pPr lvl="1" algn="just"/>
            <a:r>
              <a:rPr lang="en-US" dirty="0">
                <a:latin typeface="Arial" panose="020B0604020202020204" pitchFamily="34" charset="0"/>
                <a:cs typeface="Arial" panose="020B0604020202020204" pitchFamily="34" charset="0"/>
              </a:rPr>
              <a:t>Application programs</a:t>
            </a:r>
          </a:p>
          <a:p>
            <a:pPr lvl="1" algn="just"/>
            <a:endParaRPr lang="en-US"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Most users’ view of the operating system is defined by system programs, not the actual system calls</a:t>
            </a:r>
          </a:p>
        </p:txBody>
      </p:sp>
    </p:spTree>
    <p:custDataLst>
      <p:tags r:id="rId1"/>
    </p:custDataLst>
    <p:extLst>
      <p:ext uri="{BB962C8B-B14F-4D97-AF65-F5344CB8AC3E}">
        <p14:creationId xmlns:p14="http://schemas.microsoft.com/office/powerpoint/2010/main" val="182771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Services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latin typeface="Arial" panose="020B0604020202020204" pitchFamily="34" charset="0"/>
                <a:cs typeface="Arial" panose="020B0604020202020204" pitchFamily="34" charset="0"/>
              </a:rPr>
              <a:t>File Manipulation</a:t>
            </a:r>
          </a:p>
          <a:p>
            <a:pPr lvl="1" algn="just"/>
            <a:r>
              <a:rPr lang="en-US" dirty="0">
                <a:latin typeface="Arial" panose="020B0604020202020204" pitchFamily="34" charset="0"/>
                <a:cs typeface="Arial" panose="020B0604020202020204" pitchFamily="34" charset="0"/>
              </a:rPr>
              <a:t>Text editors to create and modify files</a:t>
            </a:r>
          </a:p>
          <a:p>
            <a:pPr lvl="1" algn="just"/>
            <a:r>
              <a:rPr lang="en-US" dirty="0">
                <a:latin typeface="Arial" panose="020B0604020202020204" pitchFamily="34" charset="0"/>
                <a:cs typeface="Arial" panose="020B0604020202020204" pitchFamily="34" charset="0"/>
              </a:rPr>
              <a:t>Special commands to search contents of files or perform transformations of the text</a:t>
            </a:r>
            <a:endParaRPr lang="en-US" b="1" dirty="0">
              <a:solidFill>
                <a:srgbClr val="FF0000"/>
              </a:solidFill>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Status Information</a:t>
            </a:r>
          </a:p>
          <a:p>
            <a:pPr lvl="1" algn="just"/>
            <a:r>
              <a:rPr lang="en-US" dirty="0">
                <a:latin typeface="Arial" panose="020B0604020202020204" pitchFamily="34" charset="0"/>
                <a:cs typeface="Arial" panose="020B0604020202020204" pitchFamily="34" charset="0"/>
              </a:rPr>
              <a:t>Some ask the system for info - date, time, amount of available memory, disk space, number of users</a:t>
            </a:r>
          </a:p>
          <a:p>
            <a:pPr lvl="1" algn="just"/>
            <a:r>
              <a:rPr lang="en-US" dirty="0">
                <a:latin typeface="Arial" panose="020B0604020202020204" pitchFamily="34" charset="0"/>
                <a:cs typeface="Arial" panose="020B0604020202020204" pitchFamily="34" charset="0"/>
              </a:rPr>
              <a:t>Others provide detailed performance, logging, and debugging information</a:t>
            </a:r>
          </a:p>
          <a:p>
            <a:pPr lvl="1" algn="just"/>
            <a:r>
              <a:rPr lang="en-US" dirty="0">
                <a:latin typeface="Arial" panose="020B0604020202020204" pitchFamily="34" charset="0"/>
                <a:cs typeface="Arial" panose="020B0604020202020204" pitchFamily="34" charset="0"/>
              </a:rPr>
              <a:t>Typically, these programs format and print the output to the terminal or other output devices</a:t>
            </a:r>
          </a:p>
          <a:p>
            <a:pPr lvl="1" algn="just"/>
            <a:r>
              <a:rPr lang="en-US" dirty="0">
                <a:latin typeface="Arial" panose="020B0604020202020204" pitchFamily="34" charset="0"/>
                <a:cs typeface="Arial" panose="020B0604020202020204" pitchFamily="34" charset="0"/>
              </a:rPr>
              <a:t>Some systems implement a </a:t>
            </a:r>
            <a:r>
              <a:rPr lang="en-US" b="1" dirty="0">
                <a:solidFill>
                  <a:srgbClr val="FF0000"/>
                </a:solidFill>
                <a:latin typeface="Arial" panose="020B0604020202020204" pitchFamily="34" charset="0"/>
                <a:cs typeface="Arial" panose="020B0604020202020204" pitchFamily="34" charset="0"/>
              </a:rPr>
              <a:t>registry</a:t>
            </a:r>
            <a:r>
              <a:rPr lang="en-US" dirty="0">
                <a:latin typeface="Arial" panose="020B0604020202020204" pitchFamily="34" charset="0"/>
                <a:cs typeface="Arial" panose="020B0604020202020204" pitchFamily="34" charset="0"/>
              </a:rPr>
              <a:t> – used to store and retrieve configuration information</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64067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Services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latin typeface="Arial" panose="020B0604020202020204" pitchFamily="34" charset="0"/>
                <a:cs typeface="Arial" panose="020B0604020202020204" pitchFamily="34" charset="0"/>
              </a:rPr>
              <a:t>Programming-language support </a:t>
            </a: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Compilers, assemblers, debuggers and interpreters sometimes provided</a:t>
            </a:r>
          </a:p>
          <a:p>
            <a:pPr algn="just"/>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Program loading and execution </a:t>
            </a: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Absolute loaders, relocatable loaders, linkage editors, and overlay-loaders, debugging systems for higher-level and machine language</a:t>
            </a:r>
          </a:p>
          <a:p>
            <a:pPr algn="just"/>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Communications </a:t>
            </a: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Provide the mechanism for creating virtual connections among processes, users, and computer systems</a:t>
            </a:r>
          </a:p>
          <a:p>
            <a:pPr lvl="1" algn="just"/>
            <a:r>
              <a:rPr lang="en-US" dirty="0">
                <a:latin typeface="Arial" panose="020B0604020202020204" pitchFamily="34" charset="0"/>
                <a:cs typeface="Arial" panose="020B0604020202020204" pitchFamily="34" charset="0"/>
              </a:rPr>
              <a:t>Allow users to send messages to one another’s screens, browse web pages, send electronic-mail messages, log in remotely, transfer files from one machine to another</a:t>
            </a:r>
          </a:p>
        </p:txBody>
      </p:sp>
    </p:spTree>
    <p:custDataLst>
      <p:tags r:id="rId1"/>
    </p:custDataLst>
    <p:extLst>
      <p:ext uri="{BB962C8B-B14F-4D97-AF65-F5344CB8AC3E}">
        <p14:creationId xmlns:p14="http://schemas.microsoft.com/office/powerpoint/2010/main" val="24530237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System Services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latin typeface="Arial" panose="020B0604020202020204" pitchFamily="34" charset="0"/>
                <a:cs typeface="Arial" panose="020B0604020202020204" pitchFamily="34" charset="0"/>
              </a:rPr>
              <a:t>Background Services </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Launch at boot time</a:t>
            </a:r>
          </a:p>
          <a:p>
            <a:pPr lvl="2" algn="just"/>
            <a:r>
              <a:rPr lang="en-US" dirty="0">
                <a:latin typeface="Arial" panose="020B0604020202020204" pitchFamily="34" charset="0"/>
                <a:cs typeface="Arial" panose="020B0604020202020204" pitchFamily="34" charset="0"/>
              </a:rPr>
              <a:t>Some for system-startup, then terminate</a:t>
            </a:r>
          </a:p>
          <a:p>
            <a:pPr lvl="2" algn="just"/>
            <a:r>
              <a:rPr lang="en-US" dirty="0">
                <a:latin typeface="Arial" panose="020B0604020202020204" pitchFamily="34" charset="0"/>
                <a:cs typeface="Arial" panose="020B0604020202020204" pitchFamily="34" charset="0"/>
              </a:rPr>
              <a:t>Some from system boot to shutdown</a:t>
            </a:r>
          </a:p>
          <a:p>
            <a:pPr lvl="1" algn="just"/>
            <a:r>
              <a:rPr lang="en-US" dirty="0">
                <a:latin typeface="Arial" panose="020B0604020202020204" pitchFamily="34" charset="0"/>
                <a:cs typeface="Arial" panose="020B0604020202020204" pitchFamily="34" charset="0"/>
              </a:rPr>
              <a:t>Provide facilities like disk checking, process scheduling, error logging, printing</a:t>
            </a:r>
          </a:p>
          <a:p>
            <a:pPr lvl="1" algn="just"/>
            <a:r>
              <a:rPr lang="en-US" dirty="0">
                <a:latin typeface="Arial" panose="020B0604020202020204" pitchFamily="34" charset="0"/>
                <a:cs typeface="Arial" panose="020B0604020202020204" pitchFamily="34" charset="0"/>
              </a:rPr>
              <a:t>Run in user context not kernel context</a:t>
            </a:r>
          </a:p>
          <a:p>
            <a:pPr lvl="1" algn="just"/>
            <a:r>
              <a:rPr lang="en-US" dirty="0">
                <a:latin typeface="Arial" panose="020B0604020202020204" pitchFamily="34" charset="0"/>
                <a:cs typeface="Arial" panose="020B0604020202020204" pitchFamily="34" charset="0"/>
              </a:rPr>
              <a:t>Known as </a:t>
            </a:r>
            <a:r>
              <a:rPr lang="en-US" b="1" dirty="0">
                <a:solidFill>
                  <a:srgbClr val="FF0000"/>
                </a:solidFill>
                <a:latin typeface="Arial" panose="020B0604020202020204" pitchFamily="34" charset="0"/>
                <a:cs typeface="Arial" panose="020B0604020202020204" pitchFamily="34" charset="0"/>
              </a:rPr>
              <a:t>services, subsystems, daemons </a:t>
            </a:r>
          </a:p>
          <a:p>
            <a:pPr algn="just"/>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Application Programs</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Don’t pertain to system</a:t>
            </a:r>
          </a:p>
          <a:p>
            <a:pPr lvl="1" algn="just"/>
            <a:r>
              <a:rPr lang="en-US" dirty="0">
                <a:latin typeface="Arial" panose="020B0604020202020204" pitchFamily="34" charset="0"/>
                <a:cs typeface="Arial" panose="020B0604020202020204" pitchFamily="34" charset="0"/>
              </a:rPr>
              <a:t>Run by users</a:t>
            </a:r>
          </a:p>
          <a:p>
            <a:pPr lvl="1" algn="just"/>
            <a:r>
              <a:rPr lang="en-US" dirty="0">
                <a:latin typeface="Arial" panose="020B0604020202020204" pitchFamily="34" charset="0"/>
                <a:cs typeface="Arial" panose="020B0604020202020204" pitchFamily="34" charset="0"/>
              </a:rPr>
              <a:t>Not typically considered part of OS</a:t>
            </a:r>
          </a:p>
          <a:p>
            <a:pPr lvl="1" algn="just"/>
            <a:r>
              <a:rPr lang="en-US" dirty="0">
                <a:latin typeface="Arial" panose="020B0604020202020204" pitchFamily="34" charset="0"/>
                <a:cs typeface="Arial" panose="020B0604020202020204" pitchFamily="34" charset="0"/>
              </a:rPr>
              <a:t>Launched by command line, mouse click, finger poke</a:t>
            </a:r>
          </a:p>
        </p:txBody>
      </p:sp>
    </p:spTree>
    <p:custDataLst>
      <p:tags r:id="rId1"/>
    </p:custDataLst>
    <p:extLst>
      <p:ext uri="{BB962C8B-B14F-4D97-AF65-F5344CB8AC3E}">
        <p14:creationId xmlns:p14="http://schemas.microsoft.com/office/powerpoint/2010/main" val="1862101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Linkers and Loaders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60441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Source code compiled into object files designed to be loaded into any physical memory location – </a:t>
            </a:r>
            <a:r>
              <a:rPr lang="en-US" b="1" dirty="0">
                <a:solidFill>
                  <a:srgbClr val="FF0000"/>
                </a:solidFill>
                <a:latin typeface="Arial" panose="020B0604020202020204" pitchFamily="34" charset="0"/>
                <a:cs typeface="Arial" panose="020B0604020202020204" pitchFamily="34" charset="0"/>
              </a:rPr>
              <a:t>relocatable object file</a:t>
            </a:r>
          </a:p>
          <a:p>
            <a:pPr algn="just"/>
            <a:endParaRPr lang="en-US" sz="11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Linker</a:t>
            </a:r>
            <a:r>
              <a:rPr lang="en-US" dirty="0">
                <a:latin typeface="Arial" panose="020B0604020202020204" pitchFamily="34" charset="0"/>
                <a:cs typeface="Arial" panose="020B0604020202020204" pitchFamily="34" charset="0"/>
              </a:rPr>
              <a:t> combines these into single binary </a:t>
            </a:r>
            <a:r>
              <a:rPr lang="en-US" b="1" dirty="0">
                <a:solidFill>
                  <a:srgbClr val="FF0000"/>
                </a:solidFill>
                <a:latin typeface="Arial" panose="020B0604020202020204" pitchFamily="34" charset="0"/>
                <a:cs typeface="Arial" panose="020B0604020202020204" pitchFamily="34" charset="0"/>
              </a:rPr>
              <a:t>executable</a:t>
            </a:r>
            <a:r>
              <a:rPr lang="en-US" dirty="0">
                <a:latin typeface="Arial" panose="020B0604020202020204" pitchFamily="34" charset="0"/>
                <a:cs typeface="Arial" panose="020B0604020202020204" pitchFamily="34" charset="0"/>
              </a:rPr>
              <a:t> file (also brings in libraries)</a:t>
            </a:r>
          </a:p>
          <a:p>
            <a:pPr algn="just"/>
            <a:endParaRPr lang="en-US" sz="1100" b="1"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Program resides on secondary storage as binary executable and must be brought into memory by </a:t>
            </a:r>
            <a:r>
              <a:rPr lang="en-US" b="1" dirty="0">
                <a:solidFill>
                  <a:srgbClr val="FF0000"/>
                </a:solidFill>
                <a:latin typeface="Arial" panose="020B0604020202020204" pitchFamily="34" charset="0"/>
                <a:cs typeface="Arial" panose="020B0604020202020204" pitchFamily="34" charset="0"/>
              </a:rPr>
              <a:t>loader</a:t>
            </a:r>
            <a:r>
              <a:rPr lang="en-US" dirty="0">
                <a:latin typeface="Arial" panose="020B0604020202020204" pitchFamily="34" charset="0"/>
                <a:cs typeface="Arial" panose="020B0604020202020204" pitchFamily="34" charset="0"/>
              </a:rPr>
              <a:t> to be executed</a:t>
            </a:r>
          </a:p>
          <a:p>
            <a:pPr lvl="1" algn="just"/>
            <a:r>
              <a:rPr lang="en-US" b="1" dirty="0">
                <a:solidFill>
                  <a:srgbClr val="FF0000"/>
                </a:solidFill>
                <a:latin typeface="Arial" panose="020B0604020202020204" pitchFamily="34" charset="0"/>
                <a:cs typeface="Arial" panose="020B0604020202020204" pitchFamily="34" charset="0"/>
              </a:rPr>
              <a:t>Relocation</a:t>
            </a:r>
            <a:r>
              <a:rPr lang="en-US" dirty="0">
                <a:latin typeface="Arial" panose="020B0604020202020204" pitchFamily="34" charset="0"/>
                <a:cs typeface="Arial" panose="020B0604020202020204" pitchFamily="34" charset="0"/>
              </a:rPr>
              <a:t> assigns final addresses to program parts and adjusts code and data in program to match those addresses</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Modern general-purpose systems don’t link libraries into executables. Rather, </a:t>
            </a:r>
            <a:r>
              <a:rPr lang="en-US" b="1" dirty="0">
                <a:solidFill>
                  <a:srgbClr val="FF0000"/>
                </a:solidFill>
                <a:latin typeface="Arial" panose="020B0604020202020204" pitchFamily="34" charset="0"/>
                <a:cs typeface="Arial" panose="020B0604020202020204" pitchFamily="34" charset="0"/>
              </a:rPr>
              <a:t>dynamically linked libraries </a:t>
            </a:r>
            <a:r>
              <a:rPr lang="en-US" dirty="0">
                <a:latin typeface="Arial" panose="020B0604020202020204" pitchFamily="34" charset="0"/>
                <a:cs typeface="Arial" panose="020B0604020202020204" pitchFamily="34" charset="0"/>
              </a:rPr>
              <a:t>(in Windows, </a:t>
            </a:r>
            <a:r>
              <a:rPr lang="en-US" b="1" dirty="0">
                <a:solidFill>
                  <a:srgbClr val="FF0000"/>
                </a:solidFill>
                <a:latin typeface="Arial" panose="020B0604020202020204" pitchFamily="34" charset="0"/>
                <a:cs typeface="Arial" panose="020B0604020202020204" pitchFamily="34" charset="0"/>
              </a:rPr>
              <a:t>DLLs</a:t>
            </a:r>
            <a:r>
              <a:rPr lang="en-US" dirty="0">
                <a:latin typeface="Arial" panose="020B0604020202020204" pitchFamily="34" charset="0"/>
                <a:cs typeface="Arial" panose="020B0604020202020204" pitchFamily="34" charset="0"/>
              </a:rPr>
              <a:t>) are loaded as needed, shared by all that use the same version of that same library (loaded once)</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Object, executable files have standard formats, so operating system knows how to load and start them</a:t>
            </a:r>
          </a:p>
        </p:txBody>
      </p:sp>
    </p:spTree>
    <p:custDataLst>
      <p:tags r:id="rId1"/>
    </p:custDataLst>
    <p:extLst>
      <p:ext uri="{BB962C8B-B14F-4D97-AF65-F5344CB8AC3E}">
        <p14:creationId xmlns:p14="http://schemas.microsoft.com/office/powerpoint/2010/main" val="264798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The Role of the Linker and Loader</a:t>
            </a:r>
            <a:endParaRPr lang="en-US" sz="4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3485D9CA-6DAA-4C3C-A3E2-EDEA918D5F89}" type="slidenum">
              <a:rPr lang="en-US" smtClean="0">
                <a:latin typeface="Calibri"/>
              </a:rPr>
              <a:pPr/>
              <a:t>39</a:t>
            </a:fld>
            <a:endParaRPr lang="en-US">
              <a:latin typeface="Calibri"/>
            </a:endParaRPr>
          </a:p>
        </p:txBody>
      </p:sp>
      <p:pic>
        <p:nvPicPr>
          <p:cNvPr id="4" name="Content Placeholder 6">
            <a:extLst>
              <a:ext uri="{FF2B5EF4-FFF2-40B4-BE49-F238E27FC236}">
                <a16:creationId xmlns:a16="http://schemas.microsoft.com/office/drawing/2014/main" id="{829AF770-A361-0509-FE84-754D1EB6627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594283" y="1398344"/>
            <a:ext cx="5003433" cy="5275752"/>
          </a:xfrm>
        </p:spPr>
      </p:pic>
    </p:spTree>
    <p:custDataLst>
      <p:tags r:id="rId1"/>
    </p:custDataLst>
    <p:extLst>
      <p:ext uri="{BB962C8B-B14F-4D97-AF65-F5344CB8AC3E}">
        <p14:creationId xmlns:p14="http://schemas.microsoft.com/office/powerpoint/2010/main" val="31827307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Why Applications are OS specific?</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60441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Apps compiled on one system usually not executable on other operating systems</a:t>
            </a:r>
            <a:endParaRPr lang="en-US" sz="11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Each operating system provides its own unique system calls (own file format etc.)</a:t>
            </a:r>
            <a:endParaRPr lang="en-US" sz="1100" b="1"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Apps can be multi-operating system</a:t>
            </a:r>
          </a:p>
          <a:p>
            <a:pPr lvl="1" algn="just"/>
            <a:r>
              <a:rPr lang="en-US" dirty="0">
                <a:latin typeface="Arial" panose="020B0604020202020204" pitchFamily="34" charset="0"/>
                <a:cs typeface="Arial" panose="020B0604020202020204" pitchFamily="34" charset="0"/>
              </a:rPr>
              <a:t>Written in interpreted language like Python, Ruby, and interpreter available on multiple operating systems</a:t>
            </a:r>
          </a:p>
          <a:p>
            <a:pPr lvl="1" algn="just"/>
            <a:r>
              <a:rPr lang="en-US" dirty="0">
                <a:latin typeface="Arial" panose="020B0604020202020204" pitchFamily="34" charset="0"/>
                <a:cs typeface="Arial" panose="020B0604020202020204" pitchFamily="34" charset="0"/>
              </a:rPr>
              <a:t>App written in language that includes a VM containing the running app (like Java)</a:t>
            </a:r>
          </a:p>
          <a:p>
            <a:pPr lvl="1" algn="just"/>
            <a:r>
              <a:rPr lang="en-US" dirty="0">
                <a:latin typeface="Arial" panose="020B0604020202020204" pitchFamily="34" charset="0"/>
                <a:cs typeface="Arial" panose="020B0604020202020204" pitchFamily="34" charset="0"/>
              </a:rPr>
              <a:t>Use standard language (like C), compile separately on each operating system to run on each</a:t>
            </a:r>
          </a:p>
          <a:p>
            <a:pPr lvl="1"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Application Binary Interface (ABI)</a:t>
            </a:r>
            <a:r>
              <a:rPr lang="en-US" dirty="0">
                <a:latin typeface="Arial" panose="020B0604020202020204" pitchFamily="34" charset="0"/>
                <a:cs typeface="Arial" panose="020B0604020202020204" pitchFamily="34" charset="0"/>
              </a:rPr>
              <a:t> is architecture equivalent of API, defines how different components of binary code can interface for a given operating system on a given architecture, CPU, etc. </a:t>
            </a:r>
          </a:p>
        </p:txBody>
      </p:sp>
    </p:spTree>
    <p:custDataLst>
      <p:tags r:id="rId1"/>
    </p:custDataLst>
    <p:extLst>
      <p:ext uri="{BB962C8B-B14F-4D97-AF65-F5344CB8AC3E}">
        <p14:creationId xmlns:p14="http://schemas.microsoft.com/office/powerpoint/2010/main" val="33615119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ags/tag31.xml><?xml version="1.0" encoding="utf-8"?>
<p:tagLst xmlns:a="http://schemas.openxmlformats.org/drawingml/2006/main" xmlns:r="http://schemas.openxmlformats.org/officeDocument/2006/relationships" xmlns:p="http://schemas.openxmlformats.org/presentationml/2006/main">
  <p:tag name="TIMING" val="|38.5"/>
</p:tagLst>
</file>

<file path=ppt/tags/tag32.xml><?xml version="1.0" encoding="utf-8"?>
<p:tagLst xmlns:a="http://schemas.openxmlformats.org/drawingml/2006/main" xmlns:r="http://schemas.openxmlformats.org/officeDocument/2006/relationships" xmlns:p="http://schemas.openxmlformats.org/presentationml/2006/main">
  <p:tag name="TIMING" val="|38.5"/>
</p:tagLst>
</file>

<file path=ppt/tags/tag33.xml><?xml version="1.0" encoding="utf-8"?>
<p:tagLst xmlns:a="http://schemas.openxmlformats.org/drawingml/2006/main" xmlns:r="http://schemas.openxmlformats.org/officeDocument/2006/relationships" xmlns:p="http://schemas.openxmlformats.org/presentationml/2006/main">
  <p:tag name="TIMING" val="|38.5"/>
</p:tagLst>
</file>

<file path=ppt/tags/tag34.xml><?xml version="1.0" encoding="utf-8"?>
<p:tagLst xmlns:a="http://schemas.openxmlformats.org/drawingml/2006/main" xmlns:r="http://schemas.openxmlformats.org/officeDocument/2006/relationships" xmlns:p="http://schemas.openxmlformats.org/presentationml/2006/main">
  <p:tag name="TIMING" val="|38.5"/>
</p:tagLst>
</file>

<file path=ppt/tags/tag35.xml><?xml version="1.0" encoding="utf-8"?>
<p:tagLst xmlns:a="http://schemas.openxmlformats.org/drawingml/2006/main" xmlns:r="http://schemas.openxmlformats.org/officeDocument/2006/relationships" xmlns:p="http://schemas.openxmlformats.org/presentationml/2006/main">
  <p:tag name="TIMING" val="|38.5"/>
</p:tagLst>
</file>

<file path=ppt/tags/tag36.xml><?xml version="1.0" encoding="utf-8"?>
<p:tagLst xmlns:a="http://schemas.openxmlformats.org/drawingml/2006/main" xmlns:r="http://schemas.openxmlformats.org/officeDocument/2006/relationships" xmlns:p="http://schemas.openxmlformats.org/presentationml/2006/main">
  <p:tag name="TIMING" val="|38.5"/>
</p:tagLst>
</file>

<file path=ppt/tags/tag37.xml><?xml version="1.0" encoding="utf-8"?>
<p:tagLst xmlns:a="http://schemas.openxmlformats.org/drawingml/2006/main" xmlns:r="http://schemas.openxmlformats.org/officeDocument/2006/relationships" xmlns:p="http://schemas.openxmlformats.org/presentationml/2006/main">
  <p:tag name="TIMING" val="|38.5"/>
</p:tagLst>
</file>

<file path=ppt/tags/tag38.xml><?xml version="1.0" encoding="utf-8"?>
<p:tagLst xmlns:a="http://schemas.openxmlformats.org/drawingml/2006/main" xmlns:r="http://schemas.openxmlformats.org/officeDocument/2006/relationships" xmlns:p="http://schemas.openxmlformats.org/presentationml/2006/main">
  <p:tag name="TIMING" val="|38.5"/>
</p:tagLst>
</file>

<file path=ppt/tags/tag39.xml><?xml version="1.0" encoding="utf-8"?>
<p:tagLst xmlns:a="http://schemas.openxmlformats.org/drawingml/2006/main" xmlns:r="http://schemas.openxmlformats.org/officeDocument/2006/relationships" xmlns:p="http://schemas.openxmlformats.org/presentationml/2006/main">
  <p:tag name="TIMING" val="|38.5"/>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24157</TotalTime>
  <Words>2953</Words>
  <Application>Microsoft Office PowerPoint</Application>
  <PresentationFormat>Widescreen</PresentationFormat>
  <Paragraphs>421</Paragraphs>
  <Slides>40</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Calibri</vt:lpstr>
      <vt:lpstr>Calibri Light</vt:lpstr>
      <vt:lpstr>Cambria</vt:lpstr>
      <vt:lpstr>Courier New</vt:lpstr>
      <vt:lpstr>Office Theme</vt:lpstr>
      <vt:lpstr>Adjacency</vt:lpstr>
      <vt:lpstr>CSC 323 – Principles of Operating Systems</vt:lpstr>
      <vt:lpstr>Typical Operating System Structure</vt:lpstr>
      <vt:lpstr>Typical Operating System Structure</vt:lpstr>
      <vt:lpstr>Operating System Kernel</vt:lpstr>
      <vt:lpstr>Monolithic Kernel</vt:lpstr>
      <vt:lpstr>Micro Kernel</vt:lpstr>
      <vt:lpstr>Operating System Services</vt:lpstr>
      <vt:lpstr>Process Management</vt:lpstr>
      <vt:lpstr>Memory Management</vt:lpstr>
      <vt:lpstr>File-system Management</vt:lpstr>
      <vt:lpstr>Mass-Storage Management</vt:lpstr>
      <vt:lpstr>Protection and Security</vt:lpstr>
      <vt:lpstr>I/O System Management</vt:lpstr>
      <vt:lpstr>Networking (Distributed Systems)</vt:lpstr>
      <vt:lpstr>Command-Interpreter System</vt:lpstr>
      <vt:lpstr>A View of Operating System Services</vt:lpstr>
      <vt:lpstr>Operating System Debugging</vt:lpstr>
      <vt:lpstr>Performance Tuning and Tracing</vt:lpstr>
      <vt:lpstr>Linux bcc/BPF Tracing Tools</vt:lpstr>
      <vt:lpstr>Why Start With Hardware?</vt:lpstr>
      <vt:lpstr>Architectural Features for OS</vt:lpstr>
      <vt:lpstr>Types of Architectural Support</vt:lpstr>
      <vt:lpstr>Thought Experiment: A World of Anarchy</vt:lpstr>
      <vt:lpstr>H/W Support: Dual-mode Operation in CPU</vt:lpstr>
      <vt:lpstr>Transition from User to Kernel Mode</vt:lpstr>
      <vt:lpstr>System Calls</vt:lpstr>
      <vt:lpstr>System Calls</vt:lpstr>
      <vt:lpstr>System Calls</vt:lpstr>
      <vt:lpstr>Standard API Example</vt:lpstr>
      <vt:lpstr>System Call Implementation</vt:lpstr>
      <vt:lpstr>System Call Parameter Passing</vt:lpstr>
      <vt:lpstr>System Calls</vt:lpstr>
      <vt:lpstr>System Calls</vt:lpstr>
      <vt:lpstr>System Services</vt:lpstr>
      <vt:lpstr>System Services</vt:lpstr>
      <vt:lpstr>System Services</vt:lpstr>
      <vt:lpstr>System Services</vt:lpstr>
      <vt:lpstr>Linkers and Loaders</vt:lpstr>
      <vt:lpstr>The Role of the Linker and Loader</vt:lpstr>
      <vt:lpstr>Why Applications are OS specific?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323 – Principles of Operating Systems</dc:title>
  <dc:creator>Hasan Jamal</dc:creator>
  <cp:lastModifiedBy>Mamoona Tasadduq</cp:lastModifiedBy>
  <cp:revision>122</cp:revision>
  <dcterms:created xsi:type="dcterms:W3CDTF">2020-06-08T03:46:58Z</dcterms:created>
  <dcterms:modified xsi:type="dcterms:W3CDTF">2025-08-21T07:35:53Z</dcterms:modified>
</cp:coreProperties>
</file>