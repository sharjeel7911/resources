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0.xml" ContentType="application/vnd.openxmlformats-officedocument.presentationml.notesSlide+xml"/>
  <Override PartName="/ppt/tags/tag56.xml" ContentType="application/vnd.openxmlformats-officedocument.presentationml.tags+xml"/>
  <Override PartName="/ppt/notesSlides/notesSlide11.xml" ContentType="application/vnd.openxmlformats-officedocument.presentationml.notesSlide+xml"/>
  <Override PartName="/ppt/tags/tag57.xml" ContentType="application/vnd.openxmlformats-officedocument.presentationml.tags+xml"/>
  <Override PartName="/ppt/notesSlides/notesSlide12.xml" ContentType="application/vnd.openxmlformats-officedocument.presentationml.notesSlide+xml"/>
  <Override PartName="/ppt/tags/tag58.xml" ContentType="application/vnd.openxmlformats-officedocument.presentationml.tags+xml"/>
  <Override PartName="/ppt/notesSlides/notesSlide13.xml" ContentType="application/vnd.openxmlformats-officedocument.presentationml.notesSlide+xml"/>
  <Override PartName="/ppt/tags/tag59.xml" ContentType="application/vnd.openxmlformats-officedocument.presentationml.tags+xml"/>
  <Override PartName="/ppt/notesSlides/notesSlide14.xml" ContentType="application/vnd.openxmlformats-officedocument.presentationml.notesSlide+xml"/>
  <Override PartName="/ppt/tags/tag60.xml" ContentType="application/vnd.openxmlformats-officedocument.presentationml.tags+xml"/>
  <Override PartName="/ppt/notesSlides/notesSlide15.xml" ContentType="application/vnd.openxmlformats-officedocument.presentationml.notesSlide+xml"/>
  <Override PartName="/ppt/tags/tag61.xml" ContentType="application/vnd.openxmlformats-officedocument.presentationml.tags+xml"/>
  <Override PartName="/ppt/notesSlides/notesSlide16.xml" ContentType="application/vnd.openxmlformats-officedocument.presentationml.notesSlide+xml"/>
  <Override PartName="/ppt/tags/tag62.xml" ContentType="application/vnd.openxmlformats-officedocument.presentationml.tags+xml"/>
  <Override PartName="/ppt/notesSlides/notesSlide17.xml" ContentType="application/vnd.openxmlformats-officedocument.presentationml.notesSlide+xml"/>
  <Override PartName="/ppt/tags/tag63.xml" ContentType="application/vnd.openxmlformats-officedocument.presentationml.tags+xml"/>
  <Override PartName="/ppt/notesSlides/notesSlide18.xml" ContentType="application/vnd.openxmlformats-officedocument.presentationml.notesSlide+xml"/>
  <Override PartName="/ppt/tags/tag64.xml" ContentType="application/vnd.openxmlformats-officedocument.presentationml.tags+xml"/>
  <Override PartName="/ppt/notesSlides/notesSlide19.xml" ContentType="application/vnd.openxmlformats-officedocument.presentationml.notesSlide+xml"/>
  <Override PartName="/ppt/tags/tag65.xml" ContentType="application/vnd.openxmlformats-officedocument.presentationml.tags+xml"/>
  <Override PartName="/ppt/notesSlides/notesSlide20.xml" ContentType="application/vnd.openxmlformats-officedocument.presentationml.notesSlide+xml"/>
  <Override PartName="/ppt/tags/tag66.xml" ContentType="application/vnd.openxmlformats-officedocument.presentationml.tags+xml"/>
  <Override PartName="/ppt/notesSlides/notesSlide21.xml" ContentType="application/vnd.openxmlformats-officedocument.presentationml.notesSlide+xml"/>
  <Override PartName="/ppt/tags/tag67.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1"/>
  </p:notesMasterIdLst>
  <p:sldIdLst>
    <p:sldId id="267" r:id="rId3"/>
    <p:sldId id="540" r:id="rId4"/>
    <p:sldId id="543" r:id="rId5"/>
    <p:sldId id="588" r:id="rId6"/>
    <p:sldId id="538" r:id="rId7"/>
    <p:sldId id="537" r:id="rId8"/>
    <p:sldId id="539" r:id="rId9"/>
    <p:sldId id="466" r:id="rId10"/>
    <p:sldId id="544" r:id="rId11"/>
    <p:sldId id="545" r:id="rId12"/>
    <p:sldId id="546" r:id="rId13"/>
    <p:sldId id="597" r:id="rId14"/>
    <p:sldId id="598" r:id="rId15"/>
    <p:sldId id="615" r:id="rId16"/>
    <p:sldId id="613" r:id="rId17"/>
    <p:sldId id="599" r:id="rId18"/>
    <p:sldId id="614" r:id="rId19"/>
    <p:sldId id="600" r:id="rId20"/>
    <p:sldId id="536" r:id="rId21"/>
    <p:sldId id="587" r:id="rId22"/>
    <p:sldId id="586" r:id="rId23"/>
    <p:sldId id="548" r:id="rId24"/>
    <p:sldId id="549" r:id="rId25"/>
    <p:sldId id="601" r:id="rId26"/>
    <p:sldId id="602" r:id="rId27"/>
    <p:sldId id="550" r:id="rId28"/>
    <p:sldId id="603" r:id="rId29"/>
    <p:sldId id="555" r:id="rId30"/>
    <p:sldId id="591" r:id="rId31"/>
    <p:sldId id="604" r:id="rId32"/>
    <p:sldId id="612" r:id="rId33"/>
    <p:sldId id="552" r:id="rId34"/>
    <p:sldId id="553" r:id="rId35"/>
    <p:sldId id="556" r:id="rId36"/>
    <p:sldId id="608" r:id="rId37"/>
    <p:sldId id="557" r:id="rId38"/>
    <p:sldId id="609" r:id="rId39"/>
    <p:sldId id="547" r:id="rId40"/>
    <p:sldId id="559" r:id="rId41"/>
    <p:sldId id="560" r:id="rId42"/>
    <p:sldId id="561" r:id="rId43"/>
    <p:sldId id="562" r:id="rId44"/>
    <p:sldId id="563" r:id="rId45"/>
    <p:sldId id="564" r:id="rId46"/>
    <p:sldId id="565" r:id="rId47"/>
    <p:sldId id="566" r:id="rId48"/>
    <p:sldId id="567" r:id="rId49"/>
    <p:sldId id="568" r:id="rId50"/>
    <p:sldId id="569" r:id="rId51"/>
    <p:sldId id="570" r:id="rId52"/>
    <p:sldId id="571" r:id="rId53"/>
    <p:sldId id="572" r:id="rId54"/>
    <p:sldId id="573" r:id="rId55"/>
    <p:sldId id="574" r:id="rId56"/>
    <p:sldId id="575" r:id="rId57"/>
    <p:sldId id="576" r:id="rId58"/>
    <p:sldId id="577" r:id="rId59"/>
    <p:sldId id="578" r:id="rId60"/>
    <p:sldId id="579" r:id="rId61"/>
    <p:sldId id="580" r:id="rId62"/>
    <p:sldId id="581" r:id="rId63"/>
    <p:sldId id="589" r:id="rId64"/>
    <p:sldId id="590" r:id="rId65"/>
    <p:sldId id="582" r:id="rId66"/>
    <p:sldId id="583" r:id="rId67"/>
    <p:sldId id="584" r:id="rId68"/>
    <p:sldId id="585" r:id="rId69"/>
    <p:sldId id="611"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C5E1E-F139-4332-ADB1-E8D22FE39AFF}" v="60" dt="2024-09-10T08:18:10.1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28" autoAdjust="0"/>
  </p:normalViewPr>
  <p:slideViewPr>
    <p:cSldViewPr snapToGrid="0">
      <p:cViewPr varScale="1">
        <p:scale>
          <a:sx n="56" d="100"/>
          <a:sy n="56" d="100"/>
        </p:scale>
        <p:origin x="1065"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D37C5E1E-F139-4332-ADB1-E8D22FE39AFF}"/>
    <pc:docChg chg="undo custSel addSld delSld modSld sldOrd">
      <pc:chgData name="Hasan Jamal" userId="6724a5da2ffd1b8f" providerId="LiveId" clId="{D37C5E1E-F139-4332-ADB1-E8D22FE39AFF}" dt="2024-09-13T03:14:47.667" v="1015" actId="20577"/>
      <pc:docMkLst>
        <pc:docMk/>
      </pc:docMkLst>
      <pc:sldChg chg="modAnim">
        <pc:chgData name="Hasan Jamal" userId="6724a5da2ffd1b8f" providerId="LiveId" clId="{D37C5E1E-F139-4332-ADB1-E8D22FE39AFF}" dt="2024-09-02T06:58:36.842" v="4"/>
        <pc:sldMkLst>
          <pc:docMk/>
          <pc:sldMk cId="1191552048" sldId="540"/>
        </pc:sldMkLst>
      </pc:sldChg>
      <pc:sldChg chg="modSp modAnim">
        <pc:chgData name="Hasan Jamal" userId="6724a5da2ffd1b8f" providerId="LiveId" clId="{D37C5E1E-F139-4332-ADB1-E8D22FE39AFF}" dt="2024-09-09T03:20:32.316" v="21" actId="20577"/>
        <pc:sldMkLst>
          <pc:docMk/>
          <pc:sldMk cId="3673589650" sldId="543"/>
        </pc:sldMkLst>
        <pc:spChg chg="mod">
          <ac:chgData name="Hasan Jamal" userId="6724a5da2ffd1b8f" providerId="LiveId" clId="{D37C5E1E-F139-4332-ADB1-E8D22FE39AFF}" dt="2024-09-09T03:20:32.316" v="21" actId="20577"/>
          <ac:spMkLst>
            <pc:docMk/>
            <pc:sldMk cId="3673589650" sldId="543"/>
            <ac:spMk id="12" creationId="{A773B303-CEA4-39FE-8190-A77ECCC638B8}"/>
          </ac:spMkLst>
        </pc:spChg>
      </pc:sldChg>
      <pc:sldChg chg="modSp mod">
        <pc:chgData name="Hasan Jamal" userId="6724a5da2ffd1b8f" providerId="LiveId" clId="{D37C5E1E-F139-4332-ADB1-E8D22FE39AFF}" dt="2024-09-09T03:27:12.454" v="22" actId="20577"/>
        <pc:sldMkLst>
          <pc:docMk/>
          <pc:sldMk cId="2829778637" sldId="544"/>
        </pc:sldMkLst>
        <pc:spChg chg="mod">
          <ac:chgData name="Hasan Jamal" userId="6724a5da2ffd1b8f" providerId="LiveId" clId="{D37C5E1E-F139-4332-ADB1-E8D22FE39AFF}" dt="2024-09-09T03:27:12.454" v="22" actId="20577"/>
          <ac:spMkLst>
            <pc:docMk/>
            <pc:sldMk cId="2829778637" sldId="544"/>
            <ac:spMk id="12" creationId="{A773B303-CEA4-39FE-8190-A77ECCC638B8}"/>
          </ac:spMkLst>
        </pc:spChg>
      </pc:sldChg>
      <pc:sldChg chg="modSp mod">
        <pc:chgData name="Hasan Jamal" userId="6724a5da2ffd1b8f" providerId="LiveId" clId="{D37C5E1E-F139-4332-ADB1-E8D22FE39AFF}" dt="2024-09-09T05:51:01.895" v="23" actId="20577"/>
        <pc:sldMkLst>
          <pc:docMk/>
          <pc:sldMk cId="3565233425" sldId="553"/>
        </pc:sldMkLst>
        <pc:spChg chg="mod">
          <ac:chgData name="Hasan Jamal" userId="6724a5da2ffd1b8f" providerId="LiveId" clId="{D37C5E1E-F139-4332-ADB1-E8D22FE39AFF}" dt="2024-09-09T05:51:01.895" v="23" actId="20577"/>
          <ac:spMkLst>
            <pc:docMk/>
            <pc:sldMk cId="3565233425" sldId="553"/>
            <ac:spMk id="12" creationId="{A773B303-CEA4-39FE-8190-A77ECCC638B8}"/>
          </ac:spMkLst>
        </pc:spChg>
      </pc:sldChg>
      <pc:sldChg chg="modAnim">
        <pc:chgData name="Hasan Jamal" userId="6724a5da2ffd1b8f" providerId="LiveId" clId="{D37C5E1E-F139-4332-ADB1-E8D22FE39AFF}" dt="2024-09-09T06:02:45.783" v="30"/>
        <pc:sldMkLst>
          <pc:docMk/>
          <pc:sldMk cId="1339471842" sldId="561"/>
        </pc:sldMkLst>
      </pc:sldChg>
      <pc:sldChg chg="modAnim">
        <pc:chgData name="Hasan Jamal" userId="6724a5da2ffd1b8f" providerId="LiveId" clId="{D37C5E1E-F139-4332-ADB1-E8D22FE39AFF}" dt="2024-09-09T06:03:39.876" v="31"/>
        <pc:sldMkLst>
          <pc:docMk/>
          <pc:sldMk cId="816086383" sldId="562"/>
        </pc:sldMkLst>
      </pc:sldChg>
      <pc:sldChg chg="modSp mod">
        <pc:chgData name="Hasan Jamal" userId="6724a5da2ffd1b8f" providerId="LiveId" clId="{D37C5E1E-F139-4332-ADB1-E8D22FE39AFF}" dt="2024-09-09T06:04:34.531" v="37" actId="20577"/>
        <pc:sldMkLst>
          <pc:docMk/>
          <pc:sldMk cId="2873058451" sldId="564"/>
        </pc:sldMkLst>
        <pc:spChg chg="mod">
          <ac:chgData name="Hasan Jamal" userId="6724a5da2ffd1b8f" providerId="LiveId" clId="{D37C5E1E-F139-4332-ADB1-E8D22FE39AFF}" dt="2024-09-09T06:04:34.531" v="37" actId="20577"/>
          <ac:spMkLst>
            <pc:docMk/>
            <pc:sldMk cId="2873058451" sldId="564"/>
            <ac:spMk id="12" creationId="{A773B303-CEA4-39FE-8190-A77ECCC638B8}"/>
          </ac:spMkLst>
        </pc:spChg>
      </pc:sldChg>
      <pc:sldChg chg="modSp mod">
        <pc:chgData name="Hasan Jamal" userId="6724a5da2ffd1b8f" providerId="LiveId" clId="{D37C5E1E-F139-4332-ADB1-E8D22FE39AFF}" dt="2024-09-09T06:06:16.305" v="40" actId="20577"/>
        <pc:sldMkLst>
          <pc:docMk/>
          <pc:sldMk cId="306440915" sldId="577"/>
        </pc:sldMkLst>
        <pc:spChg chg="mod">
          <ac:chgData name="Hasan Jamal" userId="6724a5da2ffd1b8f" providerId="LiveId" clId="{D37C5E1E-F139-4332-ADB1-E8D22FE39AFF}" dt="2024-09-09T06:06:16.305" v="40" actId="20577"/>
          <ac:spMkLst>
            <pc:docMk/>
            <pc:sldMk cId="306440915" sldId="577"/>
            <ac:spMk id="12" creationId="{A773B303-CEA4-39FE-8190-A77ECCC638B8}"/>
          </ac:spMkLst>
        </pc:spChg>
      </pc:sldChg>
      <pc:sldChg chg="modSp mod">
        <pc:chgData name="Hasan Jamal" userId="6724a5da2ffd1b8f" providerId="LiveId" clId="{D37C5E1E-F139-4332-ADB1-E8D22FE39AFF}" dt="2024-09-09T06:07:43.868" v="41" actId="20577"/>
        <pc:sldMkLst>
          <pc:docMk/>
          <pc:sldMk cId="3206498402" sldId="584"/>
        </pc:sldMkLst>
        <pc:spChg chg="mod">
          <ac:chgData name="Hasan Jamal" userId="6724a5da2ffd1b8f" providerId="LiveId" clId="{D37C5E1E-F139-4332-ADB1-E8D22FE39AFF}" dt="2024-09-09T06:07:43.868" v="41" actId="20577"/>
          <ac:spMkLst>
            <pc:docMk/>
            <pc:sldMk cId="3206498402" sldId="584"/>
            <ac:spMk id="12" creationId="{A773B303-CEA4-39FE-8190-A77ECCC638B8}"/>
          </ac:spMkLst>
        </pc:spChg>
      </pc:sldChg>
      <pc:sldChg chg="modSp mod">
        <pc:chgData name="Hasan Jamal" userId="6724a5da2ffd1b8f" providerId="LiveId" clId="{D37C5E1E-F139-4332-ADB1-E8D22FE39AFF}" dt="2024-09-13T03:14:47.667" v="1015" actId="20577"/>
        <pc:sldMkLst>
          <pc:docMk/>
          <pc:sldMk cId="2858384051" sldId="587"/>
        </pc:sldMkLst>
        <pc:spChg chg="mod">
          <ac:chgData name="Hasan Jamal" userId="6724a5da2ffd1b8f" providerId="LiveId" clId="{D37C5E1E-F139-4332-ADB1-E8D22FE39AFF}" dt="2024-09-13T03:14:47.667" v="1015" actId="20577"/>
          <ac:spMkLst>
            <pc:docMk/>
            <pc:sldMk cId="2858384051" sldId="587"/>
            <ac:spMk id="12" creationId="{A773B303-CEA4-39FE-8190-A77ECCC638B8}"/>
          </ac:spMkLst>
        </pc:spChg>
      </pc:sldChg>
      <pc:sldChg chg="modAnim">
        <pc:chgData name="Hasan Jamal" userId="6724a5da2ffd1b8f" providerId="LiveId" clId="{D37C5E1E-F139-4332-ADB1-E8D22FE39AFF}" dt="2024-09-02T06:59:50.959" v="11"/>
        <pc:sldMkLst>
          <pc:docMk/>
          <pc:sldMk cId="4292783830" sldId="588"/>
        </pc:sldMkLst>
      </pc:sldChg>
      <pc:sldChg chg="modSp mod">
        <pc:chgData name="Hasan Jamal" userId="6724a5da2ffd1b8f" providerId="LiveId" clId="{D37C5E1E-F139-4332-ADB1-E8D22FE39AFF}" dt="2024-09-10T08:23:28.226" v="1011" actId="1076"/>
        <pc:sldMkLst>
          <pc:docMk/>
          <pc:sldMk cId="274183469" sldId="591"/>
        </pc:sldMkLst>
        <pc:spChg chg="mod">
          <ac:chgData name="Hasan Jamal" userId="6724a5da2ffd1b8f" providerId="LiveId" clId="{D37C5E1E-F139-4332-ADB1-E8D22FE39AFF}" dt="2024-09-10T08:23:28.226" v="1011" actId="1076"/>
          <ac:spMkLst>
            <pc:docMk/>
            <pc:sldMk cId="274183469" sldId="591"/>
            <ac:spMk id="2" creationId="{C46DBDD8-94E8-359E-54A1-71EDCA870C88}"/>
          </ac:spMkLst>
        </pc:spChg>
        <pc:spChg chg="mod">
          <ac:chgData name="Hasan Jamal" userId="6724a5da2ffd1b8f" providerId="LiveId" clId="{D37C5E1E-F139-4332-ADB1-E8D22FE39AFF}" dt="2024-09-10T08:23:22.590" v="1010" actId="20577"/>
          <ac:spMkLst>
            <pc:docMk/>
            <pc:sldMk cId="274183469" sldId="591"/>
            <ac:spMk id="12" creationId="{A773B303-CEA4-39FE-8190-A77ECCC638B8}"/>
          </ac:spMkLst>
        </pc:spChg>
      </pc:sldChg>
      <pc:sldChg chg="del">
        <pc:chgData name="Hasan Jamal" userId="6724a5da2ffd1b8f" providerId="LiveId" clId="{D37C5E1E-F139-4332-ADB1-E8D22FE39AFF}" dt="2024-09-05T05:47:47.934" v="13" actId="2696"/>
        <pc:sldMkLst>
          <pc:docMk/>
          <pc:sldMk cId="1458936523" sldId="592"/>
        </pc:sldMkLst>
      </pc:sldChg>
      <pc:sldChg chg="del">
        <pc:chgData name="Hasan Jamal" userId="6724a5da2ffd1b8f" providerId="LiveId" clId="{D37C5E1E-F139-4332-ADB1-E8D22FE39AFF}" dt="2024-09-05T05:47:47.934" v="13" actId="2696"/>
        <pc:sldMkLst>
          <pc:docMk/>
          <pc:sldMk cId="3104079279" sldId="593"/>
        </pc:sldMkLst>
      </pc:sldChg>
      <pc:sldChg chg="del">
        <pc:chgData name="Hasan Jamal" userId="6724a5da2ffd1b8f" providerId="LiveId" clId="{D37C5E1E-F139-4332-ADB1-E8D22FE39AFF}" dt="2024-09-05T05:47:47.934" v="13" actId="2696"/>
        <pc:sldMkLst>
          <pc:docMk/>
          <pc:sldMk cId="1404803089" sldId="594"/>
        </pc:sldMkLst>
      </pc:sldChg>
      <pc:sldChg chg="del">
        <pc:chgData name="Hasan Jamal" userId="6724a5da2ffd1b8f" providerId="LiveId" clId="{D37C5E1E-F139-4332-ADB1-E8D22FE39AFF}" dt="2024-09-05T05:47:47.934" v="13" actId="2696"/>
        <pc:sldMkLst>
          <pc:docMk/>
          <pc:sldMk cId="2889225343" sldId="595"/>
        </pc:sldMkLst>
      </pc:sldChg>
      <pc:sldChg chg="del">
        <pc:chgData name="Hasan Jamal" userId="6724a5da2ffd1b8f" providerId="LiveId" clId="{D37C5E1E-F139-4332-ADB1-E8D22FE39AFF}" dt="2024-09-05T05:47:47.934" v="13" actId="2696"/>
        <pc:sldMkLst>
          <pc:docMk/>
          <pc:sldMk cId="2071882620" sldId="596"/>
        </pc:sldMkLst>
      </pc:sldChg>
      <pc:sldChg chg="addSp delSp modSp mod">
        <pc:chgData name="Hasan Jamal" userId="6724a5da2ffd1b8f" providerId="LiveId" clId="{D37C5E1E-F139-4332-ADB1-E8D22FE39AFF}" dt="2024-09-10T08:07:13.576" v="691" actId="20577"/>
        <pc:sldMkLst>
          <pc:docMk/>
          <pc:sldMk cId="1042455817" sldId="598"/>
        </pc:sldMkLst>
        <pc:spChg chg="add del mod">
          <ac:chgData name="Hasan Jamal" userId="6724a5da2ffd1b8f" providerId="LiveId" clId="{D37C5E1E-F139-4332-ADB1-E8D22FE39AFF}" dt="2024-09-10T08:04:10.864" v="516" actId="478"/>
          <ac:spMkLst>
            <pc:docMk/>
            <pc:sldMk cId="1042455817" sldId="598"/>
            <ac:spMk id="2" creationId="{CC82F06B-CE26-9B4D-F15A-9AE09FA7D3DC}"/>
          </ac:spMkLst>
        </pc:spChg>
        <pc:spChg chg="mod">
          <ac:chgData name="Hasan Jamal" userId="6724a5da2ffd1b8f" providerId="LiveId" clId="{D37C5E1E-F139-4332-ADB1-E8D22FE39AFF}" dt="2024-09-10T08:07:13.576" v="691" actId="20577"/>
          <ac:spMkLst>
            <pc:docMk/>
            <pc:sldMk cId="1042455817" sldId="598"/>
            <ac:spMk id="12" creationId="{A773B303-CEA4-39FE-8190-A77ECCC638B8}"/>
          </ac:spMkLst>
        </pc:spChg>
        <pc:spChg chg="mod">
          <ac:chgData name="Hasan Jamal" userId="6724a5da2ffd1b8f" providerId="LiveId" clId="{D37C5E1E-F139-4332-ADB1-E8D22FE39AFF}" dt="2024-09-10T07:59:23.652" v="403" actId="20577"/>
          <ac:spMkLst>
            <pc:docMk/>
            <pc:sldMk cId="1042455817" sldId="598"/>
            <ac:spMk id="3074" creationId="{00000000-0000-0000-0000-000000000000}"/>
          </ac:spMkLst>
        </pc:spChg>
        <pc:picChg chg="del mod">
          <ac:chgData name="Hasan Jamal" userId="6724a5da2ffd1b8f" providerId="LiveId" clId="{D37C5E1E-F139-4332-ADB1-E8D22FE39AFF}" dt="2024-09-10T08:04:06.190" v="513" actId="478"/>
          <ac:picMkLst>
            <pc:docMk/>
            <pc:sldMk cId="1042455817" sldId="598"/>
            <ac:picMk id="26627" creationId="{41B33145-E046-43DB-9C9B-4E671F3D1056}"/>
          </ac:picMkLst>
        </pc:picChg>
      </pc:sldChg>
      <pc:sldChg chg="modSp mod">
        <pc:chgData name="Hasan Jamal" userId="6724a5da2ffd1b8f" providerId="LiveId" clId="{D37C5E1E-F139-4332-ADB1-E8D22FE39AFF}" dt="2024-09-10T08:18:10.102" v="958" actId="1035"/>
        <pc:sldMkLst>
          <pc:docMk/>
          <pc:sldMk cId="2250875496" sldId="599"/>
        </pc:sldMkLst>
        <pc:spChg chg="mod">
          <ac:chgData name="Hasan Jamal" userId="6724a5da2ffd1b8f" providerId="LiveId" clId="{D37C5E1E-F139-4332-ADB1-E8D22FE39AFF}" dt="2024-09-10T08:18:05.384" v="957" actId="1076"/>
          <ac:spMkLst>
            <pc:docMk/>
            <pc:sldMk cId="2250875496" sldId="599"/>
            <ac:spMk id="4" creationId="{341FB700-A32B-1659-5FF8-7E1D114A9D0C}"/>
          </ac:spMkLst>
        </pc:spChg>
        <pc:spChg chg="mod">
          <ac:chgData name="Hasan Jamal" userId="6724a5da2ffd1b8f" providerId="LiveId" clId="{D37C5E1E-F139-4332-ADB1-E8D22FE39AFF}" dt="2024-09-10T08:15:55.618" v="945" actId="21"/>
          <ac:spMkLst>
            <pc:docMk/>
            <pc:sldMk cId="2250875496" sldId="599"/>
            <ac:spMk id="12" creationId="{A773B303-CEA4-39FE-8190-A77ECCC638B8}"/>
          </ac:spMkLst>
        </pc:spChg>
        <pc:spChg chg="mod">
          <ac:chgData name="Hasan Jamal" userId="6724a5da2ffd1b8f" providerId="LiveId" clId="{D37C5E1E-F139-4332-ADB1-E8D22FE39AFF}" dt="2024-09-10T08:17:50.678" v="953"/>
          <ac:spMkLst>
            <pc:docMk/>
            <pc:sldMk cId="2250875496" sldId="599"/>
            <ac:spMk id="3074" creationId="{00000000-0000-0000-0000-000000000000}"/>
          </ac:spMkLst>
        </pc:spChg>
        <pc:picChg chg="mod">
          <ac:chgData name="Hasan Jamal" userId="6724a5da2ffd1b8f" providerId="LiveId" clId="{D37C5E1E-F139-4332-ADB1-E8D22FE39AFF}" dt="2024-09-10T08:18:10.102" v="958" actId="1035"/>
          <ac:picMkLst>
            <pc:docMk/>
            <pc:sldMk cId="2250875496" sldId="599"/>
            <ac:picMk id="32771" creationId="{E86048AC-75FB-4CAE-AB8A-81F852B9502D}"/>
          </ac:picMkLst>
        </pc:picChg>
      </pc:sldChg>
      <pc:sldChg chg="del">
        <pc:chgData name="Hasan Jamal" userId="6724a5da2ffd1b8f" providerId="LiveId" clId="{D37C5E1E-F139-4332-ADB1-E8D22FE39AFF}" dt="2024-09-02T17:28:25.524" v="12" actId="2696"/>
        <pc:sldMkLst>
          <pc:docMk/>
          <pc:sldMk cId="2245585915" sldId="605"/>
        </pc:sldMkLst>
      </pc:sldChg>
      <pc:sldChg chg="del">
        <pc:chgData name="Hasan Jamal" userId="6724a5da2ffd1b8f" providerId="LiveId" clId="{D37C5E1E-F139-4332-ADB1-E8D22FE39AFF}" dt="2024-09-02T17:28:25.524" v="12" actId="2696"/>
        <pc:sldMkLst>
          <pc:docMk/>
          <pc:sldMk cId="2073823400" sldId="606"/>
        </pc:sldMkLst>
      </pc:sldChg>
      <pc:sldChg chg="del">
        <pc:chgData name="Hasan Jamal" userId="6724a5da2ffd1b8f" providerId="LiveId" clId="{D37C5E1E-F139-4332-ADB1-E8D22FE39AFF}" dt="2024-09-05T05:47:47.934" v="13" actId="2696"/>
        <pc:sldMkLst>
          <pc:docMk/>
          <pc:sldMk cId="2041488050" sldId="607"/>
        </pc:sldMkLst>
      </pc:sldChg>
      <pc:sldChg chg="addSp delSp modSp mod ord">
        <pc:chgData name="Hasan Jamal" userId="6724a5da2ffd1b8f" providerId="LiveId" clId="{D37C5E1E-F139-4332-ADB1-E8D22FE39AFF}" dt="2024-09-10T08:16:13.332" v="952" actId="20577"/>
        <pc:sldMkLst>
          <pc:docMk/>
          <pc:sldMk cId="3200845249" sldId="613"/>
        </pc:sldMkLst>
        <pc:spChg chg="add del mod">
          <ac:chgData name="Hasan Jamal" userId="6724a5da2ffd1b8f" providerId="LiveId" clId="{D37C5E1E-F139-4332-ADB1-E8D22FE39AFF}" dt="2024-09-10T07:57:23.416" v="238" actId="478"/>
          <ac:spMkLst>
            <pc:docMk/>
            <pc:sldMk cId="3200845249" sldId="613"/>
            <ac:spMk id="4" creationId="{A7CF25F4-6E0C-E7E0-55CF-95CC28A9346B}"/>
          </ac:spMkLst>
        </pc:spChg>
        <pc:spChg chg="del">
          <ac:chgData name="Hasan Jamal" userId="6724a5da2ffd1b8f" providerId="LiveId" clId="{D37C5E1E-F139-4332-ADB1-E8D22FE39AFF}" dt="2024-09-10T07:57:21.366" v="237" actId="478"/>
          <ac:spMkLst>
            <pc:docMk/>
            <pc:sldMk cId="3200845249" sldId="613"/>
            <ac:spMk id="10" creationId="{835E0F13-DAEB-A3F2-2D62-E4BFB5AC00DF}"/>
          </ac:spMkLst>
        </pc:spChg>
        <pc:spChg chg="mod">
          <ac:chgData name="Hasan Jamal" userId="6724a5da2ffd1b8f" providerId="LiveId" clId="{D37C5E1E-F139-4332-ADB1-E8D22FE39AFF}" dt="2024-09-10T08:16:13.332" v="952" actId="20577"/>
          <ac:spMkLst>
            <pc:docMk/>
            <pc:sldMk cId="3200845249" sldId="613"/>
            <ac:spMk id="12" creationId="{A773B303-CEA4-39FE-8190-A77ECCC638B8}"/>
          </ac:spMkLst>
        </pc:spChg>
        <pc:spChg chg="mod">
          <ac:chgData name="Hasan Jamal" userId="6724a5da2ffd1b8f" providerId="LiveId" clId="{D37C5E1E-F139-4332-ADB1-E8D22FE39AFF}" dt="2024-09-10T08:08:28.716" v="724" actId="20577"/>
          <ac:spMkLst>
            <pc:docMk/>
            <pc:sldMk cId="3200845249" sldId="613"/>
            <ac:spMk id="3074" creationId="{00000000-0000-0000-0000-000000000000}"/>
          </ac:spMkLst>
        </pc:spChg>
        <pc:picChg chg="del">
          <ac:chgData name="Hasan Jamal" userId="6724a5da2ffd1b8f" providerId="LiveId" clId="{D37C5E1E-F139-4332-ADB1-E8D22FE39AFF}" dt="2024-09-10T07:57:18.056" v="236" actId="478"/>
          <ac:picMkLst>
            <pc:docMk/>
            <pc:sldMk cId="3200845249" sldId="613"/>
            <ac:picMk id="7" creationId="{C817A48D-9A20-F796-9087-9C1A04F541AE}"/>
          </ac:picMkLst>
        </pc:picChg>
        <pc:picChg chg="del">
          <ac:chgData name="Hasan Jamal" userId="6724a5da2ffd1b8f" providerId="LiveId" clId="{D37C5E1E-F139-4332-ADB1-E8D22FE39AFF}" dt="2024-09-10T07:57:18.056" v="236" actId="478"/>
          <ac:picMkLst>
            <pc:docMk/>
            <pc:sldMk cId="3200845249" sldId="613"/>
            <ac:picMk id="9" creationId="{C0D45E9D-FDAF-4D30-0436-638EE6B20D1E}"/>
          </ac:picMkLst>
        </pc:picChg>
      </pc:sldChg>
      <pc:sldChg chg="del">
        <pc:chgData name="Hasan Jamal" userId="6724a5da2ffd1b8f" providerId="LiveId" clId="{D37C5E1E-F139-4332-ADB1-E8D22FE39AFF}" dt="2024-09-05T05:47:47.934" v="13" actId="2696"/>
        <pc:sldMkLst>
          <pc:docMk/>
          <pc:sldMk cId="973189905" sldId="614"/>
        </pc:sldMkLst>
      </pc:sldChg>
      <pc:sldChg chg="modSp add mod">
        <pc:chgData name="Hasan Jamal" userId="6724a5da2ffd1b8f" providerId="LiveId" clId="{D37C5E1E-F139-4332-ADB1-E8D22FE39AFF}" dt="2024-09-10T08:19:51.894" v="1008" actId="20577"/>
        <pc:sldMkLst>
          <pc:docMk/>
          <pc:sldMk cId="1490959042" sldId="614"/>
        </pc:sldMkLst>
        <pc:spChg chg="mod">
          <ac:chgData name="Hasan Jamal" userId="6724a5da2ffd1b8f" providerId="LiveId" clId="{D37C5E1E-F139-4332-ADB1-E8D22FE39AFF}" dt="2024-09-10T08:19:38.426" v="1002" actId="6549"/>
          <ac:spMkLst>
            <pc:docMk/>
            <pc:sldMk cId="1490959042" sldId="614"/>
            <ac:spMk id="10" creationId="{835E0F13-DAEB-A3F2-2D62-E4BFB5AC00DF}"/>
          </ac:spMkLst>
        </pc:spChg>
        <pc:spChg chg="mod">
          <ac:chgData name="Hasan Jamal" userId="6724a5da2ffd1b8f" providerId="LiveId" clId="{D37C5E1E-F139-4332-ADB1-E8D22FE39AFF}" dt="2024-09-10T08:18:31.006" v="959" actId="6549"/>
          <ac:spMkLst>
            <pc:docMk/>
            <pc:sldMk cId="1490959042" sldId="614"/>
            <ac:spMk id="12" creationId="{A773B303-CEA4-39FE-8190-A77ECCC638B8}"/>
          </ac:spMkLst>
        </pc:spChg>
        <pc:spChg chg="mod">
          <ac:chgData name="Hasan Jamal" userId="6724a5da2ffd1b8f" providerId="LiveId" clId="{D37C5E1E-F139-4332-ADB1-E8D22FE39AFF}" dt="2024-09-10T08:19:51.894" v="1008" actId="20577"/>
          <ac:spMkLst>
            <pc:docMk/>
            <pc:sldMk cId="1490959042" sldId="614"/>
            <ac:spMk id="3074" creationId="{00000000-0000-0000-0000-000000000000}"/>
          </ac:spMkLst>
        </pc:spChg>
        <pc:picChg chg="mod">
          <ac:chgData name="Hasan Jamal" userId="6724a5da2ffd1b8f" providerId="LiveId" clId="{D37C5E1E-F139-4332-ADB1-E8D22FE39AFF}" dt="2024-09-10T08:19:03.662" v="977" actId="1076"/>
          <ac:picMkLst>
            <pc:docMk/>
            <pc:sldMk cId="1490959042" sldId="614"/>
            <ac:picMk id="7" creationId="{C817A48D-9A20-F796-9087-9C1A04F541AE}"/>
          </ac:picMkLst>
        </pc:picChg>
        <pc:picChg chg="mod">
          <ac:chgData name="Hasan Jamal" userId="6724a5da2ffd1b8f" providerId="LiveId" clId="{D37C5E1E-F139-4332-ADB1-E8D22FE39AFF}" dt="2024-09-10T08:18:53.870" v="975" actId="14100"/>
          <ac:picMkLst>
            <pc:docMk/>
            <pc:sldMk cId="1490959042" sldId="614"/>
            <ac:picMk id="9" creationId="{C0D45E9D-FDAF-4D30-0436-638EE6B20D1E}"/>
          </ac:picMkLst>
        </pc:picChg>
      </pc:sldChg>
      <pc:sldChg chg="delSp modSp add mod ord">
        <pc:chgData name="Hasan Jamal" userId="6724a5da2ffd1b8f" providerId="LiveId" clId="{D37C5E1E-F139-4332-ADB1-E8D22FE39AFF}" dt="2024-09-10T08:25:26.896" v="1012" actId="20577"/>
        <pc:sldMkLst>
          <pc:docMk/>
          <pc:sldMk cId="1315282947" sldId="615"/>
        </pc:sldMkLst>
        <pc:spChg chg="del">
          <ac:chgData name="Hasan Jamal" userId="6724a5da2ffd1b8f" providerId="LiveId" clId="{D37C5E1E-F139-4332-ADB1-E8D22FE39AFF}" dt="2024-09-10T08:08:00.486" v="696" actId="478"/>
          <ac:spMkLst>
            <pc:docMk/>
            <pc:sldMk cId="1315282947" sldId="615"/>
            <ac:spMk id="2" creationId="{CC82F06B-CE26-9B4D-F15A-9AE09FA7D3DC}"/>
          </ac:spMkLst>
        </pc:spChg>
        <pc:spChg chg="del">
          <ac:chgData name="Hasan Jamal" userId="6724a5da2ffd1b8f" providerId="LiveId" clId="{D37C5E1E-F139-4332-ADB1-E8D22FE39AFF}" dt="2024-09-10T08:08:03.282" v="697" actId="478"/>
          <ac:spMkLst>
            <pc:docMk/>
            <pc:sldMk cId="1315282947" sldId="615"/>
            <ac:spMk id="12" creationId="{A773B303-CEA4-39FE-8190-A77ECCC638B8}"/>
          </ac:spMkLst>
        </pc:spChg>
        <pc:spChg chg="mod">
          <ac:chgData name="Hasan Jamal" userId="6724a5da2ffd1b8f" providerId="LiveId" clId="{D37C5E1E-F139-4332-ADB1-E8D22FE39AFF}" dt="2024-09-10T08:25:26.896" v="1012" actId="20577"/>
          <ac:spMkLst>
            <pc:docMk/>
            <pc:sldMk cId="1315282947" sldId="615"/>
            <ac:spMk id="3074" creationId="{00000000-0000-0000-0000-000000000000}"/>
          </ac:spMkLst>
        </pc:spChg>
        <pc:picChg chg="mod">
          <ac:chgData name="Hasan Jamal" userId="6724a5da2ffd1b8f" providerId="LiveId" clId="{D37C5E1E-F139-4332-ADB1-E8D22FE39AFF}" dt="2024-09-10T08:08:15.152" v="714" actId="1036"/>
          <ac:picMkLst>
            <pc:docMk/>
            <pc:sldMk cId="1315282947" sldId="615"/>
            <ac:picMk id="26627" creationId="{41B33145-E046-43DB-9C9B-4E671F3D1056}"/>
          </ac:picMkLst>
        </pc:picChg>
      </pc:sldChg>
      <pc:sldChg chg="del">
        <pc:chgData name="Hasan Jamal" userId="6724a5da2ffd1b8f" providerId="LiveId" clId="{D37C5E1E-F139-4332-ADB1-E8D22FE39AFF}" dt="2024-09-05T05:47:47.934" v="13" actId="2696"/>
        <pc:sldMkLst>
          <pc:docMk/>
          <pc:sldMk cId="3872714251" sldId="615"/>
        </pc:sldMkLst>
      </pc:sldChg>
    </pc:docChg>
  </pc:docChgLst>
  <pc:docChgLst>
    <pc:chgData name="Hasan Jamal" userId="6724a5da2ffd1b8f" providerId="LiveId" clId="{57CB2F9D-511D-47A3-97AB-7DD5A4D88522}"/>
    <pc:docChg chg="modSld">
      <pc:chgData name="Hasan Jamal" userId="6724a5da2ffd1b8f" providerId="LiveId" clId="{57CB2F9D-511D-47A3-97AB-7DD5A4D88522}" dt="2022-09-15T03:29:34.839" v="12" actId="20577"/>
      <pc:docMkLst>
        <pc:docMk/>
      </pc:docMkLst>
      <pc:sldChg chg="modSp mod">
        <pc:chgData name="Hasan Jamal" userId="6724a5da2ffd1b8f" providerId="LiveId" clId="{57CB2F9D-511D-47A3-97AB-7DD5A4D88522}" dt="2022-09-15T03:29:34.839" v="12" actId="20577"/>
        <pc:sldMkLst>
          <pc:docMk/>
          <pc:sldMk cId="4276505344" sldId="513"/>
        </pc:sldMkLst>
        <pc:spChg chg="mod">
          <ac:chgData name="Hasan Jamal" userId="6724a5da2ffd1b8f" providerId="LiveId" clId="{57CB2F9D-511D-47A3-97AB-7DD5A4D88522}" dt="2022-09-15T03:29:34.839" v="12" actId="20577"/>
          <ac:spMkLst>
            <pc:docMk/>
            <pc:sldMk cId="4276505344" sldId="513"/>
            <ac:spMk id="3075" creationId="{00000000-0000-0000-0000-000000000000}"/>
          </ac:spMkLst>
        </pc:spChg>
      </pc:sldChg>
      <pc:sldChg chg="modSp mod">
        <pc:chgData name="Hasan Jamal" userId="6724a5da2ffd1b8f" providerId="LiveId" clId="{57CB2F9D-511D-47A3-97AB-7DD5A4D88522}" dt="2022-02-25T04:18:49.826" v="6" actId="113"/>
        <pc:sldMkLst>
          <pc:docMk/>
          <pc:sldMk cId="4101798262" sldId="516"/>
        </pc:sldMkLst>
        <pc:spChg chg="mod">
          <ac:chgData name="Hasan Jamal" userId="6724a5da2ffd1b8f" providerId="LiveId" clId="{57CB2F9D-511D-47A3-97AB-7DD5A4D88522}" dt="2022-02-25T04:18:49.826" v="6" actId="113"/>
          <ac:spMkLst>
            <pc:docMk/>
            <pc:sldMk cId="4101798262" sldId="516"/>
            <ac:spMk id="3075" creationId="{00000000-0000-0000-0000-000000000000}"/>
          </ac:spMkLst>
        </pc:spChg>
      </pc:sldChg>
      <pc:sldChg chg="modNotesTx">
        <pc:chgData name="Hasan Jamal" userId="6724a5da2ffd1b8f" providerId="LiveId" clId="{57CB2F9D-511D-47A3-97AB-7DD5A4D88522}" dt="2022-02-23T10:00:06.570" v="3" actId="20577"/>
        <pc:sldMkLst>
          <pc:docMk/>
          <pc:sldMk cId="1619668140" sldId="523"/>
        </pc:sldMkLst>
      </pc:sldChg>
    </pc:docChg>
  </pc:docChgLst>
  <pc:docChgLst>
    <pc:chgData name="Hasan Jamal" userId="6724a5da2ffd1b8f" providerId="LiveId" clId="{96E91301-8390-499D-83BE-49190A5B0140}"/>
    <pc:docChg chg="modSld">
      <pc:chgData name="Hasan Jamal" userId="6724a5da2ffd1b8f" providerId="LiveId" clId="{96E91301-8390-499D-83BE-49190A5B0140}" dt="2020-06-20T13:15:35.684" v="1"/>
      <pc:docMkLst>
        <pc:docMk/>
      </pc:docMkLst>
      <pc:sldChg chg="modTransition">
        <pc:chgData name="Hasan Jamal" userId="6724a5da2ffd1b8f" providerId="LiveId" clId="{96E91301-8390-499D-83BE-49190A5B0140}" dt="2020-06-20T13:15:35.684" v="1"/>
        <pc:sldMkLst>
          <pc:docMk/>
          <pc:sldMk cId="1423990881" sldId="267"/>
        </pc:sldMkLst>
      </pc:sldChg>
      <pc:sldChg chg="modTransition">
        <pc:chgData name="Hasan Jamal" userId="6724a5da2ffd1b8f" providerId="LiveId" clId="{96E91301-8390-499D-83BE-49190A5B0140}" dt="2020-06-20T13:15:35.684" v="1"/>
        <pc:sldMkLst>
          <pc:docMk/>
          <pc:sldMk cId="578419612" sldId="270"/>
        </pc:sldMkLst>
      </pc:sldChg>
      <pc:sldChg chg="modTransition">
        <pc:chgData name="Hasan Jamal" userId="6724a5da2ffd1b8f" providerId="LiveId" clId="{96E91301-8390-499D-83BE-49190A5B0140}" dt="2020-06-20T13:15:35.684" v="1"/>
        <pc:sldMkLst>
          <pc:docMk/>
          <pc:sldMk cId="1495268929" sldId="274"/>
        </pc:sldMkLst>
      </pc:sldChg>
      <pc:sldChg chg="modTransition">
        <pc:chgData name="Hasan Jamal" userId="6724a5da2ffd1b8f" providerId="LiveId" clId="{96E91301-8390-499D-83BE-49190A5B0140}" dt="2020-06-20T13:15:35.684" v="1"/>
        <pc:sldMkLst>
          <pc:docMk/>
          <pc:sldMk cId="2742951823" sldId="346"/>
        </pc:sldMkLst>
      </pc:sldChg>
      <pc:sldChg chg="modTransition">
        <pc:chgData name="Hasan Jamal" userId="6724a5da2ffd1b8f" providerId="LiveId" clId="{96E91301-8390-499D-83BE-49190A5B0140}" dt="2020-06-20T13:15:35.684" v="1"/>
        <pc:sldMkLst>
          <pc:docMk/>
          <pc:sldMk cId="3076239252" sldId="457"/>
        </pc:sldMkLst>
      </pc:sldChg>
      <pc:sldChg chg="modTransition">
        <pc:chgData name="Hasan Jamal" userId="6724a5da2ffd1b8f" providerId="LiveId" clId="{96E91301-8390-499D-83BE-49190A5B0140}" dt="2020-06-20T13:15:35.684" v="1"/>
        <pc:sldMkLst>
          <pc:docMk/>
          <pc:sldMk cId="3748594262" sldId="458"/>
        </pc:sldMkLst>
      </pc:sldChg>
      <pc:sldChg chg="modTransition">
        <pc:chgData name="Hasan Jamal" userId="6724a5da2ffd1b8f" providerId="LiveId" clId="{96E91301-8390-499D-83BE-49190A5B0140}" dt="2020-06-20T13:15:35.684" v="1"/>
        <pc:sldMkLst>
          <pc:docMk/>
          <pc:sldMk cId="616506392" sldId="459"/>
        </pc:sldMkLst>
      </pc:sldChg>
      <pc:sldChg chg="modTransition">
        <pc:chgData name="Hasan Jamal" userId="6724a5da2ffd1b8f" providerId="LiveId" clId="{96E91301-8390-499D-83BE-49190A5B0140}" dt="2020-06-20T13:15:35.684" v="1"/>
        <pc:sldMkLst>
          <pc:docMk/>
          <pc:sldMk cId="2854303941" sldId="461"/>
        </pc:sldMkLst>
      </pc:sldChg>
      <pc:sldChg chg="modTransition">
        <pc:chgData name="Hasan Jamal" userId="6724a5da2ffd1b8f" providerId="LiveId" clId="{96E91301-8390-499D-83BE-49190A5B0140}" dt="2020-06-20T13:15:35.684" v="1"/>
        <pc:sldMkLst>
          <pc:docMk/>
          <pc:sldMk cId="3095468980" sldId="466"/>
        </pc:sldMkLst>
      </pc:sldChg>
      <pc:sldChg chg="modTransition">
        <pc:chgData name="Hasan Jamal" userId="6724a5da2ffd1b8f" providerId="LiveId" clId="{96E91301-8390-499D-83BE-49190A5B0140}" dt="2020-06-20T13:15:35.684" v="1"/>
        <pc:sldMkLst>
          <pc:docMk/>
          <pc:sldMk cId="2501283379" sldId="467"/>
        </pc:sldMkLst>
      </pc:sldChg>
      <pc:sldChg chg="modTransition">
        <pc:chgData name="Hasan Jamal" userId="6724a5da2ffd1b8f" providerId="LiveId" clId="{96E91301-8390-499D-83BE-49190A5B0140}" dt="2020-06-20T13:15:35.684" v="1"/>
        <pc:sldMkLst>
          <pc:docMk/>
          <pc:sldMk cId="2088484385" sldId="468"/>
        </pc:sldMkLst>
      </pc:sldChg>
      <pc:sldChg chg="modTransition">
        <pc:chgData name="Hasan Jamal" userId="6724a5da2ffd1b8f" providerId="LiveId" clId="{96E91301-8390-499D-83BE-49190A5B0140}" dt="2020-06-20T13:15:35.684" v="1"/>
        <pc:sldMkLst>
          <pc:docMk/>
          <pc:sldMk cId="2487066325" sldId="469"/>
        </pc:sldMkLst>
      </pc:sldChg>
      <pc:sldChg chg="modTransition">
        <pc:chgData name="Hasan Jamal" userId="6724a5da2ffd1b8f" providerId="LiveId" clId="{96E91301-8390-499D-83BE-49190A5B0140}" dt="2020-06-20T13:15:35.684" v="1"/>
        <pc:sldMkLst>
          <pc:docMk/>
          <pc:sldMk cId="1595765672" sldId="470"/>
        </pc:sldMkLst>
      </pc:sldChg>
      <pc:sldChg chg="modTransition">
        <pc:chgData name="Hasan Jamal" userId="6724a5da2ffd1b8f" providerId="LiveId" clId="{96E91301-8390-499D-83BE-49190A5B0140}" dt="2020-06-20T13:15:35.684" v="1"/>
        <pc:sldMkLst>
          <pc:docMk/>
          <pc:sldMk cId="2723844874" sldId="471"/>
        </pc:sldMkLst>
      </pc:sldChg>
      <pc:sldChg chg="modTransition">
        <pc:chgData name="Hasan Jamal" userId="6724a5da2ffd1b8f" providerId="LiveId" clId="{96E91301-8390-499D-83BE-49190A5B0140}" dt="2020-06-20T13:15:35.684" v="1"/>
        <pc:sldMkLst>
          <pc:docMk/>
          <pc:sldMk cId="391945698" sldId="475"/>
        </pc:sldMkLst>
      </pc:sldChg>
      <pc:sldChg chg="modTransition">
        <pc:chgData name="Hasan Jamal" userId="6724a5da2ffd1b8f" providerId="LiveId" clId="{96E91301-8390-499D-83BE-49190A5B0140}" dt="2020-06-20T13:15:35.684" v="1"/>
        <pc:sldMkLst>
          <pc:docMk/>
          <pc:sldMk cId="481662566" sldId="476"/>
        </pc:sldMkLst>
      </pc:sldChg>
      <pc:sldChg chg="modTransition">
        <pc:chgData name="Hasan Jamal" userId="6724a5da2ffd1b8f" providerId="LiveId" clId="{96E91301-8390-499D-83BE-49190A5B0140}" dt="2020-06-20T13:15:35.684" v="1"/>
        <pc:sldMkLst>
          <pc:docMk/>
          <pc:sldMk cId="376348559" sldId="4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8/18/2025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12</a:t>
            </a:fld>
            <a:endParaRPr lang="en-US"/>
          </a:p>
        </p:txBody>
      </p:sp>
    </p:spTree>
    <p:extLst>
      <p:ext uri="{BB962C8B-B14F-4D97-AF65-F5344CB8AC3E}">
        <p14:creationId xmlns:p14="http://schemas.microsoft.com/office/powerpoint/2010/main" val="1238229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13</a:t>
            </a:fld>
            <a:endParaRPr lang="en-US"/>
          </a:p>
        </p:txBody>
      </p:sp>
    </p:spTree>
    <p:extLst>
      <p:ext uri="{BB962C8B-B14F-4D97-AF65-F5344CB8AC3E}">
        <p14:creationId xmlns:p14="http://schemas.microsoft.com/office/powerpoint/2010/main" val="353045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14</a:t>
            </a:fld>
            <a:endParaRPr lang="en-US"/>
          </a:p>
        </p:txBody>
      </p:sp>
    </p:spTree>
    <p:extLst>
      <p:ext uri="{BB962C8B-B14F-4D97-AF65-F5344CB8AC3E}">
        <p14:creationId xmlns:p14="http://schemas.microsoft.com/office/powerpoint/2010/main" val="1644708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15</a:t>
            </a:fld>
            <a:endParaRPr lang="en-US"/>
          </a:p>
        </p:txBody>
      </p:sp>
    </p:spTree>
    <p:extLst>
      <p:ext uri="{BB962C8B-B14F-4D97-AF65-F5344CB8AC3E}">
        <p14:creationId xmlns:p14="http://schemas.microsoft.com/office/powerpoint/2010/main" val="2558994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16</a:t>
            </a:fld>
            <a:endParaRPr lang="en-US"/>
          </a:p>
        </p:txBody>
      </p:sp>
    </p:spTree>
    <p:extLst>
      <p:ext uri="{BB962C8B-B14F-4D97-AF65-F5344CB8AC3E}">
        <p14:creationId xmlns:p14="http://schemas.microsoft.com/office/powerpoint/2010/main" val="3913169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17</a:t>
            </a:fld>
            <a:endParaRPr lang="en-US"/>
          </a:p>
        </p:txBody>
      </p:sp>
    </p:spTree>
    <p:extLst>
      <p:ext uri="{BB962C8B-B14F-4D97-AF65-F5344CB8AC3E}">
        <p14:creationId xmlns:p14="http://schemas.microsoft.com/office/powerpoint/2010/main" val="3253245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18</a:t>
            </a:fld>
            <a:endParaRPr lang="en-US"/>
          </a:p>
        </p:txBody>
      </p:sp>
    </p:spTree>
    <p:extLst>
      <p:ext uri="{BB962C8B-B14F-4D97-AF65-F5344CB8AC3E}">
        <p14:creationId xmlns:p14="http://schemas.microsoft.com/office/powerpoint/2010/main" val="2254902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28</a:t>
            </a:fld>
            <a:endParaRPr lang="en-US"/>
          </a:p>
        </p:txBody>
      </p:sp>
    </p:spTree>
    <p:extLst>
      <p:ext uri="{BB962C8B-B14F-4D97-AF65-F5344CB8AC3E}">
        <p14:creationId xmlns:p14="http://schemas.microsoft.com/office/powerpoint/2010/main" val="1263790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56</a:t>
            </a:fld>
            <a:endParaRPr lang="en-US"/>
          </a:p>
        </p:txBody>
      </p:sp>
    </p:spTree>
    <p:extLst>
      <p:ext uri="{BB962C8B-B14F-4D97-AF65-F5344CB8AC3E}">
        <p14:creationId xmlns:p14="http://schemas.microsoft.com/office/powerpoint/2010/main" val="1196217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57</a:t>
            </a:fld>
            <a:endParaRPr lang="en-US"/>
          </a:p>
        </p:txBody>
      </p:sp>
    </p:spTree>
    <p:extLst>
      <p:ext uri="{BB962C8B-B14F-4D97-AF65-F5344CB8AC3E}">
        <p14:creationId xmlns:p14="http://schemas.microsoft.com/office/powerpoint/2010/main" val="831819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58</a:t>
            </a:fld>
            <a:endParaRPr lang="en-US"/>
          </a:p>
        </p:txBody>
      </p:sp>
    </p:spTree>
    <p:extLst>
      <p:ext uri="{BB962C8B-B14F-4D97-AF65-F5344CB8AC3E}">
        <p14:creationId xmlns:p14="http://schemas.microsoft.com/office/powerpoint/2010/main" val="1423948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59</a:t>
            </a:fld>
            <a:endParaRPr lang="en-US"/>
          </a:p>
        </p:txBody>
      </p:sp>
    </p:spTree>
    <p:extLst>
      <p:ext uri="{BB962C8B-B14F-4D97-AF65-F5344CB8AC3E}">
        <p14:creationId xmlns:p14="http://schemas.microsoft.com/office/powerpoint/2010/main" val="361994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60</a:t>
            </a:fld>
            <a:endParaRPr lang="en-US"/>
          </a:p>
        </p:txBody>
      </p:sp>
    </p:spTree>
    <p:extLst>
      <p:ext uri="{BB962C8B-B14F-4D97-AF65-F5344CB8AC3E}">
        <p14:creationId xmlns:p14="http://schemas.microsoft.com/office/powerpoint/2010/main" val="1184725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61</a:t>
            </a:fld>
            <a:endParaRPr lang="en-US"/>
          </a:p>
        </p:txBody>
      </p:sp>
    </p:spTree>
    <p:extLst>
      <p:ext uri="{BB962C8B-B14F-4D97-AF65-F5344CB8AC3E}">
        <p14:creationId xmlns:p14="http://schemas.microsoft.com/office/powerpoint/2010/main" val="797695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62</a:t>
            </a:fld>
            <a:endParaRPr lang="en-US"/>
          </a:p>
        </p:txBody>
      </p:sp>
    </p:spTree>
    <p:extLst>
      <p:ext uri="{BB962C8B-B14F-4D97-AF65-F5344CB8AC3E}">
        <p14:creationId xmlns:p14="http://schemas.microsoft.com/office/powerpoint/2010/main" val="1754367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63</a:t>
            </a:fld>
            <a:endParaRPr lang="en-US"/>
          </a:p>
        </p:txBody>
      </p:sp>
    </p:spTree>
    <p:extLst>
      <p:ext uri="{BB962C8B-B14F-4D97-AF65-F5344CB8AC3E}">
        <p14:creationId xmlns:p14="http://schemas.microsoft.com/office/powerpoint/2010/main" val="1868262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64</a:t>
            </a:fld>
            <a:endParaRPr lang="en-US"/>
          </a:p>
        </p:txBody>
      </p:sp>
    </p:spTree>
    <p:extLst>
      <p:ext uri="{BB962C8B-B14F-4D97-AF65-F5344CB8AC3E}">
        <p14:creationId xmlns:p14="http://schemas.microsoft.com/office/powerpoint/2010/main" val="2351469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65</a:t>
            </a:fld>
            <a:endParaRPr lang="en-US"/>
          </a:p>
        </p:txBody>
      </p:sp>
    </p:spTree>
    <p:extLst>
      <p:ext uri="{BB962C8B-B14F-4D97-AF65-F5344CB8AC3E}">
        <p14:creationId xmlns:p14="http://schemas.microsoft.com/office/powerpoint/2010/main" val="3808913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66</a:t>
            </a:fld>
            <a:endParaRPr lang="en-US"/>
          </a:p>
        </p:txBody>
      </p:sp>
    </p:spTree>
    <p:extLst>
      <p:ext uri="{BB962C8B-B14F-4D97-AF65-F5344CB8AC3E}">
        <p14:creationId xmlns:p14="http://schemas.microsoft.com/office/powerpoint/2010/main" val="70674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67</a:t>
            </a:fld>
            <a:endParaRPr lang="en-US"/>
          </a:p>
        </p:txBody>
      </p:sp>
    </p:spTree>
    <p:extLst>
      <p:ext uri="{BB962C8B-B14F-4D97-AF65-F5344CB8AC3E}">
        <p14:creationId xmlns:p14="http://schemas.microsoft.com/office/powerpoint/2010/main" val="2614687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68</a:t>
            </a:fld>
            <a:endParaRPr lang="en-US"/>
          </a:p>
        </p:txBody>
      </p:sp>
    </p:spTree>
    <p:extLst>
      <p:ext uri="{BB962C8B-B14F-4D97-AF65-F5344CB8AC3E}">
        <p14:creationId xmlns:p14="http://schemas.microsoft.com/office/powerpoint/2010/main" val="92691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8/18/2025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8/18/2025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6.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13.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13.xml"/><Relationship Id="rId1" Type="http://schemas.openxmlformats.org/officeDocument/2006/relationships/tags" Target="../tags/tag31.xml"/><Relationship Id="rId4" Type="http://schemas.openxmlformats.org/officeDocument/2006/relationships/image" Target="../media/image16.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5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5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59.xml"/><Relationship Id="rId4" Type="http://schemas.openxmlformats.org/officeDocument/2006/relationships/image" Target="../media/image22.e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60.xml"/><Relationship Id="rId4" Type="http://schemas.openxmlformats.org/officeDocument/2006/relationships/image" Target="../media/image23.em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62.xml"/><Relationship Id="rId4" Type="http://schemas.openxmlformats.org/officeDocument/2006/relationships/image" Target="../media/image2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63.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64.xml"/><Relationship Id="rId4" Type="http://schemas.openxmlformats.org/officeDocument/2006/relationships/image" Target="../media/image25.emf"/></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65.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66.xml"/><Relationship Id="rId4" Type="http://schemas.openxmlformats.org/officeDocument/2006/relationships/hyperlink" Target="https://www.gnu.org/philosophy/open-source-misses-the-point.en.html" TargetMode="Externa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344 – Principles of Operating Systems</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Ms. </a:t>
            </a:r>
            <a:r>
              <a:rPr lang="en-US" sz="2800" b="1" spc="-100">
                <a:solidFill>
                  <a:srgbClr val="675E47"/>
                </a:solidFill>
                <a:latin typeface="Cambria"/>
              </a:rPr>
              <a:t>Mamoona Tasadduq</a:t>
            </a:r>
            <a:endParaRPr lang="en-US" sz="2800" b="1" spc="-100" dirty="0">
              <a:solidFill>
                <a:srgbClr val="675E47"/>
              </a:solidFill>
              <a:latin typeface="Cambria"/>
            </a:endParaRPr>
          </a:p>
          <a:p>
            <a:pPr algn="ctr">
              <a:buClr>
                <a:srgbClr val="A9A57C"/>
              </a:buClr>
            </a:pPr>
            <a:r>
              <a:rPr lang="en-US" sz="2800" b="1" spc="-100" dirty="0">
                <a:solidFill>
                  <a:srgbClr val="675E47"/>
                </a:solidFill>
                <a:latin typeface="Cambria"/>
              </a:rPr>
              <a:t>Lecture# 01: Introduction</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What is an Operating System?</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9971690"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program that acts as an intermediary between a computer user and the computer hardware</a:t>
            </a:r>
          </a:p>
          <a:p>
            <a:pPr lvl="1" algn="just"/>
            <a:r>
              <a:rPr lang="en-US" dirty="0">
                <a:latin typeface="Arial" panose="020B0604020202020204" pitchFamily="34" charset="0"/>
                <a:cs typeface="Arial" panose="020B0604020202020204" pitchFamily="34" charset="0"/>
              </a:rPr>
              <a:t>High level interface between the user and the hardware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“Code’’ that sits between:</a:t>
            </a:r>
          </a:p>
          <a:p>
            <a:pPr lvl="1" algn="just"/>
            <a:r>
              <a:rPr lang="en-US" dirty="0">
                <a:latin typeface="Arial" panose="020B0604020202020204" pitchFamily="34" charset="0"/>
                <a:cs typeface="Arial" panose="020B0604020202020204" pitchFamily="34" charset="0"/>
              </a:rPr>
              <a:t>Programs and hardware</a:t>
            </a:r>
          </a:p>
          <a:p>
            <a:pPr lvl="1" algn="just"/>
            <a:r>
              <a:rPr lang="en-US" dirty="0">
                <a:latin typeface="Arial" panose="020B0604020202020204" pitchFamily="34" charset="0"/>
                <a:cs typeface="Arial" panose="020B0604020202020204" pitchFamily="34" charset="0"/>
              </a:rPr>
              <a:t>Different programs</a:t>
            </a:r>
          </a:p>
          <a:p>
            <a:pPr lvl="1" algn="just"/>
            <a:r>
              <a:rPr lang="en-US" dirty="0">
                <a:latin typeface="Arial" panose="020B0604020202020204" pitchFamily="34" charset="0"/>
                <a:cs typeface="Arial" panose="020B0604020202020204" pitchFamily="34" charset="0"/>
              </a:rPr>
              <a:t>Different users</a:t>
            </a:r>
          </a:p>
          <a:p>
            <a:pPr algn="just"/>
            <a:endParaRPr lang="en-US" b="1"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Operating System Goals:</a:t>
            </a:r>
          </a:p>
          <a:p>
            <a:pPr lvl="1" algn="just"/>
            <a:r>
              <a:rPr lang="en-US" dirty="0">
                <a:latin typeface="Arial" panose="020B0604020202020204" pitchFamily="34" charset="0"/>
                <a:cs typeface="Arial" panose="020B0604020202020204" pitchFamily="34" charset="0"/>
              </a:rPr>
              <a:t>Execute user programs and make solving user problems easier</a:t>
            </a:r>
          </a:p>
          <a:p>
            <a:pPr lvl="1" algn="just"/>
            <a:r>
              <a:rPr lang="en-US" dirty="0">
                <a:latin typeface="Arial" panose="020B0604020202020204" pitchFamily="34" charset="0"/>
                <a:cs typeface="Arial" panose="020B0604020202020204" pitchFamily="34" charset="0"/>
              </a:rPr>
              <a:t>Make the computer system convenient to use</a:t>
            </a:r>
          </a:p>
          <a:p>
            <a:pPr lvl="1" algn="just"/>
            <a:r>
              <a:rPr lang="en-US" dirty="0">
                <a:latin typeface="Arial" panose="020B0604020202020204" pitchFamily="34" charset="0"/>
                <a:cs typeface="Arial" panose="020B0604020202020204" pitchFamily="34" charset="0"/>
              </a:rPr>
              <a:t>Use the computer hardware in an efficient manner</a:t>
            </a:r>
          </a:p>
        </p:txBody>
      </p:sp>
    </p:spTree>
    <p:custDataLst>
      <p:tags r:id="rId1"/>
    </p:custDataLst>
    <p:extLst>
      <p:ext uri="{BB962C8B-B14F-4D97-AF65-F5344CB8AC3E}">
        <p14:creationId xmlns:p14="http://schemas.microsoft.com/office/powerpoint/2010/main" val="119155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What Operating Systems Do</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463741" cy="498272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Depends on the point of view</a:t>
            </a:r>
          </a:p>
          <a:p>
            <a:pPr algn="just"/>
            <a:endParaRPr lang="en-US" sz="1050"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User View</a:t>
            </a:r>
            <a:r>
              <a:rPr lang="en-US" dirty="0">
                <a:latin typeface="Arial" panose="020B0604020202020204" pitchFamily="34" charset="0"/>
                <a:cs typeface="Arial" panose="020B0604020202020204" pitchFamily="34" charset="0"/>
              </a:rPr>
              <a:t>: Ease of use &amp; good performance without care of resource utilization </a:t>
            </a:r>
          </a:p>
          <a:p>
            <a:pPr algn="just"/>
            <a:endParaRPr lang="en-US" sz="1050"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System View</a:t>
            </a:r>
          </a:p>
          <a:p>
            <a:pPr lvl="1" algn="just"/>
            <a:r>
              <a:rPr lang="en-US" b="1" dirty="0">
                <a:latin typeface="Arial" panose="020B0604020202020204" pitchFamily="34" charset="0"/>
                <a:cs typeface="Arial" panose="020B0604020202020204" pitchFamily="34" charset="0"/>
              </a:rPr>
              <a:t>Resource Manager</a:t>
            </a:r>
            <a:r>
              <a:rPr lang="en-US" dirty="0">
                <a:latin typeface="Arial" panose="020B0604020202020204" pitchFamily="34" charset="0"/>
                <a:cs typeface="Arial" panose="020B0604020202020204" pitchFamily="34" charset="0"/>
              </a:rPr>
              <a:t>: Deciding between competing and conflicting requests for efficient and fair resource use. Multiplex (share) resources in time and space. Illusion of infinite, private resources</a:t>
            </a:r>
          </a:p>
          <a:p>
            <a:pPr lvl="2" algn="just"/>
            <a:r>
              <a:rPr lang="en-US" b="1" dirty="0">
                <a:solidFill>
                  <a:srgbClr val="FF0000"/>
                </a:solidFill>
                <a:latin typeface="Arial" panose="020B0604020202020204" pitchFamily="34" charset="0"/>
                <a:cs typeface="Arial" panose="020B0604020202020204" pitchFamily="34" charset="0"/>
              </a:rPr>
              <a:t>Allocation</a:t>
            </a:r>
            <a:r>
              <a:rPr lang="en-US" dirty="0">
                <a:latin typeface="Arial" panose="020B0604020202020204" pitchFamily="34" charset="0"/>
                <a:cs typeface="Arial" panose="020B0604020202020204" pitchFamily="34" charset="0"/>
              </a:rPr>
              <a:t>: Finite resources &amp; competing demands; e.g., CPU, memory, disk, network</a:t>
            </a:r>
          </a:p>
          <a:p>
            <a:pPr lvl="2" algn="just"/>
            <a:r>
              <a:rPr lang="en-US" b="1" dirty="0">
                <a:solidFill>
                  <a:srgbClr val="FF0000"/>
                </a:solidFill>
                <a:latin typeface="Arial" panose="020B0604020202020204" pitchFamily="34" charset="0"/>
                <a:cs typeface="Arial" panose="020B0604020202020204" pitchFamily="34" charset="0"/>
              </a:rPr>
              <a:t>Reclamation</a:t>
            </a:r>
            <a:r>
              <a:rPr lang="en-US" dirty="0">
                <a:latin typeface="Arial" panose="020B0604020202020204" pitchFamily="34" charset="0"/>
                <a:cs typeface="Arial" panose="020B0604020202020204" pitchFamily="34" charset="0"/>
              </a:rPr>
              <a:t>: Implied at termination, involuntary at runtime, or cooperative (yield CPU)</a:t>
            </a:r>
          </a:p>
          <a:p>
            <a:pPr lvl="2" algn="just"/>
            <a:r>
              <a:rPr lang="en-US" b="1" dirty="0">
                <a:solidFill>
                  <a:srgbClr val="FF0000"/>
                </a:solidFill>
                <a:latin typeface="Arial" panose="020B0604020202020204" pitchFamily="34" charset="0"/>
                <a:cs typeface="Arial" panose="020B0604020202020204" pitchFamily="34" charset="0"/>
              </a:rPr>
              <a:t>Protection</a:t>
            </a:r>
            <a:r>
              <a:rPr lang="en-US" dirty="0">
                <a:latin typeface="Arial" panose="020B0604020202020204" pitchFamily="34" charset="0"/>
                <a:cs typeface="Arial" panose="020B0604020202020204" pitchFamily="34" charset="0"/>
              </a:rPr>
              <a:t>: Implies some degree of safety &amp; security</a:t>
            </a:r>
          </a:p>
          <a:p>
            <a:pPr lvl="1" algn="just"/>
            <a:endParaRPr lang="en-US" sz="1050" b="1" dirty="0">
              <a:latin typeface="Arial" panose="020B0604020202020204" pitchFamily="34" charset="0"/>
              <a:cs typeface="Arial" panose="020B0604020202020204" pitchFamily="34" charset="0"/>
            </a:endParaRPr>
          </a:p>
          <a:p>
            <a:pPr lvl="1" algn="just"/>
            <a:r>
              <a:rPr lang="en-US" b="1" dirty="0">
                <a:latin typeface="Arial" panose="020B0604020202020204" pitchFamily="34" charset="0"/>
                <a:cs typeface="Arial" panose="020B0604020202020204" pitchFamily="34" charset="0"/>
              </a:rPr>
              <a:t>Control Program</a:t>
            </a:r>
            <a:r>
              <a:rPr lang="en-US" dirty="0">
                <a:latin typeface="Arial" panose="020B0604020202020204" pitchFamily="34" charset="0"/>
                <a:cs typeface="Arial" panose="020B0604020202020204" pitchFamily="34" charset="0"/>
              </a:rPr>
              <a:t>: Controlling execution of programs to prevent errors &amp; improper use of the system and controlling interaction with input and output devices (hardware)</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67358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Operating System Definition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70312" cy="526408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No universally accepted definition</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“Everything a vendor ships when you order an operating system” is a good approximation but varies wildly</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one program running at all times on the computer” is the </a:t>
            </a:r>
            <a:r>
              <a:rPr lang="en-US" b="1" dirty="0">
                <a:solidFill>
                  <a:srgbClr val="FF0000"/>
                </a:solidFill>
                <a:latin typeface="Arial" panose="020B0604020202020204" pitchFamily="34" charset="0"/>
                <a:cs typeface="Arial" panose="020B0604020202020204" pitchFamily="34" charset="0"/>
              </a:rPr>
              <a:t>kernel</a:t>
            </a:r>
            <a:r>
              <a:rPr lang="en-US" dirty="0">
                <a:latin typeface="Arial" panose="020B0604020202020204" pitchFamily="34" charset="0"/>
                <a:cs typeface="Arial" panose="020B0604020202020204" pitchFamily="34" charset="0"/>
              </a:rPr>
              <a:t>, part of the operating system</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Everything else is either</a:t>
            </a:r>
          </a:p>
          <a:p>
            <a:pPr lvl="1" algn="just"/>
            <a:r>
              <a:rPr lang="en-US" dirty="0">
                <a:latin typeface="Arial" panose="020B0604020202020204" pitchFamily="34" charset="0"/>
                <a:cs typeface="Arial" panose="020B0604020202020204" pitchFamily="34" charset="0"/>
              </a:rPr>
              <a:t>A </a:t>
            </a:r>
            <a:r>
              <a:rPr lang="en-US" b="1" dirty="0">
                <a:solidFill>
                  <a:srgbClr val="FF0000"/>
                </a:solidFill>
                <a:latin typeface="Arial" panose="020B0604020202020204" pitchFamily="34" charset="0"/>
                <a:cs typeface="Arial" panose="020B0604020202020204" pitchFamily="34" charset="0"/>
              </a:rPr>
              <a:t>system program </a:t>
            </a:r>
            <a:r>
              <a:rPr lang="en-US" dirty="0">
                <a:latin typeface="Arial" panose="020B0604020202020204" pitchFamily="34" charset="0"/>
                <a:cs typeface="Arial" panose="020B0604020202020204" pitchFamily="34" charset="0"/>
              </a:rPr>
              <a:t>(ships with the operating system, but not part of the kernel) , or</a:t>
            </a:r>
          </a:p>
          <a:p>
            <a:pPr lvl="1" algn="just"/>
            <a:r>
              <a:rPr lang="en-US" dirty="0">
                <a:latin typeface="Arial" panose="020B0604020202020204" pitchFamily="34" charset="0"/>
                <a:cs typeface="Arial" panose="020B0604020202020204" pitchFamily="34" charset="0"/>
              </a:rPr>
              <a:t>An </a:t>
            </a:r>
            <a:r>
              <a:rPr lang="en-US" b="1" dirty="0">
                <a:solidFill>
                  <a:srgbClr val="FF0000"/>
                </a:solidFill>
                <a:latin typeface="Arial" panose="020B0604020202020204" pitchFamily="34" charset="0"/>
                <a:cs typeface="Arial" panose="020B0604020202020204" pitchFamily="34" charset="0"/>
              </a:rPr>
              <a:t>application program</a:t>
            </a:r>
            <a:r>
              <a:rPr lang="en-US" dirty="0">
                <a:latin typeface="Arial" panose="020B0604020202020204" pitchFamily="34" charset="0"/>
                <a:cs typeface="Arial" panose="020B0604020202020204" pitchFamily="34" charset="0"/>
              </a:rPr>
              <a:t>, all programs not associated with the operating system</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Today’s OSes for general purpose and mobile computing also include </a:t>
            </a:r>
            <a:r>
              <a:rPr lang="en-US" b="1" dirty="0">
                <a:solidFill>
                  <a:srgbClr val="FF0000"/>
                </a:solidFill>
                <a:latin typeface="Arial" panose="020B0604020202020204" pitchFamily="34" charset="0"/>
                <a:cs typeface="Arial" panose="020B0604020202020204" pitchFamily="34" charset="0"/>
              </a:rPr>
              <a:t>middleware</a:t>
            </a:r>
            <a:r>
              <a:rPr lang="en-US" dirty="0">
                <a:latin typeface="Arial" panose="020B0604020202020204" pitchFamily="34" charset="0"/>
                <a:cs typeface="Arial" panose="020B0604020202020204" pitchFamily="34" charset="0"/>
              </a:rPr>
              <a:t> – a set of software frameworks that provide additional services to application developers such as databases, multimedia, graphics </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292783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9230" y="2288340"/>
            <a:ext cx="5614626" cy="398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Structure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8255371" cy="8661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Computer system can be divided into four components</a:t>
            </a:r>
            <a:endParaRPr lang="en-US" b="1" dirty="0">
              <a:solidFill>
                <a:srgbClr val="FF0000"/>
              </a:solidFill>
              <a:latin typeface="Arial" panose="020B0604020202020204" pitchFamily="34" charset="0"/>
              <a:cs typeface="Arial" panose="020B0604020202020204" pitchFamily="34" charset="0"/>
            </a:endParaRPr>
          </a:p>
        </p:txBody>
      </p:sp>
      <p:grpSp>
        <p:nvGrpSpPr>
          <p:cNvPr id="27" name="Group 26">
            <a:extLst>
              <a:ext uri="{FF2B5EF4-FFF2-40B4-BE49-F238E27FC236}">
                <a16:creationId xmlns:a16="http://schemas.microsoft.com/office/drawing/2014/main" id="{1D5F7C0E-830A-740A-E0E3-5CCE7AFD3F1D}"/>
              </a:ext>
            </a:extLst>
          </p:cNvPr>
          <p:cNvGrpSpPr/>
          <p:nvPr/>
        </p:nvGrpSpPr>
        <p:grpSpPr>
          <a:xfrm>
            <a:off x="33921" y="4509095"/>
            <a:ext cx="2322065" cy="1383123"/>
            <a:chOff x="706167" y="2913167"/>
            <a:chExt cx="3227332" cy="1075509"/>
          </a:xfrm>
        </p:grpSpPr>
        <p:sp>
          <p:nvSpPr>
            <p:cNvPr id="10" name="Rectangular Callout 13">
              <a:extLst>
                <a:ext uri="{FF2B5EF4-FFF2-40B4-BE49-F238E27FC236}">
                  <a16:creationId xmlns:a16="http://schemas.microsoft.com/office/drawing/2014/main" id="{430E430C-A995-684A-E956-FFA27AE584EF}"/>
                </a:ext>
              </a:extLst>
            </p:cNvPr>
            <p:cNvSpPr/>
            <p:nvPr/>
          </p:nvSpPr>
          <p:spPr bwMode="auto">
            <a:xfrm rot="5400000">
              <a:off x="1777317" y="1842017"/>
              <a:ext cx="1075509" cy="3217809"/>
            </a:xfrm>
            <a:prstGeom prst="wedgeRectCallout">
              <a:avLst>
                <a:gd name="adj1" fmla="val -36215"/>
                <a:gd name="adj2" fmla="val -65314"/>
              </a:avLst>
            </a:prstGeom>
            <a:solidFill>
              <a:srgbClr val="5CD2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11" name="TextBox 10">
              <a:extLst>
                <a:ext uri="{FF2B5EF4-FFF2-40B4-BE49-F238E27FC236}">
                  <a16:creationId xmlns:a16="http://schemas.microsoft.com/office/drawing/2014/main" id="{C71B57D5-7F53-E27A-7DBB-65B535187BAE}"/>
                </a:ext>
              </a:extLst>
            </p:cNvPr>
            <p:cNvSpPr txBox="1"/>
            <p:nvPr/>
          </p:nvSpPr>
          <p:spPr>
            <a:xfrm>
              <a:off x="715690" y="2959656"/>
              <a:ext cx="3217809"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Controls and coordinates use of hardware among various applications and users</a:t>
              </a:r>
            </a:p>
          </p:txBody>
        </p:sp>
      </p:grpSp>
      <p:grpSp>
        <p:nvGrpSpPr>
          <p:cNvPr id="21" name="Group 20">
            <a:extLst>
              <a:ext uri="{FF2B5EF4-FFF2-40B4-BE49-F238E27FC236}">
                <a16:creationId xmlns:a16="http://schemas.microsoft.com/office/drawing/2014/main" id="{89666C89-C2FC-7371-4B6C-E6C5C0558EC0}"/>
              </a:ext>
            </a:extLst>
          </p:cNvPr>
          <p:cNvGrpSpPr/>
          <p:nvPr/>
        </p:nvGrpSpPr>
        <p:grpSpPr>
          <a:xfrm>
            <a:off x="6216569" y="2089295"/>
            <a:ext cx="2109647" cy="574065"/>
            <a:chOff x="8626663" y="2013018"/>
            <a:chExt cx="2323835" cy="717495"/>
          </a:xfrm>
        </p:grpSpPr>
        <p:sp>
          <p:nvSpPr>
            <p:cNvPr id="20" name="Rectangular Callout 15">
              <a:extLst>
                <a:ext uri="{FF2B5EF4-FFF2-40B4-BE49-F238E27FC236}">
                  <a16:creationId xmlns:a16="http://schemas.microsoft.com/office/drawing/2014/main" id="{8921BFFF-7DA4-038D-1A6F-6C97180D0E89}"/>
                </a:ext>
              </a:extLst>
            </p:cNvPr>
            <p:cNvSpPr/>
            <p:nvPr/>
          </p:nvSpPr>
          <p:spPr bwMode="auto">
            <a:xfrm rot="5400000">
              <a:off x="9429831" y="1209850"/>
              <a:ext cx="717495" cy="2323831"/>
            </a:xfrm>
            <a:prstGeom prst="wedgeRectCallout">
              <a:avLst>
                <a:gd name="adj1" fmla="val 46680"/>
                <a:gd name="adj2" fmla="val 69223"/>
              </a:avLst>
            </a:prstGeom>
            <a:solidFill>
              <a:srgbClr val="5CD2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19" name="TextBox 18">
              <a:extLst>
                <a:ext uri="{FF2B5EF4-FFF2-40B4-BE49-F238E27FC236}">
                  <a16:creationId xmlns:a16="http://schemas.microsoft.com/office/drawing/2014/main" id="{96FB2A37-528E-337F-428F-0F2DF63C9B4A}"/>
                </a:ext>
              </a:extLst>
            </p:cNvPr>
            <p:cNvSpPr txBox="1"/>
            <p:nvPr/>
          </p:nvSpPr>
          <p:spPr>
            <a:xfrm>
              <a:off x="8626668" y="2022627"/>
              <a:ext cx="2323830"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People, machines, other computers</a:t>
              </a:r>
            </a:p>
          </p:txBody>
        </p:sp>
      </p:grpSp>
      <p:grpSp>
        <p:nvGrpSpPr>
          <p:cNvPr id="26" name="Group 25">
            <a:extLst>
              <a:ext uri="{FF2B5EF4-FFF2-40B4-BE49-F238E27FC236}">
                <a16:creationId xmlns:a16="http://schemas.microsoft.com/office/drawing/2014/main" id="{5DCD7DB5-D3AD-2C56-0E6C-21052E6C54DF}"/>
              </a:ext>
            </a:extLst>
          </p:cNvPr>
          <p:cNvGrpSpPr/>
          <p:nvPr/>
        </p:nvGrpSpPr>
        <p:grpSpPr>
          <a:xfrm>
            <a:off x="8147065" y="5439415"/>
            <a:ext cx="3043626" cy="864547"/>
            <a:chOff x="7071390" y="5833819"/>
            <a:chExt cx="3972005" cy="613932"/>
          </a:xfrm>
        </p:grpSpPr>
        <p:sp>
          <p:nvSpPr>
            <p:cNvPr id="23" name="Rectangular Callout 15">
              <a:extLst>
                <a:ext uri="{FF2B5EF4-FFF2-40B4-BE49-F238E27FC236}">
                  <a16:creationId xmlns:a16="http://schemas.microsoft.com/office/drawing/2014/main" id="{B2898AAA-230E-28FA-6CDF-21377D54C43F}"/>
                </a:ext>
              </a:extLst>
            </p:cNvPr>
            <p:cNvSpPr/>
            <p:nvPr/>
          </p:nvSpPr>
          <p:spPr bwMode="auto">
            <a:xfrm rot="5400000">
              <a:off x="8812680" y="4227309"/>
              <a:ext cx="548002" cy="3761021"/>
            </a:xfrm>
            <a:prstGeom prst="wedgeRectCallout">
              <a:avLst>
                <a:gd name="adj1" fmla="val 14308"/>
                <a:gd name="adj2" fmla="val 65031"/>
              </a:avLst>
            </a:prstGeom>
            <a:solidFill>
              <a:srgbClr val="5CD2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25" name="TextBox 24">
              <a:extLst>
                <a:ext uri="{FF2B5EF4-FFF2-40B4-BE49-F238E27FC236}">
                  <a16:creationId xmlns:a16="http://schemas.microsoft.com/office/drawing/2014/main" id="{1DF641A0-4B9F-845F-52C1-4082FA180E63}"/>
                </a:ext>
              </a:extLst>
            </p:cNvPr>
            <p:cNvSpPr txBox="1"/>
            <p:nvPr/>
          </p:nvSpPr>
          <p:spPr>
            <a:xfrm>
              <a:off x="7071390" y="5862976"/>
              <a:ext cx="3972005"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Computing resources such as CPU, memory, I/O devices</a:t>
              </a:r>
            </a:p>
          </p:txBody>
        </p:sp>
      </p:grpSp>
      <p:grpSp>
        <p:nvGrpSpPr>
          <p:cNvPr id="31" name="Group 30">
            <a:extLst>
              <a:ext uri="{FF2B5EF4-FFF2-40B4-BE49-F238E27FC236}">
                <a16:creationId xmlns:a16="http://schemas.microsoft.com/office/drawing/2014/main" id="{D139D2B2-58A5-2719-6BC4-EB4D3B3E4885}"/>
              </a:ext>
            </a:extLst>
          </p:cNvPr>
          <p:cNvGrpSpPr/>
          <p:nvPr/>
        </p:nvGrpSpPr>
        <p:grpSpPr>
          <a:xfrm>
            <a:off x="8344450" y="2957810"/>
            <a:ext cx="2804038" cy="1817766"/>
            <a:chOff x="8148382" y="3682229"/>
            <a:chExt cx="3082520" cy="1817766"/>
          </a:xfrm>
        </p:grpSpPr>
        <p:sp>
          <p:nvSpPr>
            <p:cNvPr id="29" name="Rectangular Callout 13">
              <a:extLst>
                <a:ext uri="{FF2B5EF4-FFF2-40B4-BE49-F238E27FC236}">
                  <a16:creationId xmlns:a16="http://schemas.microsoft.com/office/drawing/2014/main" id="{E424451F-5B3B-431A-96CB-26E7D132954E}"/>
                </a:ext>
              </a:extLst>
            </p:cNvPr>
            <p:cNvSpPr/>
            <p:nvPr/>
          </p:nvSpPr>
          <p:spPr bwMode="auto">
            <a:xfrm rot="5400000">
              <a:off x="8781701" y="3048910"/>
              <a:ext cx="1815882" cy="3082519"/>
            </a:xfrm>
            <a:prstGeom prst="wedgeRectCallout">
              <a:avLst>
                <a:gd name="adj1" fmla="val -6885"/>
                <a:gd name="adj2" fmla="val 67276"/>
              </a:avLst>
            </a:prstGeom>
            <a:solidFill>
              <a:srgbClr val="5CD2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30" name="TextBox 29">
              <a:extLst>
                <a:ext uri="{FF2B5EF4-FFF2-40B4-BE49-F238E27FC236}">
                  <a16:creationId xmlns:a16="http://schemas.microsoft.com/office/drawing/2014/main" id="{2C83522F-3926-8C16-E33C-6446CA0C9C52}"/>
                </a:ext>
              </a:extLst>
            </p:cNvPr>
            <p:cNvSpPr txBox="1"/>
            <p:nvPr/>
          </p:nvSpPr>
          <p:spPr>
            <a:xfrm>
              <a:off x="8157909" y="3684113"/>
              <a:ext cx="3072993" cy="1815882"/>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Define ways in which system resources are used to solve the computing problems of the users; i.e., Word processors, compilers, web browsers, database systems, video games</a:t>
              </a:r>
            </a:p>
          </p:txBody>
        </p:sp>
      </p:grpSp>
    </p:spTree>
    <p:custDataLst>
      <p:tags r:id="rId1"/>
    </p:custDataLst>
    <p:extLst>
      <p:ext uri="{BB962C8B-B14F-4D97-AF65-F5344CB8AC3E}">
        <p14:creationId xmlns:p14="http://schemas.microsoft.com/office/powerpoint/2010/main" val="159226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Programming Hard Drive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9971690"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Physical reality</a:t>
            </a:r>
          </a:p>
          <a:p>
            <a:pPr lvl="1" algn="just"/>
            <a:r>
              <a:rPr lang="en-US" dirty="0">
                <a:latin typeface="Arial" panose="020B0604020202020204" pitchFamily="34" charset="0"/>
                <a:cs typeface="Arial" panose="020B0604020202020204" pitchFamily="34" charset="0"/>
              </a:rPr>
              <a:t>Block oriented</a:t>
            </a:r>
          </a:p>
          <a:p>
            <a:pPr lvl="1" algn="just"/>
            <a:r>
              <a:rPr lang="en-US" dirty="0">
                <a:latin typeface="Arial" panose="020B0604020202020204" pitchFamily="34" charset="0"/>
                <a:cs typeface="Arial" panose="020B0604020202020204" pitchFamily="34" charset="0"/>
              </a:rPr>
              <a:t>Physical sector numbers</a:t>
            </a:r>
          </a:p>
          <a:p>
            <a:pPr lvl="1" algn="just"/>
            <a:r>
              <a:rPr lang="en-US" dirty="0">
                <a:latin typeface="Arial" panose="020B0604020202020204" pitchFamily="34" charset="0"/>
                <a:cs typeface="Arial" panose="020B0604020202020204" pitchFamily="34" charset="0"/>
              </a:rPr>
              <a:t>No protection among user systems</a:t>
            </a:r>
          </a:p>
          <a:p>
            <a:pPr lvl="1" algn="just"/>
            <a:r>
              <a:rPr lang="en-US" dirty="0">
                <a:latin typeface="Arial" panose="020B0604020202020204" pitchFamily="34" charset="0"/>
                <a:cs typeface="Arial" panose="020B0604020202020204" pitchFamily="34" charset="0"/>
              </a:rPr>
              <a:t>Data might be corrupted if machine crashes</a:t>
            </a:r>
          </a:p>
          <a:p>
            <a:pPr lvl="1" algn="just"/>
            <a:r>
              <a:rPr lang="en-US" dirty="0">
                <a:latin typeface="Arial" panose="020B0604020202020204" pitchFamily="34" charset="0"/>
                <a:cs typeface="Arial" panose="020B0604020202020204" pitchFamily="34" charset="0"/>
              </a:rPr>
              <a:t>Programming:</a:t>
            </a:r>
          </a:p>
          <a:p>
            <a:pPr lvl="2" algn="just"/>
            <a:r>
              <a:rPr lang="en-US" dirty="0">
                <a:latin typeface="Arial" panose="020B0604020202020204" pitchFamily="34" charset="0"/>
                <a:cs typeface="Arial" panose="020B0604020202020204" pitchFamily="34" charset="0"/>
              </a:rPr>
              <a:t>Loading values into special device registers</a:t>
            </a:r>
          </a:p>
          <a:p>
            <a:pPr algn="just"/>
            <a:endParaRPr lang="en-US" b="1" dirty="0">
              <a:latin typeface="Arial" panose="020B0604020202020204" pitchFamily="34" charset="0"/>
              <a:cs typeface="Arial" panose="020B0604020202020204" pitchFamily="34" charset="0"/>
            </a:endParaRPr>
          </a:p>
          <a:p>
            <a:pPr algn="just"/>
            <a:endParaRPr lang="en-US" b="1" dirty="0">
              <a:latin typeface="Arial" panose="020B0604020202020204" pitchFamily="34" charset="0"/>
              <a:cs typeface="Arial" panose="020B0604020202020204" pitchFamily="34" charset="0"/>
            </a:endParaRPr>
          </a:p>
          <a:p>
            <a:pPr algn="just"/>
            <a:endParaRPr lang="en-US" b="1" dirty="0">
              <a:latin typeface="Arial" panose="020B0604020202020204" pitchFamily="34" charset="0"/>
              <a:cs typeface="Arial" panose="020B0604020202020204" pitchFamily="34" charset="0"/>
            </a:endParaRPr>
          </a:p>
          <a:p>
            <a:pPr algn="just"/>
            <a:endParaRPr lang="en-US" b="1" dirty="0">
              <a:latin typeface="Arial" panose="020B0604020202020204" pitchFamily="34" charset="0"/>
              <a:cs typeface="Arial" panose="020B0604020202020204" pitchFamily="34" charset="0"/>
            </a:endParaRPr>
          </a:p>
          <a:p>
            <a:pPr algn="just"/>
            <a:endParaRPr lang="en-US" b="1" dirty="0">
              <a:latin typeface="Arial" panose="020B0604020202020204" pitchFamily="34" charset="0"/>
              <a:cs typeface="Arial" panose="020B0604020202020204" pitchFamily="34" charset="0"/>
            </a:endParaRPr>
          </a:p>
          <a:p>
            <a:pPr marL="114300" indent="0" algn="just">
              <a:buNone/>
            </a:pPr>
            <a:r>
              <a:rPr lang="en-US" dirty="0">
                <a:latin typeface="Arial" panose="020B0604020202020204" pitchFamily="34" charset="0"/>
                <a:cs typeface="Arial" panose="020B0604020202020204" pitchFamily="34" charset="0"/>
              </a:rPr>
              <a:t>“I will save my lab1 solution on platter 5, track 8739, sector 3-4.”</a:t>
            </a:r>
          </a:p>
        </p:txBody>
      </p:sp>
      <p:pic>
        <p:nvPicPr>
          <p:cNvPr id="1030" name="Picture 6" descr="Image result for hard dis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86951" y="1143000"/>
            <a:ext cx="228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hard disk logic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9541" y="3429000"/>
            <a:ext cx="3823410" cy="235016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4658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Programming Hard Drive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482271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Physical reality</a:t>
            </a:r>
          </a:p>
          <a:p>
            <a:pPr lvl="1" algn="just"/>
            <a:r>
              <a:rPr lang="en-US" dirty="0">
                <a:latin typeface="Arial" panose="020B0604020202020204" pitchFamily="34" charset="0"/>
                <a:cs typeface="Arial" panose="020B0604020202020204" pitchFamily="34" charset="0"/>
              </a:rPr>
              <a:t>Block oriented</a:t>
            </a:r>
          </a:p>
          <a:p>
            <a:pPr lvl="1" algn="just"/>
            <a:r>
              <a:rPr lang="en-US" dirty="0">
                <a:latin typeface="Arial" panose="020B0604020202020204" pitchFamily="34" charset="0"/>
                <a:cs typeface="Arial" panose="020B0604020202020204" pitchFamily="34" charset="0"/>
              </a:rPr>
              <a:t>Physical sector numbers</a:t>
            </a:r>
          </a:p>
          <a:p>
            <a:pPr lvl="1" algn="just"/>
            <a:r>
              <a:rPr lang="en-US" dirty="0">
                <a:latin typeface="Arial" panose="020B0604020202020204" pitchFamily="34" charset="0"/>
                <a:cs typeface="Arial" panose="020B0604020202020204" pitchFamily="34" charset="0"/>
              </a:rPr>
              <a:t>No protection among user systems</a:t>
            </a:r>
          </a:p>
          <a:p>
            <a:pPr lvl="1" algn="just"/>
            <a:r>
              <a:rPr lang="en-US" dirty="0">
                <a:latin typeface="Arial" panose="020B0604020202020204" pitchFamily="34" charset="0"/>
                <a:cs typeface="Arial" panose="020B0604020202020204" pitchFamily="34" charset="0"/>
              </a:rPr>
              <a:t>Data might be corrupted if machine crashes</a:t>
            </a:r>
          </a:p>
          <a:p>
            <a:pPr lvl="1" algn="just"/>
            <a:r>
              <a:rPr lang="en-US" dirty="0">
                <a:latin typeface="Arial" panose="020B0604020202020204" pitchFamily="34" charset="0"/>
                <a:cs typeface="Arial" panose="020B0604020202020204" pitchFamily="34" charset="0"/>
              </a:rPr>
              <a:t>Programming:</a:t>
            </a:r>
          </a:p>
          <a:p>
            <a:pPr lvl="2" algn="just"/>
            <a:r>
              <a:rPr lang="en-US" dirty="0">
                <a:latin typeface="Arial" panose="020B0604020202020204" pitchFamily="34" charset="0"/>
                <a:cs typeface="Arial" panose="020B0604020202020204" pitchFamily="34" charset="0"/>
              </a:rPr>
              <a:t>Loading values into special device registers</a:t>
            </a:r>
          </a:p>
          <a:p>
            <a:pPr algn="just"/>
            <a:endParaRPr lang="en-US" b="1" dirty="0">
              <a:latin typeface="Arial" panose="020B0604020202020204" pitchFamily="34" charset="0"/>
              <a:cs typeface="Arial" panose="020B0604020202020204" pitchFamily="34" charset="0"/>
            </a:endParaRPr>
          </a:p>
          <a:p>
            <a:pPr algn="just"/>
            <a:endParaRPr lang="en-US" b="1" dirty="0">
              <a:latin typeface="Arial" panose="020B0604020202020204" pitchFamily="34" charset="0"/>
              <a:cs typeface="Arial" panose="020B0604020202020204" pitchFamily="34" charset="0"/>
            </a:endParaRPr>
          </a:p>
          <a:p>
            <a:pPr marL="114300" indent="0" algn="just">
              <a:buNone/>
            </a:pPr>
            <a:r>
              <a:rPr lang="en-US" dirty="0">
                <a:latin typeface="Arial" panose="020B0604020202020204" pitchFamily="34" charset="0"/>
                <a:cs typeface="Arial" panose="020B0604020202020204" pitchFamily="34" charset="0"/>
              </a:rPr>
              <a:t>“I will save my lab1 solution on platter 5, track 8739, sector 3-4.”</a:t>
            </a:r>
          </a:p>
        </p:txBody>
      </p:sp>
      <p:sp>
        <p:nvSpPr>
          <p:cNvPr id="2" name="Rectangle 3">
            <a:extLst>
              <a:ext uri="{FF2B5EF4-FFF2-40B4-BE49-F238E27FC236}">
                <a16:creationId xmlns:a16="http://schemas.microsoft.com/office/drawing/2014/main" id="{E21049C4-8D97-52C4-ED7E-0D420BD1BDAD}"/>
              </a:ext>
            </a:extLst>
          </p:cNvPr>
          <p:cNvSpPr txBox="1">
            <a:spLocks noChangeArrowheads="1"/>
          </p:cNvSpPr>
          <p:nvPr/>
        </p:nvSpPr>
        <p:spPr>
          <a:xfrm>
            <a:off x="5750465" y="1453240"/>
            <a:ext cx="482271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File system abstraction</a:t>
            </a:r>
          </a:p>
          <a:p>
            <a:pPr lvl="1" algn="just"/>
            <a:r>
              <a:rPr lang="en-US" dirty="0">
                <a:latin typeface="Arial" panose="020B0604020202020204" pitchFamily="34" charset="0"/>
                <a:cs typeface="Arial" panose="020B0604020202020204" pitchFamily="34" charset="0"/>
              </a:rPr>
              <a:t>Byte oriented</a:t>
            </a:r>
          </a:p>
          <a:p>
            <a:pPr lvl="1" algn="just"/>
            <a:r>
              <a:rPr lang="en-US" dirty="0">
                <a:latin typeface="Arial" panose="020B0604020202020204" pitchFamily="34" charset="0"/>
                <a:cs typeface="Arial" panose="020B0604020202020204" pitchFamily="34" charset="0"/>
              </a:rPr>
              <a:t>Named files</a:t>
            </a:r>
          </a:p>
          <a:p>
            <a:pPr lvl="1" algn="just"/>
            <a:r>
              <a:rPr lang="en-US" dirty="0">
                <a:latin typeface="Arial" panose="020B0604020202020204" pitchFamily="34" charset="0"/>
                <a:cs typeface="Arial" panose="020B0604020202020204" pitchFamily="34" charset="0"/>
              </a:rPr>
              <a:t>User protection from each other</a:t>
            </a:r>
          </a:p>
          <a:p>
            <a:pPr lvl="1" algn="just"/>
            <a:r>
              <a:rPr lang="en-US" dirty="0">
                <a:latin typeface="Arial" panose="020B0604020202020204" pitchFamily="34" charset="0"/>
                <a:cs typeface="Arial" panose="020B0604020202020204" pitchFamily="34" charset="0"/>
              </a:rPr>
              <a:t>Robust to machine failure</a:t>
            </a:r>
          </a:p>
          <a:p>
            <a:pPr lvl="1" algn="just"/>
            <a:r>
              <a:rPr lang="en-US" dirty="0">
                <a:latin typeface="Arial" panose="020B0604020202020204" pitchFamily="34" charset="0"/>
                <a:cs typeface="Arial" panose="020B0604020202020204" pitchFamily="34" charset="0"/>
              </a:rPr>
              <a:t>Programming:</a:t>
            </a:r>
          </a:p>
          <a:p>
            <a:pPr lvl="2" algn="just"/>
            <a:r>
              <a:rPr lang="en-US" dirty="0">
                <a:latin typeface="Arial" panose="020B0604020202020204" pitchFamily="34" charset="0"/>
                <a:cs typeface="Arial" panose="020B0604020202020204" pitchFamily="34" charset="0"/>
              </a:rPr>
              <a:t>open/read/write</a:t>
            </a:r>
          </a:p>
          <a:p>
            <a:pPr algn="just"/>
            <a:endParaRPr lang="en-US" b="1" dirty="0">
              <a:latin typeface="Arial" panose="020B0604020202020204" pitchFamily="34" charset="0"/>
              <a:cs typeface="Arial" panose="020B0604020202020204" pitchFamily="34" charset="0"/>
            </a:endParaRPr>
          </a:p>
          <a:p>
            <a:pPr marL="114300" indent="0" algn="just">
              <a:buNone/>
            </a:pPr>
            <a:endParaRPr lang="en-US" dirty="0">
              <a:latin typeface="Arial" panose="020B0604020202020204" pitchFamily="34" charset="0"/>
              <a:cs typeface="Arial" panose="020B0604020202020204" pitchFamily="34" charset="0"/>
            </a:endParaRPr>
          </a:p>
          <a:p>
            <a:pPr marL="114300" indent="0" algn="just">
              <a:buNone/>
            </a:pPr>
            <a:endParaRPr lang="en-US" sz="1100" dirty="0">
              <a:latin typeface="Arial" panose="020B0604020202020204" pitchFamily="34" charset="0"/>
              <a:cs typeface="Arial" panose="020B0604020202020204" pitchFamily="34" charset="0"/>
            </a:endParaRPr>
          </a:p>
          <a:p>
            <a:pPr marL="114300" indent="0" algn="just">
              <a:buNone/>
            </a:pPr>
            <a:r>
              <a:rPr lang="en-US" dirty="0">
                <a:latin typeface="Arial" panose="020B0604020202020204" pitchFamily="34" charset="0"/>
                <a:cs typeface="Arial" panose="020B0604020202020204" pitchFamily="34" charset="0"/>
              </a:rPr>
              <a:t>“I will save my lab1 solution in ~</a:t>
            </a:r>
            <a:r>
              <a:rPr lang="en-US" dirty="0" err="1">
                <a:latin typeface="Arial" panose="020B0604020202020204" pitchFamily="34" charset="0"/>
                <a:cs typeface="Arial" panose="020B0604020202020204" pitchFamily="34" charset="0"/>
              </a:rPr>
              <a:t>mhjamal</a:t>
            </a:r>
            <a:r>
              <a:rPr lang="en-US" dirty="0">
                <a:latin typeface="Arial" panose="020B0604020202020204" pitchFamily="34" charset="0"/>
                <a:cs typeface="Arial" panose="020B0604020202020204" pitchFamily="34" charset="0"/>
              </a:rPr>
              <a:t>/lab1/</a:t>
            </a:r>
            <a:r>
              <a:rPr lang="en-US" dirty="0" err="1">
                <a:latin typeface="Arial" panose="020B0604020202020204" pitchFamily="34" charset="0"/>
                <a:cs typeface="Arial" panose="020B0604020202020204" pitchFamily="34" charset="0"/>
              </a:rPr>
              <a:t>process.c</a:t>
            </a:r>
            <a:r>
              <a:rPr lang="en-US" dirty="0">
                <a:latin typeface="Arial" panose="020B0604020202020204" pitchFamily="34" charset="0"/>
                <a:cs typeface="Arial" panose="020B0604020202020204" pitchFamily="34" charset="0"/>
              </a:rPr>
              <a:t>.”</a:t>
            </a:r>
          </a:p>
          <a:p>
            <a:pPr marL="114300" indent="0" algn="just">
              <a:buNone/>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625948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Organization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2703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One or more CPUs and device controllers connected through common </a:t>
            </a:r>
            <a:r>
              <a:rPr lang="en-US" b="1" dirty="0">
                <a:solidFill>
                  <a:srgbClr val="FF0000"/>
                </a:solidFill>
                <a:latin typeface="Arial" panose="020B0604020202020204" pitchFamily="34" charset="0"/>
                <a:cs typeface="Arial" panose="020B0604020202020204" pitchFamily="34" charset="0"/>
              </a:rPr>
              <a:t>bus</a:t>
            </a:r>
            <a:r>
              <a:rPr lang="en-US" dirty="0">
                <a:latin typeface="Arial" panose="020B0604020202020204" pitchFamily="34" charset="0"/>
                <a:cs typeface="Arial" panose="020B0604020202020204" pitchFamily="34" charset="0"/>
              </a:rPr>
              <a:t> providing access to shared memory</a:t>
            </a:r>
          </a:p>
          <a:p>
            <a:pPr algn="just"/>
            <a:r>
              <a:rPr lang="en-US" dirty="0">
                <a:latin typeface="Arial" panose="020B0604020202020204" pitchFamily="34" charset="0"/>
                <a:cs typeface="Arial" panose="020B0604020202020204" pitchFamily="34" charset="0"/>
              </a:rPr>
              <a:t>Concurrent execution of CPUs and devices competing for memory cycles</a:t>
            </a:r>
          </a:p>
        </p:txBody>
      </p:sp>
      <p:pic>
        <p:nvPicPr>
          <p:cNvPr id="13" name="Picture 2"/>
          <p:cNvPicPr>
            <a:picLocks noChangeAspect="1" noChangeArrowheads="1"/>
          </p:cNvPicPr>
          <p:nvPr/>
        </p:nvPicPr>
        <p:blipFill>
          <a:blip r:embed="rId3" cstate="print"/>
          <a:srcRect/>
          <a:stretch>
            <a:fillRect/>
          </a:stretch>
        </p:blipFill>
        <p:spPr bwMode="auto">
          <a:xfrm>
            <a:off x="1778051" y="3084816"/>
            <a:ext cx="7823152" cy="3585611"/>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09546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Concurrent Computing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93352"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Initially, simple </a:t>
            </a:r>
            <a:r>
              <a:rPr lang="en-US" b="1" dirty="0">
                <a:solidFill>
                  <a:srgbClr val="FF0000"/>
                </a:solidFill>
                <a:latin typeface="Arial" panose="020B0604020202020204" pitchFamily="34" charset="0"/>
                <a:cs typeface="Arial" panose="020B0604020202020204" pitchFamily="34" charset="0"/>
              </a:rPr>
              <a:t>batch systems</a:t>
            </a:r>
            <a:r>
              <a:rPr lang="en-US" dirty="0">
                <a:latin typeface="Arial" panose="020B0604020202020204" pitchFamily="34" charset="0"/>
                <a:cs typeface="Arial" panose="020B0604020202020204" pitchFamily="34" charset="0"/>
              </a:rPr>
              <a:t> could entertain only one user/program at a time</a:t>
            </a:r>
            <a:endParaRPr lang="en-US" b="1" dirty="0">
              <a:solidFill>
                <a:srgbClr val="FF0000"/>
              </a:solidFill>
              <a:latin typeface="Arial" panose="020B0604020202020204" pitchFamily="34" charset="0"/>
              <a:cs typeface="Arial" panose="020B0604020202020204" pitchFamily="34" charset="0"/>
            </a:endParaRPr>
          </a:p>
          <a:p>
            <a:pPr lvl="1" algn="just"/>
            <a:r>
              <a:rPr lang="en-US" b="1" dirty="0">
                <a:solidFill>
                  <a:srgbClr val="FF0000"/>
                </a:solidFill>
                <a:latin typeface="Arial" panose="020B0604020202020204" pitchFamily="34" charset="0"/>
                <a:cs typeface="Arial" panose="020B0604020202020204" pitchFamily="34" charset="0"/>
              </a:rPr>
              <a:t>Spooling </a:t>
            </a:r>
            <a:r>
              <a:rPr lang="en-US" sz="2000" dirty="0">
                <a:latin typeface="Arial" panose="020B0604020202020204" pitchFamily="34" charset="0"/>
                <a:cs typeface="Arial" panose="020B0604020202020204" pitchFamily="34" charset="0"/>
              </a:rPr>
              <a:t>(the overlapping of output of one job with input of other jobs)</a:t>
            </a:r>
            <a:r>
              <a:rPr lang="en-US" b="1" dirty="0">
                <a:solidFill>
                  <a:srgbClr val="FF0000"/>
                </a:solidFill>
                <a:latin typeface="Arial" panose="020B0604020202020204" pitchFamily="34" charset="0"/>
                <a:cs typeface="Arial" panose="020B0604020202020204" pitchFamily="34" charset="0"/>
              </a:rPr>
              <a:t> and buffering</a:t>
            </a:r>
            <a:r>
              <a:rPr lang="en-US"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(storing data temporarily while it is being transferred) </a:t>
            </a:r>
            <a:r>
              <a:rPr lang="en-US" dirty="0">
                <a:latin typeface="Arial" panose="020B0604020202020204" pitchFamily="34" charset="0"/>
                <a:cs typeface="Arial" panose="020B0604020202020204" pitchFamily="34" charset="0"/>
              </a:rPr>
              <a:t>allowed jobs to be read ahead of time</a:t>
            </a:r>
          </a:p>
          <a:p>
            <a:pPr lvl="1" algn="just"/>
            <a:r>
              <a:rPr lang="en-US" dirty="0">
                <a:latin typeface="Arial" panose="020B0604020202020204" pitchFamily="34" charset="0"/>
                <a:cs typeface="Arial" panose="020B0604020202020204" pitchFamily="34" charset="0"/>
              </a:rPr>
              <a:t>Poor utilization of hardware and user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Modern systems support concurrent computing allowing multiple processes to be executed in overlapping time periods, enhancing efficiency and performance.</a:t>
            </a:r>
          </a:p>
          <a:p>
            <a:pPr lvl="1" algn="just"/>
            <a:r>
              <a:rPr lang="en-US" b="1" dirty="0">
                <a:solidFill>
                  <a:srgbClr val="00B050"/>
                </a:solidFill>
                <a:latin typeface="Arial" panose="020B0604020202020204" pitchFamily="34" charset="0"/>
                <a:cs typeface="Arial" panose="020B0604020202020204" pitchFamily="34" charset="0"/>
              </a:rPr>
              <a:t>Multiprogramming</a:t>
            </a:r>
          </a:p>
          <a:p>
            <a:pPr lvl="1" algn="just"/>
            <a:r>
              <a:rPr lang="en-US" b="1" dirty="0">
                <a:solidFill>
                  <a:srgbClr val="00B050"/>
                </a:solidFill>
                <a:latin typeface="Arial" panose="020B0604020202020204" pitchFamily="34" charset="0"/>
                <a:cs typeface="Arial" panose="020B0604020202020204" pitchFamily="34" charset="0"/>
              </a:rPr>
              <a:t>Multiprocessing</a:t>
            </a:r>
          </a:p>
          <a:p>
            <a:pPr lvl="1" algn="just"/>
            <a:r>
              <a:rPr lang="en-US" b="1" dirty="0">
                <a:solidFill>
                  <a:srgbClr val="00B050"/>
                </a:solidFill>
                <a:latin typeface="Arial" panose="020B0604020202020204" pitchFamily="34" charset="0"/>
                <a:cs typeface="Arial" panose="020B0604020202020204" pitchFamily="34" charset="0"/>
              </a:rPr>
              <a:t>Multitasking</a:t>
            </a:r>
          </a:p>
        </p:txBody>
      </p:sp>
    </p:spTree>
    <p:custDataLst>
      <p:tags r:id="rId1"/>
    </p:custDataLst>
    <p:extLst>
      <p:ext uri="{BB962C8B-B14F-4D97-AF65-F5344CB8AC3E}">
        <p14:creationId xmlns:p14="http://schemas.microsoft.com/office/powerpoint/2010/main" val="2829778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Concurrent Computing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9335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Multiprogramming:</a:t>
            </a:r>
          </a:p>
          <a:p>
            <a:pPr lvl="1" algn="just"/>
            <a:r>
              <a:rPr lang="en-US" dirty="0">
                <a:latin typeface="Arial" panose="020B0604020202020204" pitchFamily="34" charset="0"/>
                <a:cs typeface="Arial" panose="020B0604020202020204" pitchFamily="34" charset="0"/>
              </a:rPr>
              <a:t>Ability to run more than one program simultaneously by keeping several programs in the memory at the same time. </a:t>
            </a:r>
          </a:p>
          <a:p>
            <a:pPr lvl="1" algn="just"/>
            <a:r>
              <a:rPr lang="en-US" dirty="0">
                <a:latin typeface="Arial" panose="020B0604020202020204" pitchFamily="34" charset="0"/>
                <a:cs typeface="Arial" panose="020B0604020202020204" pitchFamily="34" charset="0"/>
              </a:rPr>
              <a:t>CPU and I/O devices are kept busy by overlapping I/O with computation resulting in increased </a:t>
            </a:r>
            <a:r>
              <a:rPr lang="en-US" b="1" dirty="0">
                <a:solidFill>
                  <a:srgbClr val="FF0000"/>
                </a:solidFill>
                <a:latin typeface="Arial" panose="020B0604020202020204" pitchFamily="34" charset="0"/>
                <a:cs typeface="Arial" panose="020B0604020202020204" pitchFamily="34" charset="0"/>
              </a:rPr>
              <a:t>utilization (throughput)</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One job is selected and run via </a:t>
            </a:r>
            <a:r>
              <a:rPr lang="en-US" b="1" dirty="0">
                <a:solidFill>
                  <a:srgbClr val="FF0000"/>
                </a:solidFill>
                <a:latin typeface="Arial" panose="020B0604020202020204" pitchFamily="34" charset="0"/>
                <a:cs typeface="Arial" panose="020B0604020202020204" pitchFamily="34" charset="0"/>
              </a:rPr>
              <a:t>job scheduling</a:t>
            </a:r>
          </a:p>
          <a:p>
            <a:pPr lvl="1" algn="just"/>
            <a:r>
              <a:rPr lang="en-US" dirty="0">
                <a:latin typeface="Arial" panose="020B0604020202020204" pitchFamily="34" charset="0"/>
                <a:cs typeface="Arial" panose="020B0604020202020204" pitchFamily="34" charset="0"/>
              </a:rPr>
              <a:t>It is the function of operating system to share CPU time among all the users equally.</a:t>
            </a:r>
          </a:p>
          <a:p>
            <a:pPr lvl="1" algn="just"/>
            <a:r>
              <a:rPr lang="en-US" dirty="0">
                <a:latin typeface="Arial" panose="020B0604020202020204" pitchFamily="34" charset="0"/>
                <a:cs typeface="Arial" panose="020B0604020202020204" pitchFamily="34" charset="0"/>
              </a:rPr>
              <a:t>1st instance where the operating system must schedule resources</a:t>
            </a:r>
          </a:p>
          <a:p>
            <a:pPr lvl="2" algn="just"/>
            <a:r>
              <a:rPr lang="en-US" dirty="0">
                <a:latin typeface="Arial" panose="020B0604020202020204" pitchFamily="34" charset="0"/>
                <a:cs typeface="Arial" panose="020B0604020202020204" pitchFamily="34" charset="0"/>
              </a:rPr>
              <a:t>CPU scheduling</a:t>
            </a:r>
          </a:p>
          <a:p>
            <a:pPr lvl="2" algn="just"/>
            <a:r>
              <a:rPr lang="en-US" dirty="0">
                <a:latin typeface="Arial" panose="020B0604020202020204" pitchFamily="34" charset="0"/>
                <a:cs typeface="Arial" panose="020B0604020202020204" pitchFamily="34" charset="0"/>
              </a:rPr>
              <a:t>Memory management</a:t>
            </a:r>
          </a:p>
          <a:p>
            <a:pPr lvl="2" algn="just"/>
            <a:r>
              <a:rPr lang="en-US" dirty="0">
                <a:latin typeface="Arial" panose="020B0604020202020204" pitchFamily="34" charset="0"/>
                <a:cs typeface="Arial" panose="020B0604020202020204" pitchFamily="34" charset="0"/>
              </a:rPr>
              <a:t>Protection</a:t>
            </a:r>
          </a:p>
          <a:p>
            <a:pPr algn="just"/>
            <a:endParaRPr lang="en-US" sz="12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Multiprocessing</a:t>
            </a:r>
          </a:p>
          <a:p>
            <a:pPr lvl="1" algn="just"/>
            <a:r>
              <a:rPr lang="en-US" dirty="0">
                <a:latin typeface="Arial" panose="020B0604020202020204" pitchFamily="34" charset="0"/>
                <a:cs typeface="Arial" panose="020B0604020202020204" pitchFamily="34" charset="0"/>
              </a:rPr>
              <a:t>Involves the use of two or more CPUs within a single computer system to execute multiple processes simultaneously, truly allowing parallel execution.</a:t>
            </a:r>
          </a:p>
          <a:p>
            <a:pPr marL="114300" indent="0" algn="just">
              <a:buNone/>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1787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Concurrent Computing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Multitasking (Timesharing)</a:t>
            </a:r>
          </a:p>
          <a:p>
            <a:pPr lvl="1" algn="just"/>
            <a:r>
              <a:rPr lang="en-US" dirty="0">
                <a:latin typeface="Arial" panose="020B0604020202020204" pitchFamily="34" charset="0"/>
                <a:cs typeface="Arial" panose="020B0604020202020204" pitchFamily="34" charset="0"/>
              </a:rPr>
              <a:t>Logical extension of multiprogramming operating system but more complex</a:t>
            </a:r>
          </a:p>
          <a:p>
            <a:pPr lvl="1" algn="just"/>
            <a:r>
              <a:rPr lang="en-US" dirty="0">
                <a:latin typeface="Arial" panose="020B0604020202020204" pitchFamily="34" charset="0"/>
                <a:cs typeface="Arial" panose="020B0604020202020204" pitchFamily="34" charset="0"/>
              </a:rPr>
              <a:t>Ability to execute multiple tasks or processes at the same time on a single CPU by rapidly switching between them, giving the appearance of simultaneous execution.</a:t>
            </a:r>
          </a:p>
          <a:p>
            <a:pPr lvl="1" algn="just"/>
            <a:r>
              <a:rPr lang="en-US" dirty="0">
                <a:latin typeface="Arial" panose="020B0604020202020204" pitchFamily="34" charset="0"/>
                <a:cs typeface="Arial" panose="020B0604020202020204" pitchFamily="34" charset="0"/>
              </a:rPr>
              <a:t>Each user feels to have the entire machine (</a:t>
            </a:r>
            <a:r>
              <a:rPr lang="en-US" b="1" dirty="0">
                <a:solidFill>
                  <a:srgbClr val="FF0000"/>
                </a:solidFill>
                <a:latin typeface="Arial" panose="020B0604020202020204" pitchFamily="34" charset="0"/>
                <a:cs typeface="Arial" panose="020B0604020202020204" pitchFamily="34" charset="0"/>
              </a:rPr>
              <a:t>interactive computing</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Optimize </a:t>
            </a:r>
            <a:r>
              <a:rPr lang="en-US" b="1" dirty="0">
                <a:solidFill>
                  <a:srgbClr val="FF0000"/>
                </a:solidFill>
                <a:latin typeface="Arial" panose="020B0604020202020204" pitchFamily="34" charset="0"/>
                <a:cs typeface="Arial" panose="020B0604020202020204" pitchFamily="34" charset="0"/>
              </a:rPr>
              <a:t>response time </a:t>
            </a:r>
            <a:r>
              <a:rPr lang="en-US" dirty="0">
                <a:latin typeface="Arial" panose="020B0604020202020204" pitchFamily="34" charset="0"/>
                <a:cs typeface="Arial" panose="020B0604020202020204" pitchFamily="34" charset="0"/>
              </a:rPr>
              <a:t>(less than a second) by frequent time-slicing multiple jobs</a:t>
            </a:r>
          </a:p>
          <a:p>
            <a:pPr lvl="1" algn="just"/>
            <a:r>
              <a:rPr lang="en-US" dirty="0">
                <a:latin typeface="Arial" panose="020B0604020202020204" pitchFamily="34" charset="0"/>
                <a:cs typeface="Arial" panose="020B0604020202020204" pitchFamily="34" charset="0"/>
              </a:rPr>
              <a:t>Each user has at least one process in memory ready for execution</a:t>
            </a:r>
          </a:p>
          <a:p>
            <a:pPr lvl="1" algn="just"/>
            <a:r>
              <a:rPr lang="en-US" dirty="0">
                <a:latin typeface="Arial" panose="020B0604020202020204" pitchFamily="34" charset="0"/>
                <a:cs typeface="Arial" panose="020B0604020202020204" pitchFamily="34" charset="0"/>
              </a:rPr>
              <a:t>If several processes are ready for execution at the same time, one process is selected and run via </a:t>
            </a:r>
            <a:r>
              <a:rPr lang="en-US" b="1" dirty="0">
                <a:solidFill>
                  <a:srgbClr val="FF0000"/>
                </a:solidFill>
                <a:latin typeface="Arial" panose="020B0604020202020204" pitchFamily="34" charset="0"/>
                <a:cs typeface="Arial" panose="020B0604020202020204" pitchFamily="34" charset="0"/>
              </a:rPr>
              <a:t>CPU scheduling</a:t>
            </a:r>
          </a:p>
          <a:p>
            <a:pPr lvl="1" algn="just"/>
            <a:r>
              <a:rPr lang="en-US" dirty="0">
                <a:latin typeface="Arial" panose="020B0604020202020204" pitchFamily="34" charset="0"/>
                <a:cs typeface="Arial" panose="020B0604020202020204" pitchFamily="34" charset="0"/>
              </a:rPr>
              <a:t>If a process does not fit in memory, </a:t>
            </a:r>
            <a:r>
              <a:rPr lang="en-US" b="1" dirty="0">
                <a:solidFill>
                  <a:srgbClr val="FF0000"/>
                </a:solidFill>
                <a:latin typeface="Arial" panose="020B0604020202020204" pitchFamily="34" charset="0"/>
                <a:cs typeface="Arial" panose="020B0604020202020204" pitchFamily="34" charset="0"/>
              </a:rPr>
              <a:t>virtual memory </a:t>
            </a:r>
            <a:r>
              <a:rPr lang="en-US" dirty="0">
                <a:latin typeface="Arial" panose="020B0604020202020204" pitchFamily="34" charset="0"/>
                <a:cs typeface="Arial" panose="020B0604020202020204" pitchFamily="34" charset="0"/>
              </a:rPr>
              <a:t>allows execution of the process by having part of the process to be in memory by </a:t>
            </a:r>
            <a:r>
              <a:rPr lang="en-US" b="1" dirty="0">
                <a:solidFill>
                  <a:srgbClr val="FF0000"/>
                </a:solidFill>
                <a:latin typeface="Arial" panose="020B0604020202020204" pitchFamily="34" charset="0"/>
                <a:cs typeface="Arial" panose="020B0604020202020204" pitchFamily="34" charset="0"/>
              </a:rPr>
              <a:t>swapping </a:t>
            </a:r>
            <a:r>
              <a:rPr lang="en-US" dirty="0">
                <a:latin typeface="Arial" panose="020B0604020202020204" pitchFamily="34" charset="0"/>
                <a:cs typeface="Arial" panose="020B0604020202020204" pitchFamily="34" charset="0"/>
              </a:rPr>
              <a:t>parts in and out of memory when needed</a:t>
            </a:r>
          </a:p>
          <a:p>
            <a:pPr lvl="1" algn="just"/>
            <a:r>
              <a:rPr lang="en-US" dirty="0">
                <a:latin typeface="Arial" panose="020B0604020202020204" pitchFamily="34" charset="0"/>
                <a:cs typeface="Arial" panose="020B0604020202020204" pitchFamily="34" charset="0"/>
              </a:rPr>
              <a:t>Additionally requires file system, job communication, synchronization and deadlock handling</a:t>
            </a:r>
          </a:p>
          <a:p>
            <a:pPr lvl="1" algn="just"/>
            <a:r>
              <a:rPr lang="en-US" dirty="0">
                <a:latin typeface="Arial" panose="020B0604020202020204" pitchFamily="34" charset="0"/>
                <a:cs typeface="Arial" panose="020B0604020202020204" pitchFamily="34" charset="0"/>
              </a:rPr>
              <a:t>Most systems today are timesharing (focus of this course)</a:t>
            </a:r>
          </a:p>
        </p:txBody>
      </p:sp>
    </p:spTree>
    <p:custDataLst>
      <p:tags r:id="rId1"/>
    </p:custDataLst>
    <p:extLst>
      <p:ext uri="{BB962C8B-B14F-4D97-AF65-F5344CB8AC3E}">
        <p14:creationId xmlns:p14="http://schemas.microsoft.com/office/powerpoint/2010/main" val="4192221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Computer-System Operation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252726" cy="501789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I/O devices and the CPU can execute concurrently</a:t>
            </a:r>
          </a:p>
          <a:p>
            <a:pPr algn="just">
              <a:spcBef>
                <a:spcPts val="1200"/>
              </a:spcBef>
            </a:pPr>
            <a:r>
              <a:rPr lang="en-US" dirty="0">
                <a:latin typeface="Arial" panose="020B0604020202020204" pitchFamily="34" charset="0"/>
                <a:cs typeface="Arial" panose="020B0604020202020204" pitchFamily="34" charset="0"/>
              </a:rPr>
              <a:t>A </a:t>
            </a:r>
            <a:r>
              <a:rPr lang="en-US" b="1" dirty="0">
                <a:solidFill>
                  <a:srgbClr val="FF0000"/>
                </a:solidFill>
                <a:latin typeface="Arial" panose="020B0604020202020204" pitchFamily="34" charset="0"/>
                <a:cs typeface="Arial" panose="020B0604020202020204" pitchFamily="34" charset="0"/>
              </a:rPr>
              <a:t>device controller </a:t>
            </a:r>
            <a:r>
              <a:rPr lang="en-US" dirty="0">
                <a:latin typeface="Arial" panose="020B0604020202020204" pitchFamily="34" charset="0"/>
                <a:cs typeface="Arial" panose="020B0604020202020204" pitchFamily="34" charset="0"/>
              </a:rPr>
              <a:t>is an interface between the device and the OS which oversees a particular device type. Each device controller has a local buffer.</a:t>
            </a:r>
          </a:p>
          <a:p>
            <a:pPr algn="just">
              <a:spcBef>
                <a:spcPts val="1200"/>
              </a:spcBef>
            </a:pPr>
            <a:r>
              <a:rPr lang="en-US" dirty="0">
                <a:latin typeface="Arial" panose="020B0604020202020204" pitchFamily="34" charset="0"/>
                <a:cs typeface="Arial" panose="020B0604020202020204" pitchFamily="34" charset="0"/>
              </a:rPr>
              <a:t>Each device controller type has an OS </a:t>
            </a:r>
            <a:r>
              <a:rPr lang="en-US" b="1" dirty="0">
                <a:solidFill>
                  <a:srgbClr val="FF0000"/>
                </a:solidFill>
                <a:latin typeface="Arial" panose="020B0604020202020204" pitchFamily="34" charset="0"/>
                <a:cs typeface="Arial" panose="020B0604020202020204" pitchFamily="34" charset="0"/>
              </a:rPr>
              <a:t>device driver</a:t>
            </a:r>
            <a:r>
              <a:rPr lang="en-US" dirty="0">
                <a:latin typeface="Arial" panose="020B0604020202020204" pitchFamily="34" charset="0"/>
                <a:cs typeface="Arial" panose="020B0604020202020204" pitchFamily="34" charset="0"/>
              </a:rPr>
              <a:t> to manage it.</a:t>
            </a:r>
          </a:p>
          <a:p>
            <a:pPr algn="just">
              <a:spcBef>
                <a:spcPts val="1200"/>
              </a:spcBef>
            </a:pPr>
            <a:r>
              <a:rPr lang="en-US" dirty="0">
                <a:latin typeface="Arial" panose="020B0604020202020204" pitchFamily="34" charset="0"/>
                <a:cs typeface="Arial" panose="020B0604020202020204" pitchFamily="34" charset="0"/>
              </a:rPr>
              <a:t>CPU moves data from/to main memory to/from local buffers</a:t>
            </a:r>
          </a:p>
          <a:p>
            <a:pPr algn="just">
              <a:spcBef>
                <a:spcPts val="1200"/>
              </a:spcBef>
            </a:pPr>
            <a:r>
              <a:rPr lang="en-US" dirty="0">
                <a:latin typeface="Arial" panose="020B0604020202020204" pitchFamily="34" charset="0"/>
                <a:cs typeface="Arial" panose="020B0604020202020204" pitchFamily="34" charset="0"/>
              </a:rPr>
              <a:t>I/O is from the device to local buffer of controller</a:t>
            </a:r>
          </a:p>
          <a:p>
            <a:pPr algn="just">
              <a:spcBef>
                <a:spcPts val="1200"/>
              </a:spcBef>
            </a:pPr>
            <a:r>
              <a:rPr lang="en-US" dirty="0">
                <a:latin typeface="Arial" panose="020B0604020202020204" pitchFamily="34" charset="0"/>
                <a:cs typeface="Arial" panose="020B0604020202020204" pitchFamily="34" charset="0"/>
              </a:rPr>
              <a:t>Device controller informs CPU that it has finished its operation by causing an </a:t>
            </a:r>
            <a:r>
              <a:rPr lang="en-US" b="1" dirty="0">
                <a:solidFill>
                  <a:srgbClr val="FF0000"/>
                </a:solidFill>
                <a:latin typeface="Arial" panose="020B0604020202020204" pitchFamily="34" charset="0"/>
                <a:cs typeface="Arial" panose="020B0604020202020204" pitchFamily="34" charset="0"/>
              </a:rPr>
              <a:t>interrupt</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839249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Interrupt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40648" cy="519139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Interrupt is a mechanism for coordination between concurrently operating units of a computer system (e.g., CPU and I/O devices) for responding to specific conditions within a processor</a:t>
            </a:r>
          </a:p>
          <a:p>
            <a:pPr algn="just">
              <a:spcBef>
                <a:spcPts val="1200"/>
              </a:spcBef>
            </a:pPr>
            <a:r>
              <a:rPr lang="en-US" dirty="0">
                <a:latin typeface="Arial" panose="020B0604020202020204" pitchFamily="34" charset="0"/>
                <a:cs typeface="Arial" panose="020B0604020202020204" pitchFamily="34" charset="0"/>
              </a:rPr>
              <a:t>Results in transfer of flow of control (to interrupt handler in the OS), forced by the hardware</a:t>
            </a:r>
          </a:p>
          <a:p>
            <a:pPr algn="just">
              <a:spcBef>
                <a:spcPts val="1200"/>
              </a:spcBef>
            </a:pPr>
            <a:r>
              <a:rPr lang="en-US" dirty="0">
                <a:latin typeface="Arial" panose="020B0604020202020204" pitchFamily="34" charset="0"/>
                <a:cs typeface="Arial" panose="020B0604020202020204" pitchFamily="34" charset="0"/>
              </a:rPr>
              <a:t>An operating system is </a:t>
            </a:r>
            <a:r>
              <a:rPr lang="en-US" b="1" dirty="0">
                <a:solidFill>
                  <a:srgbClr val="FF0000"/>
                </a:solidFill>
                <a:latin typeface="Arial" panose="020B0604020202020204" pitchFamily="34" charset="0"/>
                <a:cs typeface="Arial" panose="020B0604020202020204" pitchFamily="34" charset="0"/>
              </a:rPr>
              <a:t>interrupt driven</a:t>
            </a:r>
          </a:p>
          <a:p>
            <a:pPr algn="just">
              <a:spcBef>
                <a:spcPts val="1200"/>
              </a:spcBef>
            </a:pPr>
            <a:endParaRPr lang="en-US" sz="1200" dirty="0">
              <a:latin typeface="Arial" panose="020B0604020202020204" pitchFamily="34" charset="0"/>
              <a:cs typeface="Arial" panose="020B0604020202020204" pitchFamily="34" charset="0"/>
            </a:endParaRPr>
          </a:p>
          <a:p>
            <a:pPr algn="just">
              <a:spcBef>
                <a:spcPts val="0"/>
              </a:spcBef>
            </a:pPr>
            <a:r>
              <a:rPr lang="en-US" dirty="0">
                <a:latin typeface="Arial" panose="020B0604020202020204" pitchFamily="34" charset="0"/>
                <a:cs typeface="Arial" panose="020B0604020202020204" pitchFamily="34" charset="0"/>
              </a:rPr>
              <a:t>Hardware Interrupts</a:t>
            </a:r>
          </a:p>
          <a:p>
            <a:pPr lvl="1" algn="just">
              <a:spcBef>
                <a:spcPts val="600"/>
              </a:spcBef>
            </a:pPr>
            <a:r>
              <a:rPr lang="en-US" dirty="0">
                <a:latin typeface="Arial" panose="020B0604020202020204" pitchFamily="34" charset="0"/>
                <a:cs typeface="Arial" panose="020B0604020202020204" pitchFamily="34" charset="0"/>
              </a:rPr>
              <a:t>Timers</a:t>
            </a:r>
          </a:p>
          <a:p>
            <a:pPr lvl="1" algn="just">
              <a:spcBef>
                <a:spcPts val="600"/>
              </a:spcBef>
            </a:pPr>
            <a:r>
              <a:rPr lang="en-US" dirty="0">
                <a:latin typeface="Arial" panose="020B0604020202020204" pitchFamily="34" charset="0"/>
                <a:cs typeface="Arial" panose="020B0604020202020204" pitchFamily="34" charset="0"/>
              </a:rPr>
              <a:t>Keyboards, NICs, etc. (I/O devices)</a:t>
            </a:r>
          </a:p>
          <a:p>
            <a:pPr algn="just">
              <a:spcBef>
                <a:spcPts val="1200"/>
              </a:spcBef>
            </a:pPr>
            <a:r>
              <a:rPr lang="en-US" dirty="0">
                <a:latin typeface="Arial" panose="020B0604020202020204" pitchFamily="34" charset="0"/>
                <a:cs typeface="Arial" panose="020B0604020202020204" pitchFamily="34" charset="0"/>
              </a:rPr>
              <a:t>Software Interrupts (also know as </a:t>
            </a:r>
            <a:r>
              <a:rPr lang="en-US" b="1" dirty="0">
                <a:solidFill>
                  <a:srgbClr val="FF0000"/>
                </a:solidFill>
                <a:latin typeface="Arial" panose="020B0604020202020204" pitchFamily="34" charset="0"/>
                <a:cs typeface="Arial" panose="020B0604020202020204" pitchFamily="34" charset="0"/>
              </a:rPr>
              <a:t>trap</a:t>
            </a:r>
            <a:r>
              <a:rPr lang="en-US" dirty="0">
                <a:latin typeface="Arial" panose="020B0604020202020204" pitchFamily="34" charset="0"/>
                <a:cs typeface="Arial" panose="020B0604020202020204" pitchFamily="34" charset="0"/>
              </a:rPr>
              <a:t> or </a:t>
            </a:r>
            <a:r>
              <a:rPr lang="en-US" b="1" dirty="0">
                <a:solidFill>
                  <a:srgbClr val="FF0000"/>
                </a:solidFill>
                <a:latin typeface="Arial" panose="020B0604020202020204" pitchFamily="34" charset="0"/>
                <a:cs typeface="Arial" panose="020B0604020202020204" pitchFamily="34" charset="0"/>
              </a:rPr>
              <a:t>exception</a:t>
            </a:r>
            <a:r>
              <a:rPr lang="en-US" dirty="0">
                <a:latin typeface="Arial" panose="020B0604020202020204" pitchFamily="34" charset="0"/>
                <a:cs typeface="Arial" panose="020B0604020202020204" pitchFamily="34" charset="0"/>
              </a:rPr>
              <a:t>) </a:t>
            </a:r>
          </a:p>
          <a:p>
            <a:pPr lvl="1" algn="just">
              <a:spcBef>
                <a:spcPts val="600"/>
              </a:spcBef>
            </a:pPr>
            <a:r>
              <a:rPr lang="en-US" dirty="0">
                <a:latin typeface="Arial" panose="020B0604020202020204" pitchFamily="34" charset="0"/>
                <a:cs typeface="Arial" panose="020B0604020202020204" pitchFamily="34" charset="0"/>
              </a:rPr>
              <a:t>An error (floating point exception)</a:t>
            </a:r>
          </a:p>
          <a:p>
            <a:pPr lvl="1" algn="just">
              <a:spcBef>
                <a:spcPts val="600"/>
              </a:spcBef>
            </a:pPr>
            <a:r>
              <a:rPr lang="en-US" dirty="0">
                <a:latin typeface="Arial" panose="020B0604020202020204" pitchFamily="34" charset="0"/>
                <a:cs typeface="Arial" panose="020B0604020202020204" pitchFamily="34" charset="0"/>
              </a:rPr>
              <a:t>A system call requesting OS for special services (e.g., I/O)</a:t>
            </a:r>
          </a:p>
        </p:txBody>
      </p:sp>
    </p:spTree>
    <p:custDataLst>
      <p:tags r:id="rId1"/>
    </p:custDataLst>
    <p:extLst>
      <p:ext uri="{BB962C8B-B14F-4D97-AF65-F5344CB8AC3E}">
        <p14:creationId xmlns:p14="http://schemas.microsoft.com/office/powerpoint/2010/main" val="1042455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Interrupt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339" y="1478280"/>
            <a:ext cx="10249978" cy="4475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315282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Handling Interrupts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47329" cy="51761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Incoming interrupts are disabled (at this and lower priority levels) while the interrupt is being processed to prevent a loss interrupt</a:t>
            </a:r>
          </a:p>
          <a:p>
            <a:pPr algn="just">
              <a:spcBef>
                <a:spcPts val="1200"/>
              </a:spcBef>
            </a:pPr>
            <a:r>
              <a:rPr lang="en-US" dirty="0">
                <a:latin typeface="Arial" panose="020B0604020202020204" pitchFamily="34" charset="0"/>
                <a:cs typeface="Arial" panose="020B0604020202020204" pitchFamily="34" charset="0"/>
              </a:rPr>
              <a:t>Interrupt architecture must save the address of the interrupted instruction</a:t>
            </a:r>
          </a:p>
          <a:p>
            <a:pPr algn="just">
              <a:spcBef>
                <a:spcPts val="1200"/>
              </a:spcBef>
            </a:pPr>
            <a:r>
              <a:rPr lang="en-US" dirty="0">
                <a:latin typeface="Arial" panose="020B0604020202020204" pitchFamily="34" charset="0"/>
                <a:cs typeface="Arial" panose="020B0604020202020204" pitchFamily="34" charset="0"/>
              </a:rPr>
              <a:t>Instruction transfers control to the interrupt service routine, generally through the </a:t>
            </a:r>
            <a:r>
              <a:rPr lang="en-US" b="1" dirty="0">
                <a:solidFill>
                  <a:srgbClr val="FF0000"/>
                </a:solidFill>
                <a:latin typeface="Arial" panose="020B0604020202020204" pitchFamily="34" charset="0"/>
                <a:cs typeface="Arial" panose="020B0604020202020204" pitchFamily="34" charset="0"/>
              </a:rPr>
              <a:t>interrupt vector</a:t>
            </a:r>
            <a:r>
              <a:rPr lang="en-US" dirty="0">
                <a:latin typeface="Arial" panose="020B0604020202020204" pitchFamily="34" charset="0"/>
                <a:cs typeface="Arial" panose="020B0604020202020204" pitchFamily="34" charset="0"/>
              </a:rPr>
              <a:t>, which contains the addresses of all the service routines</a:t>
            </a:r>
          </a:p>
          <a:p>
            <a:pPr algn="just">
              <a:spcBef>
                <a:spcPts val="1200"/>
              </a:spcBef>
            </a:pPr>
            <a:r>
              <a:rPr lang="en-US" dirty="0">
                <a:latin typeface="Arial" panose="020B0604020202020204" pitchFamily="34" charset="0"/>
                <a:cs typeface="Arial" panose="020B0604020202020204" pitchFamily="34" charset="0"/>
              </a:rPr>
              <a:t>Determine which type of interrupt has occurred. A separate segments of code determine what action should be taken for each type of interrupt</a:t>
            </a:r>
          </a:p>
          <a:p>
            <a:pPr algn="just">
              <a:spcBef>
                <a:spcPts val="1200"/>
              </a:spcBef>
            </a:pPr>
            <a:r>
              <a:rPr lang="en-US" dirty="0">
                <a:latin typeface="Arial" panose="020B0604020202020204" pitchFamily="34" charset="0"/>
                <a:cs typeface="Arial" panose="020B0604020202020204" pitchFamily="34" charset="0"/>
              </a:rPr>
              <a:t>If interrupt routing modifies process state (register values)</a:t>
            </a:r>
          </a:p>
          <a:p>
            <a:pPr lvl="1" algn="just">
              <a:spcBef>
                <a:spcPts val="1200"/>
              </a:spcBef>
            </a:pPr>
            <a:r>
              <a:rPr lang="en-US" dirty="0">
                <a:latin typeface="Arial" panose="020B0604020202020204" pitchFamily="34" charset="0"/>
                <a:cs typeface="Arial" panose="020B0604020202020204" pitchFamily="34" charset="0"/>
              </a:rPr>
              <a:t>Save current state of CPU (registers and the program counter) on the system stack</a:t>
            </a:r>
          </a:p>
          <a:p>
            <a:pPr lvl="1" algn="just">
              <a:spcBef>
                <a:spcPts val="1200"/>
              </a:spcBef>
            </a:pPr>
            <a:r>
              <a:rPr lang="en-US" dirty="0">
                <a:latin typeface="Arial" panose="020B0604020202020204" pitchFamily="34" charset="0"/>
                <a:cs typeface="Arial" panose="020B0604020202020204" pitchFamily="34" charset="0"/>
              </a:rPr>
              <a:t>Restore before returning</a:t>
            </a:r>
          </a:p>
          <a:p>
            <a:pPr algn="just">
              <a:spcBef>
                <a:spcPts val="1200"/>
              </a:spcBef>
            </a:pPr>
            <a:r>
              <a:rPr lang="en-US" dirty="0">
                <a:latin typeface="Arial" panose="020B0604020202020204" pitchFamily="34" charset="0"/>
                <a:cs typeface="Arial" panose="020B0604020202020204" pitchFamily="34" charset="0"/>
              </a:rPr>
              <a:t>Interrupts are re-enabled after servicing current interrupt</a:t>
            </a:r>
          </a:p>
          <a:p>
            <a:pPr algn="just">
              <a:spcBef>
                <a:spcPts val="1200"/>
              </a:spcBef>
            </a:pPr>
            <a:r>
              <a:rPr lang="en-US" dirty="0">
                <a:latin typeface="Arial" panose="020B0604020202020204" pitchFamily="34" charset="0"/>
                <a:cs typeface="Arial" panose="020B0604020202020204" pitchFamily="34" charset="0"/>
              </a:rPr>
              <a:t>Resume the interrupted instruction</a:t>
            </a:r>
          </a:p>
        </p:txBody>
      </p:sp>
    </p:spTree>
    <p:custDataLst>
      <p:tags r:id="rId1"/>
    </p:custDataLst>
    <p:extLst>
      <p:ext uri="{BB962C8B-B14F-4D97-AF65-F5344CB8AC3E}">
        <p14:creationId xmlns:p14="http://schemas.microsoft.com/office/powerpoint/2010/main" val="3200845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Handling Interrupts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5258694" cy="485072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endParaRPr lang="en-US" dirty="0">
              <a:latin typeface="Arial" panose="020B0604020202020204" pitchFamily="34" charset="0"/>
              <a:cs typeface="Arial" panose="020B0604020202020204" pitchFamily="34" charset="0"/>
            </a:endParaRP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5259" y="1213549"/>
            <a:ext cx="5681059" cy="5599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2">
            <a:extLst>
              <a:ext uri="{FF2B5EF4-FFF2-40B4-BE49-F238E27FC236}">
                <a16:creationId xmlns:a16="http://schemas.microsoft.com/office/drawing/2014/main" id="{341FB700-A32B-1659-5FF8-7E1D114A9D0C}"/>
              </a:ext>
            </a:extLst>
          </p:cNvPr>
          <p:cNvSpPr>
            <a:spLocks noGrp="1"/>
          </p:cNvSpPr>
          <p:nvPr>
            <p:ph idx="1"/>
          </p:nvPr>
        </p:nvSpPr>
        <p:spPr>
          <a:xfrm>
            <a:off x="5890846" y="5526592"/>
            <a:ext cx="2551329" cy="320488"/>
          </a:xfrm>
        </p:spPr>
        <p:txBody>
          <a:bodyPr>
            <a:normAutofit lnSpcReduction="10000"/>
          </a:bodyPr>
          <a:lstStyle/>
          <a:p>
            <a:pPr marL="0" indent="0">
              <a:buNone/>
            </a:pPr>
            <a:r>
              <a:rPr lang="en-US" sz="1600" b="1" i="1" dirty="0">
                <a:latin typeface="Arial" panose="020B0604020202020204" pitchFamily="34" charset="0"/>
                <a:cs typeface="Arial" panose="020B0604020202020204" pitchFamily="34" charset="0"/>
              </a:rPr>
              <a:t>Interrupt-drive I/O Cycle</a:t>
            </a:r>
          </a:p>
        </p:txBody>
      </p:sp>
    </p:spTree>
    <p:custDataLst>
      <p:tags r:id="rId1"/>
    </p:custDataLst>
    <p:extLst>
      <p:ext uri="{BB962C8B-B14F-4D97-AF65-F5344CB8AC3E}">
        <p14:creationId xmlns:p14="http://schemas.microsoft.com/office/powerpoint/2010/main" val="2250875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Handling Interrupts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75817" cy="485072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What happens if while handling an interrupt, another interrupt triggers?</a:t>
            </a:r>
          </a:p>
          <a:p>
            <a:pPr algn="just">
              <a:spcBef>
                <a:spcPts val="1200"/>
              </a:spcBef>
            </a:pPr>
            <a:r>
              <a:rPr lang="en-US" dirty="0">
                <a:latin typeface="Arial" panose="020B0604020202020204" pitchFamily="34" charset="0"/>
                <a:cs typeface="Arial" panose="020B0604020202020204" pitchFamily="34" charset="0"/>
              </a:rPr>
              <a:t>It can be handled using two approaches </a:t>
            </a:r>
          </a:p>
          <a:p>
            <a:pPr lvl="1" algn="just">
              <a:spcBef>
                <a:spcPts val="0"/>
              </a:spcBef>
            </a:pPr>
            <a:r>
              <a:rPr lang="en-US" dirty="0">
                <a:latin typeface="Arial" panose="020B0604020202020204" pitchFamily="34" charset="0"/>
                <a:cs typeface="Arial" panose="020B0604020202020204" pitchFamily="34" charset="0"/>
              </a:rPr>
              <a:t>Sequential approach</a:t>
            </a:r>
          </a:p>
          <a:p>
            <a:pPr lvl="1" algn="just">
              <a:spcBef>
                <a:spcPts val="0"/>
              </a:spcBef>
            </a:pPr>
            <a:r>
              <a:rPr lang="en-US" dirty="0">
                <a:latin typeface="Arial" panose="020B0604020202020204" pitchFamily="34" charset="0"/>
                <a:cs typeface="Arial" panose="020B0604020202020204" pitchFamily="34" charset="0"/>
              </a:rPr>
              <a:t>Nested approach</a:t>
            </a:r>
          </a:p>
          <a:p>
            <a:pPr algn="just">
              <a:spcBef>
                <a:spcPts val="1200"/>
              </a:spcBef>
            </a:pPr>
            <a:endParaRPr lang="en-US"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817A48D-9A20-F796-9087-9C1A04F541AE}"/>
              </a:ext>
            </a:extLst>
          </p:cNvPr>
          <p:cNvPicPr>
            <a:picLocks noChangeAspect="1"/>
          </p:cNvPicPr>
          <p:nvPr/>
        </p:nvPicPr>
        <p:blipFill>
          <a:blip r:embed="rId4"/>
          <a:stretch>
            <a:fillRect/>
          </a:stretch>
        </p:blipFill>
        <p:spPr>
          <a:xfrm>
            <a:off x="1395896" y="3429000"/>
            <a:ext cx="4050652" cy="2743200"/>
          </a:xfrm>
          <a:prstGeom prst="rect">
            <a:avLst/>
          </a:prstGeom>
        </p:spPr>
      </p:pic>
      <p:pic>
        <p:nvPicPr>
          <p:cNvPr id="9" name="Picture 8">
            <a:extLst>
              <a:ext uri="{FF2B5EF4-FFF2-40B4-BE49-F238E27FC236}">
                <a16:creationId xmlns:a16="http://schemas.microsoft.com/office/drawing/2014/main" id="{C0D45E9D-FDAF-4D30-0436-638EE6B20D1E}"/>
              </a:ext>
            </a:extLst>
          </p:cNvPr>
          <p:cNvPicPr>
            <a:picLocks noChangeAspect="1"/>
          </p:cNvPicPr>
          <p:nvPr/>
        </p:nvPicPr>
        <p:blipFill>
          <a:blip r:embed="rId5"/>
          <a:stretch>
            <a:fillRect/>
          </a:stretch>
        </p:blipFill>
        <p:spPr>
          <a:xfrm>
            <a:off x="6210293" y="3429000"/>
            <a:ext cx="4050652" cy="2743200"/>
          </a:xfrm>
          <a:prstGeom prst="rect">
            <a:avLst/>
          </a:prstGeom>
        </p:spPr>
      </p:pic>
      <p:sp>
        <p:nvSpPr>
          <p:cNvPr id="10" name="Content Placeholder 2">
            <a:extLst>
              <a:ext uri="{FF2B5EF4-FFF2-40B4-BE49-F238E27FC236}">
                <a16:creationId xmlns:a16="http://schemas.microsoft.com/office/drawing/2014/main" id="{835E0F13-DAEB-A3F2-2D62-E4BFB5AC00DF}"/>
              </a:ext>
            </a:extLst>
          </p:cNvPr>
          <p:cNvSpPr>
            <a:spLocks noGrp="1"/>
          </p:cNvSpPr>
          <p:nvPr>
            <p:ph idx="1"/>
          </p:nvPr>
        </p:nvSpPr>
        <p:spPr>
          <a:xfrm>
            <a:off x="1980966" y="6315114"/>
            <a:ext cx="7909794" cy="480543"/>
          </a:xfrm>
        </p:spPr>
        <p:txBody>
          <a:bodyPr>
            <a:normAutofit/>
          </a:bodyPr>
          <a:lstStyle/>
          <a:p>
            <a:pPr marL="0" indent="0">
              <a:buNone/>
            </a:pPr>
            <a:r>
              <a:rPr lang="en-US" sz="1400" b="1" dirty="0">
                <a:latin typeface="Arial" panose="020B0604020202020204" pitchFamily="34" charset="0"/>
                <a:cs typeface="Arial" panose="020B0604020202020204" pitchFamily="34" charset="0"/>
              </a:rPr>
              <a:t>(a) Sequential Interrupt Processing	 	   (b) Nested Interrupt Processing</a:t>
            </a:r>
          </a:p>
          <a:p>
            <a:pPr marL="0" indent="0">
              <a:buNone/>
            </a:pPr>
            <a:endParaRPr lang="en-US" sz="1400" b="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49095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I/O Structure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569248" cy="522891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lgn="just">
              <a:spcBef>
                <a:spcPts val="0"/>
              </a:spcBef>
              <a:buNone/>
            </a:pPr>
            <a:r>
              <a:rPr lang="en-US" dirty="0">
                <a:latin typeface="Arial" panose="020B0604020202020204" pitchFamily="34" charset="0"/>
                <a:cs typeface="Arial" panose="020B0604020202020204" pitchFamily="34" charset="0"/>
              </a:rPr>
              <a:t>Two methods for handling I/O</a:t>
            </a:r>
          </a:p>
          <a:p>
            <a:pPr algn="just">
              <a:spcBef>
                <a:spcPts val="0"/>
              </a:spcBef>
            </a:pPr>
            <a:r>
              <a:rPr lang="en-US" dirty="0">
                <a:latin typeface="Arial" panose="020B0604020202020204" pitchFamily="34" charset="0"/>
                <a:cs typeface="Arial" panose="020B0604020202020204" pitchFamily="34" charset="0"/>
              </a:rPr>
              <a:t>After I/O starts, control returns to user program only upon I/O completion</a:t>
            </a:r>
          </a:p>
          <a:p>
            <a:pPr lvl="1" algn="just"/>
            <a:r>
              <a:rPr lang="en-US" dirty="0">
                <a:latin typeface="Arial" panose="020B0604020202020204" pitchFamily="34" charset="0"/>
                <a:cs typeface="Arial" panose="020B0604020202020204" pitchFamily="34" charset="0"/>
              </a:rPr>
              <a:t>Wait instruction idles the CPU until the next interrupt</a:t>
            </a:r>
          </a:p>
          <a:p>
            <a:pPr lvl="1" algn="just"/>
            <a:r>
              <a:rPr lang="en-US" dirty="0">
                <a:latin typeface="Arial" panose="020B0604020202020204" pitchFamily="34" charset="0"/>
                <a:cs typeface="Arial" panose="020B0604020202020204" pitchFamily="34" charset="0"/>
              </a:rPr>
              <a:t>Wait loop (contention for memory access)</a:t>
            </a:r>
          </a:p>
          <a:p>
            <a:pPr lvl="1" algn="just"/>
            <a:r>
              <a:rPr lang="en-US" dirty="0">
                <a:latin typeface="Arial" panose="020B0604020202020204" pitchFamily="34" charset="0"/>
                <a:cs typeface="Arial" panose="020B0604020202020204" pitchFamily="34" charset="0"/>
              </a:rPr>
              <a:t>At most one I/O request is outstanding at a time, no simultaneous I/O processing</a:t>
            </a:r>
          </a:p>
          <a:p>
            <a:pPr algn="just">
              <a:spcBef>
                <a:spcPts val="0"/>
              </a:spcBef>
            </a:pPr>
            <a:endParaRPr lang="en-US" dirty="0">
              <a:latin typeface="Arial" panose="020B0604020202020204" pitchFamily="34" charset="0"/>
              <a:cs typeface="Arial" panose="020B0604020202020204" pitchFamily="34" charset="0"/>
            </a:endParaRPr>
          </a:p>
          <a:p>
            <a:pPr algn="just">
              <a:spcBef>
                <a:spcPts val="0"/>
              </a:spcBef>
            </a:pPr>
            <a:r>
              <a:rPr lang="en-US" dirty="0">
                <a:latin typeface="Arial" panose="020B0604020202020204" pitchFamily="34" charset="0"/>
                <a:cs typeface="Arial" panose="020B0604020202020204" pitchFamily="34" charset="0"/>
              </a:rPr>
              <a:t>After I/O starts, control returns to user program without waiting for I/O completion</a:t>
            </a:r>
          </a:p>
          <a:p>
            <a:pPr lvl="1" algn="just"/>
            <a:r>
              <a:rPr lang="en-US" b="1" dirty="0">
                <a:solidFill>
                  <a:srgbClr val="FF0000"/>
                </a:solidFill>
                <a:latin typeface="Arial" panose="020B0604020202020204" pitchFamily="34" charset="0"/>
                <a:cs typeface="Arial" panose="020B0604020202020204" pitchFamily="34" charset="0"/>
              </a:rPr>
              <a:t>System call</a:t>
            </a:r>
            <a:r>
              <a:rPr lang="en-US" dirty="0">
                <a:latin typeface="Arial" panose="020B0604020202020204" pitchFamily="34" charset="0"/>
                <a:cs typeface="Arial" panose="020B0604020202020204" pitchFamily="34" charset="0"/>
              </a:rPr>
              <a:t> – request to the OS to allow user to wait for I/O completion</a:t>
            </a:r>
          </a:p>
          <a:p>
            <a:pPr lvl="1" algn="just"/>
            <a:r>
              <a:rPr lang="en-US" b="1" dirty="0">
                <a:solidFill>
                  <a:srgbClr val="FF0000"/>
                </a:solidFill>
                <a:latin typeface="Arial" panose="020B0604020202020204" pitchFamily="34" charset="0"/>
                <a:cs typeface="Arial" panose="020B0604020202020204" pitchFamily="34" charset="0"/>
              </a:rPr>
              <a:t>Device-status table </a:t>
            </a:r>
            <a:r>
              <a:rPr lang="en-US" dirty="0">
                <a:latin typeface="Arial" panose="020B0604020202020204" pitchFamily="34" charset="0"/>
                <a:cs typeface="Arial" panose="020B0604020202020204" pitchFamily="34" charset="0"/>
              </a:rPr>
              <a:t>contains entry for each I/O device indicating its type, address, and state</a:t>
            </a:r>
          </a:p>
          <a:p>
            <a:pPr lvl="1" algn="just"/>
            <a:r>
              <a:rPr lang="en-US" dirty="0">
                <a:latin typeface="Arial" panose="020B0604020202020204" pitchFamily="34" charset="0"/>
                <a:cs typeface="Arial" panose="020B0604020202020204" pitchFamily="34" charset="0"/>
              </a:rPr>
              <a:t>OS indexes into I/O device table to determine device status and to modify table entry to include interrupt</a:t>
            </a:r>
          </a:p>
        </p:txBody>
      </p:sp>
    </p:spTree>
    <p:custDataLst>
      <p:tags r:id="rId1"/>
    </p:custDataLst>
    <p:extLst>
      <p:ext uri="{BB962C8B-B14F-4D97-AF65-F5344CB8AC3E}">
        <p14:creationId xmlns:p14="http://schemas.microsoft.com/office/powerpoint/2010/main" val="405531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Startup/ Bootstrap Process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3408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BIOS</a:t>
            </a:r>
            <a:r>
              <a:rPr lang="en-US" dirty="0">
                <a:latin typeface="Arial" panose="020B0604020202020204" pitchFamily="34" charset="0"/>
                <a:cs typeface="Arial" panose="020B0604020202020204" pitchFamily="34" charset="0"/>
              </a:rPr>
              <a:t> is a firmware that is pre-installed in a ROM chip on the motherboard and is the first code that runs when a computer is powered on.</a:t>
            </a:r>
          </a:p>
          <a:p>
            <a:pPr lvl="1" algn="just"/>
            <a:r>
              <a:rPr lang="en-US" b="1" dirty="0">
                <a:latin typeface="Arial" panose="020B0604020202020204" pitchFamily="34" charset="0"/>
                <a:cs typeface="Arial" panose="020B0604020202020204" pitchFamily="34" charset="0"/>
              </a:rPr>
              <a:t>Hardware Initialization:</a:t>
            </a:r>
            <a:r>
              <a:rPr lang="en-US" dirty="0">
                <a:latin typeface="Arial" panose="020B0604020202020204" pitchFamily="34" charset="0"/>
                <a:cs typeface="Arial" panose="020B0604020202020204" pitchFamily="34" charset="0"/>
              </a:rPr>
              <a:t> BIOS checks the health of system hardware components such as keyboard, RAM, and storage devices to ensure they are functioning correctly and initializes system components like the CPU, memory, and storage.</a:t>
            </a:r>
          </a:p>
          <a:p>
            <a:pPr lvl="1" algn="just"/>
            <a:r>
              <a:rPr lang="en-US" b="1" dirty="0">
                <a:latin typeface="Arial" panose="020B0604020202020204" pitchFamily="34" charset="0"/>
                <a:cs typeface="Arial" panose="020B0604020202020204" pitchFamily="34" charset="0"/>
              </a:rPr>
              <a:t>Firmware Interface:</a:t>
            </a:r>
            <a:r>
              <a:rPr lang="en-US" dirty="0">
                <a:latin typeface="Arial" panose="020B0604020202020204" pitchFamily="34" charset="0"/>
                <a:cs typeface="Arial" panose="020B0604020202020204" pitchFamily="34" charset="0"/>
              </a:rPr>
              <a:t> BIOS provides an interface between the computer’s hardware and the OS</a:t>
            </a:r>
          </a:p>
          <a:p>
            <a:pPr lvl="1" algn="just"/>
            <a:r>
              <a:rPr lang="en-US" b="1" dirty="0">
                <a:latin typeface="Arial" panose="020B0604020202020204" pitchFamily="34" charset="0"/>
                <a:cs typeface="Arial" panose="020B0604020202020204" pitchFamily="34" charset="0"/>
              </a:rPr>
              <a:t>Boot Process: </a:t>
            </a:r>
            <a:r>
              <a:rPr lang="en-US" dirty="0">
                <a:latin typeface="Arial" panose="020B0604020202020204" pitchFamily="34" charset="0"/>
                <a:cs typeface="Arial" panose="020B0604020202020204" pitchFamily="34" charset="0"/>
              </a:rPr>
              <a:t>After hardware is initialized and tested, BIOS locates and executes the </a:t>
            </a:r>
            <a:r>
              <a:rPr lang="en-US" b="1" dirty="0">
                <a:solidFill>
                  <a:srgbClr val="FF0000"/>
                </a:solidFill>
                <a:latin typeface="Arial" panose="020B0604020202020204" pitchFamily="34" charset="0"/>
                <a:cs typeface="Arial" panose="020B0604020202020204" pitchFamily="34" charset="0"/>
              </a:rPr>
              <a:t>bootloader</a:t>
            </a:r>
            <a:r>
              <a:rPr lang="en-US" dirty="0">
                <a:latin typeface="Arial" panose="020B0604020202020204" pitchFamily="34" charset="0"/>
                <a:cs typeface="Arial" panose="020B0604020202020204" pitchFamily="34" charset="0"/>
              </a:rPr>
              <a:t> from a bootable device to hand off control to the OS bootloader.</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BIOS has largely been replaced by UEFI (Unified Extensible Firmware Interface) in modern systems, which offers more features and capabilities such as a graphical user interface, faster boot times, and support for larger hard drives.</a:t>
            </a:r>
          </a:p>
          <a:p>
            <a:pPr algn="just"/>
            <a:endParaRPr lang="en-US" dirty="0">
              <a:latin typeface="Arial" panose="020B0604020202020204" pitchFamily="34" charset="0"/>
              <a:cs typeface="Arial" panose="020B0604020202020204" pitchFamily="34" charset="0"/>
            </a:endParaRPr>
          </a:p>
          <a:p>
            <a:pPr marL="114300" indent="0" algn="just">
              <a:buNone/>
            </a:pP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466068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Startup/ Bootstrap Process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3408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During hardware initialization, BIOS checks for the presence of bootable storage device and searches for the OS bootloader on it.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bootable storage device is not found, “No boot device available” message is displayed.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a storage device is found but OS bootloader is not located, “Insert System Disk” message is displayed.</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Question:</a:t>
            </a:r>
            <a:r>
              <a:rPr lang="en-US" dirty="0">
                <a:latin typeface="Arial" panose="020B0604020202020204" pitchFamily="34" charset="0"/>
                <a:cs typeface="Arial" panose="020B0604020202020204" pitchFamily="34" charset="0"/>
              </a:rPr>
              <a:t> If storage device is not found, where do the messages that appear on the screen come from? There must be some storage that contain these messages?</a:t>
            </a:r>
          </a:p>
          <a:p>
            <a:pPr marL="114300" indent="0" algn="just">
              <a:buNone/>
            </a:pPr>
            <a:endParaRPr lang="en-US" dirty="0">
              <a:latin typeface="Arial" panose="020B0604020202020204" pitchFamily="34" charset="0"/>
              <a:cs typeface="Arial" panose="020B0604020202020204" pitchFamily="34" charset="0"/>
            </a:endParaRPr>
          </a:p>
          <a:p>
            <a:pPr marL="114300" indent="0" algn="just">
              <a:buNone/>
            </a:pP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858384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Startup/ Bootstrap Process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Bootloader </a:t>
            </a:r>
            <a:r>
              <a:rPr lang="en-US" dirty="0">
                <a:latin typeface="Arial" panose="020B0604020202020204" pitchFamily="34" charset="0"/>
                <a:cs typeface="Arial" panose="020B0604020202020204" pitchFamily="34" charset="0"/>
              </a:rPr>
              <a:t>is a specific program that loads the OS into memory at starts it and is executed after the BIOS has completed its tasks.</a:t>
            </a:r>
          </a:p>
          <a:p>
            <a:pPr lvl="1" algn="just"/>
            <a:r>
              <a:rPr lang="en-US" dirty="0">
                <a:latin typeface="Arial" panose="020B0604020202020204" pitchFamily="34" charset="0"/>
                <a:cs typeface="Arial" panose="020B0604020202020204" pitchFamily="34" charset="0"/>
              </a:rPr>
              <a:t>Locates OS kernel on a storage device, loads it into RAM and passes control to it</a:t>
            </a:r>
          </a:p>
          <a:p>
            <a:pPr lvl="1" algn="just"/>
            <a:r>
              <a:rPr lang="en-US" dirty="0">
                <a:latin typeface="Arial" panose="020B0604020202020204" pitchFamily="34" charset="0"/>
                <a:cs typeface="Arial" panose="020B0604020202020204" pitchFamily="34" charset="0"/>
              </a:rPr>
              <a:t>Stored in </a:t>
            </a:r>
            <a:r>
              <a:rPr lang="en-US" b="1" dirty="0">
                <a:latin typeface="Arial" panose="020B0604020202020204" pitchFamily="34" charset="0"/>
                <a:cs typeface="Arial" panose="020B0604020202020204" pitchFamily="34" charset="0"/>
              </a:rPr>
              <a:t>Master Boot Record (MBR)</a:t>
            </a:r>
            <a:r>
              <a:rPr lang="en-US" dirty="0">
                <a:latin typeface="Arial" panose="020B0604020202020204" pitchFamily="34" charset="0"/>
                <a:cs typeface="Arial" panose="020B0604020202020204" pitchFamily="34" charset="0"/>
              </a:rPr>
              <a:t> which is the first 512 bytes of storage device</a:t>
            </a:r>
          </a:p>
          <a:p>
            <a:pPr lvl="1" algn="just"/>
            <a:r>
              <a:rPr lang="en-US" dirty="0">
                <a:latin typeface="Arial" panose="020B0604020202020204" pitchFamily="34" charset="0"/>
                <a:cs typeface="Arial" panose="020B0604020202020204" pitchFamily="34" charset="0"/>
              </a:rPr>
              <a:t>Initial part contains enough code to load more complex secondary bootloader stage to complete the boot process.</a:t>
            </a:r>
          </a:p>
          <a:p>
            <a:pPr lvl="1" algn="just"/>
            <a:r>
              <a:rPr lang="en-US" dirty="0">
                <a:latin typeface="Arial" panose="020B0604020202020204" pitchFamily="34" charset="0"/>
                <a:cs typeface="Arial" panose="020B0604020202020204" pitchFamily="34" charset="0"/>
              </a:rPr>
              <a:t>Secondary stage is typically stored elsewhere on the storage device within the partition the OS resides.</a:t>
            </a:r>
          </a:p>
          <a:p>
            <a:pPr lvl="1" algn="just"/>
            <a:r>
              <a:rPr lang="en-US" dirty="0">
                <a:latin typeface="Arial" panose="020B0604020202020204" pitchFamily="34" charset="0"/>
                <a:cs typeface="Arial" panose="020B0604020202020204" pitchFamily="34" charset="0"/>
              </a:rPr>
              <a:t>Can be configured to handle multiple operating systems and specific boot parameters.</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851832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Storage Definition and Notation Review</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Bit: </a:t>
            </a:r>
            <a:r>
              <a:rPr lang="en-US" dirty="0">
                <a:latin typeface="Arial" panose="020B0604020202020204" pitchFamily="34" charset="0"/>
                <a:cs typeface="Arial" panose="020B0604020202020204" pitchFamily="34" charset="0"/>
              </a:rPr>
              <a:t>Basic unit of computer storage containing values 0 and 1. All storage in a computer is based on collection of bits.</a:t>
            </a:r>
          </a:p>
          <a:p>
            <a:pPr algn="just"/>
            <a:endParaRPr lang="en-US" sz="11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Byte: </a:t>
            </a:r>
            <a:r>
              <a:rPr lang="en-US" dirty="0">
                <a:latin typeface="Arial" panose="020B0604020202020204" pitchFamily="34" charset="0"/>
                <a:cs typeface="Arial" panose="020B0604020202020204" pitchFamily="34" charset="0"/>
              </a:rPr>
              <a:t>Group of 8 bits and on most computers, it is the smallest convenient chunk of storage; e.g., computer instruction to move a byte rather than a bit. It represents a character or a number.</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Word: </a:t>
            </a:r>
            <a:r>
              <a:rPr lang="en-US" dirty="0">
                <a:latin typeface="Arial" panose="020B0604020202020204" pitchFamily="34" charset="0"/>
                <a:cs typeface="Arial" panose="020B0604020202020204" pitchFamily="34" charset="0"/>
              </a:rPr>
              <a:t>Natural unit of data used by a particular processor design </a:t>
            </a:r>
          </a:p>
          <a:p>
            <a:pPr lvl="1" algn="just"/>
            <a:r>
              <a:rPr lang="en-US" dirty="0">
                <a:latin typeface="Arial" panose="020B0604020202020204" pitchFamily="34" charset="0"/>
                <a:cs typeface="Arial" panose="020B0604020202020204" pitchFamily="34" charset="0"/>
              </a:rPr>
              <a:t>usually 16, 32, or 64 bits</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Computer storage is generally measured and manipulated in bytes and collections of bytes. A </a:t>
            </a:r>
            <a:r>
              <a:rPr lang="en-US" b="1" dirty="0">
                <a:solidFill>
                  <a:srgbClr val="FF0000"/>
                </a:solidFill>
                <a:latin typeface="Arial" panose="020B0604020202020204" pitchFamily="34" charset="0"/>
                <a:cs typeface="Arial" panose="020B0604020202020204" pitchFamily="34" charset="0"/>
              </a:rPr>
              <a:t>kilobyte</a:t>
            </a:r>
            <a:r>
              <a:rPr lang="en-US" dirty="0">
                <a:latin typeface="Arial" panose="020B0604020202020204" pitchFamily="34" charset="0"/>
                <a:cs typeface="Arial" panose="020B0604020202020204" pitchFamily="34" charset="0"/>
              </a:rPr>
              <a:t> (KB) is 1024 bytes; a </a:t>
            </a:r>
            <a:r>
              <a:rPr lang="en-US" b="1" dirty="0">
                <a:solidFill>
                  <a:srgbClr val="FF0000"/>
                </a:solidFill>
                <a:latin typeface="Arial" panose="020B0604020202020204" pitchFamily="34" charset="0"/>
                <a:cs typeface="Arial" panose="020B0604020202020204" pitchFamily="34" charset="0"/>
              </a:rPr>
              <a:t>megabyte</a:t>
            </a:r>
            <a:r>
              <a:rPr lang="en-US" dirty="0">
                <a:latin typeface="Arial" panose="020B0604020202020204" pitchFamily="34" charset="0"/>
                <a:cs typeface="Arial" panose="020B0604020202020204" pitchFamily="34" charset="0"/>
              </a:rPr>
              <a:t> (MB) is 1,024</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bytes etc.</a:t>
            </a:r>
            <a:endParaRPr lang="en-US" baseline="300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328855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Storage Structure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551664"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Main Memory: </a:t>
            </a:r>
            <a:r>
              <a:rPr lang="en-US" dirty="0">
                <a:latin typeface="Arial" panose="020B0604020202020204" pitchFamily="34" charset="0"/>
                <a:cs typeface="Arial" panose="020B0604020202020204" pitchFamily="34" charset="0"/>
              </a:rPr>
              <a:t>Only large storage media that the CPU can access directly</a:t>
            </a:r>
          </a:p>
          <a:p>
            <a:pPr lvl="1" algn="just"/>
            <a:r>
              <a:rPr lang="en-US" b="1" dirty="0">
                <a:solidFill>
                  <a:srgbClr val="FF0000"/>
                </a:solidFill>
                <a:latin typeface="Arial" panose="020B0604020202020204" pitchFamily="34" charset="0"/>
                <a:cs typeface="Arial" panose="020B0604020202020204" pitchFamily="34" charset="0"/>
              </a:rPr>
              <a:t>Random-access memory </a:t>
            </a:r>
            <a:r>
              <a:rPr lang="en-US" dirty="0">
                <a:latin typeface="Arial" panose="020B0604020202020204" pitchFamily="34" charset="0"/>
                <a:cs typeface="Arial" panose="020B0604020202020204" pitchFamily="34" charset="0"/>
              </a:rPr>
              <a:t>in form of </a:t>
            </a:r>
            <a:r>
              <a:rPr lang="en-US" b="1" dirty="0">
                <a:solidFill>
                  <a:srgbClr val="FF0000"/>
                </a:solidFill>
                <a:latin typeface="Arial" panose="020B0604020202020204" pitchFamily="34" charset="0"/>
                <a:cs typeface="Arial" panose="020B0604020202020204" pitchFamily="34" charset="0"/>
              </a:rPr>
              <a:t>Dynamic Random-access Memory (DRAM)</a:t>
            </a:r>
          </a:p>
          <a:p>
            <a:pPr lvl="1" algn="just"/>
            <a:r>
              <a:rPr lang="en-US" b="1" dirty="0">
                <a:solidFill>
                  <a:srgbClr val="FF0000"/>
                </a:solidFill>
                <a:latin typeface="Arial" panose="020B0604020202020204" pitchFamily="34" charset="0"/>
                <a:cs typeface="Arial" panose="020B0604020202020204" pitchFamily="34" charset="0"/>
              </a:rPr>
              <a:t>Volatile</a:t>
            </a:r>
          </a:p>
          <a:p>
            <a:pPr algn="just"/>
            <a:endParaRPr lang="en-US" sz="11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Secondary Storage: </a:t>
            </a:r>
            <a:r>
              <a:rPr lang="en-US" dirty="0">
                <a:latin typeface="Arial" panose="020B0604020202020204" pitchFamily="34" charset="0"/>
                <a:cs typeface="Arial" panose="020B0604020202020204" pitchFamily="34" charset="0"/>
              </a:rPr>
              <a:t>Extension of main memory that provides large </a:t>
            </a:r>
            <a:r>
              <a:rPr lang="en-US" b="1" dirty="0">
                <a:solidFill>
                  <a:srgbClr val="FF0000"/>
                </a:solidFill>
                <a:latin typeface="Arial" panose="020B0604020202020204" pitchFamily="34" charset="0"/>
                <a:cs typeface="Arial" panose="020B0604020202020204" pitchFamily="34" charset="0"/>
              </a:rPr>
              <a:t>nonvolatile</a:t>
            </a:r>
            <a:r>
              <a:rPr lang="en-US" dirty="0">
                <a:latin typeface="Arial" panose="020B0604020202020204" pitchFamily="34" charset="0"/>
                <a:cs typeface="Arial" panose="020B0604020202020204" pitchFamily="34" charset="0"/>
              </a:rPr>
              <a:t> storage capacity</a:t>
            </a:r>
          </a:p>
          <a:p>
            <a:pPr lvl="1" algn="just"/>
            <a:r>
              <a:rPr lang="en-US" b="1" dirty="0">
                <a:solidFill>
                  <a:srgbClr val="FF0000"/>
                </a:solidFill>
                <a:latin typeface="Arial" panose="020B0604020202020204" pitchFamily="34" charset="0"/>
                <a:cs typeface="Arial" panose="020B0604020202020204" pitchFamily="34" charset="0"/>
              </a:rPr>
              <a:t>Hard Disk Drive (HDD):</a:t>
            </a:r>
            <a:r>
              <a:rPr lang="en-US" dirty="0">
                <a:latin typeface="Arial" panose="020B0604020202020204" pitchFamily="34" charset="0"/>
                <a:cs typeface="Arial" panose="020B0604020202020204" pitchFamily="34" charset="0"/>
              </a:rPr>
              <a:t> Rigid metal or glass platters covered with magnetic recording material. </a:t>
            </a:r>
          </a:p>
          <a:p>
            <a:pPr lvl="2" algn="just"/>
            <a:r>
              <a:rPr lang="en-US" dirty="0">
                <a:latin typeface="Arial" panose="020B0604020202020204" pitchFamily="34" charset="0"/>
                <a:cs typeface="Arial" panose="020B0604020202020204" pitchFamily="34" charset="0"/>
              </a:rPr>
              <a:t>Disk surface is logically divided into </a:t>
            </a:r>
            <a:r>
              <a:rPr lang="en-US" b="1" dirty="0">
                <a:solidFill>
                  <a:srgbClr val="FF0000"/>
                </a:solidFill>
                <a:latin typeface="Arial" panose="020B0604020202020204" pitchFamily="34" charset="0"/>
                <a:cs typeface="Arial" panose="020B0604020202020204" pitchFamily="34" charset="0"/>
              </a:rPr>
              <a:t>tracks</a:t>
            </a:r>
            <a:r>
              <a:rPr lang="en-US" dirty="0">
                <a:latin typeface="Arial" panose="020B0604020202020204" pitchFamily="34" charset="0"/>
                <a:cs typeface="Arial" panose="020B0604020202020204" pitchFamily="34" charset="0"/>
              </a:rPr>
              <a:t>, which are subdivided into </a:t>
            </a:r>
            <a:r>
              <a:rPr lang="en-US" b="1" dirty="0">
                <a:solidFill>
                  <a:srgbClr val="FF0000"/>
                </a:solidFill>
                <a:latin typeface="Arial" panose="020B0604020202020204" pitchFamily="34" charset="0"/>
                <a:cs typeface="Arial" panose="020B0604020202020204" pitchFamily="34" charset="0"/>
              </a:rPr>
              <a:t>sectors</a:t>
            </a:r>
            <a:r>
              <a:rPr lang="en-US" dirty="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The </a:t>
            </a:r>
            <a:r>
              <a:rPr lang="en-US" b="1" dirty="0">
                <a:solidFill>
                  <a:srgbClr val="FF0000"/>
                </a:solidFill>
                <a:latin typeface="Arial" panose="020B0604020202020204" pitchFamily="34" charset="0"/>
                <a:cs typeface="Arial" panose="020B0604020202020204" pitchFamily="34" charset="0"/>
              </a:rPr>
              <a:t>disk controller</a:t>
            </a:r>
            <a:r>
              <a:rPr lang="en-US" dirty="0">
                <a:latin typeface="Arial" panose="020B0604020202020204" pitchFamily="34" charset="0"/>
                <a:cs typeface="Arial" panose="020B0604020202020204" pitchFamily="34" charset="0"/>
              </a:rPr>
              <a:t> determines the logical interaction between the device and the computer.</a:t>
            </a:r>
          </a:p>
          <a:p>
            <a:pPr lvl="1" algn="just"/>
            <a:r>
              <a:rPr lang="en-US" b="1" dirty="0">
                <a:solidFill>
                  <a:srgbClr val="FF0000"/>
                </a:solidFill>
                <a:latin typeface="Arial" panose="020B0604020202020204" pitchFamily="34" charset="0"/>
                <a:cs typeface="Arial" panose="020B0604020202020204" pitchFamily="34" charset="0"/>
              </a:rPr>
              <a:t>Non-volatile memory (NVM): </a:t>
            </a:r>
            <a:r>
              <a:rPr lang="en-US" dirty="0">
                <a:latin typeface="Arial" panose="020B0604020202020204" pitchFamily="34" charset="0"/>
                <a:cs typeface="Arial" panose="020B0604020202020204" pitchFamily="34" charset="0"/>
              </a:rPr>
              <a:t>Non-volatile devices faster than HDD. Uses flash memory to store data.</a:t>
            </a:r>
          </a:p>
          <a:p>
            <a:pPr lvl="2" algn="just"/>
            <a:r>
              <a:rPr lang="en-US" dirty="0">
                <a:latin typeface="Arial" panose="020B0604020202020204" pitchFamily="34" charset="0"/>
                <a:cs typeface="Arial" panose="020B0604020202020204" pitchFamily="34" charset="0"/>
              </a:rPr>
              <a:t>Various technologies</a:t>
            </a:r>
          </a:p>
          <a:p>
            <a:pPr lvl="2" algn="just"/>
            <a:r>
              <a:rPr lang="en-US" dirty="0">
                <a:latin typeface="Arial" panose="020B0604020202020204" pitchFamily="34" charset="0"/>
                <a:cs typeface="Arial" panose="020B0604020202020204" pitchFamily="34" charset="0"/>
              </a:rPr>
              <a:t>Becoming more popular as capacity and performance increases, price drops</a:t>
            </a:r>
          </a:p>
          <a:p>
            <a:pPr lvl="2"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97605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Storage Hierarchy</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446155" cy="2358835"/>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Storage systems organized in hierarchy</a:t>
            </a:r>
          </a:p>
          <a:p>
            <a:pPr lvl="1" algn="just"/>
            <a:r>
              <a:rPr lang="en-US" dirty="0">
                <a:latin typeface="Arial" panose="020B0604020202020204" pitchFamily="34" charset="0"/>
                <a:cs typeface="Arial" panose="020B0604020202020204" pitchFamily="34" charset="0"/>
              </a:rPr>
              <a:t>Speed, cost, volatility</a:t>
            </a:r>
          </a:p>
          <a:p>
            <a:pPr lvl="1" algn="just"/>
            <a:endParaRPr lang="en-US" sz="11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Registers</a:t>
            </a:r>
            <a:r>
              <a:rPr lang="en-US" dirty="0">
                <a:latin typeface="Arial" panose="020B0604020202020204" pitchFamily="34" charset="0"/>
                <a:cs typeface="Arial" panose="020B0604020202020204" pitchFamily="34" charset="0"/>
              </a:rPr>
              <a:t> and </a:t>
            </a:r>
            <a:r>
              <a:rPr lang="en-US" b="1" dirty="0">
                <a:solidFill>
                  <a:srgbClr val="00B050"/>
                </a:solidFill>
                <a:latin typeface="Arial" panose="020B0604020202020204" pitchFamily="34" charset="0"/>
                <a:cs typeface="Arial" panose="020B0604020202020204" pitchFamily="34" charset="0"/>
              </a:rPr>
              <a:t>cache</a:t>
            </a:r>
            <a:r>
              <a:rPr lang="en-US" dirty="0">
                <a:latin typeface="Arial" panose="020B0604020202020204" pitchFamily="34" charset="0"/>
                <a:cs typeface="Arial" panose="020B0604020202020204" pitchFamily="34" charset="0"/>
              </a:rPr>
              <a:t> are high-speed memory used to store data temporarily for quick access. Registers are located within the CPU itself. Cache memory may be part of the CPU chip or on a separate chip close to the CPU.</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94" y="3671396"/>
            <a:ext cx="5285526" cy="306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8DB0AAFE-DE40-ADF0-283D-E55686C6D8D1}"/>
              </a:ext>
            </a:extLst>
          </p:cNvPr>
          <p:cNvSpPr txBox="1">
            <a:spLocks noChangeArrowheads="1"/>
          </p:cNvSpPr>
          <p:nvPr/>
        </p:nvSpPr>
        <p:spPr>
          <a:xfrm>
            <a:off x="632153" y="3674195"/>
            <a:ext cx="4615505" cy="2852492"/>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Device Driver</a:t>
            </a:r>
            <a:r>
              <a:rPr lang="en-US" dirty="0">
                <a:latin typeface="Arial" panose="020B0604020202020204" pitchFamily="34" charset="0"/>
                <a:cs typeface="Arial" panose="020B0604020202020204" pitchFamily="34" charset="0"/>
              </a:rPr>
              <a:t> for each device controller to manage I/O</a:t>
            </a:r>
          </a:p>
          <a:p>
            <a:pPr lvl="1" algn="just"/>
            <a:r>
              <a:rPr lang="en-US" dirty="0">
                <a:latin typeface="Arial" panose="020B0604020202020204" pitchFamily="34" charset="0"/>
                <a:cs typeface="Arial" panose="020B0604020202020204" pitchFamily="34" charset="0"/>
              </a:rPr>
              <a:t>Provides uniform interface between controller and kernel</a:t>
            </a:r>
          </a:p>
        </p:txBody>
      </p:sp>
    </p:spTree>
    <p:custDataLst>
      <p:tags r:id="rId1"/>
    </p:custDataLst>
    <p:extLst>
      <p:ext uri="{BB962C8B-B14F-4D97-AF65-F5344CB8AC3E}">
        <p14:creationId xmlns:p14="http://schemas.microsoft.com/office/powerpoint/2010/main" val="3458494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Characteristics of Various Storage Types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pic>
        <p:nvPicPr>
          <p:cNvPr id="4" name="Picture 4">
            <a:extLst>
              <a:ext uri="{FF2B5EF4-FFF2-40B4-BE49-F238E27FC236}">
                <a16:creationId xmlns:a16="http://schemas.microsoft.com/office/drawing/2014/main" id="{F58CA591-38D1-D8BC-81D3-A1DBBEC0E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3" y="1561856"/>
            <a:ext cx="9462599" cy="3972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D54DC801-5F4B-DF61-7039-6FADFDC9E765}"/>
              </a:ext>
            </a:extLst>
          </p:cNvPr>
          <p:cNvSpPr txBox="1"/>
          <p:nvPr/>
        </p:nvSpPr>
        <p:spPr>
          <a:xfrm>
            <a:off x="1521365" y="5680260"/>
            <a:ext cx="8458200" cy="400110"/>
          </a:xfrm>
          <a:prstGeom prst="rect">
            <a:avLst/>
          </a:prstGeom>
          <a:noFill/>
        </p:spPr>
        <p:txBody>
          <a:bodyPr wrap="square">
            <a:spAutoFit/>
          </a:bodyPr>
          <a:lstStyle/>
          <a:p>
            <a:r>
              <a:rPr lang="en-US" sz="2000" dirty="0">
                <a:latin typeface="Arial" panose="020B0604020202020204" pitchFamily="34" charset="0"/>
                <a:ea typeface="ＭＳ Ｐゴシック" charset="0"/>
                <a:cs typeface="Arial" panose="020B0604020202020204" pitchFamily="34" charset="0"/>
              </a:rPr>
              <a:t>Movement between levels of storage hierarchy can be explicit or implicit</a:t>
            </a:r>
            <a:endParaRPr lang="en-US" sz="20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175867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Caching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Caching</a:t>
            </a:r>
            <a:r>
              <a:rPr lang="en-US" dirty="0">
                <a:latin typeface="Arial" panose="020B0604020202020204" pitchFamily="34" charset="0"/>
                <a:cs typeface="Arial" panose="020B0604020202020204" pitchFamily="34" charset="0"/>
              </a:rPr>
              <a:t> – copying information into faster storage system</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Important principle, performed at many levels in a computer (in hardware, operating system, software)</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Information in use copied from slower to faster storage temporarily. main memory can be viewed as a cache for secondary storage</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Faster storage (cache) checked first to determine if information is there</a:t>
            </a:r>
          </a:p>
          <a:p>
            <a:pPr lvl="1" algn="just"/>
            <a:r>
              <a:rPr lang="en-US" dirty="0">
                <a:latin typeface="Arial" panose="020B0604020202020204" pitchFamily="34" charset="0"/>
                <a:cs typeface="Arial" panose="020B0604020202020204" pitchFamily="34" charset="0"/>
              </a:rPr>
              <a:t>If it is, information used directly from the cache (fast)</a:t>
            </a:r>
          </a:p>
          <a:p>
            <a:pPr lvl="1" algn="just"/>
            <a:r>
              <a:rPr lang="en-US" dirty="0">
                <a:latin typeface="Arial" panose="020B0604020202020204" pitchFamily="34" charset="0"/>
                <a:cs typeface="Arial" panose="020B0604020202020204" pitchFamily="34" charset="0"/>
              </a:rPr>
              <a:t>If not, data copied to cache and used there</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Cache smaller than storage being cached</a:t>
            </a:r>
          </a:p>
          <a:p>
            <a:pPr lvl="1" algn="just"/>
            <a:r>
              <a:rPr lang="en-US" dirty="0">
                <a:latin typeface="Arial" panose="020B0604020202020204" pitchFamily="34" charset="0"/>
                <a:cs typeface="Arial" panose="020B0604020202020204" pitchFamily="34" charset="0"/>
              </a:rPr>
              <a:t>Cache management important design problem</a:t>
            </a:r>
          </a:p>
          <a:p>
            <a:pPr lvl="1" algn="just"/>
            <a:r>
              <a:rPr lang="en-US" dirty="0">
                <a:latin typeface="Arial" panose="020B0604020202020204" pitchFamily="34" charset="0"/>
                <a:cs typeface="Arial" panose="020B0604020202020204" pitchFamily="34" charset="0"/>
              </a:rPr>
              <a:t>Cache size and replacement policy</a:t>
            </a:r>
          </a:p>
          <a:p>
            <a:pPr algn="just"/>
            <a:endParaRPr lang="en-US" sz="14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085919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Migration from Disk to Register</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261821" cy="5035482"/>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Multitasking environments must be careful to use most recent value, no matter where it is stored in the storage hierarchy</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Multiprocessor environment must provide </a:t>
            </a:r>
            <a:r>
              <a:rPr lang="en-US" b="1" dirty="0">
                <a:solidFill>
                  <a:srgbClr val="FF0000"/>
                </a:solidFill>
                <a:latin typeface="Arial" panose="020B0604020202020204" pitchFamily="34" charset="0"/>
                <a:cs typeface="Arial" panose="020B0604020202020204" pitchFamily="34" charset="0"/>
              </a:rPr>
              <a:t>cache coherency</a:t>
            </a:r>
            <a:r>
              <a:rPr lang="en-US" dirty="0">
                <a:latin typeface="Arial" panose="020B0604020202020204" pitchFamily="34" charset="0"/>
                <a:cs typeface="Arial" panose="020B0604020202020204" pitchFamily="34" charset="0"/>
              </a:rPr>
              <a:t> in hardware such that all CPUs have the most recent value in their cache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Distributed environment situation even more complex</a:t>
            </a:r>
          </a:p>
          <a:p>
            <a:pPr lvl="1" algn="just"/>
            <a:r>
              <a:rPr lang="en-US" dirty="0">
                <a:latin typeface="Arial" panose="020B0604020202020204" pitchFamily="34" charset="0"/>
                <a:cs typeface="Arial" panose="020B0604020202020204" pitchFamily="34" charset="0"/>
              </a:rPr>
              <a:t>Several copies of a datum can exist</a:t>
            </a:r>
          </a:p>
          <a:p>
            <a:pPr lvl="1" algn="just"/>
            <a:r>
              <a:rPr lang="en-US" dirty="0">
                <a:latin typeface="Arial" panose="020B0604020202020204" pitchFamily="34" charset="0"/>
                <a:cs typeface="Arial" panose="020B0604020202020204" pitchFamily="34" charset="0"/>
              </a:rPr>
              <a:t>Various solutions covered in Chapter 19</a:t>
            </a:r>
          </a:p>
          <a:p>
            <a:pPr marL="114300" indent="0" algn="just">
              <a:buNone/>
            </a:pPr>
            <a:endParaRPr lang="en-US" dirty="0">
              <a:latin typeface="Arial" panose="020B0604020202020204" pitchFamily="34" charset="0"/>
              <a:cs typeface="Arial" panose="020B0604020202020204" pitchFamily="34" charset="0"/>
            </a:endParaRP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610" y="2416364"/>
            <a:ext cx="8257272" cy="1012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63972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How a Modern Computer Works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5645557" cy="522609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Direct Memory Access (DMA)</a:t>
            </a:r>
            <a:r>
              <a:rPr lang="en-US" dirty="0">
                <a:latin typeface="Arial" panose="020B0604020202020204" pitchFamily="34" charset="0"/>
                <a:cs typeface="Arial" panose="020B0604020202020204" pitchFamily="34" charset="0"/>
              </a:rPr>
              <a:t> controller used for high-speed I/O devices able to transmit information at close to memory speeds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Device controller transfers blocks of data from buffer storage directly to main memory without CPU intervention.</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Only one interrupt is generated per block, rather than the one interrupt per byte</a:t>
            </a:r>
          </a:p>
          <a:p>
            <a:pPr algn="just"/>
            <a:endParaRPr lang="en-US" dirty="0">
              <a:latin typeface="Arial" panose="020B0604020202020204" pitchFamily="34" charset="0"/>
              <a:cs typeface="Arial" panose="020B0604020202020204" pitchFamily="34" charset="0"/>
            </a:endParaRPr>
          </a:p>
        </p:txBody>
      </p:sp>
      <p:pic>
        <p:nvPicPr>
          <p:cNvPr id="9219" name="Picture 5" descr="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3286" y="1845366"/>
            <a:ext cx="4652084" cy="3702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3"/>
          <p:cNvSpPr txBox="1">
            <a:spLocks noChangeArrowheads="1"/>
          </p:cNvSpPr>
          <p:nvPr/>
        </p:nvSpPr>
        <p:spPr bwMode="auto">
          <a:xfrm>
            <a:off x="7359579" y="5547751"/>
            <a:ext cx="32263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0"/>
              </a:spcBef>
              <a:buClrTx/>
              <a:buSzTx/>
              <a:buFontTx/>
              <a:buNone/>
            </a:pPr>
            <a:r>
              <a:rPr kumimoji="0" lang="en-US" altLang="en-US" sz="1400" b="1" i="1" dirty="0">
                <a:latin typeface="Verdana" pitchFamily="34" charset="0"/>
              </a:rPr>
              <a:t>A Von Neumann architecture</a:t>
            </a:r>
          </a:p>
        </p:txBody>
      </p:sp>
    </p:spTree>
    <p:custDataLst>
      <p:tags r:id="rId1"/>
    </p:custDataLst>
    <p:extLst>
      <p:ext uri="{BB962C8B-B14F-4D97-AF65-F5344CB8AC3E}">
        <p14:creationId xmlns:p14="http://schemas.microsoft.com/office/powerpoint/2010/main" val="1052450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Operating System Operations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104160"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Bootstrap program – simple code to initialize the system, load the kernel</a:t>
            </a:r>
          </a:p>
          <a:p>
            <a:pPr algn="just"/>
            <a:r>
              <a:rPr lang="en-US" dirty="0">
                <a:latin typeface="Arial" panose="020B0604020202020204" pitchFamily="34" charset="0"/>
                <a:cs typeface="Arial" panose="020B0604020202020204" pitchFamily="34" charset="0"/>
              </a:rPr>
              <a:t>Kernel loads</a:t>
            </a:r>
          </a:p>
          <a:p>
            <a:pPr algn="just"/>
            <a:r>
              <a:rPr lang="en-US" dirty="0">
                <a:latin typeface="Arial" panose="020B0604020202020204" pitchFamily="34" charset="0"/>
                <a:cs typeface="Arial" panose="020B0604020202020204" pitchFamily="34" charset="0"/>
              </a:rPr>
              <a:t>Starts </a:t>
            </a:r>
            <a:r>
              <a:rPr lang="en-US" b="1" dirty="0">
                <a:solidFill>
                  <a:srgbClr val="FF0000"/>
                </a:solidFill>
                <a:latin typeface="Arial" panose="020B0604020202020204" pitchFamily="34" charset="0"/>
                <a:cs typeface="Arial" panose="020B0604020202020204" pitchFamily="34" charset="0"/>
              </a:rPr>
              <a:t>system daemons</a:t>
            </a:r>
            <a:r>
              <a:rPr lang="en-US" dirty="0">
                <a:latin typeface="Arial" panose="020B0604020202020204" pitchFamily="34" charset="0"/>
                <a:cs typeface="Arial" panose="020B0604020202020204" pitchFamily="34" charset="0"/>
              </a:rPr>
              <a:t> (services provided outside of the kernel)</a:t>
            </a:r>
          </a:p>
          <a:p>
            <a:pPr algn="just"/>
            <a:r>
              <a:rPr lang="en-US" dirty="0">
                <a:latin typeface="Arial" panose="020B0604020202020204" pitchFamily="34" charset="0"/>
                <a:cs typeface="Arial" panose="020B0604020202020204" pitchFamily="34" charset="0"/>
              </a:rPr>
              <a:t>Kernel </a:t>
            </a:r>
            <a:r>
              <a:rPr lang="en-US" b="1" dirty="0">
                <a:solidFill>
                  <a:srgbClr val="FF0000"/>
                </a:solidFill>
                <a:latin typeface="Arial" panose="020B0604020202020204" pitchFamily="34" charset="0"/>
                <a:cs typeface="Arial" panose="020B0604020202020204" pitchFamily="34" charset="0"/>
              </a:rPr>
              <a:t>interrupt driven </a:t>
            </a:r>
            <a:r>
              <a:rPr lang="en-US" dirty="0">
                <a:latin typeface="Arial" panose="020B0604020202020204" pitchFamily="34" charset="0"/>
                <a:cs typeface="Arial" panose="020B0604020202020204" pitchFamily="34" charset="0"/>
              </a:rPr>
              <a:t>(hardware and software)</a:t>
            </a:r>
          </a:p>
          <a:p>
            <a:pPr lvl="1" algn="just"/>
            <a:r>
              <a:rPr lang="en-US" dirty="0">
                <a:latin typeface="Arial" panose="020B0604020202020204" pitchFamily="34" charset="0"/>
                <a:cs typeface="Arial" panose="020B0604020202020204" pitchFamily="34" charset="0"/>
              </a:rPr>
              <a:t>Hardware interrupt by one of the devices </a:t>
            </a:r>
          </a:p>
          <a:p>
            <a:pPr lvl="1" algn="just"/>
            <a:r>
              <a:rPr lang="en-US" dirty="0">
                <a:latin typeface="Arial" panose="020B0604020202020204" pitchFamily="34" charset="0"/>
                <a:cs typeface="Arial" panose="020B0604020202020204" pitchFamily="34" charset="0"/>
              </a:rPr>
              <a:t>Software interrupt (</a:t>
            </a:r>
            <a:r>
              <a:rPr lang="en-US" b="1" dirty="0">
                <a:solidFill>
                  <a:srgbClr val="FF0000"/>
                </a:solidFill>
                <a:latin typeface="Arial" panose="020B0604020202020204" pitchFamily="34" charset="0"/>
                <a:cs typeface="Arial" panose="020B0604020202020204" pitchFamily="34" charset="0"/>
              </a:rPr>
              <a:t>exception</a:t>
            </a:r>
            <a:r>
              <a:rPr lang="en-US" dirty="0">
                <a:latin typeface="Arial" panose="020B0604020202020204" pitchFamily="34" charset="0"/>
                <a:cs typeface="Arial" panose="020B0604020202020204" pitchFamily="34" charset="0"/>
              </a:rPr>
              <a:t> or </a:t>
            </a:r>
            <a:r>
              <a:rPr lang="en-US" b="1" dirty="0">
                <a:solidFill>
                  <a:srgbClr val="FF0000"/>
                </a:solidFill>
                <a:latin typeface="Arial" panose="020B0604020202020204" pitchFamily="34" charset="0"/>
                <a:cs typeface="Arial" panose="020B0604020202020204" pitchFamily="34" charset="0"/>
              </a:rPr>
              <a:t>trap</a:t>
            </a:r>
            <a:r>
              <a:rPr lang="en-US" dirty="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Software error (e.g., division by zero)</a:t>
            </a:r>
          </a:p>
          <a:p>
            <a:pPr lvl="2" algn="just"/>
            <a:r>
              <a:rPr lang="en-US" dirty="0">
                <a:latin typeface="Arial" panose="020B0604020202020204" pitchFamily="34" charset="0"/>
                <a:cs typeface="Arial" panose="020B0604020202020204" pitchFamily="34" charset="0"/>
              </a:rPr>
              <a:t>Request for operating system service – </a:t>
            </a:r>
            <a:r>
              <a:rPr lang="en-US" b="1" dirty="0">
                <a:solidFill>
                  <a:srgbClr val="FF0000"/>
                </a:solidFill>
                <a:latin typeface="Arial" panose="020B0604020202020204" pitchFamily="34" charset="0"/>
                <a:cs typeface="Arial" panose="020B0604020202020204" pitchFamily="34" charset="0"/>
              </a:rPr>
              <a:t>system call</a:t>
            </a:r>
          </a:p>
          <a:p>
            <a:pPr lvl="2" algn="just"/>
            <a:r>
              <a:rPr lang="en-US" dirty="0">
                <a:latin typeface="Arial" panose="020B0604020202020204" pitchFamily="34" charset="0"/>
                <a:cs typeface="Arial" panose="020B0604020202020204" pitchFamily="34" charset="0"/>
              </a:rPr>
              <a:t>Other process problems include infinite loop, processes modifying each other or the OS</a:t>
            </a:r>
          </a:p>
          <a:p>
            <a:pPr algn="just"/>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46DBDD8-94E8-359E-54A1-71EDCA870C88}"/>
              </a:ext>
            </a:extLst>
          </p:cNvPr>
          <p:cNvSpPr txBox="1"/>
          <p:nvPr/>
        </p:nvSpPr>
        <p:spPr>
          <a:xfrm>
            <a:off x="1082356" y="5103633"/>
            <a:ext cx="9653954" cy="1200329"/>
          </a:xfrm>
          <a:prstGeom prst="rect">
            <a:avLst/>
          </a:prstGeom>
          <a:solidFill>
            <a:srgbClr val="92D050"/>
          </a:solidFill>
        </p:spPr>
        <p:txBody>
          <a:bodyPr wrap="square" rtlCol="0">
            <a:spAutoFit/>
          </a:bodyPr>
          <a:lstStyle/>
          <a:p>
            <a:pPr algn="ctr"/>
            <a:r>
              <a:rPr lang="en-US" sz="2400" dirty="0">
                <a:latin typeface="Arial" panose="020B0604020202020204" pitchFamily="34" charset="0"/>
                <a:cs typeface="Arial" panose="020B0604020202020204" pitchFamily="34" charset="0"/>
              </a:rPr>
              <a:t>At the lowest level OS is just a bunch of interrupt service routings, each routine simply returning to whatever was executing before it was interrupted, else infinite wait loop.</a:t>
            </a:r>
          </a:p>
        </p:txBody>
      </p:sp>
    </p:spTree>
    <p:custDataLst>
      <p:tags r:id="rId1"/>
    </p:custDataLst>
    <p:extLst>
      <p:ext uri="{BB962C8B-B14F-4D97-AF65-F5344CB8AC3E}">
        <p14:creationId xmlns:p14="http://schemas.microsoft.com/office/powerpoint/2010/main" val="27418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Timer</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9340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Timer to prevent infinite loop (or process hogging resources)</a:t>
            </a:r>
          </a:p>
          <a:p>
            <a:pPr lvl="1" algn="just"/>
            <a:r>
              <a:rPr lang="en-US" dirty="0">
                <a:latin typeface="Arial" panose="020B0604020202020204" pitchFamily="34" charset="0"/>
                <a:cs typeface="Arial" panose="020B0604020202020204" pitchFamily="34" charset="0"/>
              </a:rPr>
              <a:t>Timer is set to interrupt the computer after some time period</a:t>
            </a:r>
          </a:p>
          <a:p>
            <a:pPr lvl="1" algn="just"/>
            <a:r>
              <a:rPr lang="en-US" dirty="0">
                <a:latin typeface="Arial" panose="020B0604020202020204" pitchFamily="34" charset="0"/>
                <a:cs typeface="Arial" panose="020B0604020202020204" pitchFamily="34" charset="0"/>
              </a:rPr>
              <a:t>Keep a counter that is decremented by the physical clock</a:t>
            </a:r>
          </a:p>
          <a:p>
            <a:pPr lvl="1" algn="just"/>
            <a:r>
              <a:rPr lang="en-US" dirty="0">
                <a:latin typeface="Arial" panose="020B0604020202020204" pitchFamily="34" charset="0"/>
                <a:cs typeface="Arial" panose="020B0604020202020204" pitchFamily="34" charset="0"/>
              </a:rPr>
              <a:t>Operating system set the counter (privileged instruction)</a:t>
            </a:r>
          </a:p>
          <a:p>
            <a:pPr lvl="1" algn="just"/>
            <a:r>
              <a:rPr lang="en-US" dirty="0">
                <a:latin typeface="Arial" panose="020B0604020202020204" pitchFamily="34" charset="0"/>
                <a:cs typeface="Arial" panose="020B0604020202020204" pitchFamily="34" charset="0"/>
              </a:rPr>
              <a:t>When counter zero generate an interrupt</a:t>
            </a:r>
          </a:p>
          <a:p>
            <a:pPr lvl="1" algn="just"/>
            <a:r>
              <a:rPr lang="en-US" dirty="0">
                <a:latin typeface="Arial" panose="020B0604020202020204" pitchFamily="34" charset="0"/>
                <a:cs typeface="Arial" panose="020B0604020202020204" pitchFamily="34" charset="0"/>
              </a:rPr>
              <a:t>Set up before scheduling process to regain control or terminate program that exceeds allotted time</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928746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13194"/>
          <a:stretch/>
        </p:blipFill>
        <p:spPr bwMode="auto">
          <a:xfrm>
            <a:off x="2714012" y="4632519"/>
            <a:ext cx="6517912" cy="183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Architecture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A CPU comprises general registers, arithmetic/logic unit, and control unit.</a:t>
            </a:r>
          </a:p>
          <a:p>
            <a:pPr algn="just">
              <a:spcBef>
                <a:spcPts val="1200"/>
              </a:spcBef>
            </a:pPr>
            <a:r>
              <a:rPr lang="en-US" b="1" dirty="0">
                <a:solidFill>
                  <a:srgbClr val="00B050"/>
                </a:solidFill>
                <a:latin typeface="Arial" panose="020B0604020202020204" pitchFamily="34" charset="0"/>
                <a:cs typeface="Arial" panose="020B0604020202020204" pitchFamily="34" charset="0"/>
              </a:rPr>
              <a:t>Instruction Set:</a:t>
            </a:r>
            <a:r>
              <a:rPr lang="en-US" dirty="0">
                <a:latin typeface="Arial" panose="020B0604020202020204" pitchFamily="34" charset="0"/>
                <a:cs typeface="Arial" panose="020B0604020202020204" pitchFamily="34" charset="0"/>
              </a:rPr>
              <a:t> A group of commands, in machine language, that tell the CPU to perform tasks (x86, ARM, MIPS, SPARC etc.)</a:t>
            </a:r>
          </a:p>
          <a:p>
            <a:pPr algn="just">
              <a:spcBef>
                <a:spcPts val="1200"/>
              </a:spcBef>
            </a:pPr>
            <a:r>
              <a:rPr lang="en-US" dirty="0">
                <a:latin typeface="Arial" panose="020B0604020202020204" pitchFamily="34" charset="0"/>
                <a:cs typeface="Arial" panose="020B0604020202020204" pitchFamily="34" charset="0"/>
              </a:rPr>
              <a:t>Each instruction of the program loaded in the memory to be executed must be looked at, decoded and acted upon in turn until the program is completed. This process is known as </a:t>
            </a:r>
            <a:r>
              <a:rPr lang="en-US" b="1" dirty="0">
                <a:solidFill>
                  <a:srgbClr val="FF0000"/>
                </a:solidFill>
                <a:latin typeface="Arial" panose="020B0604020202020204" pitchFamily="34" charset="0"/>
                <a:cs typeface="Arial" panose="020B0604020202020204" pitchFamily="34" charset="0"/>
              </a:rPr>
              <a:t>instruction execution cycle</a:t>
            </a:r>
            <a:endParaRPr lang="en-US" dirty="0">
              <a:latin typeface="Arial" panose="020B0604020202020204" pitchFamily="34" charset="0"/>
              <a:cs typeface="Arial" panose="020B0604020202020204" pitchFamily="34" charset="0"/>
            </a:endParaRPr>
          </a:p>
          <a:p>
            <a:pPr lvl="1" algn="just">
              <a:spcBef>
                <a:spcPts val="0"/>
              </a:spcBef>
            </a:pPr>
            <a:r>
              <a:rPr lang="en-US" dirty="0">
                <a:latin typeface="Arial" panose="020B0604020202020204" pitchFamily="34" charset="0"/>
                <a:cs typeface="Arial" panose="020B0604020202020204" pitchFamily="34" charset="0"/>
              </a:rPr>
              <a:t>At the beginning of each instruction cycle, CPU fetches instruction from memory.</a:t>
            </a:r>
          </a:p>
          <a:p>
            <a:pPr lvl="1" algn="just">
              <a:spcBef>
                <a:spcPts val="0"/>
              </a:spcBef>
            </a:pPr>
            <a:r>
              <a:rPr lang="en-US" b="1" dirty="0">
                <a:solidFill>
                  <a:srgbClr val="FF0000"/>
                </a:solidFill>
                <a:latin typeface="Arial" panose="020B0604020202020204" pitchFamily="34" charset="0"/>
                <a:cs typeface="Arial" panose="020B0604020202020204" pitchFamily="34" charset="0"/>
              </a:rPr>
              <a:t>Instruction pointer</a:t>
            </a:r>
            <a:r>
              <a:rPr lang="en-US" dirty="0">
                <a:latin typeface="Arial" panose="020B0604020202020204" pitchFamily="34" charset="0"/>
                <a:cs typeface="Arial" panose="020B0604020202020204" pitchFamily="34" charset="0"/>
              </a:rPr>
              <a:t> holds the address of the next instruction to be executed.</a:t>
            </a:r>
          </a:p>
          <a:p>
            <a:pPr lvl="1" algn="just">
              <a:spcBef>
                <a:spcPts val="0"/>
              </a:spcBef>
            </a:pPr>
            <a:r>
              <a:rPr lang="en-US" dirty="0">
                <a:latin typeface="Arial" panose="020B0604020202020204" pitchFamily="34" charset="0"/>
                <a:cs typeface="Arial" panose="020B0604020202020204" pitchFamily="34" charset="0"/>
              </a:rPr>
              <a:t>The fetched instruction is loaded into the </a:t>
            </a:r>
            <a:r>
              <a:rPr lang="en-US" b="1" dirty="0">
                <a:solidFill>
                  <a:srgbClr val="FF0000"/>
                </a:solidFill>
                <a:latin typeface="Arial" panose="020B0604020202020204" pitchFamily="34" charset="0"/>
                <a:cs typeface="Arial" panose="020B0604020202020204" pitchFamily="34" charset="0"/>
              </a:rPr>
              <a:t>instruction register.</a:t>
            </a:r>
          </a:p>
        </p:txBody>
      </p:sp>
      <p:sp>
        <p:nvSpPr>
          <p:cNvPr id="4" name="Content Placeholder 2"/>
          <p:cNvSpPr>
            <a:spLocks noGrp="1"/>
          </p:cNvSpPr>
          <p:nvPr>
            <p:ph idx="1"/>
          </p:nvPr>
        </p:nvSpPr>
        <p:spPr>
          <a:xfrm>
            <a:off x="2819521" y="6469425"/>
            <a:ext cx="6735269" cy="357767"/>
          </a:xfrm>
        </p:spPr>
        <p:txBody>
          <a:bodyPr>
            <a:normAutofit/>
          </a:bodyPr>
          <a:lstStyle/>
          <a:p>
            <a:pPr marL="0" indent="0">
              <a:buNone/>
            </a:pPr>
            <a:r>
              <a:rPr lang="en-US" sz="1600" dirty="0">
                <a:latin typeface="Arial" panose="020B0604020202020204" pitchFamily="34" charset="0"/>
                <a:cs typeface="Arial" panose="020B0604020202020204" pitchFamily="34" charset="0"/>
              </a:rPr>
              <a:t>(a) A three-stage pipeline. 	          (b)    A superscalar CPU</a:t>
            </a:r>
          </a:p>
        </p:txBody>
      </p:sp>
    </p:spTree>
    <p:custDataLst>
      <p:tags r:id="rId1"/>
    </p:custDataLst>
    <p:extLst>
      <p:ext uri="{BB962C8B-B14F-4D97-AF65-F5344CB8AC3E}">
        <p14:creationId xmlns:p14="http://schemas.microsoft.com/office/powerpoint/2010/main" val="1339809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Architecture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Most systems contain a single general-purpose processor while many systems also contain special-purpose processors as well</a:t>
            </a:r>
          </a:p>
          <a:p>
            <a:pPr algn="just"/>
            <a:r>
              <a:rPr lang="en-US" b="1" dirty="0">
                <a:solidFill>
                  <a:srgbClr val="00B050"/>
                </a:solidFill>
                <a:latin typeface="Arial" panose="020B0604020202020204" pitchFamily="34" charset="0"/>
                <a:cs typeface="Arial" panose="020B0604020202020204" pitchFamily="34" charset="0"/>
              </a:rPr>
              <a:t>Multiprocessor systems</a:t>
            </a:r>
            <a:r>
              <a:rPr lang="en-US" dirty="0">
                <a:latin typeface="Arial" panose="020B0604020202020204" pitchFamily="34" charset="0"/>
                <a:cs typeface="Arial" panose="020B0604020202020204" pitchFamily="34" charset="0"/>
              </a:rPr>
              <a:t> are of two types:</a:t>
            </a:r>
          </a:p>
          <a:p>
            <a:pPr lvl="1" algn="just"/>
            <a:r>
              <a:rPr lang="en-US" b="1" dirty="0">
                <a:solidFill>
                  <a:srgbClr val="FF0000"/>
                </a:solidFill>
                <a:latin typeface="Arial" panose="020B0604020202020204" pitchFamily="34" charset="0"/>
                <a:cs typeface="Arial" panose="020B0604020202020204" pitchFamily="34" charset="0"/>
              </a:rPr>
              <a:t>Asymmetric multiprocessing</a:t>
            </a:r>
            <a:r>
              <a:rPr lang="en-US" dirty="0">
                <a:latin typeface="Arial" panose="020B0604020202020204" pitchFamily="34" charset="0"/>
                <a:cs typeface="Arial" panose="020B0604020202020204" pitchFamily="34" charset="0"/>
              </a:rPr>
              <a:t>: has a master-slave relationship where each processor, having its own memory address space, is assigned a specific task that are divided based on type of processors</a:t>
            </a:r>
          </a:p>
          <a:p>
            <a:pPr lvl="1" algn="just"/>
            <a:r>
              <a:rPr lang="en-US" b="1" dirty="0">
                <a:solidFill>
                  <a:srgbClr val="FF0000"/>
                </a:solidFill>
                <a:latin typeface="Arial" panose="020B0604020202020204" pitchFamily="34" charset="0"/>
                <a:cs typeface="Arial" panose="020B0604020202020204" pitchFamily="34" charset="0"/>
              </a:rPr>
              <a:t>Symmetric multiprocessing (SMP)</a:t>
            </a:r>
            <a:r>
              <a:rPr lang="en-US" dirty="0">
                <a:latin typeface="Arial" panose="020B0604020202020204" pitchFamily="34" charset="0"/>
                <a:cs typeface="Arial" panose="020B0604020202020204" pitchFamily="34" charset="0"/>
              </a:rPr>
              <a:t>: All processor are peers and can performs all tasks. The processors share physical memory but contain own set of registers and private or local caches</a:t>
            </a:r>
          </a:p>
          <a:p>
            <a:pPr lvl="1" algn="just"/>
            <a:endParaRPr lang="en-US" dirty="0">
              <a:latin typeface="Arial" panose="020B0604020202020204" pitchFamily="34" charset="0"/>
              <a:cs typeface="Arial" panose="020B0604020202020204" pitchFamily="34" charset="0"/>
            </a:endParaRPr>
          </a:p>
        </p:txBody>
      </p:sp>
      <p:pic>
        <p:nvPicPr>
          <p:cNvPr id="1026" name="Picture 2" descr="Diferencia entre multiprocesamiento simétrico y asimétrico">
            <a:extLst>
              <a:ext uri="{FF2B5EF4-FFF2-40B4-BE49-F238E27FC236}">
                <a16:creationId xmlns:a16="http://schemas.microsoft.com/office/drawing/2014/main" id="{2012895A-B3CD-6696-0E1D-6D5BE8BA26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677"/>
          <a:stretch/>
        </p:blipFill>
        <p:spPr bwMode="auto">
          <a:xfrm>
            <a:off x="6734679" y="4513133"/>
            <a:ext cx="3277806" cy="23087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ferencia entre multiprocesamiento simétrico y asimétrico">
            <a:extLst>
              <a:ext uri="{FF2B5EF4-FFF2-40B4-BE49-F238E27FC236}">
                <a16:creationId xmlns:a16="http://schemas.microsoft.com/office/drawing/2014/main" id="{AA8708ED-1D73-6D42-BBFF-F8D3E62DE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5125" y="4549228"/>
            <a:ext cx="3458067" cy="223658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24198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Architecture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Multiprocessor systems</a:t>
            </a:r>
            <a:r>
              <a:rPr lang="en-US" dirty="0">
                <a:latin typeface="Arial" panose="020B0604020202020204" pitchFamily="34" charset="0"/>
                <a:cs typeface="Arial" panose="020B0604020202020204" pitchFamily="34" charset="0"/>
              </a:rPr>
              <a:t> growing in use and importance</a:t>
            </a:r>
          </a:p>
          <a:p>
            <a:pPr lvl="1" algn="just"/>
            <a:r>
              <a:rPr lang="en-US" dirty="0">
                <a:latin typeface="Arial" panose="020B0604020202020204" pitchFamily="34" charset="0"/>
                <a:cs typeface="Arial" panose="020B0604020202020204" pitchFamily="34" charset="0"/>
              </a:rPr>
              <a:t>Also known as </a:t>
            </a:r>
            <a:r>
              <a:rPr lang="en-US" b="1" dirty="0">
                <a:solidFill>
                  <a:srgbClr val="FF0000"/>
                </a:solidFill>
                <a:latin typeface="Arial" panose="020B0604020202020204" pitchFamily="34" charset="0"/>
                <a:cs typeface="Arial" panose="020B0604020202020204" pitchFamily="34" charset="0"/>
              </a:rPr>
              <a:t>parallel systems</a:t>
            </a:r>
            <a:r>
              <a:rPr lang="en-US"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tightly-coupled systems</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Advantages of </a:t>
            </a:r>
            <a:r>
              <a:rPr lang="en-US" b="1" dirty="0">
                <a:solidFill>
                  <a:srgbClr val="00B050"/>
                </a:solidFill>
                <a:latin typeface="Arial" panose="020B0604020202020204" pitchFamily="34" charset="0"/>
                <a:cs typeface="Arial" panose="020B0604020202020204" pitchFamily="34" charset="0"/>
              </a:rPr>
              <a:t>multiprocessor systems</a:t>
            </a:r>
            <a:r>
              <a:rPr lang="en-US" dirty="0">
                <a:latin typeface="Arial" panose="020B0604020202020204" pitchFamily="34" charset="0"/>
                <a:cs typeface="Arial" panose="020B0604020202020204" pitchFamily="34" charset="0"/>
              </a:rPr>
              <a:t> include:</a:t>
            </a:r>
          </a:p>
          <a:p>
            <a:pPr lvl="1" algn="just"/>
            <a:r>
              <a:rPr lang="en-US" b="1" dirty="0">
                <a:solidFill>
                  <a:srgbClr val="FF0000"/>
                </a:solidFill>
                <a:latin typeface="Arial" panose="020B0604020202020204" pitchFamily="34" charset="0"/>
                <a:cs typeface="Arial" panose="020B0604020202020204" pitchFamily="34" charset="0"/>
              </a:rPr>
              <a:t>Increased throughput</a:t>
            </a:r>
            <a:r>
              <a:rPr lang="en-US" dirty="0">
                <a:latin typeface="Arial" panose="020B0604020202020204" pitchFamily="34" charset="0"/>
                <a:cs typeface="Arial" panose="020B0604020202020204" pitchFamily="34" charset="0"/>
              </a:rPr>
              <a:t>: More work done in less time</a:t>
            </a:r>
          </a:p>
          <a:p>
            <a:pPr lvl="2" algn="just"/>
            <a:r>
              <a:rPr lang="en-US" dirty="0">
                <a:latin typeface="Arial" panose="020B0604020202020204" pitchFamily="34" charset="0"/>
                <a:cs typeface="Arial" panose="020B0604020202020204" pitchFamily="34" charset="0"/>
              </a:rPr>
              <a:t>Speedup ratio with N processors in not N due to overhead of keeping all component working correctly and contention for shared resources</a:t>
            </a:r>
          </a:p>
          <a:p>
            <a:pPr lvl="2" algn="just"/>
            <a:endParaRPr lang="en-US" dirty="0">
              <a:latin typeface="Arial" panose="020B0604020202020204" pitchFamily="34" charset="0"/>
              <a:cs typeface="Arial" panose="020B0604020202020204" pitchFamily="34" charset="0"/>
            </a:endParaRPr>
          </a:p>
          <a:p>
            <a:pPr lvl="1" algn="just"/>
            <a:r>
              <a:rPr lang="en-US" b="1" dirty="0">
                <a:solidFill>
                  <a:srgbClr val="FF0000"/>
                </a:solidFill>
                <a:latin typeface="Arial" panose="020B0604020202020204" pitchFamily="34" charset="0"/>
                <a:cs typeface="Arial" panose="020B0604020202020204" pitchFamily="34" charset="0"/>
              </a:rPr>
              <a:t>Economy of scale</a:t>
            </a:r>
            <a:r>
              <a:rPr lang="en-US" dirty="0">
                <a:latin typeface="Arial" panose="020B0604020202020204" pitchFamily="34" charset="0"/>
                <a:cs typeface="Arial" panose="020B0604020202020204" pitchFamily="34" charset="0"/>
              </a:rPr>
              <a:t>: With the increase in number of processors, the system can perform more tasks simultaneously, leading to higher efficiency and better resource utilization, often at a reduced cost per unit of processing power.</a:t>
            </a:r>
          </a:p>
          <a:p>
            <a:pPr lvl="1" algn="just"/>
            <a:endParaRPr lang="en-US" dirty="0">
              <a:latin typeface="Arial" panose="020B0604020202020204" pitchFamily="34" charset="0"/>
              <a:cs typeface="Arial" panose="020B0604020202020204" pitchFamily="34" charset="0"/>
            </a:endParaRPr>
          </a:p>
          <a:p>
            <a:pPr lvl="1" algn="just"/>
            <a:r>
              <a:rPr lang="en-US" b="1" dirty="0">
                <a:solidFill>
                  <a:srgbClr val="FF0000"/>
                </a:solidFill>
                <a:latin typeface="Arial" panose="020B0604020202020204" pitchFamily="34" charset="0"/>
                <a:cs typeface="Arial" panose="020B0604020202020204" pitchFamily="34" charset="0"/>
              </a:rPr>
              <a:t>Increased reliability</a:t>
            </a:r>
            <a:r>
              <a:rPr lang="en-US" dirty="0">
                <a:latin typeface="Arial" panose="020B0604020202020204" pitchFamily="34" charset="0"/>
                <a:cs typeface="Arial" panose="020B0604020202020204" pitchFamily="34" charset="0"/>
              </a:rPr>
              <a:t>: Graceful degradation or fault tolerance</a:t>
            </a:r>
          </a:p>
          <a:p>
            <a:pPr lvl="2" algn="just"/>
            <a:r>
              <a:rPr lang="en-US" dirty="0">
                <a:latin typeface="Arial" panose="020B0604020202020204" pitchFamily="34" charset="0"/>
                <a:cs typeface="Arial" panose="020B0604020202020204" pitchFamily="34" charset="0"/>
              </a:rPr>
              <a:t>The ability of a system to maintain limited functionality even when a large portion of it has been destroyed or rendered inoperative</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565233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Architecture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Multicore systems</a:t>
            </a:r>
            <a:r>
              <a:rPr lang="en-US" dirty="0">
                <a:latin typeface="Arial" panose="020B0604020202020204" pitchFamily="34" charset="0"/>
                <a:cs typeface="Arial" panose="020B0604020202020204" pitchFamily="34" charset="0"/>
              </a:rPr>
              <a:t> contain multiple cores on a single processor chip. These cores share some resources, such as cache memory and the memory bus, but each core can independently execute instructions, making the system capable of handling multiple tasks concurrently.</a:t>
            </a:r>
          </a:p>
          <a:p>
            <a:pPr lvl="1" algn="just"/>
            <a:r>
              <a:rPr lang="en-US" dirty="0">
                <a:latin typeface="Arial" panose="020B0604020202020204" pitchFamily="34" charset="0"/>
                <a:cs typeface="Arial" panose="020B0604020202020204" pitchFamily="34" charset="0"/>
              </a:rPr>
              <a:t>On-chip communication is faster</a:t>
            </a:r>
          </a:p>
          <a:p>
            <a:pPr lvl="1" algn="just"/>
            <a:r>
              <a:rPr lang="en-US" dirty="0">
                <a:latin typeface="Arial" panose="020B0604020202020204" pitchFamily="34" charset="0"/>
                <a:cs typeface="Arial" panose="020B0604020202020204" pitchFamily="34" charset="0"/>
              </a:rPr>
              <a:t>Well suited for server (i.e., database, Web servers)</a:t>
            </a:r>
          </a:p>
          <a:p>
            <a:pPr lvl="1" algn="just"/>
            <a:r>
              <a:rPr lang="en-US" dirty="0">
                <a:latin typeface="Arial" panose="020B0604020202020204" pitchFamily="34" charset="0"/>
                <a:cs typeface="Arial" panose="020B0604020202020204" pitchFamily="34" charset="0"/>
              </a:rPr>
              <a:t>Multicore CPUs appear to the operating system as N standard processors </a:t>
            </a: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pic>
        <p:nvPicPr>
          <p:cNvPr id="2" name="Picture 2" descr="What is a quad-core processor?">
            <a:extLst>
              <a:ext uri="{FF2B5EF4-FFF2-40B4-BE49-F238E27FC236}">
                <a16:creationId xmlns:a16="http://schemas.microsoft.com/office/drawing/2014/main" id="{07DF527C-F084-E68B-C18D-F74B86287A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36" t="26758" r="8600" b="8584"/>
          <a:stretch/>
        </p:blipFill>
        <p:spPr bwMode="auto">
          <a:xfrm>
            <a:off x="4385886" y="4106081"/>
            <a:ext cx="2706290" cy="22530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C34F851-23AF-261D-0BCD-0493DC549BE6}"/>
              </a:ext>
            </a:extLst>
          </p:cNvPr>
          <p:cNvSpPr txBox="1">
            <a:spLocks noChangeArrowheads="1"/>
          </p:cNvSpPr>
          <p:nvPr/>
        </p:nvSpPr>
        <p:spPr bwMode="auto">
          <a:xfrm>
            <a:off x="3938865" y="6435967"/>
            <a:ext cx="36401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0"/>
              </a:spcBef>
              <a:buClrTx/>
              <a:buSzTx/>
              <a:buFontTx/>
              <a:buNone/>
            </a:pPr>
            <a:r>
              <a:rPr kumimoji="0" lang="en-US" altLang="en-US" sz="1400" b="1" i="1" dirty="0">
                <a:latin typeface="Verdana" pitchFamily="34" charset="0"/>
              </a:rPr>
              <a:t>Quad-core processor architecture</a:t>
            </a:r>
          </a:p>
        </p:txBody>
      </p:sp>
    </p:spTree>
    <p:custDataLst>
      <p:tags r:id="rId1"/>
    </p:custDataLst>
    <p:extLst>
      <p:ext uri="{BB962C8B-B14F-4D97-AF65-F5344CB8AC3E}">
        <p14:creationId xmlns:p14="http://schemas.microsoft.com/office/powerpoint/2010/main" val="3320705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Architecture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261821" cy="107894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Non-Uniform Memory Access Systems</a:t>
            </a:r>
            <a:endParaRPr lang="en-US" dirty="0">
              <a:latin typeface="Arial" panose="020B0604020202020204" pitchFamily="34" charset="0"/>
              <a:cs typeface="Arial" panose="020B0604020202020204" pitchFamily="34" charset="0"/>
            </a:endParaRP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4330" y="2128571"/>
            <a:ext cx="4645269" cy="439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854952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Computer System Architecture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Clustered systems</a:t>
            </a:r>
            <a:r>
              <a:rPr lang="en-US" dirty="0">
                <a:latin typeface="Arial" panose="020B0604020202020204" pitchFamily="34" charset="0"/>
                <a:cs typeface="Arial" panose="020B0604020202020204" pitchFamily="34" charset="0"/>
              </a:rPr>
              <a:t> are another type of multiple CPU systems that usually share storage via a </a:t>
            </a:r>
            <a:r>
              <a:rPr lang="en-US" b="1" dirty="0">
                <a:solidFill>
                  <a:srgbClr val="FF0000"/>
                </a:solidFill>
                <a:latin typeface="Arial" panose="020B0604020202020204" pitchFamily="34" charset="0"/>
                <a:cs typeface="Arial" panose="020B0604020202020204" pitchFamily="34" charset="0"/>
              </a:rPr>
              <a:t>storage-area network (SAN)</a:t>
            </a:r>
            <a:r>
              <a:rPr lang="en-US" dirty="0">
                <a:latin typeface="Arial" panose="020B0604020202020204" pitchFamily="34" charset="0"/>
                <a:cs typeface="Arial" panose="020B0604020202020204" pitchFamily="34" charset="0"/>
              </a:rPr>
              <a:t>. These systems provide </a:t>
            </a:r>
            <a:r>
              <a:rPr lang="en-US" b="1" dirty="0">
                <a:solidFill>
                  <a:srgbClr val="FF0000"/>
                </a:solidFill>
                <a:latin typeface="Arial" panose="020B0604020202020204" pitchFamily="34" charset="0"/>
                <a:cs typeface="Arial" panose="020B0604020202020204" pitchFamily="34" charset="0"/>
              </a:rPr>
              <a:t>high-availability</a:t>
            </a:r>
            <a:r>
              <a:rPr lang="en-US" dirty="0">
                <a:latin typeface="Arial" panose="020B0604020202020204" pitchFamily="34" charset="0"/>
                <a:cs typeface="Arial" panose="020B0604020202020204" pitchFamily="34" charset="0"/>
              </a:rPr>
              <a:t> service which survives failures.</a:t>
            </a:r>
          </a:p>
          <a:p>
            <a:pPr lvl="1" algn="just"/>
            <a:r>
              <a:rPr lang="en-US" b="1" dirty="0">
                <a:solidFill>
                  <a:srgbClr val="FF0000"/>
                </a:solidFill>
                <a:latin typeface="Arial" panose="020B0604020202020204" pitchFamily="34" charset="0"/>
                <a:cs typeface="Arial" panose="020B0604020202020204" pitchFamily="34" charset="0"/>
              </a:rPr>
              <a:t>Asymmetric clustering</a:t>
            </a:r>
            <a:r>
              <a:rPr lang="en-US" dirty="0">
                <a:latin typeface="Arial" panose="020B0604020202020204" pitchFamily="34" charset="0"/>
                <a:cs typeface="Arial" panose="020B0604020202020204" pitchFamily="34" charset="0"/>
              </a:rPr>
              <a:t>: One machine in hot-standby mode while others are running the applications</a:t>
            </a:r>
          </a:p>
          <a:p>
            <a:pPr lvl="1" algn="just"/>
            <a:r>
              <a:rPr lang="en-US" b="1" dirty="0">
                <a:solidFill>
                  <a:srgbClr val="FF0000"/>
                </a:solidFill>
                <a:latin typeface="Arial" panose="020B0604020202020204" pitchFamily="34" charset="0"/>
                <a:cs typeface="Arial" panose="020B0604020202020204" pitchFamily="34" charset="0"/>
              </a:rPr>
              <a:t>Symmetric clustering </a:t>
            </a:r>
            <a:r>
              <a:rPr lang="en-US" dirty="0">
                <a:latin typeface="Arial" panose="020B0604020202020204" pitchFamily="34" charset="0"/>
                <a:cs typeface="Arial" panose="020B0604020202020204" pitchFamily="34" charset="0"/>
              </a:rPr>
              <a:t>: Multiple machines are running the applications as well as monitoring each other</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Some clusters are for </a:t>
            </a:r>
            <a:r>
              <a:rPr lang="en-US" sz="2000" b="1" dirty="0">
                <a:solidFill>
                  <a:srgbClr val="FF0000"/>
                </a:solidFill>
                <a:latin typeface="Arial" panose="020B0604020202020204" pitchFamily="34" charset="0"/>
                <a:cs typeface="Arial" panose="020B0604020202020204" pitchFamily="34" charset="0"/>
              </a:rPr>
              <a:t>high-performance computing (HPC) </a:t>
            </a:r>
            <a:r>
              <a:rPr lang="en-US" dirty="0">
                <a:latin typeface="Arial" panose="020B0604020202020204" pitchFamily="34" charset="0"/>
                <a:cs typeface="Arial" panose="020B0604020202020204" pitchFamily="34" charset="0"/>
              </a:rPr>
              <a:t>and applications must be written to use </a:t>
            </a:r>
            <a:r>
              <a:rPr lang="en-US" sz="2000" b="1" dirty="0">
                <a:solidFill>
                  <a:srgbClr val="FF0000"/>
                </a:solidFill>
                <a:latin typeface="Arial" panose="020B0604020202020204" pitchFamily="34" charset="0"/>
                <a:cs typeface="Arial" panose="020B0604020202020204" pitchFamily="34" charset="0"/>
              </a:rPr>
              <a:t>parallelization</a:t>
            </a:r>
          </a:p>
          <a:p>
            <a:pPr lvl="1" algn="just"/>
            <a:endParaRPr lang="en-US" dirty="0">
              <a:latin typeface="Arial" panose="020B0604020202020204" pitchFamily="34" charset="0"/>
              <a:cs typeface="Arial" panose="020B0604020202020204" pitchFamily="34" charset="0"/>
            </a:endParaRPr>
          </a:p>
        </p:txBody>
      </p:sp>
      <p:pic>
        <p:nvPicPr>
          <p:cNvPr id="2050" name="Picture 2" descr="Overview of the LATIS Structure | Download Scientific Diagram">
            <a:extLst>
              <a:ext uri="{FF2B5EF4-FFF2-40B4-BE49-F238E27FC236}">
                <a16:creationId xmlns:a16="http://schemas.microsoft.com/office/drawing/2014/main" id="{7B2CCB0B-5257-5FD1-3881-D7D3B954C7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590" t="10208" r="8555" b="3140"/>
          <a:stretch/>
        </p:blipFill>
        <p:spPr bwMode="auto">
          <a:xfrm>
            <a:off x="4086703" y="4915971"/>
            <a:ext cx="3657600" cy="192434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02840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PC Motherboard</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37</a:t>
            </a:fld>
            <a:endParaRPr lang="en-US">
              <a:latin typeface="Calibri"/>
            </a:endParaRPr>
          </a:p>
        </p:txBody>
      </p:sp>
      <p:pic>
        <p:nvPicPr>
          <p:cNvPr id="2" name="Picture 5">
            <a:extLst>
              <a:ext uri="{FF2B5EF4-FFF2-40B4-BE49-F238E27FC236}">
                <a16:creationId xmlns:a16="http://schemas.microsoft.com/office/drawing/2014/main" id="{F3A76678-4C43-5378-BAA8-EA02BC18C2A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39584" y="1204424"/>
            <a:ext cx="6867525" cy="5653576"/>
          </a:xfrm>
          <a:noFill/>
        </p:spPr>
      </p:pic>
    </p:spTree>
    <p:custDataLst>
      <p:tags r:id="rId1"/>
    </p:custDataLst>
    <p:extLst>
      <p:ext uri="{BB962C8B-B14F-4D97-AF65-F5344CB8AC3E}">
        <p14:creationId xmlns:p14="http://schemas.microsoft.com/office/powerpoint/2010/main" val="825692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Hardware is Evolving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246497"/>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1</a:t>
            </a:r>
            <a:r>
              <a:rPr lang="en-US" b="1" baseline="30000" dirty="0">
                <a:latin typeface="Arial" panose="020B0604020202020204" pitchFamily="34" charset="0"/>
                <a:cs typeface="Arial" panose="020B0604020202020204" pitchFamily="34" charset="0"/>
              </a:rPr>
              <a:t>st</a:t>
            </a:r>
            <a:r>
              <a:rPr lang="en-US" b="1" dirty="0">
                <a:latin typeface="Arial" panose="020B0604020202020204" pitchFamily="34" charset="0"/>
                <a:cs typeface="Arial" panose="020B0604020202020204" pitchFamily="34" charset="0"/>
              </a:rPr>
              <a:t> Generation (1940s – 1950s):</a:t>
            </a:r>
            <a:r>
              <a:rPr lang="en-US" dirty="0">
                <a:latin typeface="Arial" panose="020B0604020202020204" pitchFamily="34" charset="0"/>
                <a:cs typeface="Arial" panose="020B0604020202020204" pitchFamily="34" charset="0"/>
              </a:rPr>
              <a:t> Used </a:t>
            </a:r>
            <a:r>
              <a:rPr lang="en-US" b="1" dirty="0">
                <a:solidFill>
                  <a:srgbClr val="00B050"/>
                </a:solidFill>
                <a:latin typeface="Arial" panose="020B0604020202020204" pitchFamily="34" charset="0"/>
                <a:cs typeface="Arial" panose="020B0604020202020204" pitchFamily="34" charset="0"/>
              </a:rPr>
              <a:t>vacuum tubes</a:t>
            </a:r>
            <a:r>
              <a:rPr lang="en-US" dirty="0">
                <a:latin typeface="Arial" panose="020B0604020202020204" pitchFamily="34" charset="0"/>
                <a:cs typeface="Arial" panose="020B0604020202020204" pitchFamily="34" charset="0"/>
              </a:rPr>
              <a:t> for circuitry and magnetic drums for memory. They were large, expensive, and generated a lot of heat. Machine language was used for programming and operations were carried out using punch cards; e.g. ENIAC and UNIVAC I</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2</a:t>
            </a:r>
            <a:r>
              <a:rPr lang="en-US" b="1" baseline="30000" dirty="0">
                <a:latin typeface="Arial" panose="020B0604020202020204" pitchFamily="34" charset="0"/>
                <a:cs typeface="Arial" panose="020B0604020202020204" pitchFamily="34" charset="0"/>
              </a:rPr>
              <a:t>nd</a:t>
            </a:r>
            <a:r>
              <a:rPr lang="en-US" b="1" dirty="0">
                <a:latin typeface="Arial" panose="020B0604020202020204" pitchFamily="34" charset="0"/>
                <a:cs typeface="Arial" panose="020B0604020202020204" pitchFamily="34" charset="0"/>
              </a:rPr>
              <a:t> Generation (1950s – 1960s):</a:t>
            </a:r>
            <a:r>
              <a:rPr lang="en-US" dirty="0">
                <a:latin typeface="Arial" panose="020B0604020202020204" pitchFamily="34" charset="0"/>
                <a:cs typeface="Arial" panose="020B0604020202020204" pitchFamily="34" charset="0"/>
              </a:rPr>
              <a:t> Used </a:t>
            </a:r>
            <a:r>
              <a:rPr lang="en-US" b="1" dirty="0">
                <a:solidFill>
                  <a:srgbClr val="00B050"/>
                </a:solidFill>
                <a:latin typeface="Arial" panose="020B0604020202020204" pitchFamily="34" charset="0"/>
                <a:cs typeface="Arial" panose="020B0604020202020204" pitchFamily="34" charset="0"/>
              </a:rPr>
              <a:t>transistors</a:t>
            </a:r>
            <a:r>
              <a:rPr lang="en-US" dirty="0">
                <a:latin typeface="Arial" panose="020B0604020202020204" pitchFamily="34" charset="0"/>
                <a:cs typeface="Arial" panose="020B0604020202020204" pitchFamily="34" charset="0"/>
              </a:rPr>
              <a:t> making systems smaller, faster, more reliable and energy-efficient. Assembly language was used for programming and high-level programming languages like FORTRAN and COBOL emerged; e.g. IBM 7090 mainframe</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3</a:t>
            </a:r>
            <a:r>
              <a:rPr lang="en-US" b="1" baseline="30000" dirty="0">
                <a:latin typeface="Arial" panose="020B0604020202020204" pitchFamily="34" charset="0"/>
                <a:cs typeface="Arial" panose="020B0604020202020204" pitchFamily="34" charset="0"/>
              </a:rPr>
              <a:t>rd</a:t>
            </a:r>
            <a:r>
              <a:rPr lang="en-US" b="1" dirty="0">
                <a:latin typeface="Arial" panose="020B0604020202020204" pitchFamily="34" charset="0"/>
                <a:cs typeface="Arial" panose="020B0604020202020204" pitchFamily="34" charset="0"/>
              </a:rPr>
              <a:t> Generation (1960s – 1970s):</a:t>
            </a:r>
            <a:r>
              <a:rPr lang="en-US" dirty="0">
                <a:latin typeface="Arial" panose="020B0604020202020204" pitchFamily="34" charset="0"/>
                <a:cs typeface="Arial" panose="020B0604020202020204" pitchFamily="34" charset="0"/>
              </a:rPr>
              <a:t> Used </a:t>
            </a:r>
            <a:r>
              <a:rPr lang="en-US" b="1" dirty="0">
                <a:solidFill>
                  <a:srgbClr val="00B050"/>
                </a:solidFill>
                <a:latin typeface="Arial" panose="020B0604020202020204" pitchFamily="34" charset="0"/>
                <a:cs typeface="Arial" panose="020B0604020202020204" pitchFamily="34" charset="0"/>
              </a:rPr>
              <a:t>integrated circuits (ICs)</a:t>
            </a:r>
            <a:r>
              <a:rPr lang="en-US" dirty="0">
                <a:latin typeface="Arial" panose="020B0604020202020204" pitchFamily="34" charset="0"/>
                <a:cs typeface="Arial" panose="020B0604020202020204" pitchFamily="34" charset="0"/>
              </a:rPr>
              <a:t> packing thousands of transistors onto a single chip. This further reduced size and cost while increasing speed and reliability. Operating systems became more sophisticated, and the use of higher-level languages like C became common; e.g. IBM 360 minicomputer.</a:t>
            </a:r>
          </a:p>
        </p:txBody>
      </p:sp>
    </p:spTree>
    <p:custDataLst>
      <p:tags r:id="rId1"/>
    </p:custDataLst>
    <p:extLst>
      <p:ext uri="{BB962C8B-B14F-4D97-AF65-F5344CB8AC3E}">
        <p14:creationId xmlns:p14="http://schemas.microsoft.com/office/powerpoint/2010/main" val="2239272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Hardware is Evolving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93403"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4</a:t>
            </a:r>
            <a:r>
              <a:rPr lang="en-US" b="1" baseline="30000" dirty="0">
                <a:latin typeface="Arial" panose="020B0604020202020204" pitchFamily="34" charset="0"/>
                <a:cs typeface="Arial" panose="020B0604020202020204" pitchFamily="34" charset="0"/>
              </a:rPr>
              <a:t>th</a:t>
            </a:r>
            <a:r>
              <a:rPr lang="en-US" b="1" dirty="0">
                <a:latin typeface="Arial" panose="020B0604020202020204" pitchFamily="34" charset="0"/>
                <a:cs typeface="Arial" panose="020B0604020202020204" pitchFamily="34" charset="0"/>
              </a:rPr>
              <a:t> Generation (1970s – present):</a:t>
            </a:r>
            <a:r>
              <a:rPr lang="en-US" dirty="0">
                <a:latin typeface="Arial" panose="020B0604020202020204" pitchFamily="34" charset="0"/>
                <a:cs typeface="Arial" panose="020B0604020202020204" pitchFamily="34" charset="0"/>
              </a:rPr>
              <a:t> Used </a:t>
            </a:r>
            <a:r>
              <a:rPr lang="en-US" b="1" dirty="0">
                <a:solidFill>
                  <a:srgbClr val="00B050"/>
                </a:solidFill>
                <a:latin typeface="Arial" panose="020B0604020202020204" pitchFamily="34" charset="0"/>
                <a:cs typeface="Arial" panose="020B0604020202020204" pitchFamily="34" charset="0"/>
              </a:rPr>
              <a:t>microprocessors</a:t>
            </a:r>
            <a:r>
              <a:rPr lang="en-US" dirty="0">
                <a:latin typeface="Arial" panose="020B0604020202020204" pitchFamily="34" charset="0"/>
                <a:cs typeface="Arial" panose="020B0604020202020204" pitchFamily="34" charset="0"/>
              </a:rPr>
              <a:t> where a single chip that contained the entire CPU, marked the beginning of this generation. This innovation led to the personal computer (PC) revolution. The rise of software ecosystems, with operating systems like MS-DOS, Windows, and Unix, and the development of a wide range of application software.; e.g. Intel 8080, Apple II and IBM PC  brought computing to homes and small businesses.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New architectures</a:t>
            </a:r>
          </a:p>
          <a:p>
            <a:pPr lvl="1" algn="just"/>
            <a:r>
              <a:rPr lang="en-US" dirty="0">
                <a:latin typeface="Arial" panose="020B0604020202020204" pitchFamily="34" charset="0"/>
                <a:cs typeface="Arial" panose="020B0604020202020204" pitchFamily="34" charset="0"/>
              </a:rPr>
              <a:t>32-bit vs 64-bits</a:t>
            </a:r>
          </a:p>
          <a:p>
            <a:pPr lvl="1" algn="just"/>
            <a:r>
              <a:rPr lang="en-US" dirty="0">
                <a:latin typeface="Arial" panose="020B0604020202020204" pitchFamily="34" charset="0"/>
                <a:cs typeface="Arial" panose="020B0604020202020204" pitchFamily="34" charset="0"/>
              </a:rPr>
              <a:t>Multiprocessors</a:t>
            </a:r>
          </a:p>
          <a:p>
            <a:pPr lvl="1" algn="just"/>
            <a:r>
              <a:rPr lang="en-US" dirty="0">
                <a:latin typeface="Arial" panose="020B0604020202020204" pitchFamily="34" charset="0"/>
                <a:cs typeface="Arial" panose="020B0604020202020204" pitchFamily="34" charset="0"/>
              </a:rPr>
              <a:t>Multicore</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085870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We are Living in Interesting Times …</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9340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Processor speed doubles every 18 months. Number of cores per chip doubles every 24 months.</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Disk capacity doubles very 12 months</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Applications are evolving</a:t>
            </a:r>
          </a:p>
          <a:p>
            <a:pPr lvl="1" algn="just"/>
            <a:r>
              <a:rPr lang="en-US" dirty="0">
                <a:latin typeface="Arial" panose="020B0604020202020204" pitchFamily="34" charset="0"/>
                <a:cs typeface="Arial" panose="020B0604020202020204" pitchFamily="34" charset="0"/>
              </a:rPr>
              <a:t>Desktop applications</a:t>
            </a:r>
          </a:p>
          <a:p>
            <a:pPr lvl="1" algn="just"/>
            <a:r>
              <a:rPr lang="en-US" dirty="0">
                <a:latin typeface="Arial" panose="020B0604020202020204" pitchFamily="34" charset="0"/>
                <a:cs typeface="Arial" panose="020B0604020202020204" pitchFamily="34" charset="0"/>
              </a:rPr>
              <a:t>Computer games</a:t>
            </a:r>
          </a:p>
          <a:p>
            <a:pPr lvl="1" algn="just"/>
            <a:r>
              <a:rPr lang="en-US" dirty="0">
                <a:latin typeface="Arial" panose="020B0604020202020204" pitchFamily="34" charset="0"/>
                <a:cs typeface="Arial" panose="020B0604020202020204" pitchFamily="34" charset="0"/>
              </a:rPr>
              <a:t>WWW (web servers)</a:t>
            </a:r>
          </a:p>
          <a:p>
            <a:pPr lvl="1" algn="just"/>
            <a:r>
              <a:rPr lang="en-US" dirty="0">
                <a:latin typeface="Arial" panose="020B0604020202020204" pitchFamily="34" charset="0"/>
                <a:cs typeface="Arial" panose="020B0604020202020204" pitchFamily="34" charset="0"/>
              </a:rPr>
              <a:t>Networked games</a:t>
            </a:r>
          </a:p>
          <a:p>
            <a:pPr lvl="1" algn="just"/>
            <a:r>
              <a:rPr lang="en-US" dirty="0">
                <a:latin typeface="Arial" panose="020B0604020202020204" pitchFamily="34" charset="0"/>
                <a:cs typeface="Arial" panose="020B0604020202020204" pitchFamily="34" charset="0"/>
              </a:rPr>
              <a:t>Peer-to-peer</a:t>
            </a:r>
          </a:p>
          <a:p>
            <a:pPr lvl="1" algn="just"/>
            <a:r>
              <a:rPr lang="en-US" dirty="0">
                <a:latin typeface="Arial" panose="020B0604020202020204" pitchFamily="34" charset="0"/>
                <a:cs typeface="Arial" panose="020B0604020202020204" pitchFamily="34" charset="0"/>
              </a:rPr>
              <a:t>Web 2.0 (YouTube, social networks)</a:t>
            </a:r>
          </a:p>
          <a:p>
            <a:pPr lvl="1" algn="just"/>
            <a:r>
              <a:rPr lang="en-US" dirty="0">
                <a:latin typeface="Arial" panose="020B0604020202020204" pitchFamily="34" charset="0"/>
                <a:cs typeface="Arial" panose="020B0604020202020204" pitchFamily="34" charset="0"/>
              </a:rPr>
              <a:t>Mobile Device applications</a:t>
            </a:r>
          </a:p>
          <a:p>
            <a:pPr lvl="1"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Performance/cost “sweet spot” constantly decaying</a:t>
            </a:r>
          </a:p>
        </p:txBody>
      </p:sp>
    </p:spTree>
    <p:custDataLst>
      <p:tags r:id="rId1"/>
    </p:custDataLst>
    <p:extLst>
      <p:ext uri="{BB962C8B-B14F-4D97-AF65-F5344CB8AC3E}">
        <p14:creationId xmlns:p14="http://schemas.microsoft.com/office/powerpoint/2010/main" val="3512604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Is there are perfect OS?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9340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Goals:</a:t>
            </a:r>
            <a:r>
              <a:rPr lang="en-US" dirty="0">
                <a:latin typeface="Arial" panose="020B0604020202020204" pitchFamily="34" charset="0"/>
                <a:cs typeface="Arial" panose="020B0604020202020204" pitchFamily="34" charset="0"/>
              </a:rPr>
              <a:t> Fairness, Efficiency, Portability, Interfaces, Security, Robustness, etc.</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Conflicting goals</a:t>
            </a:r>
          </a:p>
          <a:p>
            <a:pPr lvl="1" algn="just"/>
            <a:r>
              <a:rPr lang="en-US" dirty="0">
                <a:latin typeface="Arial" panose="020B0604020202020204" pitchFamily="34" charset="0"/>
                <a:cs typeface="Arial" panose="020B0604020202020204" pitchFamily="34" charset="0"/>
              </a:rPr>
              <a:t>Fairness vs efficiency</a:t>
            </a:r>
          </a:p>
          <a:p>
            <a:pPr lvl="1" algn="just"/>
            <a:r>
              <a:rPr lang="en-US" dirty="0">
                <a:latin typeface="Arial" panose="020B0604020202020204" pitchFamily="34" charset="0"/>
                <a:cs typeface="Arial" panose="020B0604020202020204" pitchFamily="34" charset="0"/>
              </a:rPr>
              <a:t>Efficiency vs portability</a:t>
            </a:r>
          </a:p>
          <a:p>
            <a:pPr lvl="1" algn="just"/>
            <a:r>
              <a:rPr lang="en-US" dirty="0">
                <a:latin typeface="Arial" panose="020B0604020202020204" pitchFamily="34" charset="0"/>
                <a:cs typeface="Arial" panose="020B0604020202020204" pitchFamily="34" charset="0"/>
              </a:rPr>
              <a:t>…</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Furthermore …</a:t>
            </a:r>
          </a:p>
        </p:txBody>
      </p:sp>
    </p:spTree>
    <p:custDataLst>
      <p:tags r:id="rId1"/>
    </p:custDataLst>
    <p:extLst>
      <p:ext uri="{BB962C8B-B14F-4D97-AF65-F5344CB8AC3E}">
        <p14:creationId xmlns:p14="http://schemas.microsoft.com/office/powerpoint/2010/main" val="133947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cstate="print"/>
          <a:srcRect/>
          <a:stretch>
            <a:fillRect/>
          </a:stretch>
        </p:blipFill>
        <p:spPr bwMode="auto">
          <a:xfrm>
            <a:off x="6884686" y="2029314"/>
            <a:ext cx="4202672" cy="4015886"/>
          </a:xfrm>
          <a:prstGeom prst="rect">
            <a:avLst/>
          </a:prstGeom>
          <a:noFill/>
          <a:ln w="9525">
            <a:noFill/>
            <a:miter lim="800000"/>
            <a:headEnd/>
            <a:tailEnd/>
          </a:ln>
          <a:effectLst/>
        </p:spPr>
      </p:pic>
      <p:sp>
        <p:nvSpPr>
          <p:cNvPr id="3074" name="Rectangle 2"/>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There is no Magic in OS design</a:t>
            </a:r>
            <a:endParaRPr lang="en-US" sz="4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9340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Nothing is permanent, high rate of change in hardware and applications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is Engineering</a:t>
            </a:r>
          </a:p>
          <a:p>
            <a:pPr lvl="1" algn="just"/>
            <a:r>
              <a:rPr lang="en-US" dirty="0">
                <a:latin typeface="Arial" panose="020B0604020202020204" pitchFamily="34" charset="0"/>
                <a:cs typeface="Arial" panose="020B0604020202020204" pitchFamily="34" charset="0"/>
              </a:rPr>
              <a:t>Imperfection</a:t>
            </a:r>
          </a:p>
          <a:p>
            <a:pPr lvl="1" algn="just"/>
            <a:r>
              <a:rPr lang="en-US" dirty="0">
                <a:latin typeface="Arial" panose="020B0604020202020204" pitchFamily="34" charset="0"/>
                <a:cs typeface="Arial" panose="020B0604020202020204" pitchFamily="34" charset="0"/>
              </a:rPr>
              <a:t>Tradeoffs (performance/functionality)</a:t>
            </a:r>
          </a:p>
          <a:p>
            <a:pPr lvl="1" algn="just"/>
            <a:r>
              <a:rPr lang="en-US" dirty="0">
                <a:latin typeface="Arial" panose="020B0604020202020204" pitchFamily="34" charset="0"/>
                <a:cs typeface="Arial" panose="020B0604020202020204" pitchFamily="34" charset="0"/>
              </a:rPr>
              <a:t>Constraints</a:t>
            </a:r>
          </a:p>
          <a:p>
            <a:pPr lvl="2" algn="just"/>
            <a:r>
              <a:rPr lang="en-US" dirty="0">
                <a:latin typeface="Arial" panose="020B0604020202020204" pitchFamily="34" charset="0"/>
                <a:cs typeface="Arial" panose="020B0604020202020204" pitchFamily="34" charset="0"/>
              </a:rPr>
              <a:t>Hardware, cost, time, power</a:t>
            </a:r>
          </a:p>
          <a:p>
            <a:pPr algn="just"/>
            <a:r>
              <a:rPr lang="en-US" dirty="0">
                <a:latin typeface="Arial" panose="020B0604020202020204" pitchFamily="34" charset="0"/>
                <a:cs typeface="Arial" panose="020B0604020202020204" pitchFamily="34" charset="0"/>
              </a:rPr>
              <a:t>Optimizations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Cost/benefit analyses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One good news: Inertia of a few design principles.</a:t>
            </a:r>
          </a:p>
        </p:txBody>
      </p:sp>
    </p:spTree>
    <p:custDataLst>
      <p:tags r:id="rId1"/>
    </p:custDataLst>
    <p:extLst>
      <p:ext uri="{BB962C8B-B14F-4D97-AF65-F5344CB8AC3E}">
        <p14:creationId xmlns:p14="http://schemas.microsoft.com/office/powerpoint/2010/main" val="81608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Separating Policy from Mechanism</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9340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fundamental design principle in Computer Science</a:t>
            </a:r>
          </a:p>
          <a:p>
            <a:pPr algn="just"/>
            <a:endParaRPr lang="en-US"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Policy </a:t>
            </a:r>
            <a:r>
              <a:rPr lang="en-US" dirty="0">
                <a:latin typeface="Arial" panose="020B0604020202020204" pitchFamily="34" charset="0"/>
                <a:cs typeface="Arial" panose="020B0604020202020204" pitchFamily="34" charset="0"/>
              </a:rPr>
              <a:t>– decisions on what effect should be achieved</a:t>
            </a:r>
          </a:p>
          <a:p>
            <a:pPr lvl="1" algn="just"/>
            <a:r>
              <a:rPr lang="en-US" dirty="0">
                <a:latin typeface="Arial" panose="020B0604020202020204" pitchFamily="34" charset="0"/>
                <a:cs typeface="Arial" panose="020B0604020202020204" pitchFamily="34" charset="0"/>
              </a:rPr>
              <a:t>Examples:</a:t>
            </a:r>
          </a:p>
          <a:p>
            <a:pPr lvl="2" algn="just"/>
            <a:r>
              <a:rPr lang="en-US" dirty="0">
                <a:latin typeface="Arial" panose="020B0604020202020204" pitchFamily="34" charset="0"/>
                <a:cs typeface="Arial" panose="020B0604020202020204" pitchFamily="34" charset="0"/>
              </a:rPr>
              <a:t>All users treated equally</a:t>
            </a:r>
          </a:p>
          <a:p>
            <a:pPr lvl="2" algn="just"/>
            <a:r>
              <a:rPr lang="en-US" dirty="0">
                <a:latin typeface="Arial" panose="020B0604020202020204" pitchFamily="34" charset="0"/>
                <a:cs typeface="Arial" panose="020B0604020202020204" pitchFamily="34" charset="0"/>
              </a:rPr>
              <a:t>All program instances treated equally</a:t>
            </a:r>
          </a:p>
          <a:p>
            <a:pPr lvl="2" algn="just"/>
            <a:r>
              <a:rPr lang="en-US" dirty="0">
                <a:latin typeface="Arial" panose="020B0604020202020204" pitchFamily="34" charset="0"/>
                <a:cs typeface="Arial" panose="020B0604020202020204" pitchFamily="34" charset="0"/>
              </a:rPr>
              <a:t>Preferred users treated better</a:t>
            </a:r>
          </a:p>
          <a:p>
            <a:pPr algn="just"/>
            <a:endParaRPr lang="en-US"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Mechanism</a:t>
            </a:r>
            <a:r>
              <a:rPr lang="en-US" dirty="0">
                <a:latin typeface="Arial" panose="020B0604020202020204" pitchFamily="34" charset="0"/>
                <a:cs typeface="Arial" panose="020B0604020202020204" pitchFamily="34" charset="0"/>
              </a:rPr>
              <a:t> – tool/implementation to achieve some effect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Separation leads to flexibility</a:t>
            </a:r>
          </a:p>
        </p:txBody>
      </p:sp>
    </p:spTree>
    <p:custDataLst>
      <p:tags r:id="rId1"/>
    </p:custDataLst>
    <p:extLst>
      <p:ext uri="{BB962C8B-B14F-4D97-AF65-F5344CB8AC3E}">
        <p14:creationId xmlns:p14="http://schemas.microsoft.com/office/powerpoint/2010/main" val="296873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Evolution of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51649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Early OS</a:t>
            </a:r>
            <a:r>
              <a:rPr lang="en-US" dirty="0">
                <a:latin typeface="Arial" panose="020B0604020202020204" pitchFamily="34" charset="0"/>
                <a:cs typeface="Arial" panose="020B0604020202020204" pitchFamily="34" charset="0"/>
              </a:rPr>
              <a:t>: Batch processing, no direct user interaction.</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1960s</a:t>
            </a:r>
            <a:r>
              <a:rPr lang="en-US" dirty="0">
                <a:latin typeface="Arial" panose="020B0604020202020204" pitchFamily="34" charset="0"/>
                <a:cs typeface="Arial" panose="020B0604020202020204" pitchFamily="34" charset="0"/>
              </a:rPr>
              <a:t>: Multiprogramming and time-sharing introduced.</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1970s-1980s</a:t>
            </a:r>
            <a:r>
              <a:rPr lang="en-US" dirty="0">
                <a:latin typeface="Arial" panose="020B0604020202020204" pitchFamily="34" charset="0"/>
                <a:cs typeface="Arial" panose="020B0604020202020204" pitchFamily="34" charset="0"/>
              </a:rPr>
              <a:t>: Unix and early personal computer operating systems.</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1980s-1990s</a:t>
            </a:r>
            <a:r>
              <a:rPr lang="en-US" dirty="0">
                <a:latin typeface="Arial" panose="020B0604020202020204" pitchFamily="34" charset="0"/>
                <a:cs typeface="Arial" panose="020B0604020202020204" pitchFamily="34" charset="0"/>
              </a:rPr>
              <a:t>: Graphical user interfaces (GUIs) become mainstream. Multiprocessor and networked/distributed systems introduced.</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2000s-Present</a:t>
            </a:r>
            <a:r>
              <a:rPr lang="en-US" dirty="0">
                <a:latin typeface="Arial" panose="020B0604020202020204" pitchFamily="34" charset="0"/>
                <a:cs typeface="Arial" panose="020B0604020202020204" pitchFamily="34" charset="0"/>
              </a:rPr>
              <a:t>: Rise of mobile OS, cloud integration, security, and virtualization.</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Future</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IoT, edge computing, and AI-driven operating systems continue to evolve.</a:t>
            </a:r>
          </a:p>
        </p:txBody>
      </p:sp>
    </p:spTree>
    <p:custDataLst>
      <p:tags r:id="rId1"/>
    </p:custDataLst>
    <p:extLst>
      <p:ext uri="{BB962C8B-B14F-4D97-AF65-F5344CB8AC3E}">
        <p14:creationId xmlns:p14="http://schemas.microsoft.com/office/powerpoint/2010/main" val="2873058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Types of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551663"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1800" b="1" dirty="0">
                <a:solidFill>
                  <a:srgbClr val="FF0000"/>
                </a:solidFill>
                <a:latin typeface="Arial" panose="020B0604020202020204" pitchFamily="34" charset="0"/>
                <a:cs typeface="Arial" panose="020B0604020202020204" pitchFamily="34" charset="0"/>
              </a:rPr>
              <a:t>Batch OS</a:t>
            </a:r>
            <a:r>
              <a:rPr lang="en-US" sz="1800" dirty="0">
                <a:latin typeface="Arial" panose="020B0604020202020204" pitchFamily="34" charset="0"/>
                <a:cs typeface="Arial" panose="020B0604020202020204" pitchFamily="34" charset="0"/>
              </a:rPr>
              <a:t>: Processes jobs in batches, with no user interaction.</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Single-User, Single-Tasking OS: </a:t>
            </a:r>
            <a:r>
              <a:rPr lang="en-US" sz="1800" dirty="0">
                <a:latin typeface="Arial" panose="020B0604020202020204" pitchFamily="34" charset="0"/>
                <a:cs typeface="Arial" panose="020B0604020202020204" pitchFamily="34" charset="0"/>
              </a:rPr>
              <a:t>Simple systems for single-task operations.</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Single-User, Multi-Tasking OS: </a:t>
            </a:r>
            <a:r>
              <a:rPr lang="en-US" sz="1800" dirty="0">
                <a:latin typeface="Arial" panose="020B0604020202020204" pitchFamily="34" charset="0"/>
                <a:cs typeface="Arial" panose="020B0604020202020204" pitchFamily="34" charset="0"/>
              </a:rPr>
              <a:t>Allows one user to run multiple tasks simultaneously.</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Multi-User OS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Supports multiple users accessing the system concurrently.</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Time-Sharing OS</a:t>
            </a:r>
            <a:r>
              <a:rPr lang="en-US" sz="1800" dirty="0">
                <a:latin typeface="Arial" panose="020B0604020202020204" pitchFamily="34" charset="0"/>
                <a:cs typeface="Arial" panose="020B0604020202020204" pitchFamily="34" charset="0"/>
              </a:rPr>
              <a:t>: Multiple users share the system resources simultaneously.</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Distributed OS</a:t>
            </a:r>
            <a:r>
              <a:rPr lang="en-US" sz="1800" dirty="0">
                <a:latin typeface="Arial" panose="020B0604020202020204" pitchFamily="34" charset="0"/>
                <a:cs typeface="Arial" panose="020B0604020202020204" pitchFamily="34" charset="0"/>
              </a:rPr>
              <a:t>:  Manages a group of independent computers to work together as a single system.</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Network OS</a:t>
            </a:r>
            <a:r>
              <a:rPr lang="en-US" sz="1800" dirty="0">
                <a:latin typeface="Arial" panose="020B0604020202020204" pitchFamily="34" charset="0"/>
                <a:cs typeface="Arial" panose="020B0604020202020204" pitchFamily="34" charset="0"/>
              </a:rPr>
              <a:t>: Manages network resources and supports multiple computers on a network.</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RTOS</a:t>
            </a:r>
            <a:r>
              <a:rPr lang="en-US" sz="1800" dirty="0">
                <a:latin typeface="Arial" panose="020B0604020202020204" pitchFamily="34" charset="0"/>
                <a:cs typeface="Arial" panose="020B0604020202020204" pitchFamily="34" charset="0"/>
              </a:rPr>
              <a:t>: Handles real-time tasks with strict timing constraints.</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Embedded OS</a:t>
            </a:r>
            <a:r>
              <a:rPr lang="en-US" sz="1800" b="1" dirty="0">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 Designed for embedded systems within devices.</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Mobile OS</a:t>
            </a:r>
            <a:r>
              <a:rPr lang="en-US" sz="1800" b="1" dirty="0">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 Optimized for mobile devices with touch interfaces.</a:t>
            </a:r>
          </a:p>
          <a:p>
            <a:pPr algn="just"/>
            <a:endParaRPr lang="en-US" sz="1050" b="1" dirty="0">
              <a:solidFill>
                <a:srgbClr val="FF0000"/>
              </a:solidFill>
              <a:latin typeface="Arial" panose="020B0604020202020204" pitchFamily="34" charset="0"/>
              <a:cs typeface="Arial" panose="020B0604020202020204" pitchFamily="34" charset="0"/>
            </a:endParaRPr>
          </a:p>
          <a:p>
            <a:pPr algn="just"/>
            <a:r>
              <a:rPr lang="en-US" sz="1800" b="1" dirty="0">
                <a:solidFill>
                  <a:srgbClr val="FF0000"/>
                </a:solidFill>
                <a:latin typeface="Arial" panose="020B0604020202020204" pitchFamily="34" charset="0"/>
                <a:cs typeface="Arial" panose="020B0604020202020204" pitchFamily="34" charset="0"/>
              </a:rPr>
              <a:t>Cloud OS</a:t>
            </a:r>
            <a:r>
              <a:rPr lang="en-US" sz="1800" b="1" dirty="0">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 Manages resources in a cloud computing environment.</a:t>
            </a:r>
          </a:p>
        </p:txBody>
      </p:sp>
    </p:spTree>
    <p:custDataLst>
      <p:tags r:id="rId1"/>
    </p:custDataLst>
    <p:extLst>
      <p:ext uri="{BB962C8B-B14F-4D97-AF65-F5344CB8AC3E}">
        <p14:creationId xmlns:p14="http://schemas.microsoft.com/office/powerpoint/2010/main" val="14228342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Batch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55166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In batch processing systems, tasks are collected and processed in batches without user interaction. Jobs are prepared and queued, then executed sequentially by the operating system.</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Common in early computing for tasks like payroll processing, scientific calculations, and large-scale data processing.</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IBM's early batch processing systems used on mainframes.</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666888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Single-User, Single-Tasking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55166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These OSes are designed to manage the computer so that a single user can perform one task at a time. They are simple and require fewer resources compared to multitasking OSes.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Older personal computers and devices with very limited resources.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MS-DOS (early versions), Palm OS for early PDAs.</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872144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Single-User, Multi-Tasking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most common type of OS today, these systems allow a single user to run multiple applications simultaneously. The OS manages memory and CPU time among different tasks.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General-purpose computing, including desktops, laptops, and mobile devices.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Microsoft Windows, macOS, Linux, Android, iOS.</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211034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Multi-User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49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multi-user OS allows multiple users to access the computer’s resources simultaneously. It manages user sessions and resources to ensure that each user has fair access.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environments where multiple users need to share the same resources, such as servers, mainframes, and cloud environments.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UNIX, Linux, Windows Server, IBM z/OS.</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900822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Time-Sharing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Time-sharing systems allow multiple users to share the computer's resources simultaneously. The OS switches between tasks rapidly, giving the illusion that each user has their own dedicated machine.</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environments where multiple users need to interact with the computer at the same time, like in universities or research labs.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UNIX, Compatible Time-Sharing System (CTSS).</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1840217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Distributed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In a distributed OS, multiple computers (or nodes) are connected and work together to appear as a single system to the user. Resources are shared across these machines, and the OS manages them to optimize performance and reliability.</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networked environments like data centers, cloud computing, and distributed databases.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Apache Hadoop, Google’s MapReduce, Amoeba.</a:t>
            </a:r>
            <a:endParaRPr lang="en-US" sz="1800" b="1" dirty="0">
              <a:solidFill>
                <a:srgbClr val="FF0000"/>
              </a:solidFill>
              <a:latin typeface="Arial" panose="020B0604020202020204" pitchFamily="34" charset="0"/>
              <a:cs typeface="Arial" panose="020B0604020202020204" pitchFamily="34" charset="0"/>
            </a:endParaRPr>
          </a:p>
          <a:p>
            <a:pPr algn="just"/>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773993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Network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 network OS is designed to manage network resources, such as file servers, printers, and other shared devices. It allows multiple computers to communicate and share resources over a network.</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Common in environments where multiple computers need to communicate over a network, such as in business networks and educational institutions.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Novell NetWare, Microsoft Windows Server, UNIX-based servers.</a:t>
            </a:r>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252567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Real-Time Operating Systems (RTOS)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 RTOS is designed to process data and events in real time with minimal latency. It ensures that tasks are executed within a strict time constraint, often necessary in critical systems.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systems where timing is crucial, such as embedded systems, medical devices, automotive systems, and industrial control systems.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VxWorks, </a:t>
            </a:r>
            <a:r>
              <a:rPr lang="en-US" dirty="0" err="1">
                <a:latin typeface="Arial" panose="020B0604020202020204" pitchFamily="34" charset="0"/>
                <a:cs typeface="Arial" panose="020B0604020202020204" pitchFamily="34" charset="0"/>
              </a:rPr>
              <a:t>FreeRTOS</a:t>
            </a:r>
            <a:r>
              <a:rPr lang="en-US" dirty="0">
                <a:latin typeface="Arial" panose="020B0604020202020204" pitchFamily="34" charset="0"/>
                <a:cs typeface="Arial" panose="020B0604020202020204" pitchFamily="34" charset="0"/>
              </a:rPr>
              <a:t>, QNX.</a:t>
            </a:r>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2142009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Embedded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Embedded OSes are designed to operate within embedded systems—computers that are part of a larger device. They are optimized for specific tasks and typically have limited resources.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devices like smartphones, routers, home appliances, and automotive systems.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Embedded Linux, Windows Embedded, RTOS-based systems.</a:t>
            </a:r>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8096115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Mobile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Mobile OSes are designed specifically for mobile devices like smartphones and tablets. They manage resources and user interfaces optimized for touch screens and mobile hardware.</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smartphones, tablets, and other portable devices.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Android, iOS, Windows Phone (discontinued).</a:t>
            </a:r>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6576378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Cloud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Description</a:t>
            </a:r>
            <a:r>
              <a:rPr lang="en-US"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Cloud OSes are designed to manage cloud infrastructure, enabling virtualized resources, scalability, and on-demand computing. They often integrate with cloud platforms and services.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Use Case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in cloud computing environments, such as data centers and virtualized services.</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Example</a:t>
            </a:r>
            <a:r>
              <a:rPr lang="en-US" dirty="0">
                <a:solidFill>
                  <a:srgbClr val="00B05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OpenStack, AWS Cloud OS, Google Cloud Platform.</a:t>
            </a:r>
            <a:endParaRPr lang="en-US" sz="105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9567460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Computer System Environments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Each type of operating system is tailored to meet the specific requirements of different computing environments and user needs.</a:t>
            </a:r>
          </a:p>
          <a:p>
            <a:pPr lvl="1" algn="just"/>
            <a:r>
              <a:rPr lang="en-US" dirty="0">
                <a:latin typeface="Arial" panose="020B0604020202020204" pitchFamily="34" charset="0"/>
                <a:cs typeface="Arial" panose="020B0604020202020204" pitchFamily="34" charset="0"/>
              </a:rPr>
              <a:t>Traditional</a:t>
            </a:r>
          </a:p>
          <a:p>
            <a:pPr lvl="1" algn="just"/>
            <a:r>
              <a:rPr lang="en-US" dirty="0">
                <a:latin typeface="Arial" panose="020B0604020202020204" pitchFamily="34" charset="0"/>
                <a:cs typeface="Arial" panose="020B0604020202020204" pitchFamily="34" charset="0"/>
              </a:rPr>
              <a:t>Mobile</a:t>
            </a:r>
          </a:p>
          <a:p>
            <a:pPr lvl="1" algn="just"/>
            <a:r>
              <a:rPr lang="en-US" dirty="0">
                <a:latin typeface="Arial" panose="020B0604020202020204" pitchFamily="34" charset="0"/>
                <a:cs typeface="Arial" panose="020B0604020202020204" pitchFamily="34" charset="0"/>
              </a:rPr>
              <a:t>Client Server</a:t>
            </a:r>
          </a:p>
          <a:p>
            <a:pPr lvl="1" algn="just"/>
            <a:r>
              <a:rPr lang="en-US" dirty="0">
                <a:latin typeface="Arial" panose="020B0604020202020204" pitchFamily="34" charset="0"/>
                <a:cs typeface="Arial" panose="020B0604020202020204" pitchFamily="34" charset="0"/>
              </a:rPr>
              <a:t>Peer-to-Peer</a:t>
            </a:r>
          </a:p>
          <a:p>
            <a:pPr lvl="1" algn="just"/>
            <a:r>
              <a:rPr lang="en-US" dirty="0">
                <a:latin typeface="Arial" panose="020B0604020202020204" pitchFamily="34" charset="0"/>
                <a:cs typeface="Arial" panose="020B0604020202020204" pitchFamily="34" charset="0"/>
              </a:rPr>
              <a:t>Virtualization</a:t>
            </a:r>
          </a:p>
          <a:p>
            <a:pPr lvl="1" algn="just"/>
            <a:r>
              <a:rPr lang="en-US" dirty="0">
                <a:latin typeface="Arial" panose="020B0604020202020204" pitchFamily="34" charset="0"/>
                <a:cs typeface="Arial" panose="020B0604020202020204" pitchFamily="34" charset="0"/>
              </a:rPr>
              <a:t>Cloud Computing</a:t>
            </a:r>
          </a:p>
          <a:p>
            <a:pPr lvl="1" algn="just"/>
            <a:r>
              <a:rPr lang="en-US" dirty="0">
                <a:latin typeface="Arial" panose="020B0604020202020204" pitchFamily="34" charset="0"/>
                <a:cs typeface="Arial" panose="020B0604020202020204" pitchFamily="34" charset="0"/>
              </a:rPr>
              <a:t>Real-time Embedded</a:t>
            </a:r>
          </a:p>
        </p:txBody>
      </p:sp>
    </p:spTree>
    <p:custDataLst>
      <p:tags r:id="rId1"/>
    </p:custDataLst>
    <p:extLst>
      <p:ext uri="{BB962C8B-B14F-4D97-AF65-F5344CB8AC3E}">
        <p14:creationId xmlns:p14="http://schemas.microsoft.com/office/powerpoint/2010/main" val="3064409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Traditional</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Stand-alone general-purpose machines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But blurred as most systems interconnect with others (i.e., the Internet)</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Portals</a:t>
            </a:r>
            <a:r>
              <a:rPr lang="en-US" dirty="0">
                <a:latin typeface="Arial" panose="020B0604020202020204" pitchFamily="34" charset="0"/>
                <a:cs typeface="Arial" panose="020B0604020202020204" pitchFamily="34" charset="0"/>
              </a:rPr>
              <a:t> provide web access to internal systems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Network computers (thin clients) </a:t>
            </a:r>
            <a:r>
              <a:rPr lang="en-US" dirty="0">
                <a:latin typeface="Arial" panose="020B0604020202020204" pitchFamily="34" charset="0"/>
                <a:cs typeface="Arial" panose="020B0604020202020204" pitchFamily="34" charset="0"/>
              </a:rPr>
              <a:t>are like Web terminals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Mobile computers interconnect via </a:t>
            </a:r>
            <a:r>
              <a:rPr lang="en-US" b="1" dirty="0">
                <a:solidFill>
                  <a:srgbClr val="FF0000"/>
                </a:solidFill>
                <a:latin typeface="Arial" panose="020B0604020202020204" pitchFamily="34" charset="0"/>
                <a:cs typeface="Arial" panose="020B0604020202020204" pitchFamily="34" charset="0"/>
              </a:rPr>
              <a:t>wireless networks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Networking becoming ubiquitous – even home systems use </a:t>
            </a:r>
            <a:r>
              <a:rPr lang="en-US" b="1" dirty="0">
                <a:solidFill>
                  <a:srgbClr val="FF0000"/>
                </a:solidFill>
                <a:latin typeface="Arial" panose="020B0604020202020204" pitchFamily="34" charset="0"/>
                <a:cs typeface="Arial" panose="020B0604020202020204" pitchFamily="34" charset="0"/>
              </a:rPr>
              <a:t>firewalls</a:t>
            </a:r>
            <a:r>
              <a:rPr lang="en-US" dirty="0">
                <a:latin typeface="Arial" panose="020B0604020202020204" pitchFamily="34" charset="0"/>
                <a:cs typeface="Arial" panose="020B0604020202020204" pitchFamily="34" charset="0"/>
              </a:rPr>
              <a:t> to protect home computers from Internet attacks</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5676017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Mobile</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59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Handheld smartphones, tablets, etc.</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What is the functional difference between them and a “traditional” laptop?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Extra feature – more OS features (GPS, gyroscope)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Allows new types of apps like </a:t>
            </a:r>
            <a:r>
              <a:rPr lang="en-US" b="1" dirty="0">
                <a:solidFill>
                  <a:srgbClr val="00B050"/>
                </a:solidFill>
                <a:latin typeface="Arial" panose="020B0604020202020204" pitchFamily="34" charset="0"/>
                <a:cs typeface="Arial" panose="020B0604020202020204" pitchFamily="34" charset="0"/>
              </a:rPr>
              <a:t>augmented reality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 IEEE 802.11 wireless, or cellular data networks for connectivity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Leaders are </a:t>
            </a:r>
            <a:r>
              <a:rPr lang="en-US" b="1" dirty="0">
                <a:solidFill>
                  <a:srgbClr val="FF0000"/>
                </a:solidFill>
                <a:latin typeface="Arial" panose="020B0604020202020204" pitchFamily="34" charset="0"/>
                <a:cs typeface="Arial" panose="020B0604020202020204" pitchFamily="34" charset="0"/>
              </a:rPr>
              <a:t>Apple iOS</a:t>
            </a:r>
            <a:r>
              <a:rPr lang="en-US" dirty="0">
                <a:latin typeface="Arial" panose="020B0604020202020204" pitchFamily="34" charset="0"/>
                <a:cs typeface="Arial" panose="020B0604020202020204" pitchFamily="34" charset="0"/>
              </a:rPr>
              <a:t> and </a:t>
            </a:r>
            <a:r>
              <a:rPr lang="en-US" b="1" dirty="0">
                <a:solidFill>
                  <a:srgbClr val="FF0000"/>
                </a:solidFill>
                <a:latin typeface="Arial" panose="020B0604020202020204" pitchFamily="34" charset="0"/>
                <a:cs typeface="Arial" panose="020B0604020202020204" pitchFamily="34" charset="0"/>
              </a:rPr>
              <a:t>Google Android</a:t>
            </a:r>
          </a:p>
        </p:txBody>
      </p:sp>
    </p:spTree>
    <p:custDataLst>
      <p:tags r:id="rId1"/>
    </p:custDataLst>
    <p:extLst>
      <p:ext uri="{BB962C8B-B14F-4D97-AF65-F5344CB8AC3E}">
        <p14:creationId xmlns:p14="http://schemas.microsoft.com/office/powerpoint/2010/main" val="10766538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Client-Server</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974277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Client-Server Computing: Dumb terminals supplanted by smart PCs. Many systems now </a:t>
            </a:r>
            <a:r>
              <a:rPr lang="en-US" b="1" dirty="0">
                <a:solidFill>
                  <a:srgbClr val="FF0000"/>
                </a:solidFill>
                <a:latin typeface="Arial" panose="020B0604020202020204" pitchFamily="34" charset="0"/>
                <a:cs typeface="Arial" panose="020B0604020202020204" pitchFamily="34" charset="0"/>
              </a:rPr>
              <a:t>servers</a:t>
            </a:r>
            <a:r>
              <a:rPr lang="en-US" dirty="0">
                <a:latin typeface="Arial" panose="020B0604020202020204" pitchFamily="34" charset="0"/>
                <a:cs typeface="Arial" panose="020B0604020202020204" pitchFamily="34" charset="0"/>
              </a:rPr>
              <a:t>, responding to requests generated by </a:t>
            </a:r>
            <a:r>
              <a:rPr lang="en-US" b="1" dirty="0">
                <a:solidFill>
                  <a:srgbClr val="FF0000"/>
                </a:solidFill>
                <a:latin typeface="Arial" panose="020B0604020202020204" pitchFamily="34" charset="0"/>
                <a:cs typeface="Arial" panose="020B0604020202020204" pitchFamily="34" charset="0"/>
              </a:rPr>
              <a:t>clients</a:t>
            </a:r>
          </a:p>
          <a:p>
            <a:pPr lvl="1" algn="just"/>
            <a:r>
              <a:rPr lang="en-US" b="1" dirty="0">
                <a:solidFill>
                  <a:srgbClr val="FF0000"/>
                </a:solidFill>
                <a:latin typeface="Arial" panose="020B0604020202020204" pitchFamily="34" charset="0"/>
                <a:cs typeface="Arial" panose="020B0604020202020204" pitchFamily="34" charset="0"/>
              </a:rPr>
              <a:t>Compute-server system </a:t>
            </a:r>
            <a:r>
              <a:rPr lang="en-US" dirty="0">
                <a:latin typeface="Arial" panose="020B0604020202020204" pitchFamily="34" charset="0"/>
                <a:cs typeface="Arial" panose="020B0604020202020204" pitchFamily="34" charset="0"/>
              </a:rPr>
              <a:t>provides an interface to client to request services (i.e., database)</a:t>
            </a:r>
          </a:p>
          <a:p>
            <a:pPr lvl="1" algn="just"/>
            <a:r>
              <a:rPr lang="en-US" b="1" dirty="0">
                <a:solidFill>
                  <a:srgbClr val="FF0000"/>
                </a:solidFill>
                <a:latin typeface="Arial" panose="020B0604020202020204" pitchFamily="34" charset="0"/>
                <a:cs typeface="Arial" panose="020B0604020202020204" pitchFamily="34" charset="0"/>
              </a:rPr>
              <a:t>File-server system</a:t>
            </a:r>
            <a:r>
              <a:rPr lang="en-US" dirty="0">
                <a:latin typeface="Arial" panose="020B0604020202020204" pitchFamily="34" charset="0"/>
                <a:cs typeface="Arial" panose="020B0604020202020204" pitchFamily="34" charset="0"/>
              </a:rPr>
              <a:t> provides interface for clients to store and retrieve files</a:t>
            </a:r>
          </a:p>
        </p:txBody>
      </p:sp>
      <p:pic>
        <p:nvPicPr>
          <p:cNvPr id="2" name="Picture 1" descr="1_18.pdf">
            <a:extLst>
              <a:ext uri="{FF2B5EF4-FFF2-40B4-BE49-F238E27FC236}">
                <a16:creationId xmlns:a16="http://schemas.microsoft.com/office/drawing/2014/main" id="{B698FFBA-ADF3-F9D8-1F8F-884E6B89DCC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67013" y="3654131"/>
            <a:ext cx="5497756" cy="2391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29592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Peer-to-Peer</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Another model of distributed system</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P2P does not distinguish clients and servers</a:t>
            </a:r>
          </a:p>
          <a:p>
            <a:pPr lvl="1" algn="just"/>
            <a:r>
              <a:rPr lang="en-US" dirty="0">
                <a:latin typeface="Arial" panose="020B0604020202020204" pitchFamily="34" charset="0"/>
                <a:cs typeface="Arial" panose="020B0604020202020204" pitchFamily="34" charset="0"/>
              </a:rPr>
              <a:t>Instead, all nodes are considered peers</a:t>
            </a:r>
          </a:p>
          <a:p>
            <a:pPr lvl="1" algn="just"/>
            <a:r>
              <a:rPr lang="en-US" dirty="0">
                <a:latin typeface="Arial" panose="020B0604020202020204" pitchFamily="34" charset="0"/>
                <a:cs typeface="Arial" panose="020B0604020202020204" pitchFamily="34" charset="0"/>
              </a:rPr>
              <a:t>May each act as client, server or both</a:t>
            </a:r>
          </a:p>
          <a:p>
            <a:pPr lvl="1" algn="just"/>
            <a:r>
              <a:rPr lang="en-US" dirty="0">
                <a:latin typeface="Arial" panose="020B0604020202020204" pitchFamily="34" charset="0"/>
                <a:cs typeface="Arial" panose="020B0604020202020204" pitchFamily="34" charset="0"/>
              </a:rPr>
              <a:t>Node must join P2P network</a:t>
            </a:r>
          </a:p>
          <a:p>
            <a:pPr lvl="2" algn="just"/>
            <a:r>
              <a:rPr lang="en-US" dirty="0">
                <a:latin typeface="Arial" panose="020B0604020202020204" pitchFamily="34" charset="0"/>
                <a:cs typeface="Arial" panose="020B0604020202020204" pitchFamily="34" charset="0"/>
              </a:rPr>
              <a:t>Registers its service with central lookup service on network, or</a:t>
            </a:r>
          </a:p>
          <a:p>
            <a:pPr lvl="2" algn="just"/>
            <a:r>
              <a:rPr lang="en-US" dirty="0">
                <a:latin typeface="Arial" panose="020B0604020202020204" pitchFamily="34" charset="0"/>
                <a:cs typeface="Arial" panose="020B0604020202020204" pitchFamily="34" charset="0"/>
              </a:rPr>
              <a:t>Broadcast request for service and respond to requests for service via </a:t>
            </a:r>
            <a:r>
              <a:rPr lang="en-US" b="1" dirty="0">
                <a:solidFill>
                  <a:srgbClr val="00B050"/>
                </a:solidFill>
                <a:latin typeface="Arial" panose="020B0604020202020204" pitchFamily="34" charset="0"/>
                <a:cs typeface="Arial" panose="020B0604020202020204" pitchFamily="34" charset="0"/>
              </a:rPr>
              <a:t>discovery protocol</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 include Napster and Gnutella, </a:t>
            </a:r>
            <a:r>
              <a:rPr lang="en-US" b="1" dirty="0">
                <a:solidFill>
                  <a:srgbClr val="FF0000"/>
                </a:solidFill>
                <a:latin typeface="Arial" panose="020B0604020202020204" pitchFamily="34" charset="0"/>
                <a:cs typeface="Arial" panose="020B0604020202020204" pitchFamily="34" charset="0"/>
              </a:rPr>
              <a:t>Voice over IP (VoIP)</a:t>
            </a:r>
            <a:r>
              <a:rPr lang="en-US" dirty="0">
                <a:latin typeface="Arial" panose="020B0604020202020204" pitchFamily="34" charset="0"/>
                <a:cs typeface="Arial" panose="020B0604020202020204" pitchFamily="34" charset="0"/>
              </a:rPr>
              <a:t> such as Skype </a:t>
            </a:r>
          </a:p>
          <a:p>
            <a:pPr lvl="1" algn="just"/>
            <a:endParaRPr lang="en-US" dirty="0">
              <a:latin typeface="Arial" panose="020B0604020202020204" pitchFamily="34" charset="0"/>
              <a:cs typeface="Arial" panose="020B0604020202020204" pitchFamily="34" charset="0"/>
            </a:endParaRPr>
          </a:p>
        </p:txBody>
      </p:sp>
      <p:pic>
        <p:nvPicPr>
          <p:cNvPr id="4" name="Picture 1" descr="1_19.pdf">
            <a:extLst>
              <a:ext uri="{FF2B5EF4-FFF2-40B4-BE49-F238E27FC236}">
                <a16:creationId xmlns:a16="http://schemas.microsoft.com/office/drawing/2014/main" id="{ECDA0B10-ABE4-FE3D-E55E-F70BEC3FEFE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03453" y="1453241"/>
            <a:ext cx="2961419" cy="2249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4324817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Virtualization</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2"/>
            <a:ext cx="10332720" cy="521132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Allows operating systems to run applications within other operating systems</a:t>
            </a:r>
          </a:p>
          <a:p>
            <a:pPr lvl="1" algn="just"/>
            <a:r>
              <a:rPr lang="en-US" dirty="0">
                <a:latin typeface="Arial" panose="020B0604020202020204" pitchFamily="34" charset="0"/>
                <a:cs typeface="Arial" panose="020B0604020202020204" pitchFamily="34" charset="0"/>
              </a:rPr>
              <a:t>Vast and growing industry</a:t>
            </a:r>
          </a:p>
          <a:p>
            <a:pPr lvl="1"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Emulation</a:t>
            </a:r>
            <a:r>
              <a:rPr lang="en-US" dirty="0">
                <a:latin typeface="Arial" panose="020B0604020202020204" pitchFamily="34" charset="0"/>
                <a:cs typeface="Arial" panose="020B0604020202020204" pitchFamily="34" charset="0"/>
              </a:rPr>
              <a:t> used when source CPU type different from target type (i.e. PowerPC to Intel x86)</a:t>
            </a:r>
          </a:p>
          <a:p>
            <a:pPr lvl="1" algn="just"/>
            <a:r>
              <a:rPr lang="en-US" dirty="0">
                <a:latin typeface="Arial" panose="020B0604020202020204" pitchFamily="34" charset="0"/>
                <a:cs typeface="Arial" panose="020B0604020202020204" pitchFamily="34" charset="0"/>
              </a:rPr>
              <a:t>Generally slowest method</a:t>
            </a:r>
          </a:p>
          <a:p>
            <a:pPr lvl="1" algn="just"/>
            <a:r>
              <a:rPr lang="en-US" dirty="0">
                <a:latin typeface="Arial" panose="020B0604020202020204" pitchFamily="34" charset="0"/>
                <a:cs typeface="Arial" panose="020B0604020202020204" pitchFamily="34" charset="0"/>
              </a:rPr>
              <a:t>When computer language not compiled to native code – </a:t>
            </a:r>
            <a:r>
              <a:rPr lang="en-US" b="1" dirty="0">
                <a:solidFill>
                  <a:srgbClr val="FF0000"/>
                </a:solidFill>
                <a:latin typeface="Arial" panose="020B0604020202020204" pitchFamily="34" charset="0"/>
                <a:cs typeface="Arial" panose="020B0604020202020204" pitchFamily="34" charset="0"/>
              </a:rPr>
              <a:t>Interpretation</a:t>
            </a:r>
          </a:p>
          <a:p>
            <a:pPr lvl="2" algn="just"/>
            <a:endParaRPr lang="en-US" b="1" dirty="0">
              <a:solidFill>
                <a:srgbClr val="00B05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Virtualization</a:t>
            </a:r>
            <a:r>
              <a:rPr lang="en-US" dirty="0">
                <a:latin typeface="Arial" panose="020B0604020202020204" pitchFamily="34" charset="0"/>
                <a:cs typeface="Arial" panose="020B0604020202020204" pitchFamily="34" charset="0"/>
              </a:rPr>
              <a:t> – OS natively compiled for CPU, running guest OSes also natively compiled</a:t>
            </a:r>
          </a:p>
          <a:p>
            <a:pPr lvl="1" algn="just"/>
            <a:r>
              <a:rPr lang="en-US" dirty="0">
                <a:latin typeface="Arial" panose="020B0604020202020204" pitchFamily="34" charset="0"/>
                <a:cs typeface="Arial" panose="020B0604020202020204" pitchFamily="34" charset="0"/>
              </a:rPr>
              <a:t>Consider VMware running </a:t>
            </a:r>
            <a:r>
              <a:rPr lang="en-US" dirty="0" err="1">
                <a:latin typeface="Arial" panose="020B0604020202020204" pitchFamily="34" charset="0"/>
                <a:cs typeface="Arial" panose="020B0604020202020204" pitchFamily="34" charset="0"/>
              </a:rPr>
              <a:t>WinXP</a:t>
            </a:r>
            <a:r>
              <a:rPr lang="en-US" dirty="0">
                <a:latin typeface="Arial" panose="020B0604020202020204" pitchFamily="34" charset="0"/>
                <a:cs typeface="Arial" panose="020B0604020202020204" pitchFamily="34" charset="0"/>
              </a:rPr>
              <a:t> guests, each running applications, all on native </a:t>
            </a:r>
            <a:r>
              <a:rPr lang="en-US" dirty="0" err="1">
                <a:latin typeface="Arial" panose="020B0604020202020204" pitchFamily="34" charset="0"/>
                <a:cs typeface="Arial" panose="020B0604020202020204" pitchFamily="34" charset="0"/>
              </a:rPr>
              <a:t>WinXP</a:t>
            </a:r>
            <a:r>
              <a:rPr lang="en-US"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host</a:t>
            </a:r>
            <a:r>
              <a:rPr lang="en-US" dirty="0">
                <a:latin typeface="Arial" panose="020B0604020202020204" pitchFamily="34" charset="0"/>
                <a:cs typeface="Arial" panose="020B0604020202020204" pitchFamily="34" charset="0"/>
              </a:rPr>
              <a:t> OS</a:t>
            </a:r>
          </a:p>
          <a:p>
            <a:pPr lvl="1" algn="just"/>
            <a:r>
              <a:rPr lang="en-US" b="1" dirty="0">
                <a:solidFill>
                  <a:srgbClr val="FF0000"/>
                </a:solidFill>
                <a:latin typeface="Arial" panose="020B0604020202020204" pitchFamily="34" charset="0"/>
                <a:cs typeface="Arial" panose="020B0604020202020204" pitchFamily="34" charset="0"/>
              </a:rPr>
              <a:t>VMM</a:t>
            </a:r>
            <a:r>
              <a:rPr lang="en-US" dirty="0">
                <a:latin typeface="Arial" panose="020B0604020202020204" pitchFamily="34" charset="0"/>
                <a:cs typeface="Arial" panose="020B0604020202020204" pitchFamily="34" charset="0"/>
              </a:rPr>
              <a:t> (virtual machine Manager) provides virtualization services</a:t>
            </a:r>
          </a:p>
          <a:p>
            <a:pPr lvl="1"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7112351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Virtualization (cont.)</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2"/>
            <a:ext cx="10332720" cy="232117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Use cases involve laptops and desktops running multiple OSes for exploration or compatibility</a:t>
            </a:r>
          </a:p>
          <a:p>
            <a:pPr lvl="1" algn="just"/>
            <a:r>
              <a:rPr lang="en-US" dirty="0">
                <a:latin typeface="Arial" panose="020B0604020202020204" pitchFamily="34" charset="0"/>
                <a:cs typeface="Arial" panose="020B0604020202020204" pitchFamily="34" charset="0"/>
              </a:rPr>
              <a:t>Apple laptop running Mac OS X host, Windows as a guest</a:t>
            </a:r>
          </a:p>
          <a:p>
            <a:pPr lvl="1" algn="just"/>
            <a:r>
              <a:rPr lang="en-US" dirty="0">
                <a:latin typeface="Arial" panose="020B0604020202020204" pitchFamily="34" charset="0"/>
                <a:cs typeface="Arial" panose="020B0604020202020204" pitchFamily="34" charset="0"/>
              </a:rPr>
              <a:t>Developing apps for multiple OSes without having multiple systems</a:t>
            </a:r>
          </a:p>
          <a:p>
            <a:pPr lvl="1" algn="just"/>
            <a:r>
              <a:rPr lang="en-US" dirty="0">
                <a:latin typeface="Arial" panose="020B0604020202020204" pitchFamily="34" charset="0"/>
                <a:cs typeface="Arial" panose="020B0604020202020204" pitchFamily="34" charset="0"/>
              </a:rPr>
              <a:t>Quality assurance testing applications without having multiple systems</a:t>
            </a:r>
          </a:p>
          <a:p>
            <a:pPr lvl="1" algn="just"/>
            <a:r>
              <a:rPr lang="en-US" dirty="0">
                <a:latin typeface="Arial" panose="020B0604020202020204" pitchFamily="34" charset="0"/>
                <a:cs typeface="Arial" panose="020B0604020202020204" pitchFamily="34" charset="0"/>
              </a:rPr>
              <a:t>Executing and managing compute environments within data centers</a:t>
            </a:r>
            <a:endParaRPr lang="en-US" sz="1050"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26F20E7-0671-82F9-C7A6-FB7077B399CB}"/>
              </a:ext>
            </a:extLst>
          </p:cNvPr>
          <p:cNvPicPr>
            <a:picLocks noChangeAspect="1"/>
          </p:cNvPicPr>
          <p:nvPr/>
        </p:nvPicPr>
        <p:blipFill>
          <a:blip r:embed="rId4"/>
          <a:stretch>
            <a:fillRect/>
          </a:stretch>
        </p:blipFill>
        <p:spPr>
          <a:xfrm>
            <a:off x="6283571" y="3893308"/>
            <a:ext cx="4575458" cy="2837403"/>
          </a:xfrm>
          <a:prstGeom prst="rect">
            <a:avLst/>
          </a:prstGeom>
        </p:spPr>
      </p:pic>
      <p:sp>
        <p:nvSpPr>
          <p:cNvPr id="6" name="Rectangle 3">
            <a:extLst>
              <a:ext uri="{FF2B5EF4-FFF2-40B4-BE49-F238E27FC236}">
                <a16:creationId xmlns:a16="http://schemas.microsoft.com/office/drawing/2014/main" id="{98FA2FA1-D5C5-E677-7D29-D64C0FC42899}"/>
              </a:ext>
            </a:extLst>
          </p:cNvPr>
          <p:cNvSpPr txBox="1">
            <a:spLocks noChangeArrowheads="1"/>
          </p:cNvSpPr>
          <p:nvPr/>
        </p:nvSpPr>
        <p:spPr>
          <a:xfrm>
            <a:off x="632152" y="3893308"/>
            <a:ext cx="5463848" cy="175565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VMM can run natively, in which case they are also the host</a:t>
            </a:r>
          </a:p>
          <a:p>
            <a:pPr lvl="1" algn="just"/>
            <a:r>
              <a:rPr lang="en-US" dirty="0">
                <a:latin typeface="Arial" panose="020B0604020202020204" pitchFamily="34" charset="0"/>
                <a:cs typeface="Arial" panose="020B0604020202020204" pitchFamily="34" charset="0"/>
              </a:rPr>
              <a:t>There is no general-purpose host then (VMware ESX and Citrix </a:t>
            </a:r>
            <a:r>
              <a:rPr lang="en-US" dirty="0" err="1">
                <a:latin typeface="Arial" panose="020B0604020202020204" pitchFamily="34" charset="0"/>
                <a:cs typeface="Arial" panose="020B0604020202020204" pitchFamily="34" charset="0"/>
              </a:rPr>
              <a:t>XenServer</a:t>
            </a:r>
            <a:r>
              <a:rPr lang="en-US" dirty="0">
                <a:latin typeface="Arial" panose="020B0604020202020204" pitchFamily="34" charset="0"/>
                <a:cs typeface="Arial" panose="020B0604020202020204" pitchFamily="34" charset="0"/>
              </a:rPr>
              <a:t>)</a:t>
            </a:r>
          </a:p>
          <a:p>
            <a:pPr lvl="1"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456904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Cloud Computing</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465188" cy="5563021"/>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Delivers computing, storage, even apps as a service across a network</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Logical extension of virtualization because it uses virtualization as the base for its functionality.</a:t>
            </a:r>
          </a:p>
          <a:p>
            <a:pPr lvl="1" algn="just"/>
            <a:r>
              <a:rPr lang="en-US" dirty="0">
                <a:latin typeface="Arial" panose="020B0604020202020204" pitchFamily="34" charset="0"/>
                <a:cs typeface="Arial" panose="020B0604020202020204" pitchFamily="34" charset="0"/>
              </a:rPr>
              <a:t>Amazon </a:t>
            </a:r>
            <a:r>
              <a:rPr lang="en-US" sz="2200" b="1" dirty="0">
                <a:solidFill>
                  <a:srgbClr val="FF0000"/>
                </a:solidFill>
                <a:latin typeface="Arial" panose="020B0604020202020204" pitchFamily="34" charset="0"/>
                <a:cs typeface="Arial" panose="020B0604020202020204" pitchFamily="34" charset="0"/>
              </a:rPr>
              <a:t>EC2</a:t>
            </a:r>
            <a:r>
              <a:rPr lang="en-US" dirty="0">
                <a:latin typeface="Arial" panose="020B0604020202020204" pitchFamily="34" charset="0"/>
                <a:cs typeface="Arial" panose="020B0604020202020204" pitchFamily="34" charset="0"/>
              </a:rPr>
              <a:t>  has thousands of servers, millions of virtual machines, petabytes of storage available across the Internet, pay based on usage</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Many types</a:t>
            </a:r>
          </a:p>
          <a:p>
            <a:pPr lvl="1" algn="just"/>
            <a:r>
              <a:rPr lang="en-US" sz="2200" b="1" dirty="0">
                <a:solidFill>
                  <a:srgbClr val="FF0000"/>
                </a:solidFill>
                <a:latin typeface="Arial" panose="020B0604020202020204" pitchFamily="34" charset="0"/>
                <a:cs typeface="Arial" panose="020B0604020202020204" pitchFamily="34" charset="0"/>
              </a:rPr>
              <a:t>Public cloud </a:t>
            </a:r>
            <a:r>
              <a:rPr lang="en-US" dirty="0">
                <a:latin typeface="Arial" panose="020B0604020202020204" pitchFamily="34" charset="0"/>
                <a:cs typeface="Arial" panose="020B0604020202020204" pitchFamily="34" charset="0"/>
              </a:rPr>
              <a:t>– available via Internet to anyone willing to pay</a:t>
            </a:r>
          </a:p>
          <a:p>
            <a:pPr lvl="1" algn="just"/>
            <a:r>
              <a:rPr lang="en-US" sz="2200" b="1" dirty="0">
                <a:solidFill>
                  <a:srgbClr val="FF0000"/>
                </a:solidFill>
                <a:latin typeface="Arial" panose="020B0604020202020204" pitchFamily="34" charset="0"/>
                <a:cs typeface="Arial" panose="020B0604020202020204" pitchFamily="34" charset="0"/>
              </a:rPr>
              <a:t>Private cloud </a:t>
            </a:r>
            <a:r>
              <a:rPr lang="en-US" dirty="0">
                <a:latin typeface="Arial" panose="020B0604020202020204" pitchFamily="34" charset="0"/>
                <a:cs typeface="Arial" panose="020B0604020202020204" pitchFamily="34" charset="0"/>
              </a:rPr>
              <a:t>– run by a company for the company’s own use</a:t>
            </a:r>
          </a:p>
          <a:p>
            <a:pPr lvl="1" algn="just"/>
            <a:r>
              <a:rPr lang="en-US" sz="2200" b="1" dirty="0">
                <a:solidFill>
                  <a:srgbClr val="FF0000"/>
                </a:solidFill>
                <a:latin typeface="Arial" panose="020B0604020202020204" pitchFamily="34" charset="0"/>
                <a:cs typeface="Arial" panose="020B0604020202020204" pitchFamily="34" charset="0"/>
              </a:rPr>
              <a:t>Hybrid cloud </a:t>
            </a:r>
            <a:r>
              <a:rPr lang="en-US" dirty="0">
                <a:latin typeface="Arial" panose="020B0604020202020204" pitchFamily="34" charset="0"/>
                <a:cs typeface="Arial" panose="020B0604020202020204" pitchFamily="34" charset="0"/>
              </a:rPr>
              <a:t>– includes both public and private cloud components</a:t>
            </a:r>
          </a:p>
          <a:p>
            <a:pPr lvl="1" algn="just"/>
            <a:r>
              <a:rPr lang="en-US" dirty="0">
                <a:latin typeface="Arial" panose="020B0604020202020204" pitchFamily="34" charset="0"/>
                <a:cs typeface="Arial" panose="020B0604020202020204" pitchFamily="34" charset="0"/>
              </a:rPr>
              <a:t>Software as a Service (</a:t>
            </a:r>
            <a:r>
              <a:rPr lang="en-US" b="1" dirty="0">
                <a:solidFill>
                  <a:srgbClr val="FF0000"/>
                </a:solidFill>
                <a:latin typeface="Arial" panose="020B0604020202020204" pitchFamily="34" charset="0"/>
                <a:cs typeface="Arial" panose="020B0604020202020204" pitchFamily="34" charset="0"/>
              </a:rPr>
              <a:t>SaaS</a:t>
            </a:r>
            <a:r>
              <a:rPr lang="en-US" dirty="0">
                <a:latin typeface="Arial" panose="020B0604020202020204" pitchFamily="34" charset="0"/>
                <a:cs typeface="Arial" panose="020B0604020202020204" pitchFamily="34" charset="0"/>
              </a:rPr>
              <a:t>) – one or more applications available via the Internet (i.e., word processor)</a:t>
            </a:r>
          </a:p>
          <a:p>
            <a:pPr lvl="1" algn="just"/>
            <a:r>
              <a:rPr lang="en-US" dirty="0">
                <a:latin typeface="Arial" panose="020B0604020202020204" pitchFamily="34" charset="0"/>
                <a:cs typeface="Arial" panose="020B0604020202020204" pitchFamily="34" charset="0"/>
              </a:rPr>
              <a:t>Platform as a Service (</a:t>
            </a:r>
            <a:r>
              <a:rPr lang="en-US" b="1" dirty="0">
                <a:solidFill>
                  <a:srgbClr val="FF0000"/>
                </a:solidFill>
                <a:latin typeface="Arial" panose="020B0604020202020204" pitchFamily="34" charset="0"/>
                <a:cs typeface="Arial" panose="020B0604020202020204" pitchFamily="34" charset="0"/>
              </a:rPr>
              <a:t>PaaS</a:t>
            </a:r>
            <a:r>
              <a:rPr lang="en-US" dirty="0">
                <a:latin typeface="Arial" panose="020B0604020202020204" pitchFamily="34" charset="0"/>
                <a:cs typeface="Arial" panose="020B0604020202020204" pitchFamily="34" charset="0"/>
              </a:rPr>
              <a:t>) – software stack ready for application use via the Internet (i.e., a database server)</a:t>
            </a:r>
          </a:p>
          <a:p>
            <a:pPr lvl="1" algn="just"/>
            <a:r>
              <a:rPr lang="en-US" dirty="0">
                <a:latin typeface="Arial" panose="020B0604020202020204" pitchFamily="34" charset="0"/>
                <a:cs typeface="Arial" panose="020B0604020202020204" pitchFamily="34" charset="0"/>
              </a:rPr>
              <a:t>Infrastructure as a Service (</a:t>
            </a:r>
            <a:r>
              <a:rPr lang="en-US" b="1" dirty="0">
                <a:solidFill>
                  <a:srgbClr val="FF0000"/>
                </a:solidFill>
                <a:latin typeface="Arial" panose="020B0604020202020204" pitchFamily="34" charset="0"/>
                <a:cs typeface="Arial" panose="020B0604020202020204" pitchFamily="34" charset="0"/>
              </a:rPr>
              <a:t>IaaS</a:t>
            </a:r>
            <a:r>
              <a:rPr lang="en-US" dirty="0">
                <a:latin typeface="Arial" panose="020B0604020202020204" pitchFamily="34" charset="0"/>
                <a:cs typeface="Arial" panose="020B0604020202020204" pitchFamily="34" charset="0"/>
              </a:rPr>
              <a:t>) – servers or storage available over Internet (i.e., storage available for backup use)</a:t>
            </a: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709640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Cloud Computing (cont.)</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2"/>
            <a:ext cx="10465188" cy="23450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Cloud computing environments composed of traditional OSes, plus VMMs, plus cloud management tools</a:t>
            </a:r>
          </a:p>
          <a:p>
            <a:pPr lvl="1" algn="just"/>
            <a:r>
              <a:rPr lang="en-US" dirty="0">
                <a:latin typeface="Arial" panose="020B0604020202020204" pitchFamily="34" charset="0"/>
                <a:cs typeface="Arial" panose="020B0604020202020204" pitchFamily="34" charset="0"/>
              </a:rPr>
              <a:t>Internet connectivity requires security like firewalls</a:t>
            </a:r>
          </a:p>
          <a:p>
            <a:pPr lvl="1" algn="just"/>
            <a:r>
              <a:rPr lang="en-US" dirty="0">
                <a:latin typeface="Arial" panose="020B0604020202020204" pitchFamily="34" charset="0"/>
                <a:cs typeface="Arial" panose="020B0604020202020204" pitchFamily="34" charset="0"/>
              </a:rPr>
              <a:t>Load balancers spread traffic across multiple applications</a:t>
            </a: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pic>
        <p:nvPicPr>
          <p:cNvPr id="2" name="Picture 1" descr="1_21.pdf">
            <a:extLst>
              <a:ext uri="{FF2B5EF4-FFF2-40B4-BE49-F238E27FC236}">
                <a16:creationId xmlns:a16="http://schemas.microsoft.com/office/drawing/2014/main" id="{70519FF8-9DA7-45F0-4CD8-ECF02053CBD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04965" y="3222381"/>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912349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Real-Time Embedded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32720" cy="521132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Real-time embedded systems most prevalent form of computers</a:t>
            </a:r>
          </a:p>
          <a:p>
            <a:pPr lvl="1" algn="just"/>
            <a:r>
              <a:rPr lang="en-US" dirty="0">
                <a:latin typeface="Arial" panose="020B0604020202020204" pitchFamily="34" charset="0"/>
                <a:cs typeface="Arial" panose="020B0604020202020204" pitchFamily="34" charset="0"/>
              </a:rPr>
              <a:t>Vary considerably, special purpose, limited purpose OS,  </a:t>
            </a:r>
            <a:r>
              <a:rPr lang="en-US" b="1" dirty="0">
                <a:solidFill>
                  <a:srgbClr val="FF0000"/>
                </a:solidFill>
                <a:latin typeface="Arial" panose="020B0604020202020204" pitchFamily="34" charset="0"/>
                <a:cs typeface="Arial" panose="020B0604020202020204" pitchFamily="34" charset="0"/>
              </a:rPr>
              <a:t>real-time OS</a:t>
            </a:r>
          </a:p>
          <a:p>
            <a:pPr lvl="1" algn="just"/>
            <a:r>
              <a:rPr lang="en-US" dirty="0">
                <a:latin typeface="Arial" panose="020B0604020202020204" pitchFamily="34" charset="0"/>
                <a:cs typeface="Arial" panose="020B0604020202020204" pitchFamily="34" charset="0"/>
              </a:rPr>
              <a:t>Use expanding</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Many other special computing environments as well</a:t>
            </a:r>
          </a:p>
          <a:p>
            <a:pPr lvl="1" algn="just"/>
            <a:r>
              <a:rPr lang="en-US" dirty="0">
                <a:latin typeface="Arial" panose="020B0604020202020204" pitchFamily="34" charset="0"/>
                <a:cs typeface="Arial" panose="020B0604020202020204" pitchFamily="34" charset="0"/>
              </a:rPr>
              <a:t>Some have OSes, some perform tasks without an OS</a:t>
            </a:r>
          </a:p>
          <a:p>
            <a:pPr lvl="1" algn="just"/>
            <a:r>
              <a:rPr lang="en-US" dirty="0">
                <a:latin typeface="Arial" panose="020B0604020202020204" pitchFamily="34" charset="0"/>
                <a:cs typeface="Arial" panose="020B0604020202020204" pitchFamily="34" charset="0"/>
              </a:rPr>
              <a:t>Typically, have very little user-interface capability, and no end-user utilities, since the systems will be a "sealed box" when delivered for use (e. g., HDTV receiver and display)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Real-time OS has well-defined fixed time constraints</a:t>
            </a:r>
          </a:p>
          <a:p>
            <a:pPr lvl="1" algn="just"/>
            <a:r>
              <a:rPr lang="en-US" dirty="0">
                <a:latin typeface="Arial" panose="020B0604020202020204" pitchFamily="34" charset="0"/>
                <a:cs typeface="Arial" panose="020B0604020202020204" pitchFamily="34" charset="0"/>
              </a:rPr>
              <a:t>Processing </a:t>
            </a:r>
            <a:r>
              <a:rPr lang="en-US" b="1" i="1" dirty="0">
                <a:latin typeface="Arial" panose="020B0604020202020204" pitchFamily="34" charset="0"/>
                <a:cs typeface="Arial" panose="020B0604020202020204" pitchFamily="34" charset="0"/>
              </a:rPr>
              <a:t>must</a:t>
            </a:r>
            <a:r>
              <a:rPr lang="en-US" dirty="0">
                <a:latin typeface="Arial" panose="020B0604020202020204" pitchFamily="34" charset="0"/>
                <a:cs typeface="Arial" panose="020B0604020202020204" pitchFamily="34" charset="0"/>
              </a:rPr>
              <a:t> be done within constraint</a:t>
            </a:r>
          </a:p>
          <a:p>
            <a:pPr lvl="1" algn="just"/>
            <a:r>
              <a:rPr lang="en-US" dirty="0">
                <a:latin typeface="Arial" panose="020B0604020202020204" pitchFamily="34" charset="0"/>
                <a:cs typeface="Arial" panose="020B0604020202020204" pitchFamily="34" charset="0"/>
              </a:rPr>
              <a:t>Correct operation only if constraints met</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2064984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Free and Open-Source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604417"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Operating systems made available in source-code format rather than just binary </a:t>
            </a:r>
            <a:r>
              <a:rPr lang="en-US" b="1" dirty="0">
                <a:solidFill>
                  <a:srgbClr val="FF0000"/>
                </a:solidFill>
                <a:latin typeface="Arial" panose="020B0604020202020204" pitchFamily="34" charset="0"/>
                <a:cs typeface="Arial" panose="020B0604020202020204" pitchFamily="34" charset="0"/>
              </a:rPr>
              <a:t>closed-source</a:t>
            </a:r>
            <a:r>
              <a:rPr lang="en-US" dirty="0">
                <a:latin typeface="Arial" panose="020B0604020202020204" pitchFamily="34" charset="0"/>
                <a:cs typeface="Arial" panose="020B0604020202020204" pitchFamily="34" charset="0"/>
              </a:rPr>
              <a:t> and </a:t>
            </a:r>
            <a:r>
              <a:rPr lang="en-US" b="1" dirty="0">
                <a:solidFill>
                  <a:srgbClr val="FF0000"/>
                </a:solidFill>
                <a:latin typeface="Arial" panose="020B0604020202020204" pitchFamily="34" charset="0"/>
                <a:cs typeface="Arial" panose="020B0604020202020204" pitchFamily="34" charset="0"/>
              </a:rPr>
              <a:t>proprietary</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Counter to the copy protection and Digital Rights Management (</a:t>
            </a:r>
            <a:r>
              <a:rPr lang="en-US" b="1" dirty="0">
                <a:solidFill>
                  <a:srgbClr val="FF0000"/>
                </a:solidFill>
                <a:latin typeface="Arial" panose="020B0604020202020204" pitchFamily="34" charset="0"/>
                <a:cs typeface="Arial" panose="020B0604020202020204" pitchFamily="34" charset="0"/>
              </a:rPr>
              <a:t>DRM</a:t>
            </a:r>
            <a:r>
              <a:rPr lang="en-US" dirty="0">
                <a:latin typeface="Arial" panose="020B0604020202020204" pitchFamily="34" charset="0"/>
                <a:cs typeface="Arial" panose="020B0604020202020204" pitchFamily="34" charset="0"/>
              </a:rPr>
              <a:t>) movement</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Started by </a:t>
            </a:r>
            <a:r>
              <a:rPr lang="en-US" b="1" dirty="0">
                <a:solidFill>
                  <a:srgbClr val="FF0000"/>
                </a:solidFill>
                <a:latin typeface="Arial" panose="020B0604020202020204" pitchFamily="34" charset="0"/>
                <a:cs typeface="Arial" panose="020B0604020202020204" pitchFamily="34" charset="0"/>
              </a:rPr>
              <a:t>Free Software Foundation (FSF)</a:t>
            </a:r>
            <a:r>
              <a:rPr lang="en-US" dirty="0">
                <a:latin typeface="Arial" panose="020B0604020202020204" pitchFamily="34" charset="0"/>
                <a:cs typeface="Arial" panose="020B0604020202020204" pitchFamily="34" charset="0"/>
              </a:rPr>
              <a:t>, which has “copyleft” </a:t>
            </a:r>
            <a:r>
              <a:rPr lang="en-US" b="1" dirty="0">
                <a:solidFill>
                  <a:srgbClr val="FF0000"/>
                </a:solidFill>
                <a:latin typeface="Arial" panose="020B0604020202020204" pitchFamily="34" charset="0"/>
                <a:cs typeface="Arial" panose="020B0604020202020204" pitchFamily="34" charset="0"/>
              </a:rPr>
              <a:t>GNU Public License (GPL)</a:t>
            </a:r>
          </a:p>
          <a:p>
            <a:pPr lvl="1" algn="just"/>
            <a:r>
              <a:rPr lang="en-US" dirty="0">
                <a:latin typeface="Arial" panose="020B0604020202020204" pitchFamily="34" charset="0"/>
                <a:cs typeface="Arial" panose="020B0604020202020204" pitchFamily="34" charset="0"/>
              </a:rPr>
              <a:t>Free software and open-source software are two different ideas championed by different groups of people</a:t>
            </a:r>
          </a:p>
          <a:p>
            <a:pPr lvl="2" algn="just"/>
            <a:r>
              <a:rPr lang="en-US" dirty="0">
                <a:latin typeface="Arial" panose="020B0604020202020204" pitchFamily="34" charset="0"/>
                <a:cs typeface="Arial" panose="020B0604020202020204" pitchFamily="34" charset="0"/>
                <a:hlinkClick r:id="rId4"/>
              </a:rPr>
              <a:t>https://www.gnu.org/philosophy/open-source-misses-the-point.en.html</a:t>
            </a:r>
            <a:r>
              <a:rPr lang="en-US" dirty="0">
                <a:latin typeface="Arial" panose="020B0604020202020204" pitchFamily="34" charset="0"/>
                <a:cs typeface="Arial" panose="020B0604020202020204" pitchFamily="34" charset="0"/>
              </a:rPr>
              <a:t> </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 include </a:t>
            </a:r>
            <a:r>
              <a:rPr lang="en-US" b="1" dirty="0">
                <a:solidFill>
                  <a:srgbClr val="FF0000"/>
                </a:solidFill>
                <a:latin typeface="Arial" panose="020B0604020202020204" pitchFamily="34" charset="0"/>
                <a:cs typeface="Arial" panose="020B0604020202020204" pitchFamily="34" charset="0"/>
              </a:rPr>
              <a:t>GNU/Linux </a:t>
            </a:r>
            <a:r>
              <a:rPr lang="en-US" dirty="0">
                <a:latin typeface="Arial" panose="020B0604020202020204" pitchFamily="34" charset="0"/>
                <a:cs typeface="Arial" panose="020B0604020202020204" pitchFamily="34" charset="0"/>
              </a:rPr>
              <a:t>and </a:t>
            </a:r>
            <a:r>
              <a:rPr lang="en-US" b="1" dirty="0">
                <a:solidFill>
                  <a:srgbClr val="FF0000"/>
                </a:solidFill>
                <a:latin typeface="Arial" panose="020B0604020202020204" pitchFamily="34" charset="0"/>
                <a:cs typeface="Arial" panose="020B0604020202020204" pitchFamily="34" charset="0"/>
              </a:rPr>
              <a:t>BSD UNIX </a:t>
            </a:r>
            <a:r>
              <a:rPr lang="en-US" dirty="0">
                <a:latin typeface="Arial" panose="020B0604020202020204" pitchFamily="34" charset="0"/>
                <a:cs typeface="Arial" panose="020B0604020202020204" pitchFamily="34" charset="0"/>
              </a:rPr>
              <a:t>(including core of </a:t>
            </a:r>
            <a:r>
              <a:rPr lang="en-US" b="1" dirty="0">
                <a:solidFill>
                  <a:srgbClr val="FF0000"/>
                </a:solidFill>
                <a:latin typeface="Arial" panose="020B0604020202020204" pitchFamily="34" charset="0"/>
                <a:cs typeface="Arial" panose="020B0604020202020204" pitchFamily="34" charset="0"/>
              </a:rPr>
              <a:t>Mac OS X</a:t>
            </a:r>
            <a:r>
              <a:rPr lang="en-US" dirty="0">
                <a:latin typeface="Arial" panose="020B0604020202020204" pitchFamily="34" charset="0"/>
                <a:cs typeface="Arial" panose="020B0604020202020204" pitchFamily="34" charset="0"/>
              </a:rPr>
              <a:t>), and many more</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Can use VMM like VMware Player (Free on Windows), </a:t>
            </a:r>
            <a:r>
              <a:rPr lang="en-US" dirty="0" err="1">
                <a:latin typeface="Arial" panose="020B0604020202020204" pitchFamily="34" charset="0"/>
                <a:cs typeface="Arial" panose="020B0604020202020204" pitchFamily="34" charset="0"/>
              </a:rPr>
              <a:t>Virtualbox</a:t>
            </a:r>
            <a:r>
              <a:rPr lang="en-US" dirty="0">
                <a:latin typeface="Arial" panose="020B0604020202020204" pitchFamily="34" charset="0"/>
                <a:cs typeface="Arial" panose="020B0604020202020204" pitchFamily="34" charset="0"/>
              </a:rPr>
              <a:t> (open source and free on many platforms - http://www.virtualbox.com) </a:t>
            </a:r>
          </a:p>
          <a:p>
            <a:pPr lvl="1" algn="just"/>
            <a:r>
              <a:rPr lang="en-US" dirty="0">
                <a:latin typeface="Arial" panose="020B0604020202020204" pitchFamily="34" charset="0"/>
                <a:cs typeface="Arial" panose="020B0604020202020204" pitchFamily="34" charset="0"/>
              </a:rPr>
              <a:t>Use to run guest operating systems for exploration</a:t>
            </a:r>
          </a:p>
        </p:txBody>
      </p:sp>
    </p:spTree>
    <p:custDataLst>
      <p:tags r:id="rId1"/>
    </p:custDataLst>
    <p:extLst>
      <p:ext uri="{BB962C8B-B14F-4D97-AF65-F5344CB8AC3E}">
        <p14:creationId xmlns:p14="http://schemas.microsoft.com/office/powerpoint/2010/main" val="1932570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10332720" cy="407507"/>
          </a:xfrm>
        </p:spPr>
        <p:txBody>
          <a:bodyPr/>
          <a:lstStyle/>
          <a:p>
            <a:r>
              <a:rPr lang="en-US" sz="4000" dirty="0">
                <a:latin typeface="Arial" panose="020B0604020202020204" pitchFamily="34" charset="0"/>
                <a:cs typeface="Arial" panose="020B0604020202020204" pitchFamily="34" charset="0"/>
              </a:rPr>
              <a:t>The Study of Operating Systems</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68</a:t>
            </a:fld>
            <a:endParaRPr lang="en-US">
              <a:latin typeface="Calibri"/>
            </a:endParaRPr>
          </a:p>
        </p:txBody>
      </p:sp>
      <p:sp>
        <p:nvSpPr>
          <p:cNvPr id="4" name="TextBox 3">
            <a:extLst>
              <a:ext uri="{FF2B5EF4-FFF2-40B4-BE49-F238E27FC236}">
                <a16:creationId xmlns:a16="http://schemas.microsoft.com/office/drawing/2014/main" id="{2657F650-5F35-CC69-EC87-C0E506047353}"/>
              </a:ext>
            </a:extLst>
          </p:cNvPr>
          <p:cNvSpPr txBox="1"/>
          <p:nvPr/>
        </p:nvSpPr>
        <p:spPr>
          <a:xfrm>
            <a:off x="820374" y="1248938"/>
            <a:ext cx="10299268" cy="5509200"/>
          </a:xfrm>
          <a:prstGeom prst="rect">
            <a:avLst/>
          </a:prstGeom>
          <a:solidFill>
            <a:srgbClr val="5CD2FF"/>
          </a:solidFill>
        </p:spPr>
        <p:txBody>
          <a:bodyPr wrap="square" rtlCol="0">
            <a:spAutoFit/>
          </a:bodyPr>
          <a:lstStyle/>
          <a:p>
            <a:pPr algn="just">
              <a:spcBef>
                <a:spcPct val="0"/>
              </a:spcBef>
              <a:buClrTx/>
              <a:buSzTx/>
              <a:buFontTx/>
              <a:buNone/>
            </a:pPr>
            <a:r>
              <a:rPr kumimoji="0" lang="en-US" altLang="en-US" sz="1600" dirty="0">
                <a:latin typeface="Arial" panose="020B0604020202020204" pitchFamily="34" charset="0"/>
                <a:cs typeface="Arial" panose="020B0604020202020204" pitchFamily="34" charset="0"/>
              </a:rPr>
              <a:t>There has never been a more interesting time to study operating systems, and it has never been easier. The open-source movement has overtaken operating systems, causing many of them to be made available in both source and binary (executable) format. The list of operating systems available in both formats includes Linux, BUSD UNIX, Solaris, and part of macOS. The availability of source code allows us to study operating systems from the inside out. Questions that we could once answer only by looking at documentation or the behavior of an operating system we can now answer by examining the code itself.</a:t>
            </a:r>
          </a:p>
          <a:p>
            <a:pPr algn="just">
              <a:spcBef>
                <a:spcPct val="0"/>
              </a:spcBef>
              <a:buClrTx/>
              <a:buSzTx/>
              <a:buFontTx/>
              <a:buNone/>
            </a:pPr>
            <a:endParaRPr kumimoji="0" lang="en-US" altLang="en-US" sz="1600" dirty="0">
              <a:latin typeface="Arial" panose="020B0604020202020204" pitchFamily="34" charset="0"/>
              <a:cs typeface="Arial" panose="020B0604020202020204" pitchFamily="34" charset="0"/>
            </a:endParaRPr>
          </a:p>
          <a:p>
            <a:pPr algn="just">
              <a:spcBef>
                <a:spcPct val="0"/>
              </a:spcBef>
              <a:buClrTx/>
              <a:buSzTx/>
              <a:buFontTx/>
              <a:buNone/>
            </a:pPr>
            <a:r>
              <a:rPr kumimoji="0" lang="en-US" altLang="en-US" sz="1600" dirty="0">
                <a:latin typeface="Arial" panose="020B0604020202020204" pitchFamily="34" charset="0"/>
                <a:cs typeface="Arial" panose="020B0604020202020204" pitchFamily="34" charset="0"/>
              </a:rPr>
              <a:t>Operating systems that are no longer commercially viable have been open-sourced as well, enabling us to study how systems operated in a time of fewer CPU, memory, and storage resources. An extensive but incomplete list of open-source operating-system projects is available from https://curlie.org/Computers/Software/Operating_Systems/Open_Source/</a:t>
            </a:r>
          </a:p>
          <a:p>
            <a:pPr algn="just">
              <a:spcBef>
                <a:spcPct val="0"/>
              </a:spcBef>
              <a:buClrTx/>
              <a:buSzTx/>
              <a:buFontTx/>
              <a:buNone/>
            </a:pPr>
            <a:endParaRPr kumimoji="0" lang="en-US" altLang="en-US" sz="1600" dirty="0">
              <a:latin typeface="Arial" panose="020B0604020202020204" pitchFamily="34" charset="0"/>
              <a:cs typeface="Arial" panose="020B0604020202020204" pitchFamily="34" charset="0"/>
            </a:endParaRPr>
          </a:p>
          <a:p>
            <a:pPr algn="just">
              <a:spcBef>
                <a:spcPct val="0"/>
              </a:spcBef>
              <a:buClrTx/>
              <a:buSzTx/>
              <a:buFontTx/>
              <a:buNone/>
            </a:pPr>
            <a:r>
              <a:rPr kumimoji="0" lang="en-US" altLang="en-US" sz="1600" dirty="0">
                <a:latin typeface="Arial" panose="020B0604020202020204" pitchFamily="34" charset="0"/>
                <a:cs typeface="Arial" panose="020B0604020202020204" pitchFamily="34" charset="0"/>
              </a:rPr>
              <a:t>In addition, the rise of virtualization as a mainstream (and frequently free) computer function makes it possible to run many operating systems on top of one core system. For example, </a:t>
            </a:r>
            <a:r>
              <a:rPr kumimoji="0" lang="en-US" altLang="en-US" sz="1600" dirty="0" err="1">
                <a:latin typeface="Arial" panose="020B0604020202020204" pitchFamily="34" charset="0"/>
                <a:cs typeface="Arial" panose="020B0604020202020204" pitchFamily="34" charset="0"/>
              </a:rPr>
              <a:t>Vmware</a:t>
            </a:r>
            <a:r>
              <a:rPr kumimoji="0" lang="en-US" altLang="en-US" sz="1600" dirty="0">
                <a:latin typeface="Arial" panose="020B0604020202020204" pitchFamily="34" charset="0"/>
                <a:cs typeface="Arial" panose="020B0604020202020204" pitchFamily="34" charset="0"/>
              </a:rPr>
              <a:t> (http://www.vmware.com) provides a free “player” for Windows on which hundreds of free “virtual appliances” can run. </a:t>
            </a:r>
            <a:r>
              <a:rPr kumimoji="0" lang="en-US" altLang="en-US" sz="1600" dirty="0" err="1">
                <a:latin typeface="Arial" panose="020B0604020202020204" pitchFamily="34" charset="0"/>
                <a:cs typeface="Arial" panose="020B0604020202020204" pitchFamily="34" charset="0"/>
              </a:rPr>
              <a:t>Virtualbox</a:t>
            </a:r>
            <a:r>
              <a:rPr kumimoji="0" lang="en-US" altLang="en-US" sz="1600" dirty="0">
                <a:latin typeface="Arial" panose="020B0604020202020204" pitchFamily="34" charset="0"/>
                <a:cs typeface="Arial" panose="020B0604020202020204" pitchFamily="34" charset="0"/>
              </a:rPr>
              <a:t> (http://www.virtualbox.com) provides a free, open-source virtual machine manager on many operating systems. Using such tools, students can try out hundreds of operating systems without dedicated hardware.</a:t>
            </a:r>
          </a:p>
          <a:p>
            <a:pPr algn="just">
              <a:spcBef>
                <a:spcPct val="0"/>
              </a:spcBef>
              <a:buClrTx/>
              <a:buSzTx/>
              <a:buFontTx/>
              <a:buNone/>
            </a:pPr>
            <a:endParaRPr kumimoji="0" lang="en-US" altLang="en-US" sz="1600" dirty="0">
              <a:latin typeface="Arial" panose="020B0604020202020204" pitchFamily="34" charset="0"/>
              <a:cs typeface="Arial" panose="020B0604020202020204" pitchFamily="34" charset="0"/>
            </a:endParaRPr>
          </a:p>
          <a:p>
            <a:pPr algn="just">
              <a:spcBef>
                <a:spcPct val="0"/>
              </a:spcBef>
              <a:buClrTx/>
              <a:buSzTx/>
              <a:buFontTx/>
              <a:buNone/>
            </a:pPr>
            <a:r>
              <a:rPr kumimoji="0" lang="en-US" altLang="en-US" sz="1600" dirty="0">
                <a:latin typeface="Arial" panose="020B0604020202020204" pitchFamily="34" charset="0"/>
                <a:cs typeface="Arial" panose="020B0604020202020204" pitchFamily="34" charset="0"/>
              </a:rPr>
              <a:t>The advent of open-source operating systems has also made it easier to make the move from student to operating-system developer. With some knowledge, some effort, and an Internet connection, a student can even create a new operating-system distribution. Just a few years ago, it was difficult or impossible to get access to source code. Now, such access is limited only by how much interest, time, and disk space a student has.</a:t>
            </a:r>
          </a:p>
        </p:txBody>
      </p:sp>
    </p:spTree>
    <p:custDataLst>
      <p:tags r:id="rId1"/>
    </p:custDataLst>
    <p:extLst>
      <p:ext uri="{BB962C8B-B14F-4D97-AF65-F5344CB8AC3E}">
        <p14:creationId xmlns:p14="http://schemas.microsoft.com/office/powerpoint/2010/main" val="18650001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ags/tag40.xml><?xml version="1.0" encoding="utf-8"?>
<p:tagLst xmlns:a="http://schemas.openxmlformats.org/drawingml/2006/main" xmlns:r="http://schemas.openxmlformats.org/officeDocument/2006/relationships" xmlns:p="http://schemas.openxmlformats.org/presentationml/2006/main">
  <p:tag name="TIMING" val="|38.5"/>
</p:tagLst>
</file>

<file path=ppt/tags/tag41.xml><?xml version="1.0" encoding="utf-8"?>
<p:tagLst xmlns:a="http://schemas.openxmlformats.org/drawingml/2006/main" xmlns:r="http://schemas.openxmlformats.org/officeDocument/2006/relationships" xmlns:p="http://schemas.openxmlformats.org/presentationml/2006/main">
  <p:tag name="TIMING" val="|38.5"/>
</p:tagLst>
</file>

<file path=ppt/tags/tag42.xml><?xml version="1.0" encoding="utf-8"?>
<p:tagLst xmlns:a="http://schemas.openxmlformats.org/drawingml/2006/main" xmlns:r="http://schemas.openxmlformats.org/officeDocument/2006/relationships" xmlns:p="http://schemas.openxmlformats.org/presentationml/2006/main">
  <p:tag name="TIMING" val="|38.5"/>
</p:tagLst>
</file>

<file path=ppt/tags/tag43.xml><?xml version="1.0" encoding="utf-8"?>
<p:tagLst xmlns:a="http://schemas.openxmlformats.org/drawingml/2006/main" xmlns:r="http://schemas.openxmlformats.org/officeDocument/2006/relationships" xmlns:p="http://schemas.openxmlformats.org/presentationml/2006/main">
  <p:tag name="TIMING" val="|38.5"/>
</p:tagLst>
</file>

<file path=ppt/tags/tag44.xml><?xml version="1.0" encoding="utf-8"?>
<p:tagLst xmlns:a="http://schemas.openxmlformats.org/drawingml/2006/main" xmlns:r="http://schemas.openxmlformats.org/officeDocument/2006/relationships" xmlns:p="http://schemas.openxmlformats.org/presentationml/2006/main">
  <p:tag name="TIMING" val="|38.5"/>
</p:tagLst>
</file>

<file path=ppt/tags/tag45.xml><?xml version="1.0" encoding="utf-8"?>
<p:tagLst xmlns:a="http://schemas.openxmlformats.org/drawingml/2006/main" xmlns:r="http://schemas.openxmlformats.org/officeDocument/2006/relationships" xmlns:p="http://schemas.openxmlformats.org/presentationml/2006/main">
  <p:tag name="TIMING" val="|38.5"/>
</p:tagLst>
</file>

<file path=ppt/tags/tag46.xml><?xml version="1.0" encoding="utf-8"?>
<p:tagLst xmlns:a="http://schemas.openxmlformats.org/drawingml/2006/main" xmlns:r="http://schemas.openxmlformats.org/officeDocument/2006/relationships" xmlns:p="http://schemas.openxmlformats.org/presentationml/2006/main">
  <p:tag name="TIMING" val="|38.5"/>
</p:tagLst>
</file>

<file path=ppt/tags/tag47.xml><?xml version="1.0" encoding="utf-8"?>
<p:tagLst xmlns:a="http://schemas.openxmlformats.org/drawingml/2006/main" xmlns:r="http://schemas.openxmlformats.org/officeDocument/2006/relationships" xmlns:p="http://schemas.openxmlformats.org/presentationml/2006/main">
  <p:tag name="TIMING" val="|38.5"/>
</p:tagLst>
</file>

<file path=ppt/tags/tag48.xml><?xml version="1.0" encoding="utf-8"?>
<p:tagLst xmlns:a="http://schemas.openxmlformats.org/drawingml/2006/main" xmlns:r="http://schemas.openxmlformats.org/officeDocument/2006/relationships" xmlns:p="http://schemas.openxmlformats.org/presentationml/2006/main">
  <p:tag name="TIMING" val="|38.5"/>
</p:tagLst>
</file>

<file path=ppt/tags/tag49.xml><?xml version="1.0" encoding="utf-8"?>
<p:tagLst xmlns:a="http://schemas.openxmlformats.org/drawingml/2006/main" xmlns:r="http://schemas.openxmlformats.org/officeDocument/2006/relationships" xmlns:p="http://schemas.openxmlformats.org/presentationml/2006/main">
  <p:tag name="TIMING" val="|38.5"/>
</p:tagLst>
</file>

<file path=ppt/tags/tag50.xml><?xml version="1.0" encoding="utf-8"?>
<p:tagLst xmlns:a="http://schemas.openxmlformats.org/drawingml/2006/main" xmlns:r="http://schemas.openxmlformats.org/officeDocument/2006/relationships" xmlns:p="http://schemas.openxmlformats.org/presentationml/2006/main">
  <p:tag name="TIMING" val="|38.5"/>
</p:tagLst>
</file>

<file path=ppt/tags/tag51.xml><?xml version="1.0" encoding="utf-8"?>
<p:tagLst xmlns:a="http://schemas.openxmlformats.org/drawingml/2006/main" xmlns:r="http://schemas.openxmlformats.org/officeDocument/2006/relationships" xmlns:p="http://schemas.openxmlformats.org/presentationml/2006/main">
  <p:tag name="TIMING" val="|38.5"/>
</p:tagLst>
</file>

<file path=ppt/tags/tag52.xml><?xml version="1.0" encoding="utf-8"?>
<p:tagLst xmlns:a="http://schemas.openxmlformats.org/drawingml/2006/main" xmlns:r="http://schemas.openxmlformats.org/officeDocument/2006/relationships" xmlns:p="http://schemas.openxmlformats.org/presentationml/2006/main">
  <p:tag name="TIMING" val="|38.5"/>
</p:tagLst>
</file>

<file path=ppt/tags/tag53.xml><?xml version="1.0" encoding="utf-8"?>
<p:tagLst xmlns:a="http://schemas.openxmlformats.org/drawingml/2006/main" xmlns:r="http://schemas.openxmlformats.org/officeDocument/2006/relationships" xmlns:p="http://schemas.openxmlformats.org/presentationml/2006/main">
  <p:tag name="TIMING" val="|38.5"/>
</p:tagLst>
</file>

<file path=ppt/tags/tag54.xml><?xml version="1.0" encoding="utf-8"?>
<p:tagLst xmlns:a="http://schemas.openxmlformats.org/drawingml/2006/main" xmlns:r="http://schemas.openxmlformats.org/officeDocument/2006/relationships" xmlns:p="http://schemas.openxmlformats.org/presentationml/2006/main">
  <p:tag name="TIMING" val="|38.5"/>
</p:tagLst>
</file>

<file path=ppt/tags/tag55.xml><?xml version="1.0" encoding="utf-8"?>
<p:tagLst xmlns:a="http://schemas.openxmlformats.org/drawingml/2006/main" xmlns:r="http://schemas.openxmlformats.org/officeDocument/2006/relationships" xmlns:p="http://schemas.openxmlformats.org/presentationml/2006/main">
  <p:tag name="TIMING" val="|38.5"/>
</p:tagLst>
</file>

<file path=ppt/tags/tag56.xml><?xml version="1.0" encoding="utf-8"?>
<p:tagLst xmlns:a="http://schemas.openxmlformats.org/drawingml/2006/main" xmlns:r="http://schemas.openxmlformats.org/officeDocument/2006/relationships" xmlns:p="http://schemas.openxmlformats.org/presentationml/2006/main">
  <p:tag name="TIMING" val="|38.5"/>
</p:tagLst>
</file>

<file path=ppt/tags/tag57.xml><?xml version="1.0" encoding="utf-8"?>
<p:tagLst xmlns:a="http://schemas.openxmlformats.org/drawingml/2006/main" xmlns:r="http://schemas.openxmlformats.org/officeDocument/2006/relationships" xmlns:p="http://schemas.openxmlformats.org/presentationml/2006/main">
  <p:tag name="TIMING" val="|38.5"/>
</p:tagLst>
</file>

<file path=ppt/tags/tag58.xml><?xml version="1.0" encoding="utf-8"?>
<p:tagLst xmlns:a="http://schemas.openxmlformats.org/drawingml/2006/main" xmlns:r="http://schemas.openxmlformats.org/officeDocument/2006/relationships" xmlns:p="http://schemas.openxmlformats.org/presentationml/2006/main">
  <p:tag name="TIMING" val="|38.5"/>
</p:tagLst>
</file>

<file path=ppt/tags/tag59.xml><?xml version="1.0" encoding="utf-8"?>
<p:tagLst xmlns:a="http://schemas.openxmlformats.org/drawingml/2006/main" xmlns:r="http://schemas.openxmlformats.org/officeDocument/2006/relationships" xmlns:p="http://schemas.openxmlformats.org/presentationml/2006/main">
  <p:tag name="TIMING" val="|38.5"/>
</p:tagLst>
</file>

<file path=ppt/tags/tag60.xml><?xml version="1.0" encoding="utf-8"?>
<p:tagLst xmlns:a="http://schemas.openxmlformats.org/drawingml/2006/main" xmlns:r="http://schemas.openxmlformats.org/officeDocument/2006/relationships" xmlns:p="http://schemas.openxmlformats.org/presentationml/2006/main">
  <p:tag name="TIMING" val="|38.5"/>
</p:tagLst>
</file>

<file path=ppt/tags/tag61.xml><?xml version="1.0" encoding="utf-8"?>
<p:tagLst xmlns:a="http://schemas.openxmlformats.org/drawingml/2006/main" xmlns:r="http://schemas.openxmlformats.org/officeDocument/2006/relationships" xmlns:p="http://schemas.openxmlformats.org/presentationml/2006/main">
  <p:tag name="TIMING" val="|38.5"/>
</p:tagLst>
</file>

<file path=ppt/tags/tag62.xml><?xml version="1.0" encoding="utf-8"?>
<p:tagLst xmlns:a="http://schemas.openxmlformats.org/drawingml/2006/main" xmlns:r="http://schemas.openxmlformats.org/officeDocument/2006/relationships" xmlns:p="http://schemas.openxmlformats.org/presentationml/2006/main">
  <p:tag name="TIMING" val="|38.5"/>
</p:tagLst>
</file>

<file path=ppt/tags/tag63.xml><?xml version="1.0" encoding="utf-8"?>
<p:tagLst xmlns:a="http://schemas.openxmlformats.org/drawingml/2006/main" xmlns:r="http://schemas.openxmlformats.org/officeDocument/2006/relationships" xmlns:p="http://schemas.openxmlformats.org/presentationml/2006/main">
  <p:tag name="TIMING" val="|38.5"/>
</p:tagLst>
</file>

<file path=ppt/tags/tag64.xml><?xml version="1.0" encoding="utf-8"?>
<p:tagLst xmlns:a="http://schemas.openxmlformats.org/drawingml/2006/main" xmlns:r="http://schemas.openxmlformats.org/officeDocument/2006/relationships" xmlns:p="http://schemas.openxmlformats.org/presentationml/2006/main">
  <p:tag name="TIMING" val="|38.5"/>
</p:tagLst>
</file>

<file path=ppt/tags/tag65.xml><?xml version="1.0" encoding="utf-8"?>
<p:tagLst xmlns:a="http://schemas.openxmlformats.org/drawingml/2006/main" xmlns:r="http://schemas.openxmlformats.org/officeDocument/2006/relationships" xmlns:p="http://schemas.openxmlformats.org/presentationml/2006/main">
  <p:tag name="TIMING" val="|38.5"/>
</p:tagLst>
</file>

<file path=ppt/tags/tag66.xml><?xml version="1.0" encoding="utf-8"?>
<p:tagLst xmlns:a="http://schemas.openxmlformats.org/drawingml/2006/main" xmlns:r="http://schemas.openxmlformats.org/officeDocument/2006/relationships" xmlns:p="http://schemas.openxmlformats.org/presentationml/2006/main">
  <p:tag name="TIMING" val="|38.5"/>
</p:tagLst>
</file>

<file path=ppt/tags/tag67.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27470</TotalTime>
  <Words>5821</Words>
  <Application>Microsoft Office PowerPoint</Application>
  <PresentationFormat>Widescreen</PresentationFormat>
  <Paragraphs>682</Paragraphs>
  <Slides>68</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68</vt:i4>
      </vt:variant>
    </vt:vector>
  </HeadingPairs>
  <TitlesOfParts>
    <vt:vector size="75" baseType="lpstr">
      <vt:lpstr>Arial</vt:lpstr>
      <vt:lpstr>Calibri</vt:lpstr>
      <vt:lpstr>Calibri Light</vt:lpstr>
      <vt:lpstr>Cambria</vt:lpstr>
      <vt:lpstr>Verdana</vt:lpstr>
      <vt:lpstr>Office Theme</vt:lpstr>
      <vt:lpstr>Adjacency</vt:lpstr>
      <vt:lpstr>CSC 344 – Principles of Operating Systems</vt:lpstr>
      <vt:lpstr>What is an Operating System?</vt:lpstr>
      <vt:lpstr>What Operating Systems Do</vt:lpstr>
      <vt:lpstr>Operating System Definition</vt:lpstr>
      <vt:lpstr>Computer System Structure</vt:lpstr>
      <vt:lpstr>Example: Programming Hard Drive</vt:lpstr>
      <vt:lpstr>Example: Programming Hard Drive</vt:lpstr>
      <vt:lpstr>Computer System Organization</vt:lpstr>
      <vt:lpstr>Concurrent Computing</vt:lpstr>
      <vt:lpstr>Concurrent Computing</vt:lpstr>
      <vt:lpstr>Concurrent Computing</vt:lpstr>
      <vt:lpstr>Computer-System Operation</vt:lpstr>
      <vt:lpstr>Interrupt</vt:lpstr>
      <vt:lpstr>Interrupt</vt:lpstr>
      <vt:lpstr>Handling Interrupts</vt:lpstr>
      <vt:lpstr>Handling Interrupts</vt:lpstr>
      <vt:lpstr>Handling Interrupts</vt:lpstr>
      <vt:lpstr>I/O Structure</vt:lpstr>
      <vt:lpstr>Computer Startup/ Bootstrap Process</vt:lpstr>
      <vt:lpstr>Computer Startup/ Bootstrap Process</vt:lpstr>
      <vt:lpstr>Computer Startup/ Bootstrap Process</vt:lpstr>
      <vt:lpstr>Storage Definition and Notation Review</vt:lpstr>
      <vt:lpstr>Storage Structure</vt:lpstr>
      <vt:lpstr>Storage Hierarchy</vt:lpstr>
      <vt:lpstr>Characteristics of Various Storage Types</vt:lpstr>
      <vt:lpstr>Caching</vt:lpstr>
      <vt:lpstr>Data Migration from Disk to Register</vt:lpstr>
      <vt:lpstr>How a Modern Computer Works</vt:lpstr>
      <vt:lpstr>Operating System Operations</vt:lpstr>
      <vt:lpstr>Timer</vt:lpstr>
      <vt:lpstr>Computer System Architecture</vt:lpstr>
      <vt:lpstr>Computer System Architecture</vt:lpstr>
      <vt:lpstr>Computer System Architecture</vt:lpstr>
      <vt:lpstr>Computer System Architecture</vt:lpstr>
      <vt:lpstr>Computer System Architecture</vt:lpstr>
      <vt:lpstr>Computer System Architecture</vt:lpstr>
      <vt:lpstr>PC Motherboard</vt:lpstr>
      <vt:lpstr>Hardware is Evolving</vt:lpstr>
      <vt:lpstr>Hardware is Evolving</vt:lpstr>
      <vt:lpstr>We are Living in Interesting Times …</vt:lpstr>
      <vt:lpstr>Is there are perfect OS?</vt:lpstr>
      <vt:lpstr>There is no Magic in OS design</vt:lpstr>
      <vt:lpstr>Separating Policy from Mechanism</vt:lpstr>
      <vt:lpstr>Evolution of Operating Systems</vt:lpstr>
      <vt:lpstr>Types of Operating Systems</vt:lpstr>
      <vt:lpstr>Batch Operating Systems</vt:lpstr>
      <vt:lpstr>Single-User, Single-Tasking Operating Systems</vt:lpstr>
      <vt:lpstr>Single-User, Multi-Tasking Operating Systems</vt:lpstr>
      <vt:lpstr>Multi-User Operating Systems</vt:lpstr>
      <vt:lpstr>Time-Sharing Operating Systems</vt:lpstr>
      <vt:lpstr>Distributed Operating Systems</vt:lpstr>
      <vt:lpstr>Network Operating Systems</vt:lpstr>
      <vt:lpstr>Real-Time Operating Systems (RTOS)</vt:lpstr>
      <vt:lpstr>Embedded Operating Systems</vt:lpstr>
      <vt:lpstr>Mobile Operating Systems</vt:lpstr>
      <vt:lpstr>Cloud Operating Systems</vt:lpstr>
      <vt:lpstr>Computer System Environments</vt:lpstr>
      <vt:lpstr>Traditional</vt:lpstr>
      <vt:lpstr>Mobile</vt:lpstr>
      <vt:lpstr>Client-Server</vt:lpstr>
      <vt:lpstr>Peer-to-Peer</vt:lpstr>
      <vt:lpstr>Virtualization</vt:lpstr>
      <vt:lpstr>Virtualization (cont.)</vt:lpstr>
      <vt:lpstr>Cloud Computing</vt:lpstr>
      <vt:lpstr>Cloud Computing (cont.)</vt:lpstr>
      <vt:lpstr>Real-Time Embedded Systems</vt:lpstr>
      <vt:lpstr>Free and Open-Source Operating Systems</vt:lpstr>
      <vt:lpstr>The Study of Operating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323 – Principles of Operating Systems</dc:title>
  <dc:creator>Hasan Jamal</dc:creator>
  <cp:lastModifiedBy>Mamoona Tasadduq</cp:lastModifiedBy>
  <cp:revision>112</cp:revision>
  <dcterms:created xsi:type="dcterms:W3CDTF">2020-06-08T03:46:58Z</dcterms:created>
  <dcterms:modified xsi:type="dcterms:W3CDTF">2025-08-21T07:36:15Z</dcterms:modified>
</cp:coreProperties>
</file>