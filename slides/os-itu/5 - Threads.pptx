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8"/>
  </p:notesMasterIdLst>
  <p:sldIdLst>
    <p:sldId id="267" r:id="rId3"/>
    <p:sldId id="679" r:id="rId4"/>
    <p:sldId id="642" r:id="rId5"/>
    <p:sldId id="723" r:id="rId6"/>
    <p:sldId id="668" r:id="rId7"/>
    <p:sldId id="633" r:id="rId8"/>
    <p:sldId id="669" r:id="rId9"/>
    <p:sldId id="684" r:id="rId10"/>
    <p:sldId id="683" r:id="rId11"/>
    <p:sldId id="724" r:id="rId12"/>
    <p:sldId id="646" r:id="rId13"/>
    <p:sldId id="686" r:id="rId14"/>
    <p:sldId id="674" r:id="rId15"/>
    <p:sldId id="675" r:id="rId16"/>
    <p:sldId id="694" r:id="rId17"/>
    <p:sldId id="671" r:id="rId18"/>
    <p:sldId id="632" r:id="rId19"/>
    <p:sldId id="725" r:id="rId20"/>
    <p:sldId id="732" r:id="rId21"/>
    <p:sldId id="733" r:id="rId22"/>
    <p:sldId id="727" r:id="rId23"/>
    <p:sldId id="726" r:id="rId24"/>
    <p:sldId id="734" r:id="rId25"/>
    <p:sldId id="728" r:id="rId26"/>
    <p:sldId id="735" r:id="rId27"/>
    <p:sldId id="729" r:id="rId28"/>
    <p:sldId id="596" r:id="rId29"/>
    <p:sldId id="665" r:id="rId30"/>
    <p:sldId id="687" r:id="rId31"/>
    <p:sldId id="688" r:id="rId32"/>
    <p:sldId id="690" r:id="rId33"/>
    <p:sldId id="730" r:id="rId34"/>
    <p:sldId id="695" r:id="rId35"/>
    <p:sldId id="697" r:id="rId36"/>
    <p:sldId id="696"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CC"/>
    <a:srgbClr val="5CD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44" autoAdjust="0"/>
    <p:restoredTop sz="87028" autoAdjust="0"/>
  </p:normalViewPr>
  <p:slideViewPr>
    <p:cSldViewPr snapToGrid="0">
      <p:cViewPr>
        <p:scale>
          <a:sx n="65" d="100"/>
          <a:sy n="65" d="100"/>
        </p:scale>
        <p:origin x="24"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734546-FD7D-47BB-AA1E-00BBFD21EEC5}" type="datetimeFigureOut">
              <a:rPr lang="en-US" smtClean="0"/>
              <a:t>9/7/2025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2D3D20-B80A-47F2-90D8-E85AAC9E3F34}" type="slidenum">
              <a:rPr lang="en-US" smtClean="0"/>
              <a:t>‹#›</a:t>
            </a:fld>
            <a:endParaRPr lang="en-US"/>
          </a:p>
        </p:txBody>
      </p:sp>
    </p:spTree>
    <p:extLst>
      <p:ext uri="{BB962C8B-B14F-4D97-AF65-F5344CB8AC3E}">
        <p14:creationId xmlns:p14="http://schemas.microsoft.com/office/powerpoint/2010/main" val="2438035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2D3D20-B80A-47F2-90D8-E85AAC9E3F34}" type="slidenum">
              <a:rPr lang="en-US" smtClean="0"/>
              <a:t>1</a:t>
            </a:fld>
            <a:endParaRPr lang="en-US"/>
          </a:p>
        </p:txBody>
      </p:sp>
    </p:spTree>
    <p:extLst>
      <p:ext uri="{BB962C8B-B14F-4D97-AF65-F5344CB8AC3E}">
        <p14:creationId xmlns:p14="http://schemas.microsoft.com/office/powerpoint/2010/main" val="929304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70CC6-EB59-4447-80BA-9D36C629BD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4DD14A-F511-49B0-A91B-978DAEFBBA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739A08-9A7A-49DA-A39B-B0EF1A4801F7}"/>
              </a:ext>
            </a:extLst>
          </p:cNvPr>
          <p:cNvSpPr>
            <a:spLocks noGrp="1"/>
          </p:cNvSpPr>
          <p:nvPr>
            <p:ph type="dt" sz="half" idx="10"/>
          </p:nvPr>
        </p:nvSpPr>
        <p:spPr/>
        <p:txBody>
          <a:bodyPr/>
          <a:lstStyle/>
          <a:p>
            <a:fld id="{D2DF8B72-9C19-4DBD-8F3B-D049130D4969}" type="datetimeFigureOut">
              <a:rPr lang="en-US" smtClean="0"/>
              <a:t>9/7/2025</a:t>
            </a:fld>
            <a:endParaRPr lang="en-US"/>
          </a:p>
        </p:txBody>
      </p:sp>
      <p:sp>
        <p:nvSpPr>
          <p:cNvPr id="5" name="Footer Placeholder 4">
            <a:extLst>
              <a:ext uri="{FF2B5EF4-FFF2-40B4-BE49-F238E27FC236}">
                <a16:creationId xmlns:a16="http://schemas.microsoft.com/office/drawing/2014/main" id="{4BAD8D3A-B881-4BC9-A537-ECB468F7F0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F4CF0-1776-4F65-BCA7-0F303DF3D429}"/>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071570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B02DE-303C-4D87-8E77-879FBE1195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B6C54D-48BB-467E-8103-DFE5F6DCED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DAA13-6920-4BB8-A1F1-3A13242790AB}"/>
              </a:ext>
            </a:extLst>
          </p:cNvPr>
          <p:cNvSpPr>
            <a:spLocks noGrp="1"/>
          </p:cNvSpPr>
          <p:nvPr>
            <p:ph type="dt" sz="half" idx="10"/>
          </p:nvPr>
        </p:nvSpPr>
        <p:spPr/>
        <p:txBody>
          <a:bodyPr/>
          <a:lstStyle/>
          <a:p>
            <a:fld id="{D2DF8B72-9C19-4DBD-8F3B-D049130D4969}" type="datetimeFigureOut">
              <a:rPr lang="en-US" smtClean="0"/>
              <a:t>9/7/2025</a:t>
            </a:fld>
            <a:endParaRPr lang="en-US"/>
          </a:p>
        </p:txBody>
      </p:sp>
      <p:sp>
        <p:nvSpPr>
          <p:cNvPr id="5" name="Footer Placeholder 4">
            <a:extLst>
              <a:ext uri="{FF2B5EF4-FFF2-40B4-BE49-F238E27FC236}">
                <a16:creationId xmlns:a16="http://schemas.microsoft.com/office/drawing/2014/main" id="{2663360B-5BAB-41D8-A02D-7C1BAB8C68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92317C-2498-4AED-8B51-357F03DCA24C}"/>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4073134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33ADF-891D-4A12-83B5-454FF556A8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492D1F-5588-4349-97C5-EB30CD88E5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C24B3D-6B89-4416-A6EB-152D8D49D5E5}"/>
              </a:ext>
            </a:extLst>
          </p:cNvPr>
          <p:cNvSpPr>
            <a:spLocks noGrp="1"/>
          </p:cNvSpPr>
          <p:nvPr>
            <p:ph type="dt" sz="half" idx="10"/>
          </p:nvPr>
        </p:nvSpPr>
        <p:spPr/>
        <p:txBody>
          <a:bodyPr/>
          <a:lstStyle/>
          <a:p>
            <a:fld id="{D2DF8B72-9C19-4DBD-8F3B-D049130D4969}" type="datetimeFigureOut">
              <a:rPr lang="en-US" smtClean="0"/>
              <a:t>9/7/2025</a:t>
            </a:fld>
            <a:endParaRPr lang="en-US"/>
          </a:p>
        </p:txBody>
      </p:sp>
      <p:sp>
        <p:nvSpPr>
          <p:cNvPr id="5" name="Footer Placeholder 4">
            <a:extLst>
              <a:ext uri="{FF2B5EF4-FFF2-40B4-BE49-F238E27FC236}">
                <a16:creationId xmlns:a16="http://schemas.microsoft.com/office/drawing/2014/main" id="{C11B9C78-BA9A-479E-A3FF-6952872958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48EE37-7497-4B13-94F5-9E33310DD2CF}"/>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1111059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D8959-A7A6-4D39-AA8B-57C72F6B12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0E0084-43D6-45E5-B2FB-83FB50E504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1317EC-AA9D-4624-8395-48D0AE97ED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28D681-CD5B-4D0F-A2B0-BF8B8AD77FA8}"/>
              </a:ext>
            </a:extLst>
          </p:cNvPr>
          <p:cNvSpPr>
            <a:spLocks noGrp="1"/>
          </p:cNvSpPr>
          <p:nvPr>
            <p:ph type="dt" sz="half" idx="10"/>
          </p:nvPr>
        </p:nvSpPr>
        <p:spPr/>
        <p:txBody>
          <a:bodyPr/>
          <a:lstStyle/>
          <a:p>
            <a:fld id="{D2DF8B72-9C19-4DBD-8F3B-D049130D4969}" type="datetimeFigureOut">
              <a:rPr lang="en-US" smtClean="0"/>
              <a:t>9/7/2025</a:t>
            </a:fld>
            <a:endParaRPr lang="en-US"/>
          </a:p>
        </p:txBody>
      </p:sp>
      <p:sp>
        <p:nvSpPr>
          <p:cNvPr id="6" name="Footer Placeholder 5">
            <a:extLst>
              <a:ext uri="{FF2B5EF4-FFF2-40B4-BE49-F238E27FC236}">
                <a16:creationId xmlns:a16="http://schemas.microsoft.com/office/drawing/2014/main" id="{A8C1E102-0CFC-4C99-8794-DDB15502C4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D0784B-2F5A-4BD4-9EBE-85512D8646BE}"/>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205031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A3181-2412-4949-91A3-23CBDDDBC94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7C8FC4-D6CA-4D00-B86A-7336B6E1CA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D6D8B-7024-4E37-B53E-016331394C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A1DB30-80A3-4DC3-9806-9202A76140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997761-D7C3-42D3-803A-AAC22024F8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D11AC6-D32A-4EAD-B726-5AE67DFFC05A}"/>
              </a:ext>
            </a:extLst>
          </p:cNvPr>
          <p:cNvSpPr>
            <a:spLocks noGrp="1"/>
          </p:cNvSpPr>
          <p:nvPr>
            <p:ph type="dt" sz="half" idx="10"/>
          </p:nvPr>
        </p:nvSpPr>
        <p:spPr/>
        <p:txBody>
          <a:bodyPr/>
          <a:lstStyle/>
          <a:p>
            <a:fld id="{D2DF8B72-9C19-4DBD-8F3B-D049130D4969}" type="datetimeFigureOut">
              <a:rPr lang="en-US" smtClean="0"/>
              <a:t>9/7/2025</a:t>
            </a:fld>
            <a:endParaRPr lang="en-US"/>
          </a:p>
        </p:txBody>
      </p:sp>
      <p:sp>
        <p:nvSpPr>
          <p:cNvPr id="8" name="Footer Placeholder 7">
            <a:extLst>
              <a:ext uri="{FF2B5EF4-FFF2-40B4-BE49-F238E27FC236}">
                <a16:creationId xmlns:a16="http://schemas.microsoft.com/office/drawing/2014/main" id="{3E8607F5-A7FB-40DA-A637-507CECE2AC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28571F-5213-44AD-9B39-829F876219D9}"/>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158411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16889-5B79-497C-9736-E9B7A36D06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35B599-D225-4693-9E55-C140F796D09F}"/>
              </a:ext>
            </a:extLst>
          </p:cNvPr>
          <p:cNvSpPr>
            <a:spLocks noGrp="1"/>
          </p:cNvSpPr>
          <p:nvPr>
            <p:ph type="dt" sz="half" idx="10"/>
          </p:nvPr>
        </p:nvSpPr>
        <p:spPr/>
        <p:txBody>
          <a:bodyPr/>
          <a:lstStyle/>
          <a:p>
            <a:fld id="{D2DF8B72-9C19-4DBD-8F3B-D049130D4969}" type="datetimeFigureOut">
              <a:rPr lang="en-US" smtClean="0"/>
              <a:t>9/7/2025</a:t>
            </a:fld>
            <a:endParaRPr lang="en-US"/>
          </a:p>
        </p:txBody>
      </p:sp>
      <p:sp>
        <p:nvSpPr>
          <p:cNvPr id="4" name="Footer Placeholder 3">
            <a:extLst>
              <a:ext uri="{FF2B5EF4-FFF2-40B4-BE49-F238E27FC236}">
                <a16:creationId xmlns:a16="http://schemas.microsoft.com/office/drawing/2014/main" id="{055B06CB-70EA-4710-B4B5-59BF2C6247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B1CA16-87D7-4A9A-93EE-A252B69E1A12}"/>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2948811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9141D3-43C6-40C7-A4DB-9BFB3972D39D}"/>
              </a:ext>
            </a:extLst>
          </p:cNvPr>
          <p:cNvSpPr>
            <a:spLocks noGrp="1"/>
          </p:cNvSpPr>
          <p:nvPr>
            <p:ph type="dt" sz="half" idx="10"/>
          </p:nvPr>
        </p:nvSpPr>
        <p:spPr/>
        <p:txBody>
          <a:bodyPr/>
          <a:lstStyle/>
          <a:p>
            <a:fld id="{D2DF8B72-9C19-4DBD-8F3B-D049130D4969}" type="datetimeFigureOut">
              <a:rPr lang="en-US" smtClean="0"/>
              <a:t>9/7/2025</a:t>
            </a:fld>
            <a:endParaRPr lang="en-US"/>
          </a:p>
        </p:txBody>
      </p:sp>
      <p:sp>
        <p:nvSpPr>
          <p:cNvPr id="3" name="Footer Placeholder 2">
            <a:extLst>
              <a:ext uri="{FF2B5EF4-FFF2-40B4-BE49-F238E27FC236}">
                <a16:creationId xmlns:a16="http://schemas.microsoft.com/office/drawing/2014/main" id="{20B73F51-C531-4416-9A10-50D5280BF5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6032B0-273E-4169-9640-156E7D4EA445}"/>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669267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A39EF-1141-43EF-9A25-60CEC3698D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3BA0430-0CCC-4FD2-905C-27F04B934A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F68AE7-6F69-4589-A8AF-F2B8927E89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31577C-944C-412C-8F52-FFFC45A36846}"/>
              </a:ext>
            </a:extLst>
          </p:cNvPr>
          <p:cNvSpPr>
            <a:spLocks noGrp="1"/>
          </p:cNvSpPr>
          <p:nvPr>
            <p:ph type="dt" sz="half" idx="10"/>
          </p:nvPr>
        </p:nvSpPr>
        <p:spPr/>
        <p:txBody>
          <a:bodyPr/>
          <a:lstStyle/>
          <a:p>
            <a:fld id="{D2DF8B72-9C19-4DBD-8F3B-D049130D4969}" type="datetimeFigureOut">
              <a:rPr lang="en-US" smtClean="0"/>
              <a:t>9/7/2025</a:t>
            </a:fld>
            <a:endParaRPr lang="en-US"/>
          </a:p>
        </p:txBody>
      </p:sp>
      <p:sp>
        <p:nvSpPr>
          <p:cNvPr id="6" name="Footer Placeholder 5">
            <a:extLst>
              <a:ext uri="{FF2B5EF4-FFF2-40B4-BE49-F238E27FC236}">
                <a16:creationId xmlns:a16="http://schemas.microsoft.com/office/drawing/2014/main" id="{B4F4FD3B-027E-4C74-964C-C3F64FBB46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DFEB46-4620-4847-8F68-DB3BB84CBCCA}"/>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461275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9019B-EBB5-4FBC-99F6-CD60929B57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6A3050-1640-44D7-B8B2-7F5BC0F2C4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7D1C82-DEC0-4624-8D52-79B7F25CF7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CA048C-F343-4D60-96F0-B2859B510C95}"/>
              </a:ext>
            </a:extLst>
          </p:cNvPr>
          <p:cNvSpPr>
            <a:spLocks noGrp="1"/>
          </p:cNvSpPr>
          <p:nvPr>
            <p:ph type="dt" sz="half" idx="10"/>
          </p:nvPr>
        </p:nvSpPr>
        <p:spPr/>
        <p:txBody>
          <a:bodyPr/>
          <a:lstStyle/>
          <a:p>
            <a:fld id="{D2DF8B72-9C19-4DBD-8F3B-D049130D4969}" type="datetimeFigureOut">
              <a:rPr lang="en-US" smtClean="0"/>
              <a:t>9/7/2025</a:t>
            </a:fld>
            <a:endParaRPr lang="en-US"/>
          </a:p>
        </p:txBody>
      </p:sp>
      <p:sp>
        <p:nvSpPr>
          <p:cNvPr id="6" name="Footer Placeholder 5">
            <a:extLst>
              <a:ext uri="{FF2B5EF4-FFF2-40B4-BE49-F238E27FC236}">
                <a16:creationId xmlns:a16="http://schemas.microsoft.com/office/drawing/2014/main" id="{22788895-9B51-4541-AAB2-BF16ED7D0A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753C80-6CDB-486A-B8CF-AAD127321023}"/>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1632752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7D555-ABD7-4161-B06F-FCD3143D9C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095C10-FF95-4025-B207-9881A16465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C42DD-D420-4BAE-A427-F815A4F37271}"/>
              </a:ext>
            </a:extLst>
          </p:cNvPr>
          <p:cNvSpPr>
            <a:spLocks noGrp="1"/>
          </p:cNvSpPr>
          <p:nvPr>
            <p:ph type="dt" sz="half" idx="10"/>
          </p:nvPr>
        </p:nvSpPr>
        <p:spPr/>
        <p:txBody>
          <a:bodyPr/>
          <a:lstStyle/>
          <a:p>
            <a:fld id="{D2DF8B72-9C19-4DBD-8F3B-D049130D4969}" type="datetimeFigureOut">
              <a:rPr lang="en-US" smtClean="0"/>
              <a:t>9/7/2025</a:t>
            </a:fld>
            <a:endParaRPr lang="en-US"/>
          </a:p>
        </p:txBody>
      </p:sp>
      <p:sp>
        <p:nvSpPr>
          <p:cNvPr id="5" name="Footer Placeholder 4">
            <a:extLst>
              <a:ext uri="{FF2B5EF4-FFF2-40B4-BE49-F238E27FC236}">
                <a16:creationId xmlns:a16="http://schemas.microsoft.com/office/drawing/2014/main" id="{F551F7B7-D2EB-4517-9D60-26A66FF0E9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D20148-FE35-475E-9068-7641710E2E47}"/>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808833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554761-8A33-482D-B4B2-18B2A8F89E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2B816EB-AB8E-47C2-9A3E-33DE4D4F8D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740179-C5D2-4148-BAA2-30F72348BCE2}"/>
              </a:ext>
            </a:extLst>
          </p:cNvPr>
          <p:cNvSpPr>
            <a:spLocks noGrp="1"/>
          </p:cNvSpPr>
          <p:nvPr>
            <p:ph type="dt" sz="half" idx="10"/>
          </p:nvPr>
        </p:nvSpPr>
        <p:spPr/>
        <p:txBody>
          <a:bodyPr/>
          <a:lstStyle/>
          <a:p>
            <a:fld id="{D2DF8B72-9C19-4DBD-8F3B-D049130D4969}" type="datetimeFigureOut">
              <a:rPr lang="en-US" smtClean="0"/>
              <a:t>9/7/2025</a:t>
            </a:fld>
            <a:endParaRPr lang="en-US"/>
          </a:p>
        </p:txBody>
      </p:sp>
      <p:sp>
        <p:nvSpPr>
          <p:cNvPr id="5" name="Footer Placeholder 4">
            <a:extLst>
              <a:ext uri="{FF2B5EF4-FFF2-40B4-BE49-F238E27FC236}">
                <a16:creationId xmlns:a16="http://schemas.microsoft.com/office/drawing/2014/main" id="{31A0BD9F-3BB0-4D0E-9EBA-8CC5FDF828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969872-32D9-46E9-AB85-0ABCDEE88AE5}"/>
              </a:ext>
            </a:extLst>
          </p:cNvPr>
          <p:cNvSpPr>
            <a:spLocks noGrp="1"/>
          </p:cNvSpPr>
          <p:nvPr>
            <p:ph type="sldNum" sz="quarter" idx="12"/>
          </p:nvPr>
        </p:nvSpPr>
        <p:spPr/>
        <p:txBody>
          <a:bodyPr/>
          <a:lstStyle/>
          <a:p>
            <a:fld id="{1B9366AE-5A89-45B7-9EA8-7C0EFF44206E}" type="slidenum">
              <a:rPr lang="en-US" smtClean="0"/>
              <a:t>‹#›</a:t>
            </a:fld>
            <a:endParaRPr lang="en-US"/>
          </a:p>
        </p:txBody>
      </p:sp>
    </p:spTree>
    <p:extLst>
      <p:ext uri="{BB962C8B-B14F-4D97-AF65-F5344CB8AC3E}">
        <p14:creationId xmlns:p14="http://schemas.microsoft.com/office/powerpoint/2010/main" val="38368650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597883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25518225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9488603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Design and Anaysis of Algorihms, Spring 2008 </a:t>
            </a:r>
          </a:p>
        </p:txBody>
      </p:sp>
      <p:sp>
        <p:nvSpPr>
          <p:cNvPr id="6" name="Footer Placeholder 5"/>
          <p:cNvSpPr>
            <a:spLocks noGrp="1"/>
          </p:cNvSpPr>
          <p:nvPr>
            <p:ph type="ftr" sz="quarter" idx="11"/>
          </p:nvPr>
        </p:nvSpPr>
        <p:spPr/>
        <p:txBody>
          <a:bodyPr/>
          <a:lstStyle/>
          <a:p>
            <a:r>
              <a:rPr lang="en-US"/>
              <a:t>Design &amp; Analysis of Algorithms</a:t>
            </a:r>
          </a:p>
        </p:txBody>
      </p:sp>
      <p:sp>
        <p:nvSpPr>
          <p:cNvPr id="7" name="Slide Number Placeholder 6"/>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22796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Design and Anaysis of Algorihms, Spring 2008 </a:t>
            </a:r>
          </a:p>
        </p:txBody>
      </p:sp>
      <p:sp>
        <p:nvSpPr>
          <p:cNvPr id="8" name="Footer Placeholder 7"/>
          <p:cNvSpPr>
            <a:spLocks noGrp="1"/>
          </p:cNvSpPr>
          <p:nvPr>
            <p:ph type="ftr" sz="quarter" idx="11"/>
          </p:nvPr>
        </p:nvSpPr>
        <p:spPr/>
        <p:txBody>
          <a:bodyPr/>
          <a:lstStyle/>
          <a:p>
            <a:r>
              <a:rPr lang="en-US"/>
              <a:t>Design &amp; Analysis of Algorithms</a:t>
            </a:r>
          </a:p>
        </p:txBody>
      </p:sp>
      <p:sp>
        <p:nvSpPr>
          <p:cNvPr id="9" name="Slide Number Placeholder 8"/>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6771203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Design and Anaysis of Algorihms, Spring 2008 </a:t>
            </a:r>
          </a:p>
        </p:txBody>
      </p:sp>
      <p:sp>
        <p:nvSpPr>
          <p:cNvPr id="4" name="Footer Placeholder 3"/>
          <p:cNvSpPr>
            <a:spLocks noGrp="1"/>
          </p:cNvSpPr>
          <p:nvPr>
            <p:ph type="ftr" sz="quarter" idx="11"/>
          </p:nvPr>
        </p:nvSpPr>
        <p:spPr/>
        <p:txBody>
          <a:bodyPr/>
          <a:lstStyle/>
          <a:p>
            <a:r>
              <a:rPr lang="en-US"/>
              <a:t>Design &amp; Analysis of Algorithms</a:t>
            </a:r>
          </a:p>
        </p:txBody>
      </p:sp>
      <p:sp>
        <p:nvSpPr>
          <p:cNvPr id="5" name="Slide Number Placeholder 4"/>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8227330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Design and Anaysis of Algorihms, Spring 2008 </a:t>
            </a:r>
          </a:p>
        </p:txBody>
      </p:sp>
      <p:sp>
        <p:nvSpPr>
          <p:cNvPr id="3" name="Footer Placeholder 2"/>
          <p:cNvSpPr>
            <a:spLocks noGrp="1"/>
          </p:cNvSpPr>
          <p:nvPr>
            <p:ph type="ftr" sz="quarter" idx="11"/>
          </p:nvPr>
        </p:nvSpPr>
        <p:spPr/>
        <p:txBody>
          <a:bodyPr/>
          <a:lstStyle/>
          <a:p>
            <a:r>
              <a:rPr lang="en-US"/>
              <a:t>Design &amp; Analysis of Algorithms</a:t>
            </a:r>
          </a:p>
        </p:txBody>
      </p:sp>
      <p:sp>
        <p:nvSpPr>
          <p:cNvPr id="4" name="Slide Number Placeholder 3"/>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32956782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406400"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Design and Anaysis of Algorihms, Spring 2008 </a:t>
            </a:r>
          </a:p>
        </p:txBody>
      </p:sp>
      <p:sp>
        <p:nvSpPr>
          <p:cNvPr id="6" name="Footer Placeholder 5"/>
          <p:cNvSpPr>
            <a:spLocks noGrp="1"/>
          </p:cNvSpPr>
          <p:nvPr>
            <p:ph type="ftr" sz="quarter" idx="11"/>
          </p:nvPr>
        </p:nvSpPr>
        <p:spPr/>
        <p:txBody>
          <a:bodyPr/>
          <a:lstStyle/>
          <a:p>
            <a:r>
              <a:rPr lang="en-US"/>
              <a:t>Design &amp; Analysis of Algorithms</a:t>
            </a:r>
          </a:p>
        </p:txBody>
      </p:sp>
      <p:sp>
        <p:nvSpPr>
          <p:cNvPr id="7" name="Slide Number Placeholder 6"/>
          <p:cNvSpPr>
            <a:spLocks noGrp="1"/>
          </p:cNvSpPr>
          <p:nvPr>
            <p:ph type="sldNum" sz="quarter" idx="12"/>
          </p:nvPr>
        </p:nvSpPr>
        <p:spPr/>
        <p:txBody>
          <a:bodyPr/>
          <a:lstStyle/>
          <a:p>
            <a:fld id="{3485D9CA-6DAA-4C3C-A3E2-EDEA918D5F89}" type="slidenum">
              <a:rPr lang="en-US" smtClean="0"/>
              <a:pPr/>
              <a:t>‹#›</a:t>
            </a:fld>
            <a:endParaRPr lang="en-US"/>
          </a:p>
        </p:txBody>
      </p:sp>
      <p:sp>
        <p:nvSpPr>
          <p:cNvPr id="9" name="Content Placeholder 8"/>
          <p:cNvSpPr>
            <a:spLocks noGrp="1"/>
          </p:cNvSpPr>
          <p:nvPr>
            <p:ph sz="quarter" idx="13"/>
          </p:nvPr>
        </p:nvSpPr>
        <p:spPr>
          <a:xfrm>
            <a:off x="406400" y="381000"/>
            <a:ext cx="103632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54409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r>
              <a:rPr lang="en-US"/>
              <a:t>Design and Anaysis of Algorihms, Spring 2008 </a:t>
            </a:r>
          </a:p>
        </p:txBody>
      </p:sp>
      <p:sp>
        <p:nvSpPr>
          <p:cNvPr id="9" name="Slide Number Placeholder 8"/>
          <p:cNvSpPr>
            <a:spLocks noGrp="1"/>
          </p:cNvSpPr>
          <p:nvPr>
            <p:ph type="sldNum" sz="quarter" idx="11"/>
          </p:nvPr>
        </p:nvSpPr>
        <p:spPr/>
        <p:txBody>
          <a:bodyPr/>
          <a:lstStyle/>
          <a:p>
            <a:fld id="{3485D9CA-6DAA-4C3C-A3E2-EDEA918D5F89}" type="slidenum">
              <a:rPr lang="en-US" smtClean="0"/>
              <a:pPr/>
              <a:t>‹#›</a:t>
            </a:fld>
            <a:endParaRPr lang="en-US"/>
          </a:p>
        </p:txBody>
      </p:sp>
      <p:sp>
        <p:nvSpPr>
          <p:cNvPr id="10" name="Footer Placeholder 9"/>
          <p:cNvSpPr>
            <a:spLocks noGrp="1"/>
          </p:cNvSpPr>
          <p:nvPr>
            <p:ph type="ftr" sz="quarter" idx="12"/>
          </p:nvPr>
        </p:nvSpPr>
        <p:spPr/>
        <p:txBody>
          <a:bodyPr/>
          <a:lstStyle/>
          <a:p>
            <a:r>
              <a:rPr lang="en-US"/>
              <a:t>Design &amp; Analysis of Algorithms</a:t>
            </a:r>
          </a:p>
        </p:txBody>
      </p:sp>
    </p:spTree>
    <p:extLst>
      <p:ext uri="{BB962C8B-B14F-4D97-AF65-F5344CB8AC3E}">
        <p14:creationId xmlns:p14="http://schemas.microsoft.com/office/powerpoint/2010/main" val="8020862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26712371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Design and Anaysis of Algorihms, Spring 2008 </a:t>
            </a:r>
          </a:p>
        </p:txBody>
      </p:sp>
      <p:sp>
        <p:nvSpPr>
          <p:cNvPr id="5" name="Footer Placeholder 4"/>
          <p:cNvSpPr>
            <a:spLocks noGrp="1"/>
          </p:cNvSpPr>
          <p:nvPr>
            <p:ph type="ftr" sz="quarter" idx="11"/>
          </p:nvPr>
        </p:nvSpPr>
        <p:spPr/>
        <p:txBody>
          <a:bodyPr/>
          <a:lstStyle/>
          <a:p>
            <a:r>
              <a:rPr lang="en-US"/>
              <a:t>Design &amp; Analysis of Algorithms</a:t>
            </a:r>
          </a:p>
        </p:txBody>
      </p:sp>
      <p:sp>
        <p:nvSpPr>
          <p:cNvPr id="6" name="Slide Number Placeholder 5"/>
          <p:cNvSpPr>
            <a:spLocks noGrp="1"/>
          </p:cNvSpPr>
          <p:nvPr>
            <p:ph type="sldNum" sz="quarter" idx="12"/>
          </p:nvPr>
        </p:nvSpPr>
        <p:spPr/>
        <p:txBody>
          <a:bodyPr/>
          <a:lstStyle/>
          <a:p>
            <a:fld id="{3485D9CA-6DAA-4C3C-A3E2-EDEA918D5F89}" type="slidenum">
              <a:rPr lang="en-US" smtClean="0"/>
              <a:pPr/>
              <a:t>‹#›</a:t>
            </a:fld>
            <a:endParaRPr lang="en-US"/>
          </a:p>
        </p:txBody>
      </p:sp>
    </p:spTree>
    <p:extLst>
      <p:ext uri="{BB962C8B-B14F-4D97-AF65-F5344CB8AC3E}">
        <p14:creationId xmlns:p14="http://schemas.microsoft.com/office/powerpoint/2010/main" val="11555936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7"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8" name="Rectangle 6"/>
          <p:cNvSpPr>
            <a:spLocks noGrp="1" noChangeArrowheads="1"/>
          </p:cNvSpPr>
          <p:nvPr>
            <p:ph type="sldNum" sz="quarter" idx="12"/>
          </p:nvPr>
        </p:nvSpPr>
        <p:spPr>
          <a:ln/>
        </p:spPr>
        <p:txBody>
          <a:bodyPr/>
          <a:lstStyle>
            <a:lvl1pPr>
              <a:defRPr/>
            </a:lvl1pPr>
          </a:lstStyle>
          <a:p>
            <a:fld id="{1CAA143B-99B6-4B27-B043-E574855ABF90}" type="slidenum">
              <a:rPr lang="en-GB"/>
              <a:pPr/>
              <a:t>‹#›</a:t>
            </a:fld>
            <a:endParaRPr lang="en-GB"/>
          </a:p>
        </p:txBody>
      </p:sp>
    </p:spTree>
    <p:extLst>
      <p:ext uri="{BB962C8B-B14F-4D97-AF65-F5344CB8AC3E}">
        <p14:creationId xmlns:p14="http://schemas.microsoft.com/office/powerpoint/2010/main" val="25507592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6"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7" name="Rectangle 6"/>
          <p:cNvSpPr>
            <a:spLocks noGrp="1" noChangeArrowheads="1"/>
          </p:cNvSpPr>
          <p:nvPr>
            <p:ph type="sldNum" sz="quarter" idx="12"/>
          </p:nvPr>
        </p:nvSpPr>
        <p:spPr>
          <a:ln/>
        </p:spPr>
        <p:txBody>
          <a:bodyPr/>
          <a:lstStyle>
            <a:lvl1pPr>
              <a:defRPr/>
            </a:lvl1pPr>
          </a:lstStyle>
          <a:p>
            <a:fld id="{15718971-3FDC-4323-BE22-69C0E5D57951}" type="slidenum">
              <a:rPr lang="en-GB"/>
              <a:pPr/>
              <a:t>‹#›</a:t>
            </a:fld>
            <a:endParaRPr lang="en-GB"/>
          </a:p>
        </p:txBody>
      </p:sp>
    </p:spTree>
    <p:extLst>
      <p:ext uri="{BB962C8B-B14F-4D97-AF65-F5344CB8AC3E}">
        <p14:creationId xmlns:p14="http://schemas.microsoft.com/office/powerpoint/2010/main" val="27258714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quarter" idx="1"/>
          </p:nvPr>
        </p:nvSpPr>
        <p:spPr>
          <a:xfrm>
            <a:off x="609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r>
              <a:rPr lang="en-US"/>
              <a:t>Design and Anaysis of Algorihms, Spring 2008 </a:t>
            </a:r>
            <a:endParaRPr lang="en-GB"/>
          </a:p>
        </p:txBody>
      </p:sp>
      <p:sp>
        <p:nvSpPr>
          <p:cNvPr id="8" name="Rectangle 5"/>
          <p:cNvSpPr>
            <a:spLocks noGrp="1" noChangeArrowheads="1"/>
          </p:cNvSpPr>
          <p:nvPr>
            <p:ph type="ftr" sz="quarter" idx="11"/>
          </p:nvPr>
        </p:nvSpPr>
        <p:spPr>
          <a:ln/>
        </p:spPr>
        <p:txBody>
          <a:bodyPr/>
          <a:lstStyle>
            <a:lvl1pPr>
              <a:defRPr/>
            </a:lvl1pPr>
          </a:lstStyle>
          <a:p>
            <a:pPr>
              <a:defRPr/>
            </a:pPr>
            <a:r>
              <a:rPr lang="en-GB"/>
              <a:t>Design &amp; Analysis of Algorithms</a:t>
            </a:r>
          </a:p>
        </p:txBody>
      </p:sp>
      <p:sp>
        <p:nvSpPr>
          <p:cNvPr id="9" name="Rectangle 6"/>
          <p:cNvSpPr>
            <a:spLocks noGrp="1" noChangeArrowheads="1"/>
          </p:cNvSpPr>
          <p:nvPr>
            <p:ph type="sldNum" sz="quarter" idx="12"/>
          </p:nvPr>
        </p:nvSpPr>
        <p:spPr>
          <a:ln/>
        </p:spPr>
        <p:txBody>
          <a:bodyPr/>
          <a:lstStyle>
            <a:lvl1pPr>
              <a:defRPr/>
            </a:lvl1pPr>
          </a:lstStyle>
          <a:p>
            <a:fld id="{51BCAC09-0EE0-4829-9090-1F0BC639B9B6}" type="slidenum">
              <a:rPr lang="en-GB"/>
              <a:pPr/>
              <a:t>‹#›</a:t>
            </a:fld>
            <a:endParaRPr lang="en-GB"/>
          </a:p>
        </p:txBody>
      </p:sp>
    </p:spTree>
    <p:extLst>
      <p:ext uri="{BB962C8B-B14F-4D97-AF65-F5344CB8AC3E}">
        <p14:creationId xmlns:p14="http://schemas.microsoft.com/office/powerpoint/2010/main" val="733955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EB5029-5875-48B9-9C22-38D785FCE9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A0B3BA-C511-4FC7-AA99-072F757CF5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700382-92E4-4D10-875A-89C34EF30D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DF8B72-9C19-4DBD-8F3B-D049130D4969}" type="datetimeFigureOut">
              <a:rPr lang="en-US" smtClean="0"/>
              <a:t>9/7/2025</a:t>
            </a:fld>
            <a:endParaRPr lang="en-US"/>
          </a:p>
        </p:txBody>
      </p:sp>
      <p:sp>
        <p:nvSpPr>
          <p:cNvPr id="5" name="Footer Placeholder 4">
            <a:extLst>
              <a:ext uri="{FF2B5EF4-FFF2-40B4-BE49-F238E27FC236}">
                <a16:creationId xmlns:a16="http://schemas.microsoft.com/office/drawing/2014/main" id="{29CD864E-90F0-4014-8C2D-CE853EFCBA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B062C12-0EAF-4F9E-BB1B-EED572C618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9366AE-5A89-45B7-9EA8-7C0EFF44206E}" type="slidenum">
              <a:rPr lang="en-US" smtClean="0"/>
              <a:t>‹#›</a:t>
            </a:fld>
            <a:endParaRPr lang="en-US"/>
          </a:p>
        </p:txBody>
      </p:sp>
    </p:spTree>
    <p:extLst>
      <p:ext uri="{BB962C8B-B14F-4D97-AF65-F5344CB8AC3E}">
        <p14:creationId xmlns:p14="http://schemas.microsoft.com/office/powerpoint/2010/main" val="975243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16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1127760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p:nvSpPr>
        <p:spPr>
          <a:xfrm>
            <a:off x="11277600" y="5486400"/>
            <a:ext cx="9144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3485D9CA-6DAA-4C3C-A3E2-EDEA918D5F89}" type="slidenum">
              <a:rPr lang="en-US" smtClean="0"/>
              <a:pPr/>
              <a:t>‹#›</a:t>
            </a:fld>
            <a:endParaRPr lang="en-US"/>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r>
              <a:rPr lang="en-US"/>
              <a:t>Design &amp; Analysis of Algorithms</a:t>
            </a:r>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r>
              <a:rPr lang="en-US"/>
              <a:t>Design and Anaysis of Algorihms, Spring 2008 </a:t>
            </a:r>
          </a:p>
        </p:txBody>
      </p:sp>
    </p:spTree>
    <p:extLst>
      <p:ext uri="{BB962C8B-B14F-4D97-AF65-F5344CB8AC3E}">
        <p14:creationId xmlns:p14="http://schemas.microsoft.com/office/powerpoint/2010/main" val="23899172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13.xml"/><Relationship Id="rId1" Type="http://schemas.openxmlformats.org/officeDocument/2006/relationships/tags" Target="../tags/tag13.xml"/><Relationship Id="rId4" Type="http://schemas.openxmlformats.org/officeDocument/2006/relationships/image" Target="../media/image6.jpeg"/></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xml"/></Relationships>
</file>

<file path=ppt/slides/_rels/slide2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2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13.xml"/><Relationship Id="rId1" Type="http://schemas.openxmlformats.org/officeDocument/2006/relationships/tags" Target="../tags/tag24.xml"/></Relationships>
</file>

<file path=ppt/slides/_rels/slide3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13.xml"/><Relationship Id="rId1" Type="http://schemas.openxmlformats.org/officeDocument/2006/relationships/tags" Target="../tags/tag25.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6.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8.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9.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485D9CA-6DAA-4C3C-A3E2-EDEA918D5F89}" type="slidenum">
              <a:rPr lang="en-US">
                <a:latin typeface="Calibri"/>
              </a:rPr>
              <a:pPr/>
              <a:t>1</a:t>
            </a:fld>
            <a:endParaRPr lang="en-US">
              <a:latin typeface="Calibri"/>
            </a:endParaRPr>
          </a:p>
        </p:txBody>
      </p:sp>
      <p:sp>
        <p:nvSpPr>
          <p:cNvPr id="7" name="Title 1"/>
          <p:cNvSpPr>
            <a:spLocks noGrp="1"/>
          </p:cNvSpPr>
          <p:nvPr>
            <p:ph type="ctrTitle"/>
          </p:nvPr>
        </p:nvSpPr>
        <p:spPr>
          <a:xfrm>
            <a:off x="1524000" y="1654176"/>
            <a:ext cx="8458200" cy="1470025"/>
          </a:xfrm>
        </p:spPr>
        <p:txBody>
          <a:bodyPr/>
          <a:lstStyle/>
          <a:p>
            <a:pPr algn="ctr"/>
            <a:r>
              <a:rPr lang="en-US" sz="3200" b="1" dirty="0"/>
              <a:t>CSC 323 – Principles of Operating Systems</a:t>
            </a:r>
          </a:p>
        </p:txBody>
      </p:sp>
      <p:sp>
        <p:nvSpPr>
          <p:cNvPr id="8" name="Subtitle 2"/>
          <p:cNvSpPr txBox="1">
            <a:spLocks/>
          </p:cNvSpPr>
          <p:nvPr/>
        </p:nvSpPr>
        <p:spPr>
          <a:xfrm>
            <a:off x="1524000" y="3505200"/>
            <a:ext cx="8458200" cy="1752600"/>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Clr>
                <a:schemeClr val="accent1"/>
              </a:buClr>
              <a:buFont typeface="Arial" pitchFamily="34" charset="0"/>
              <a:buNone/>
              <a:defRPr sz="2000" kern="1200">
                <a:solidFill>
                  <a:schemeClr val="tx1">
                    <a:tint val="75000"/>
                  </a:schemeClr>
                </a:solidFill>
                <a:latin typeface="+mn-lt"/>
                <a:ea typeface="+mn-ea"/>
                <a:cs typeface="+mn-cs"/>
              </a:defRPr>
            </a:lvl1pPr>
            <a:lvl2pPr marL="457200" indent="0" algn="ctr" defTabSz="914400" rtl="0" eaLnBrk="1" latinLnBrk="0" hangingPunct="1">
              <a:spcBef>
                <a:spcPct val="20000"/>
              </a:spcBef>
              <a:buClr>
                <a:schemeClr val="accent2"/>
              </a:buClr>
              <a:buFont typeface="Arial"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3"/>
              </a:buClr>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4"/>
              </a:buClr>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5"/>
              </a:buClr>
              <a:buFont typeface="Arial" pitchFamily="34" charset="0"/>
              <a:buNone/>
              <a:defRPr sz="1400" kern="1200" baseline="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accent1"/>
              </a:buClr>
              <a:buFont typeface="Arial" pitchFamily="34" charset="0"/>
              <a:buNone/>
              <a:defRPr sz="1400" kern="1200" baseline="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accent2"/>
              </a:buClr>
              <a:buFont typeface="Arial" pitchFamily="34" charset="0"/>
              <a:buNone/>
              <a:defRPr sz="14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accent3"/>
              </a:buClr>
              <a:buFont typeface="Arial" pitchFamily="34" charset="0"/>
              <a:buNone/>
              <a:defRPr sz="14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accent4"/>
              </a:buClr>
              <a:buFont typeface="Arial" pitchFamily="34" charset="0"/>
              <a:buNone/>
              <a:defRPr sz="1400" kern="1200">
                <a:solidFill>
                  <a:schemeClr val="tx1">
                    <a:tint val="75000"/>
                  </a:schemeClr>
                </a:solidFill>
                <a:latin typeface="+mn-lt"/>
                <a:ea typeface="+mn-ea"/>
                <a:cs typeface="+mn-cs"/>
              </a:defRPr>
            </a:lvl9pPr>
          </a:lstStyle>
          <a:p>
            <a:pPr algn="ctr">
              <a:buClr>
                <a:srgbClr val="A9A57C"/>
              </a:buClr>
            </a:pPr>
            <a:r>
              <a:rPr lang="en-US" sz="2800" b="1" spc="-100" dirty="0">
                <a:solidFill>
                  <a:srgbClr val="675E47"/>
                </a:solidFill>
                <a:latin typeface="Cambria"/>
              </a:rPr>
              <a:t>Instructor: Ms. Mamoona Tasadduq</a:t>
            </a:r>
          </a:p>
          <a:p>
            <a:pPr algn="ctr">
              <a:buClr>
                <a:srgbClr val="A9A57C"/>
              </a:buClr>
            </a:pPr>
            <a:r>
              <a:rPr lang="en-US" sz="2800" b="1" spc="-100" dirty="0">
                <a:solidFill>
                  <a:srgbClr val="675E47"/>
                </a:solidFill>
                <a:latin typeface="Cambria"/>
              </a:rPr>
              <a:t>Topic: Threads</a:t>
            </a:r>
          </a:p>
        </p:txBody>
      </p:sp>
    </p:spTree>
    <p:extLst>
      <p:ext uri="{BB962C8B-B14F-4D97-AF65-F5344CB8AC3E}">
        <p14:creationId xmlns:p14="http://schemas.microsoft.com/office/powerpoint/2010/main" val="1423990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Processes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410988"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Recall that a process includes many things</a:t>
            </a:r>
          </a:p>
          <a:p>
            <a:pPr lvl="1" algn="just"/>
            <a:r>
              <a:rPr lang="en-US" dirty="0">
                <a:latin typeface="Arial" panose="020B0604020202020204" pitchFamily="34" charset="0"/>
                <a:cs typeface="Arial" panose="020B0604020202020204" pitchFamily="34" charset="0"/>
              </a:rPr>
              <a:t>An address space (code, data), </a:t>
            </a:r>
          </a:p>
          <a:p>
            <a:pPr lvl="1" algn="just"/>
            <a:r>
              <a:rPr lang="en-US" dirty="0">
                <a:latin typeface="Arial" panose="020B0604020202020204" pitchFamily="34" charset="0"/>
                <a:cs typeface="Arial" panose="020B0604020202020204" pitchFamily="34" charset="0"/>
              </a:rPr>
              <a:t>OS resources (e.g., open files) and accounting information</a:t>
            </a:r>
          </a:p>
          <a:p>
            <a:pPr lvl="1" algn="just"/>
            <a:r>
              <a:rPr lang="en-US" dirty="0">
                <a:latin typeface="Arial" panose="020B0604020202020204" pitchFamily="34" charset="0"/>
                <a:cs typeface="Arial" panose="020B0604020202020204" pitchFamily="34" charset="0"/>
              </a:rPr>
              <a:t>Execution state (program counter, registers, and stack pointer etc.).</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Creating a new process is costly</a:t>
            </a:r>
          </a:p>
          <a:p>
            <a:pPr lvl="1" algn="just"/>
            <a:r>
              <a:rPr lang="en-US" dirty="0">
                <a:latin typeface="Arial" panose="020B0604020202020204" pitchFamily="34" charset="0"/>
                <a:cs typeface="Arial" panose="020B0604020202020204" pitchFamily="34" charset="0"/>
              </a:rPr>
              <a:t>because of all of the data structures that must be allocated and initialized</a:t>
            </a:r>
          </a:p>
          <a:p>
            <a:pPr lvl="1"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Communicating between processes is also costly</a:t>
            </a:r>
          </a:p>
          <a:p>
            <a:pPr lvl="1" algn="just"/>
            <a:r>
              <a:rPr lang="en-US" dirty="0">
                <a:latin typeface="Arial" panose="020B0604020202020204" pitchFamily="34" charset="0"/>
                <a:cs typeface="Arial" panose="020B0604020202020204" pitchFamily="34" charset="0"/>
              </a:rPr>
              <a:t>because most communication goes through the OS</a:t>
            </a:r>
          </a:p>
          <a:p>
            <a:pPr lvl="2" algn="just"/>
            <a:r>
              <a:rPr lang="en-US" dirty="0">
                <a:latin typeface="Arial" panose="020B0604020202020204" pitchFamily="34" charset="0"/>
                <a:cs typeface="Arial" panose="020B0604020202020204" pitchFamily="34" charset="0"/>
              </a:rPr>
              <a:t>overhead of system calls and copying data</a:t>
            </a:r>
          </a:p>
          <a:p>
            <a:pPr marL="114300" indent="0" algn="just">
              <a:buNone/>
            </a:pPr>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523488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Example: Web Server</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596979" y="1453241"/>
            <a:ext cx="10338499"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How does a web server handle a request?</a:t>
            </a:r>
          </a:p>
          <a:p>
            <a:pPr algn="just"/>
            <a:endParaRPr lang="en-US" sz="1100" b="1" dirty="0">
              <a:solidFill>
                <a:srgbClr val="FF0000"/>
              </a:solidFill>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 web server needs to handle many concurrent requests.</a:t>
            </a:r>
          </a:p>
          <a:p>
            <a:pPr algn="just"/>
            <a:endParaRPr lang="en-US" sz="1100"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Solution 1</a:t>
            </a:r>
            <a:r>
              <a:rPr lang="en-US" dirty="0">
                <a:latin typeface="Arial" panose="020B0604020202020204" pitchFamily="34" charset="0"/>
                <a:cs typeface="Arial" panose="020B0604020202020204" pitchFamily="34" charset="0"/>
              </a:rPr>
              <a:t>:</a:t>
            </a:r>
          </a:p>
          <a:p>
            <a:pPr lvl="1" algn="just"/>
            <a:r>
              <a:rPr lang="en-US" dirty="0">
                <a:latin typeface="Arial" panose="020B0604020202020204" pitchFamily="34" charset="0"/>
                <a:cs typeface="Arial" panose="020B0604020202020204" pitchFamily="34" charset="0"/>
              </a:rPr>
              <a:t>forks off copies of itself to handle multiple simultaneous requests</a:t>
            </a:r>
          </a:p>
          <a:p>
            <a:pPr lvl="1" algn="just"/>
            <a:r>
              <a:rPr lang="en-US" dirty="0">
                <a:latin typeface="Arial" panose="020B0604020202020204" pitchFamily="34" charset="0"/>
                <a:cs typeface="Arial" panose="020B0604020202020204" pitchFamily="34" charset="0"/>
              </a:rPr>
              <a:t>Processes communicate with each other via inter-process communication</a:t>
            </a:r>
          </a:p>
          <a:p>
            <a:pPr marL="411480" lvl="1" indent="0" algn="just">
              <a:buNone/>
            </a:pPr>
            <a:endParaRPr lang="en-US" dirty="0">
              <a:latin typeface="Arial" panose="020B0604020202020204" pitchFamily="34" charset="0"/>
              <a:cs typeface="Arial" panose="020B0604020202020204" pitchFamily="34" charset="0"/>
            </a:endParaRPr>
          </a:p>
        </p:txBody>
      </p:sp>
      <p:pic>
        <p:nvPicPr>
          <p:cNvPr id="14338" name="Picture 1">
            <a:extLst>
              <a:ext uri="{FF2B5EF4-FFF2-40B4-BE49-F238E27FC236}">
                <a16:creationId xmlns:a16="http://schemas.microsoft.com/office/drawing/2014/main" id="{CF5D0D58-5C7A-45B8-AD7F-B5E9EF91996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90057" y="4097233"/>
            <a:ext cx="7344865" cy="262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091917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3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Concurrent Programs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4</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410988"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To execute these programs, we need to</a:t>
            </a:r>
          </a:p>
          <a:p>
            <a:pPr lvl="1" algn="just"/>
            <a:r>
              <a:rPr lang="en-US" dirty="0">
                <a:latin typeface="Arial" panose="020B0604020202020204" pitchFamily="34" charset="0"/>
                <a:cs typeface="Arial" panose="020B0604020202020204" pitchFamily="34" charset="0"/>
              </a:rPr>
              <a:t>Create several processes that execute in parallel</a:t>
            </a:r>
          </a:p>
          <a:p>
            <a:pPr lvl="1" algn="just"/>
            <a:r>
              <a:rPr lang="en-US" dirty="0">
                <a:latin typeface="Arial" panose="020B0604020202020204" pitchFamily="34" charset="0"/>
                <a:cs typeface="Arial" panose="020B0604020202020204" pitchFamily="34" charset="0"/>
              </a:rPr>
              <a:t>Cause each to map to the same address space to share data</a:t>
            </a:r>
          </a:p>
          <a:p>
            <a:pPr lvl="2" algn="just"/>
            <a:r>
              <a:rPr lang="en-US" dirty="0">
                <a:latin typeface="Arial" panose="020B0604020202020204" pitchFamily="34" charset="0"/>
                <a:cs typeface="Arial" panose="020B0604020202020204" pitchFamily="34" charset="0"/>
              </a:rPr>
              <a:t>They are all part of the same computation</a:t>
            </a:r>
          </a:p>
          <a:p>
            <a:pPr lvl="1" algn="just"/>
            <a:r>
              <a:rPr lang="en-US" dirty="0">
                <a:latin typeface="Arial" panose="020B0604020202020204" pitchFamily="34" charset="0"/>
                <a:cs typeface="Arial" panose="020B0604020202020204" pitchFamily="34" charset="0"/>
              </a:rPr>
              <a:t>Have the OS schedule these processes in parallel (logically or physically)</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This situation is </a:t>
            </a:r>
            <a:r>
              <a:rPr lang="en-US" b="1" dirty="0">
                <a:solidFill>
                  <a:srgbClr val="FF0000"/>
                </a:solidFill>
                <a:latin typeface="Arial" panose="020B0604020202020204" pitchFamily="34" charset="0"/>
                <a:cs typeface="Arial" panose="020B0604020202020204" pitchFamily="34" charset="0"/>
              </a:rPr>
              <a:t>very</a:t>
            </a:r>
            <a:r>
              <a:rPr lang="en-US" b="1" dirty="0">
                <a:latin typeface="Arial" panose="020B0604020202020204" pitchFamily="34" charset="0"/>
                <a:cs typeface="Arial" panose="020B0604020202020204" pitchFamily="34" charset="0"/>
              </a:rPr>
              <a:t> </a:t>
            </a:r>
            <a:r>
              <a:rPr lang="en-US" b="1" dirty="0">
                <a:solidFill>
                  <a:srgbClr val="FF0000"/>
                </a:solidFill>
                <a:latin typeface="Arial" panose="020B0604020202020204" pitchFamily="34" charset="0"/>
                <a:cs typeface="Arial" panose="020B0604020202020204" pitchFamily="34" charset="0"/>
              </a:rPr>
              <a:t>inefficient</a:t>
            </a:r>
          </a:p>
          <a:p>
            <a:pPr lvl="1" algn="just"/>
            <a:r>
              <a:rPr lang="en-US" b="1" dirty="0">
                <a:solidFill>
                  <a:srgbClr val="00B050"/>
                </a:solidFill>
                <a:latin typeface="Arial" panose="020B0604020202020204" pitchFamily="34" charset="0"/>
                <a:cs typeface="Arial" panose="020B0604020202020204" pitchFamily="34" charset="0"/>
              </a:rPr>
              <a:t>Space</a:t>
            </a:r>
            <a:r>
              <a:rPr lang="en-US" dirty="0">
                <a:latin typeface="Arial" panose="020B0604020202020204" pitchFamily="34" charset="0"/>
                <a:cs typeface="Arial" panose="020B0604020202020204" pitchFamily="34" charset="0"/>
              </a:rPr>
              <a:t>: PCB, page tables, etc.</a:t>
            </a:r>
          </a:p>
          <a:p>
            <a:pPr lvl="1" algn="just"/>
            <a:r>
              <a:rPr lang="en-US" b="1" dirty="0">
                <a:solidFill>
                  <a:srgbClr val="00B050"/>
                </a:solidFill>
                <a:latin typeface="Arial" panose="020B0604020202020204" pitchFamily="34" charset="0"/>
                <a:cs typeface="Arial" panose="020B0604020202020204" pitchFamily="34" charset="0"/>
              </a:rPr>
              <a:t>Time</a:t>
            </a:r>
            <a:r>
              <a:rPr lang="en-US" dirty="0">
                <a:latin typeface="Arial" panose="020B0604020202020204" pitchFamily="34" charset="0"/>
                <a:cs typeface="Arial" panose="020B0604020202020204" pitchFamily="34" charset="0"/>
              </a:rPr>
              <a:t>: create data structures, fork and copy address space, etc.</a:t>
            </a:r>
          </a:p>
        </p:txBody>
      </p:sp>
    </p:spTree>
    <p:custDataLst>
      <p:tags r:id="rId1"/>
    </p:custDataLst>
    <p:extLst>
      <p:ext uri="{BB962C8B-B14F-4D97-AF65-F5344CB8AC3E}">
        <p14:creationId xmlns:p14="http://schemas.microsoft.com/office/powerpoint/2010/main" val="98211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Rethinking Processes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5</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1"/>
            <a:ext cx="10569249" cy="5059526"/>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What is similar in these cooperating processes?</a:t>
            </a:r>
          </a:p>
          <a:p>
            <a:pPr lvl="1" algn="just"/>
            <a:r>
              <a:rPr lang="en-US" dirty="0">
                <a:latin typeface="Arial" panose="020B0604020202020204" pitchFamily="34" charset="0"/>
                <a:cs typeface="Arial" panose="020B0604020202020204" pitchFamily="34" charset="0"/>
              </a:rPr>
              <a:t>They all share the same code and data (address space)</a:t>
            </a:r>
          </a:p>
          <a:p>
            <a:pPr lvl="1" algn="just"/>
            <a:r>
              <a:rPr lang="en-US" dirty="0">
                <a:latin typeface="Arial" panose="020B0604020202020204" pitchFamily="34" charset="0"/>
                <a:cs typeface="Arial" panose="020B0604020202020204" pitchFamily="34" charset="0"/>
              </a:rPr>
              <a:t>They all share the same privileges</a:t>
            </a:r>
          </a:p>
          <a:p>
            <a:pPr lvl="1" algn="just"/>
            <a:r>
              <a:rPr lang="en-US" dirty="0">
                <a:latin typeface="Arial" panose="020B0604020202020204" pitchFamily="34" charset="0"/>
                <a:cs typeface="Arial" panose="020B0604020202020204" pitchFamily="34" charset="0"/>
              </a:rPr>
              <a:t>They all share the same resources (files, communication channels, etc.)</a:t>
            </a:r>
          </a:p>
          <a:p>
            <a:pPr algn="just"/>
            <a:endParaRPr lang="en-US" sz="10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What don’t they share?</a:t>
            </a:r>
          </a:p>
          <a:p>
            <a:pPr lvl="1" algn="just"/>
            <a:r>
              <a:rPr lang="en-US" dirty="0">
                <a:latin typeface="Arial" panose="020B0604020202020204" pitchFamily="34" charset="0"/>
                <a:cs typeface="Arial" panose="020B0604020202020204" pitchFamily="34" charset="0"/>
              </a:rPr>
              <a:t>Each has its own execution state: PC, SP, and registers</a:t>
            </a:r>
          </a:p>
          <a:p>
            <a:pPr lvl="1" algn="just"/>
            <a:endParaRPr lang="en-US" dirty="0">
              <a:latin typeface="Arial" panose="020B0604020202020204" pitchFamily="34" charset="0"/>
              <a:cs typeface="Arial" panose="020B0604020202020204" pitchFamily="34" charset="0"/>
            </a:endParaRPr>
          </a:p>
          <a:p>
            <a:pPr algn="just"/>
            <a:r>
              <a:rPr lang="en-US" b="1" dirty="0">
                <a:solidFill>
                  <a:srgbClr val="00B050"/>
                </a:solidFill>
                <a:latin typeface="Arial" panose="020B0604020202020204" pitchFamily="34" charset="0"/>
                <a:cs typeface="Arial" panose="020B0604020202020204" pitchFamily="34" charset="0"/>
              </a:rPr>
              <a:t>Idea</a:t>
            </a:r>
            <a:r>
              <a:rPr lang="en-US" dirty="0">
                <a:latin typeface="Arial" panose="020B0604020202020204" pitchFamily="34" charset="0"/>
                <a:cs typeface="Arial" panose="020B0604020202020204" pitchFamily="34" charset="0"/>
              </a:rPr>
              <a:t>: Why not separate the process concept from its execution state?</a:t>
            </a:r>
          </a:p>
          <a:p>
            <a:pPr lvl="1" algn="just"/>
            <a:r>
              <a:rPr lang="en-US" b="1" dirty="0">
                <a:solidFill>
                  <a:srgbClr val="0070C0"/>
                </a:solidFill>
                <a:latin typeface="Arial" panose="020B0604020202020204" pitchFamily="34" charset="0"/>
                <a:cs typeface="Arial" panose="020B0604020202020204" pitchFamily="34" charset="0"/>
              </a:rPr>
              <a:t>Process</a:t>
            </a:r>
            <a:r>
              <a:rPr lang="en-US" dirty="0">
                <a:latin typeface="Arial" panose="020B0604020202020204" pitchFamily="34" charset="0"/>
                <a:cs typeface="Arial" panose="020B0604020202020204" pitchFamily="34" charset="0"/>
              </a:rPr>
              <a:t>: address space, privileges, resources, etc.</a:t>
            </a:r>
          </a:p>
          <a:p>
            <a:pPr lvl="1" algn="just"/>
            <a:r>
              <a:rPr lang="en-US" b="1" dirty="0">
                <a:solidFill>
                  <a:srgbClr val="0070C0"/>
                </a:solidFill>
                <a:latin typeface="Arial" panose="020B0604020202020204" pitchFamily="34" charset="0"/>
                <a:cs typeface="Arial" panose="020B0604020202020204" pitchFamily="34" charset="0"/>
              </a:rPr>
              <a:t>Execution state</a:t>
            </a:r>
            <a:r>
              <a:rPr lang="en-US" dirty="0">
                <a:latin typeface="Arial" panose="020B0604020202020204" pitchFamily="34" charset="0"/>
                <a:cs typeface="Arial" panose="020B0604020202020204" pitchFamily="34" charset="0"/>
              </a:rPr>
              <a:t>: PC, SP, registers</a:t>
            </a:r>
          </a:p>
          <a:p>
            <a:pPr lvl="1"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Execution state also called </a:t>
            </a:r>
            <a:r>
              <a:rPr lang="en-US" b="1" dirty="0">
                <a:solidFill>
                  <a:srgbClr val="FF0000"/>
                </a:solidFill>
                <a:latin typeface="Arial" panose="020B0604020202020204" pitchFamily="34" charset="0"/>
                <a:cs typeface="Arial" panose="020B0604020202020204" pitchFamily="34" charset="0"/>
              </a:rPr>
              <a:t>thread of control</a:t>
            </a:r>
            <a:r>
              <a:rPr lang="en-US" dirty="0">
                <a:latin typeface="Arial" panose="020B0604020202020204" pitchFamily="34" charset="0"/>
                <a:cs typeface="Arial" panose="020B0604020202020204" pitchFamily="34" charset="0"/>
              </a:rPr>
              <a:t>, or </a:t>
            </a:r>
            <a:r>
              <a:rPr lang="en-US" b="1" dirty="0">
                <a:solidFill>
                  <a:srgbClr val="FF0000"/>
                </a:solidFill>
                <a:latin typeface="Arial" panose="020B0604020202020204" pitchFamily="34" charset="0"/>
                <a:cs typeface="Arial" panose="020B0604020202020204" pitchFamily="34" charset="0"/>
              </a:rPr>
              <a:t>thread</a:t>
            </a:r>
          </a:p>
        </p:txBody>
      </p:sp>
    </p:spTree>
    <p:custDataLst>
      <p:tags r:id="rId1"/>
    </p:custDataLst>
    <p:extLst>
      <p:ext uri="{BB962C8B-B14F-4D97-AF65-F5344CB8AC3E}">
        <p14:creationId xmlns:p14="http://schemas.microsoft.com/office/powerpoint/2010/main" val="1928376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Threads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6</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1"/>
            <a:ext cx="10321989" cy="5404759"/>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0"/>
              </a:spcBef>
            </a:pPr>
            <a:r>
              <a:rPr lang="en-US" dirty="0">
                <a:latin typeface="Arial" panose="020B0604020202020204" pitchFamily="34" charset="0"/>
                <a:cs typeface="Arial" panose="020B0604020202020204" pitchFamily="34" charset="0"/>
              </a:rPr>
              <a:t>Modern OSes separate the concepts of processes and threads</a:t>
            </a:r>
          </a:p>
          <a:p>
            <a:pPr lvl="1" algn="just">
              <a:spcBef>
                <a:spcPts val="0"/>
              </a:spcBef>
            </a:pPr>
            <a:r>
              <a:rPr lang="en-US" dirty="0">
                <a:latin typeface="Arial" panose="020B0604020202020204" pitchFamily="34" charset="0"/>
                <a:cs typeface="Arial" panose="020B0604020202020204" pitchFamily="34" charset="0"/>
              </a:rPr>
              <a:t>The</a:t>
            </a:r>
            <a:r>
              <a:rPr lang="en-US" b="1" dirty="0">
                <a:solidFill>
                  <a:srgbClr val="FF0000"/>
                </a:solidFill>
                <a:latin typeface="Arial" panose="020B0604020202020204" pitchFamily="34" charset="0"/>
                <a:cs typeface="Arial" panose="020B0604020202020204" pitchFamily="34" charset="0"/>
              </a:rPr>
              <a:t> thread</a:t>
            </a:r>
            <a:r>
              <a:rPr lang="en-US" dirty="0">
                <a:latin typeface="Arial" panose="020B0604020202020204" pitchFamily="34" charset="0"/>
                <a:cs typeface="Arial" panose="020B0604020202020204" pitchFamily="34" charset="0"/>
              </a:rPr>
              <a:t> defines a single sequential execution stream within a process</a:t>
            </a:r>
          </a:p>
          <a:p>
            <a:pPr lvl="1" algn="just">
              <a:spcBef>
                <a:spcPts val="0"/>
              </a:spcBef>
            </a:pPr>
            <a:r>
              <a:rPr lang="en-US" dirty="0">
                <a:latin typeface="Arial" panose="020B0604020202020204" pitchFamily="34" charset="0"/>
                <a:cs typeface="Arial" panose="020B0604020202020204" pitchFamily="34" charset="0"/>
              </a:rPr>
              <a:t>The</a:t>
            </a:r>
            <a:r>
              <a:rPr lang="en-US" b="1" dirty="0">
                <a:solidFill>
                  <a:srgbClr val="FF0000"/>
                </a:solidFill>
                <a:latin typeface="Arial" panose="020B0604020202020204" pitchFamily="34" charset="0"/>
                <a:cs typeface="Arial" panose="020B0604020202020204" pitchFamily="34" charset="0"/>
              </a:rPr>
              <a:t> process</a:t>
            </a:r>
            <a:r>
              <a:rPr lang="en-US" dirty="0">
                <a:latin typeface="Arial" panose="020B0604020202020204" pitchFamily="34" charset="0"/>
                <a:cs typeface="Arial" panose="020B0604020202020204" pitchFamily="34" charset="0"/>
              </a:rPr>
              <a:t> defines an address space and general process attributes</a:t>
            </a:r>
          </a:p>
          <a:p>
            <a:pPr lvl="1" algn="just">
              <a:spcBef>
                <a:spcPts val="0"/>
              </a:spcBef>
            </a:pPr>
            <a:endParaRPr lang="en-US" sz="1000" dirty="0">
              <a:latin typeface="Arial" panose="020B0604020202020204" pitchFamily="34" charset="0"/>
              <a:cs typeface="Arial" panose="020B0604020202020204" pitchFamily="34" charset="0"/>
            </a:endParaRPr>
          </a:p>
          <a:p>
            <a:pPr algn="just">
              <a:spcBef>
                <a:spcPts val="0"/>
              </a:spcBef>
            </a:pPr>
            <a:endParaRPr lang="en-US" dirty="0">
              <a:latin typeface="Arial" panose="020B0604020202020204" pitchFamily="34" charset="0"/>
              <a:cs typeface="Arial" panose="020B0604020202020204" pitchFamily="34" charset="0"/>
            </a:endParaRPr>
          </a:p>
          <a:p>
            <a:pPr algn="just">
              <a:spcBef>
                <a:spcPts val="0"/>
              </a:spcBef>
            </a:pPr>
            <a:r>
              <a:rPr lang="en-US" dirty="0">
                <a:latin typeface="Arial" panose="020B0604020202020204" pitchFamily="34" charset="0"/>
                <a:cs typeface="Arial" panose="020B0604020202020204" pitchFamily="34" charset="0"/>
              </a:rPr>
              <a:t>A thread is bound to a single process</a:t>
            </a:r>
          </a:p>
          <a:p>
            <a:pPr lvl="1" algn="just">
              <a:spcBef>
                <a:spcPts val="0"/>
              </a:spcBef>
            </a:pPr>
            <a:r>
              <a:rPr lang="en-US" dirty="0">
                <a:latin typeface="Arial" panose="020B0604020202020204" pitchFamily="34" charset="0"/>
                <a:cs typeface="Arial" panose="020B0604020202020204" pitchFamily="34" charset="0"/>
              </a:rPr>
              <a:t>Processes, however, can have multiple threads </a:t>
            </a:r>
          </a:p>
          <a:p>
            <a:pPr algn="just">
              <a:spcBef>
                <a:spcPts val="0"/>
              </a:spcBef>
            </a:pPr>
            <a:endParaRPr lang="en-US" dirty="0">
              <a:latin typeface="Arial" panose="020B0604020202020204" pitchFamily="34" charset="0"/>
              <a:cs typeface="Arial" panose="020B0604020202020204" pitchFamily="34" charset="0"/>
            </a:endParaRPr>
          </a:p>
          <a:p>
            <a:pPr algn="just">
              <a:spcBef>
                <a:spcPts val="0"/>
              </a:spcBef>
            </a:pPr>
            <a:r>
              <a:rPr lang="en-US" dirty="0">
                <a:latin typeface="Arial" panose="020B0604020202020204" pitchFamily="34" charset="0"/>
                <a:cs typeface="Arial" panose="020B0604020202020204" pitchFamily="34" charset="0"/>
              </a:rPr>
              <a:t>Threads become the unit of scheduling</a:t>
            </a:r>
          </a:p>
          <a:p>
            <a:pPr lvl="1" algn="just">
              <a:spcBef>
                <a:spcPts val="0"/>
              </a:spcBef>
            </a:pPr>
            <a:r>
              <a:rPr lang="en-US" dirty="0">
                <a:latin typeface="Arial" panose="020B0604020202020204" pitchFamily="34" charset="0"/>
                <a:cs typeface="Arial" panose="020B0604020202020204" pitchFamily="34" charset="0"/>
              </a:rPr>
              <a:t>Processes are now the containers in which threads execute</a:t>
            </a:r>
          </a:p>
          <a:p>
            <a:pPr lvl="1" algn="just">
              <a:spcBef>
                <a:spcPts val="0"/>
              </a:spcBef>
            </a:pPr>
            <a:r>
              <a:rPr lang="en-US" dirty="0">
                <a:latin typeface="Arial" panose="020B0604020202020204" pitchFamily="34" charset="0"/>
                <a:cs typeface="Arial" panose="020B0604020202020204" pitchFamily="34" charset="0"/>
              </a:rPr>
              <a:t>Processes become static, threads are the dynamics entities</a:t>
            </a:r>
          </a:p>
          <a:p>
            <a:pPr algn="just">
              <a:spcBef>
                <a:spcPts val="0"/>
              </a:spcBef>
            </a:pPr>
            <a:endParaRPr lang="en-US" dirty="0">
              <a:latin typeface="Arial" panose="020B0604020202020204" pitchFamily="34" charset="0"/>
              <a:cs typeface="Arial" panose="020B0604020202020204" pitchFamily="34" charset="0"/>
            </a:endParaRPr>
          </a:p>
          <a:p>
            <a:pPr algn="just">
              <a:spcBef>
                <a:spcPts val="0"/>
              </a:spcBef>
            </a:pPr>
            <a:r>
              <a:rPr lang="en-US" dirty="0">
                <a:latin typeface="Arial" panose="020B0604020202020204" pitchFamily="34" charset="0"/>
                <a:cs typeface="Arial" panose="020B0604020202020204" pitchFamily="34" charset="0"/>
              </a:rPr>
              <a:t>Data structure: </a:t>
            </a:r>
            <a:r>
              <a:rPr lang="en-US" b="1" dirty="0">
                <a:solidFill>
                  <a:srgbClr val="FF0000"/>
                </a:solidFill>
                <a:latin typeface="Arial" panose="020B0604020202020204" pitchFamily="34" charset="0"/>
                <a:cs typeface="Arial" panose="020B0604020202020204" pitchFamily="34" charset="0"/>
              </a:rPr>
              <a:t>Thread Control Block (TCB)</a:t>
            </a:r>
          </a:p>
        </p:txBody>
      </p:sp>
    </p:spTree>
    <p:custDataLst>
      <p:tags r:id="rId1"/>
    </p:custDataLst>
    <p:extLst>
      <p:ext uri="{BB962C8B-B14F-4D97-AF65-F5344CB8AC3E}">
        <p14:creationId xmlns:p14="http://schemas.microsoft.com/office/powerpoint/2010/main" val="2823083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Process Control Block (PCB)</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7</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2"/>
            <a:ext cx="10516495" cy="5088236"/>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Process management information</a:t>
            </a:r>
          </a:p>
          <a:p>
            <a:pPr lvl="1" algn="just"/>
            <a:r>
              <a:rPr lang="en-US" dirty="0">
                <a:latin typeface="Arial" panose="020B0604020202020204" pitchFamily="34" charset="0"/>
                <a:cs typeface="Arial" panose="020B0604020202020204" pitchFamily="34" charset="0"/>
              </a:rPr>
              <a:t>Process state (running, ready, waiting)</a:t>
            </a:r>
          </a:p>
          <a:p>
            <a:pPr lvl="1" algn="just"/>
            <a:r>
              <a:rPr lang="en-US" dirty="0">
                <a:latin typeface="Arial" panose="020B0604020202020204" pitchFamily="34" charset="0"/>
                <a:cs typeface="Arial" panose="020B0604020202020204" pitchFamily="34" charset="0"/>
              </a:rPr>
              <a:t>PC &amp; CPU registers, parents, etc.</a:t>
            </a:r>
          </a:p>
          <a:p>
            <a:pPr lvl="1" algn="just"/>
            <a:r>
              <a:rPr lang="en-US" dirty="0">
                <a:latin typeface="Arial" panose="020B0604020202020204" pitchFamily="34" charset="0"/>
                <a:cs typeface="Arial" panose="020B0604020202020204" pitchFamily="34" charset="0"/>
              </a:rPr>
              <a:t>CPU scheduling information (priorities, etc.)</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Memory-management information</a:t>
            </a:r>
            <a:endParaRPr lang="en-US" sz="1000" dirty="0">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memory allocated to the process (segments, page tables etc.)</a:t>
            </a:r>
          </a:p>
          <a:p>
            <a:pPr lvl="1" algn="just"/>
            <a:endParaRPr lang="en-US" sz="22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I/O and file management </a:t>
            </a:r>
          </a:p>
          <a:p>
            <a:pPr lvl="1" algn="just"/>
            <a:r>
              <a:rPr lang="en-US" dirty="0">
                <a:latin typeface="Arial" panose="020B0604020202020204" pitchFamily="34" charset="0"/>
                <a:cs typeface="Arial" panose="020B0604020202020204" pitchFamily="34" charset="0"/>
              </a:rPr>
              <a:t>Communication ports, directories, file descriptors etc.</a:t>
            </a:r>
          </a:p>
        </p:txBody>
      </p:sp>
    </p:spTree>
    <p:custDataLst>
      <p:tags r:id="rId1"/>
    </p:custDataLst>
    <p:extLst>
      <p:ext uri="{BB962C8B-B14F-4D97-AF65-F5344CB8AC3E}">
        <p14:creationId xmlns:p14="http://schemas.microsoft.com/office/powerpoint/2010/main" val="3441337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Thread Control Block (TCB)</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8</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2"/>
            <a:ext cx="10516495" cy="5088236"/>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Shared information</a:t>
            </a:r>
          </a:p>
          <a:p>
            <a:pPr lvl="1" algn="just"/>
            <a:r>
              <a:rPr lang="en-US" dirty="0">
                <a:latin typeface="Arial" panose="020B0604020202020204" pitchFamily="34" charset="0"/>
                <a:cs typeface="Arial" panose="020B0604020202020204" pitchFamily="34" charset="0"/>
              </a:rPr>
              <a:t>Process info: parent process</a:t>
            </a:r>
          </a:p>
          <a:p>
            <a:pPr lvl="1" algn="just"/>
            <a:r>
              <a:rPr lang="en-US" dirty="0">
                <a:latin typeface="Arial" panose="020B0604020202020204" pitchFamily="34" charset="0"/>
                <a:cs typeface="Arial" panose="020B0604020202020204" pitchFamily="34" charset="0"/>
              </a:rPr>
              <a:t>Memory: code/data segment, page table, and stats </a:t>
            </a:r>
          </a:p>
          <a:p>
            <a:pPr lvl="1" algn="just"/>
            <a:r>
              <a:rPr lang="en-US" dirty="0">
                <a:latin typeface="Arial" panose="020B0604020202020204" pitchFamily="34" charset="0"/>
                <a:cs typeface="Arial" panose="020B0604020202020204" pitchFamily="34" charset="0"/>
              </a:rPr>
              <a:t>I/O and file: communication ports, open file descriptors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Private information</a:t>
            </a:r>
            <a:endParaRPr lang="en-US" sz="1000" dirty="0">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State (ready, running and waiting)</a:t>
            </a:r>
          </a:p>
          <a:p>
            <a:pPr lvl="1" algn="just"/>
            <a:r>
              <a:rPr lang="en-US" dirty="0">
                <a:latin typeface="Arial" panose="020B0604020202020204" pitchFamily="34" charset="0"/>
                <a:cs typeface="Arial" panose="020B0604020202020204" pitchFamily="34" charset="0"/>
              </a:rPr>
              <a:t>Registers, Program counter</a:t>
            </a:r>
          </a:p>
          <a:p>
            <a:pPr lvl="1" algn="just"/>
            <a:r>
              <a:rPr lang="en-US" dirty="0">
                <a:latin typeface="Arial" panose="020B0604020202020204" pitchFamily="34" charset="0"/>
                <a:cs typeface="Arial" panose="020B0604020202020204" pitchFamily="34" charset="0"/>
              </a:rPr>
              <a:t>Execution stack</a:t>
            </a:r>
          </a:p>
        </p:txBody>
      </p:sp>
    </p:spTree>
    <p:custDataLst>
      <p:tags r:id="rId1"/>
    </p:custDataLst>
    <p:extLst>
      <p:ext uri="{BB962C8B-B14F-4D97-AF65-F5344CB8AC3E}">
        <p14:creationId xmlns:p14="http://schemas.microsoft.com/office/powerpoint/2010/main" val="845555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Threads in a Process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9</a:t>
            </a:fld>
            <a:endParaRPr lang="en-US">
              <a:latin typeface="Calibri"/>
            </a:endParaRPr>
          </a:p>
        </p:txBody>
      </p:sp>
      <p:pic>
        <p:nvPicPr>
          <p:cNvPr id="12290" name="Picture 1">
            <a:extLst>
              <a:ext uri="{FF2B5EF4-FFF2-40B4-BE49-F238E27FC236}">
                <a16:creationId xmlns:a16="http://schemas.microsoft.com/office/drawing/2014/main" id="{0489C83A-880F-4FB0-8474-2FE1A357C54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4326" y="1486403"/>
            <a:ext cx="8077462" cy="4534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5689B4A5-21C6-722C-D92B-870C0598B8AA}"/>
              </a:ext>
            </a:extLst>
          </p:cNvPr>
          <p:cNvSpPr txBox="1"/>
          <p:nvPr/>
        </p:nvSpPr>
        <p:spPr>
          <a:xfrm>
            <a:off x="4217437" y="6212336"/>
            <a:ext cx="5019869" cy="430887"/>
          </a:xfrm>
          <a:prstGeom prst="rect">
            <a:avLst/>
          </a:prstGeom>
          <a:noFill/>
        </p:spPr>
        <p:txBody>
          <a:bodyPr wrap="square" rtlCol="0">
            <a:spAutoFit/>
          </a:bodyPr>
          <a:lstStyle/>
          <a:p>
            <a:r>
              <a:rPr lang="en-US" sz="2200" b="1" dirty="0">
                <a:solidFill>
                  <a:srgbClr val="00B050"/>
                </a:solidFill>
                <a:latin typeface="Arial" panose="020B0604020202020204" pitchFamily="34" charset="0"/>
                <a:cs typeface="Arial" panose="020B0604020202020204" pitchFamily="34" charset="0"/>
              </a:rPr>
              <a:t>What about heap?</a:t>
            </a:r>
          </a:p>
        </p:txBody>
      </p:sp>
    </p:spTree>
    <p:custDataLst>
      <p:tags r:id="rId1"/>
    </p:custDataLst>
    <p:extLst>
      <p:ext uri="{BB962C8B-B14F-4D97-AF65-F5344CB8AC3E}">
        <p14:creationId xmlns:p14="http://schemas.microsoft.com/office/powerpoint/2010/main" val="4256330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Threads in a Process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10</a:t>
            </a:fld>
            <a:endParaRPr lang="en-US">
              <a:latin typeface="Calibri"/>
            </a:endParaRPr>
          </a:p>
        </p:txBody>
      </p:sp>
      <p:pic>
        <p:nvPicPr>
          <p:cNvPr id="7" name="Picture 6">
            <a:extLst>
              <a:ext uri="{FF2B5EF4-FFF2-40B4-BE49-F238E27FC236}">
                <a16:creationId xmlns:a16="http://schemas.microsoft.com/office/drawing/2014/main" id="{E37E109F-C011-52F1-D32C-DFD618E227AF}"/>
              </a:ext>
            </a:extLst>
          </p:cNvPr>
          <p:cNvPicPr>
            <a:picLocks noChangeAspect="1"/>
          </p:cNvPicPr>
          <p:nvPr/>
        </p:nvPicPr>
        <p:blipFill>
          <a:blip r:embed="rId3"/>
          <a:stretch>
            <a:fillRect/>
          </a:stretch>
        </p:blipFill>
        <p:spPr>
          <a:xfrm>
            <a:off x="1495425" y="1308650"/>
            <a:ext cx="8966611" cy="5254074"/>
          </a:xfrm>
          <a:prstGeom prst="rect">
            <a:avLst/>
          </a:prstGeom>
        </p:spPr>
      </p:pic>
    </p:spTree>
    <p:custDataLst>
      <p:tags r:id="rId1"/>
    </p:custDataLst>
    <p:extLst>
      <p:ext uri="{BB962C8B-B14F-4D97-AF65-F5344CB8AC3E}">
        <p14:creationId xmlns:p14="http://schemas.microsoft.com/office/powerpoint/2010/main" val="1381804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Threads vs. Processes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11</a:t>
            </a:fld>
            <a:endParaRPr lang="en-US">
              <a:latin typeface="Calibri"/>
            </a:endParaRPr>
          </a:p>
        </p:txBody>
      </p:sp>
      <p:graphicFrame>
        <p:nvGraphicFramePr>
          <p:cNvPr id="6" name="Table 5">
            <a:extLst>
              <a:ext uri="{FF2B5EF4-FFF2-40B4-BE49-F238E27FC236}">
                <a16:creationId xmlns:a16="http://schemas.microsoft.com/office/drawing/2014/main" id="{073EBB8D-5FD2-4247-D18E-EFD18B18F4D6}"/>
              </a:ext>
            </a:extLst>
          </p:cNvPr>
          <p:cNvGraphicFramePr>
            <a:graphicFrameLocks noGrp="1"/>
          </p:cNvGraphicFramePr>
          <p:nvPr>
            <p:extLst>
              <p:ext uri="{D42A27DB-BD31-4B8C-83A1-F6EECF244321}">
                <p14:modId xmlns:p14="http://schemas.microsoft.com/office/powerpoint/2010/main" val="425256292"/>
              </p:ext>
            </p:extLst>
          </p:nvPr>
        </p:nvGraphicFramePr>
        <p:xfrm>
          <a:off x="945514" y="1290447"/>
          <a:ext cx="9692640" cy="5120642"/>
        </p:xfrm>
        <a:graphic>
          <a:graphicData uri="http://schemas.openxmlformats.org/drawingml/2006/table">
            <a:tbl>
              <a:tblPr>
                <a:tableStyleId>{073A0DAA-6AF3-43AB-8588-CEC1D06C72B9}</a:tableStyleId>
              </a:tblPr>
              <a:tblGrid>
                <a:gridCol w="4786384">
                  <a:extLst>
                    <a:ext uri="{9D8B030D-6E8A-4147-A177-3AD203B41FA5}">
                      <a16:colId xmlns:a16="http://schemas.microsoft.com/office/drawing/2014/main" val="1683182497"/>
                    </a:ext>
                  </a:extLst>
                </a:gridCol>
                <a:gridCol w="4906256">
                  <a:extLst>
                    <a:ext uri="{9D8B030D-6E8A-4147-A177-3AD203B41FA5}">
                      <a16:colId xmlns:a16="http://schemas.microsoft.com/office/drawing/2014/main" val="1140942110"/>
                    </a:ext>
                  </a:extLst>
                </a:gridCol>
              </a:tblGrid>
              <a:tr h="391297">
                <a:tc>
                  <a:txBody>
                    <a:bodyPr/>
                    <a:lstStyle/>
                    <a:p>
                      <a:pPr marL="0" marR="0" algn="ctr">
                        <a:lnSpc>
                          <a:spcPct val="115000"/>
                        </a:lnSpc>
                        <a:spcBef>
                          <a:spcPts val="0"/>
                        </a:spcBef>
                        <a:spcAft>
                          <a:spcPts val="0"/>
                        </a:spcAft>
                      </a:pPr>
                      <a:r>
                        <a:rPr lang="en-US" sz="1600" b="1" kern="100" dirty="0">
                          <a:effectLst/>
                          <a:latin typeface="Arial" panose="020B0604020202020204" pitchFamily="34" charset="0"/>
                          <a:cs typeface="Arial" panose="020B0604020202020204" pitchFamily="34" charset="0"/>
                        </a:rPr>
                        <a:t>Process</a:t>
                      </a:r>
                      <a:endParaRPr lang="en-US" sz="1600" b="1" kern="100" dirty="0">
                        <a:effectLst/>
                        <a:latin typeface="Arial" panose="020B0604020202020204" pitchFamily="34" charset="0"/>
                        <a:ea typeface="Calibri" panose="020F0502020204030204" pitchFamily="34" charset="0"/>
                        <a:cs typeface="Arial" panose="020B0604020202020204" pitchFamily="34" charset="0"/>
                      </a:endParaRPr>
                    </a:p>
                  </a:txBody>
                  <a:tcPr marL="39390" marR="39390" marT="39390" marB="39390" anchor="ctr">
                    <a:solidFill>
                      <a:schemeClr val="tx1">
                        <a:lumMod val="25000"/>
                        <a:lumOff val="75000"/>
                      </a:schemeClr>
                    </a:solidFill>
                  </a:tcPr>
                </a:tc>
                <a:tc>
                  <a:txBody>
                    <a:bodyPr/>
                    <a:lstStyle/>
                    <a:p>
                      <a:pPr marL="0" marR="0" algn="ctr">
                        <a:lnSpc>
                          <a:spcPct val="115000"/>
                        </a:lnSpc>
                        <a:spcBef>
                          <a:spcPts val="0"/>
                        </a:spcBef>
                        <a:spcAft>
                          <a:spcPts val="0"/>
                        </a:spcAft>
                      </a:pPr>
                      <a:r>
                        <a:rPr lang="en-US" sz="1600" b="1" kern="100" dirty="0">
                          <a:effectLst/>
                          <a:latin typeface="Arial" panose="020B0604020202020204" pitchFamily="34" charset="0"/>
                          <a:cs typeface="Arial" panose="020B0604020202020204" pitchFamily="34" charset="0"/>
                        </a:rPr>
                        <a:t>Thread</a:t>
                      </a:r>
                      <a:endParaRPr lang="en-US" sz="1600" b="1" kern="100" dirty="0">
                        <a:effectLst/>
                        <a:latin typeface="Arial" panose="020B0604020202020204" pitchFamily="34" charset="0"/>
                        <a:ea typeface="Calibri" panose="020F0502020204030204" pitchFamily="34" charset="0"/>
                        <a:cs typeface="Arial" panose="020B0604020202020204" pitchFamily="34" charset="0"/>
                      </a:endParaRPr>
                    </a:p>
                  </a:txBody>
                  <a:tcPr marL="39390" marR="39390" marT="39390" marB="39390" anchor="ctr">
                    <a:solidFill>
                      <a:schemeClr val="tx1">
                        <a:lumMod val="25000"/>
                        <a:lumOff val="75000"/>
                      </a:schemeClr>
                    </a:solidFill>
                  </a:tcPr>
                </a:tc>
                <a:extLst>
                  <a:ext uri="{0D108BD9-81ED-4DB2-BD59-A6C34878D82A}">
                    <a16:rowId xmlns:a16="http://schemas.microsoft.com/office/drawing/2014/main" val="1282086164"/>
                  </a:ext>
                </a:extLst>
              </a:tr>
              <a:tr h="391297">
                <a:tc>
                  <a:txBody>
                    <a:bodyPr/>
                    <a:lstStyle/>
                    <a:p>
                      <a:pPr marL="0" marR="0" algn="just">
                        <a:lnSpc>
                          <a:spcPct val="115000"/>
                        </a:lnSpc>
                        <a:spcBef>
                          <a:spcPts val="0"/>
                        </a:spcBef>
                        <a:spcAft>
                          <a:spcPts val="0"/>
                        </a:spcAft>
                      </a:pPr>
                      <a:r>
                        <a:rPr lang="en-US" sz="1500" kern="100" dirty="0">
                          <a:effectLst/>
                          <a:latin typeface="Arial" panose="020B0604020202020204" pitchFamily="34" charset="0"/>
                          <a:cs typeface="Arial" panose="020B0604020202020204" pitchFamily="34" charset="0"/>
                        </a:rPr>
                        <a:t>Processes are containers in which threads execute.</a:t>
                      </a:r>
                      <a:endParaRPr lang="en-US" sz="1500" kern="100" dirty="0">
                        <a:effectLst/>
                        <a:latin typeface="Arial" panose="020B0604020202020204" pitchFamily="34" charset="0"/>
                        <a:ea typeface="Calibri" panose="020F0502020204030204" pitchFamily="34" charset="0"/>
                        <a:cs typeface="Arial" panose="020B0604020202020204" pitchFamily="34" charset="0"/>
                      </a:endParaRPr>
                    </a:p>
                  </a:txBody>
                  <a:tcPr marL="39390" marR="39390" marT="39390" marB="39390" anchor="ctr"/>
                </a:tc>
                <a:tc>
                  <a:txBody>
                    <a:bodyPr/>
                    <a:lstStyle/>
                    <a:p>
                      <a:pPr marL="0" marR="0" algn="just">
                        <a:lnSpc>
                          <a:spcPct val="115000"/>
                        </a:lnSpc>
                        <a:spcBef>
                          <a:spcPts val="0"/>
                        </a:spcBef>
                        <a:spcAft>
                          <a:spcPts val="0"/>
                        </a:spcAft>
                      </a:pPr>
                      <a:r>
                        <a:rPr lang="en-US" sz="1500" kern="100" dirty="0">
                          <a:effectLst/>
                          <a:latin typeface="Arial" panose="020B0604020202020204" pitchFamily="34" charset="0"/>
                          <a:cs typeface="Arial" panose="020B0604020202020204" pitchFamily="34" charset="0"/>
                        </a:rPr>
                        <a:t>Threads are the unit of scheduling.</a:t>
                      </a:r>
                      <a:endParaRPr lang="en-US" sz="1500" kern="100" dirty="0">
                        <a:effectLst/>
                        <a:latin typeface="Arial" panose="020B0604020202020204" pitchFamily="34" charset="0"/>
                        <a:ea typeface="Calibri" panose="020F0502020204030204" pitchFamily="34" charset="0"/>
                        <a:cs typeface="Arial" panose="020B0604020202020204" pitchFamily="34" charset="0"/>
                      </a:endParaRPr>
                    </a:p>
                  </a:txBody>
                  <a:tcPr marL="39390" marR="39390" marT="39390" marB="39390" anchor="ctr"/>
                </a:tc>
                <a:extLst>
                  <a:ext uri="{0D108BD9-81ED-4DB2-BD59-A6C34878D82A}">
                    <a16:rowId xmlns:a16="http://schemas.microsoft.com/office/drawing/2014/main" val="1251134697"/>
                  </a:ext>
                </a:extLst>
              </a:tr>
              <a:tr h="940878">
                <a:tc>
                  <a:txBody>
                    <a:bodyPr/>
                    <a:lstStyle/>
                    <a:p>
                      <a:pPr marL="0" marR="0" algn="just">
                        <a:lnSpc>
                          <a:spcPct val="115000"/>
                        </a:lnSpc>
                        <a:spcBef>
                          <a:spcPts val="0"/>
                        </a:spcBef>
                        <a:spcAft>
                          <a:spcPts val="0"/>
                        </a:spcAft>
                      </a:pPr>
                      <a:r>
                        <a:rPr lang="en-US" sz="1500" kern="100" dirty="0">
                          <a:effectLst/>
                          <a:latin typeface="Arial" panose="020B0604020202020204" pitchFamily="34" charset="0"/>
                          <a:cs typeface="Arial" panose="020B0604020202020204" pitchFamily="34" charset="0"/>
                        </a:rPr>
                        <a:t>Each process executes the same code but has its own address space and file resources.</a:t>
                      </a:r>
                      <a:endParaRPr lang="en-US" sz="1500" kern="100" dirty="0">
                        <a:effectLst/>
                        <a:latin typeface="Arial" panose="020B0604020202020204" pitchFamily="34" charset="0"/>
                        <a:ea typeface="Calibri" panose="020F0502020204030204" pitchFamily="34" charset="0"/>
                        <a:cs typeface="Arial" panose="020B0604020202020204" pitchFamily="34" charset="0"/>
                      </a:endParaRPr>
                    </a:p>
                  </a:txBody>
                  <a:tcPr marL="39390" marR="39390" marT="39390" marB="39390" anchor="ctr"/>
                </a:tc>
                <a:tc>
                  <a:txBody>
                    <a:bodyPr/>
                    <a:lstStyle/>
                    <a:p>
                      <a:pPr marL="0" marR="0" algn="just">
                        <a:lnSpc>
                          <a:spcPct val="115000"/>
                        </a:lnSpc>
                        <a:spcBef>
                          <a:spcPts val="0"/>
                        </a:spcBef>
                        <a:spcAft>
                          <a:spcPts val="0"/>
                        </a:spcAft>
                      </a:pPr>
                      <a:r>
                        <a:rPr lang="en-US" sz="1500" kern="100" dirty="0">
                          <a:effectLst/>
                          <a:latin typeface="Arial" panose="020B0604020202020204" pitchFamily="34" charset="0"/>
                          <a:cs typeface="Arial" panose="020B0604020202020204" pitchFamily="34" charset="0"/>
                        </a:rPr>
                        <a:t>Thread can share same set of open files and child processes. There can be several threads in a single address space.</a:t>
                      </a:r>
                      <a:endParaRPr lang="en-US" sz="1500" kern="100" dirty="0">
                        <a:effectLst/>
                        <a:latin typeface="Arial" panose="020B0604020202020204" pitchFamily="34" charset="0"/>
                        <a:ea typeface="Calibri" panose="020F0502020204030204" pitchFamily="34" charset="0"/>
                        <a:cs typeface="Arial" panose="020B0604020202020204" pitchFamily="34" charset="0"/>
                      </a:endParaRPr>
                    </a:p>
                  </a:txBody>
                  <a:tcPr marL="39390" marR="39390" marT="39390" marB="39390" anchor="ctr"/>
                </a:tc>
                <a:extLst>
                  <a:ext uri="{0D108BD9-81ED-4DB2-BD59-A6C34878D82A}">
                    <a16:rowId xmlns:a16="http://schemas.microsoft.com/office/drawing/2014/main" val="3125224321"/>
                  </a:ext>
                </a:extLst>
              </a:tr>
              <a:tr h="391297">
                <a:tc>
                  <a:txBody>
                    <a:bodyPr/>
                    <a:lstStyle/>
                    <a:p>
                      <a:pPr marL="0" marR="0" algn="just">
                        <a:lnSpc>
                          <a:spcPct val="115000"/>
                        </a:lnSpc>
                        <a:spcBef>
                          <a:spcPts val="0"/>
                        </a:spcBef>
                        <a:spcAft>
                          <a:spcPts val="0"/>
                        </a:spcAft>
                      </a:pPr>
                      <a:r>
                        <a:rPr lang="en-US" sz="1500" kern="100" dirty="0">
                          <a:effectLst/>
                          <a:latin typeface="Arial" panose="020B0604020202020204" pitchFamily="34" charset="0"/>
                          <a:cs typeface="Arial" panose="020B0604020202020204" pitchFamily="34" charset="0"/>
                        </a:rPr>
                        <a:t>Each process operates independently of the others.</a:t>
                      </a:r>
                      <a:endParaRPr lang="en-US" sz="1500" kern="100" dirty="0">
                        <a:effectLst/>
                        <a:latin typeface="Arial" panose="020B0604020202020204" pitchFamily="34" charset="0"/>
                        <a:ea typeface="Calibri" panose="020F0502020204030204" pitchFamily="34" charset="0"/>
                        <a:cs typeface="Arial" panose="020B0604020202020204" pitchFamily="34" charset="0"/>
                      </a:endParaRPr>
                    </a:p>
                  </a:txBody>
                  <a:tcPr marL="39390" marR="39390" marT="39390" marB="39390" anchor="ctr"/>
                </a:tc>
                <a:tc>
                  <a:txBody>
                    <a:bodyPr/>
                    <a:lstStyle/>
                    <a:p>
                      <a:pPr marL="0" marR="0" algn="just">
                        <a:lnSpc>
                          <a:spcPct val="115000"/>
                        </a:lnSpc>
                        <a:spcBef>
                          <a:spcPts val="0"/>
                        </a:spcBef>
                        <a:spcAft>
                          <a:spcPts val="0"/>
                        </a:spcAft>
                      </a:pPr>
                      <a:r>
                        <a:rPr lang="en-US" sz="1500" kern="100" dirty="0">
                          <a:effectLst/>
                          <a:latin typeface="Arial" panose="020B0604020202020204" pitchFamily="34" charset="0"/>
                          <a:cs typeface="Arial" panose="020B0604020202020204" pitchFamily="34" charset="0"/>
                        </a:rPr>
                        <a:t>A thread can access and alter another thread's data.</a:t>
                      </a:r>
                      <a:endParaRPr lang="en-US" sz="1500" kern="100" dirty="0">
                        <a:effectLst/>
                        <a:latin typeface="Arial" panose="020B0604020202020204" pitchFamily="34" charset="0"/>
                        <a:ea typeface="Calibri" panose="020F0502020204030204" pitchFamily="34" charset="0"/>
                        <a:cs typeface="Arial" panose="020B0604020202020204" pitchFamily="34" charset="0"/>
                      </a:endParaRPr>
                    </a:p>
                  </a:txBody>
                  <a:tcPr marL="39390" marR="39390" marT="39390" marB="39390" anchor="ctr"/>
                </a:tc>
                <a:extLst>
                  <a:ext uri="{0D108BD9-81ED-4DB2-BD59-A6C34878D82A}">
                    <a16:rowId xmlns:a16="http://schemas.microsoft.com/office/drawing/2014/main" val="741891264"/>
                  </a:ext>
                </a:extLst>
              </a:tr>
              <a:tr h="1449071">
                <a:tc>
                  <a:txBody>
                    <a:bodyPr/>
                    <a:lstStyle/>
                    <a:p>
                      <a:pPr marL="0" marR="0" algn="just">
                        <a:lnSpc>
                          <a:spcPct val="115000"/>
                        </a:lnSpc>
                        <a:spcBef>
                          <a:spcPts val="0"/>
                        </a:spcBef>
                        <a:spcAft>
                          <a:spcPts val="0"/>
                        </a:spcAft>
                      </a:pPr>
                      <a:r>
                        <a:rPr lang="en-US" sz="1500" kern="100" dirty="0">
                          <a:effectLst/>
                          <a:latin typeface="Arial" panose="020B0604020202020204" pitchFamily="34" charset="0"/>
                          <a:cs typeface="Arial" panose="020B0604020202020204" pitchFamily="34" charset="0"/>
                        </a:rPr>
                        <a:t>Process switching needs interaction with the operating system to save the states of address space, resources, accounting info. etc., along with PC, SP, and registers, therefore, it is slower.</a:t>
                      </a:r>
                    </a:p>
                  </a:txBody>
                  <a:tcPr marL="39390" marR="39390" marT="39390" marB="39390" anchor="ctr"/>
                </a:tc>
                <a:tc>
                  <a:txBody>
                    <a:bodyPr/>
                    <a:lstStyle/>
                    <a:p>
                      <a:pPr marL="0" marR="0" algn="just">
                        <a:lnSpc>
                          <a:spcPct val="115000"/>
                        </a:lnSpc>
                        <a:spcBef>
                          <a:spcPts val="0"/>
                        </a:spcBef>
                        <a:spcAft>
                          <a:spcPts val="0"/>
                        </a:spcAft>
                      </a:pPr>
                      <a:r>
                        <a:rPr lang="en-US" sz="1500" kern="100" dirty="0">
                          <a:effectLst/>
                          <a:latin typeface="Arial" panose="020B0604020202020204" pitchFamily="34" charset="0"/>
                          <a:cs typeface="Arial" panose="020B0604020202020204" pitchFamily="34" charset="0"/>
                        </a:rPr>
                        <a:t>Thread switching doesn’t need interaction with the operating system as only the states of the PC, SP, and registers are saved, therefore, it is faster.</a:t>
                      </a:r>
                    </a:p>
                  </a:txBody>
                  <a:tcPr marL="39390" marR="39390" marT="39390" marB="39390" anchor="ctr"/>
                </a:tc>
                <a:extLst>
                  <a:ext uri="{0D108BD9-81ED-4DB2-BD59-A6C34878D82A}">
                    <a16:rowId xmlns:a16="http://schemas.microsoft.com/office/drawing/2014/main" val="3933337731"/>
                  </a:ext>
                </a:extLst>
              </a:tr>
              <a:tr h="908608">
                <a:tc>
                  <a:txBody>
                    <a:bodyPr/>
                    <a:lstStyle/>
                    <a:p>
                      <a:pPr marL="0" marR="0" algn="just">
                        <a:lnSpc>
                          <a:spcPct val="115000"/>
                        </a:lnSpc>
                        <a:spcBef>
                          <a:spcPts val="0"/>
                        </a:spcBef>
                        <a:spcAft>
                          <a:spcPts val="0"/>
                        </a:spcAft>
                      </a:pPr>
                      <a:r>
                        <a:rPr lang="en-US" sz="1500" kern="100" dirty="0">
                          <a:effectLst/>
                          <a:latin typeface="Arial" panose="020B0604020202020204" pitchFamily="34" charset="0"/>
                          <a:cs typeface="Arial" panose="020B0604020202020204" pitchFamily="34" charset="0"/>
                        </a:rPr>
                        <a:t>If a process is blocked by some I/O request, then no further execution is possible until it gets unblocked.</a:t>
                      </a:r>
                      <a:endParaRPr lang="en-US" sz="1500" kern="100" dirty="0">
                        <a:effectLst/>
                        <a:latin typeface="Arial" panose="020B0604020202020204" pitchFamily="34" charset="0"/>
                        <a:ea typeface="Calibri" panose="020F0502020204030204" pitchFamily="34" charset="0"/>
                        <a:cs typeface="Arial" panose="020B0604020202020204" pitchFamily="34" charset="0"/>
                      </a:endParaRPr>
                    </a:p>
                  </a:txBody>
                  <a:tcPr marL="39390" marR="39390" marT="39390" marB="39390" anchor="ctr"/>
                </a:tc>
                <a:tc>
                  <a:txBody>
                    <a:bodyPr/>
                    <a:lstStyle/>
                    <a:p>
                      <a:pPr marL="0" marR="0" algn="just">
                        <a:lnSpc>
                          <a:spcPct val="115000"/>
                        </a:lnSpc>
                        <a:spcBef>
                          <a:spcPts val="0"/>
                        </a:spcBef>
                        <a:spcAft>
                          <a:spcPts val="0"/>
                        </a:spcAft>
                      </a:pPr>
                      <a:r>
                        <a:rPr lang="en-US" sz="1500" kern="100" dirty="0">
                          <a:effectLst/>
                          <a:latin typeface="Arial" panose="020B0604020202020204" pitchFamily="34" charset="0"/>
                          <a:cs typeface="Arial" panose="020B0604020202020204" pitchFamily="34" charset="0"/>
                        </a:rPr>
                        <a:t>If a thread is blocked by some I/O request, another thread in the same task can continue its execution.</a:t>
                      </a:r>
                      <a:endParaRPr lang="en-US" sz="1500" kern="100" dirty="0">
                        <a:effectLst/>
                        <a:latin typeface="Arial" panose="020B0604020202020204" pitchFamily="34" charset="0"/>
                        <a:ea typeface="Calibri" panose="020F0502020204030204" pitchFamily="34" charset="0"/>
                        <a:cs typeface="Arial" panose="020B0604020202020204" pitchFamily="34" charset="0"/>
                      </a:endParaRPr>
                    </a:p>
                  </a:txBody>
                  <a:tcPr marL="39390" marR="39390" marT="39390" marB="39390" anchor="ctr"/>
                </a:tc>
                <a:extLst>
                  <a:ext uri="{0D108BD9-81ED-4DB2-BD59-A6C34878D82A}">
                    <a16:rowId xmlns:a16="http://schemas.microsoft.com/office/drawing/2014/main" val="35669037"/>
                  </a:ext>
                </a:extLst>
              </a:tr>
              <a:tr h="648194">
                <a:tc>
                  <a:txBody>
                    <a:bodyPr/>
                    <a:lstStyle/>
                    <a:p>
                      <a:pPr marL="0" marR="0" algn="just">
                        <a:lnSpc>
                          <a:spcPct val="115000"/>
                        </a:lnSpc>
                        <a:spcBef>
                          <a:spcPts val="0"/>
                        </a:spcBef>
                        <a:spcAft>
                          <a:spcPts val="0"/>
                        </a:spcAft>
                      </a:pPr>
                      <a:r>
                        <a:rPr lang="en-US" sz="1500" kern="100" dirty="0">
                          <a:effectLst/>
                          <a:latin typeface="Arial" panose="020B0604020202020204" pitchFamily="34" charset="0"/>
                          <a:cs typeface="Arial" panose="020B0604020202020204" pitchFamily="34" charset="0"/>
                        </a:rPr>
                        <a:t>Process is heavyweight or resource intensive.</a:t>
                      </a:r>
                      <a:endParaRPr lang="en-US" sz="1500" kern="100" dirty="0">
                        <a:effectLst/>
                        <a:latin typeface="Arial" panose="020B0604020202020204" pitchFamily="34" charset="0"/>
                        <a:ea typeface="Calibri" panose="020F0502020204030204" pitchFamily="34" charset="0"/>
                        <a:cs typeface="Arial" panose="020B0604020202020204" pitchFamily="34" charset="0"/>
                      </a:endParaRPr>
                    </a:p>
                  </a:txBody>
                  <a:tcPr marL="39390" marR="39390" marT="39390" marB="39390" anchor="ctr"/>
                </a:tc>
                <a:tc>
                  <a:txBody>
                    <a:bodyPr/>
                    <a:lstStyle/>
                    <a:p>
                      <a:pPr marL="0" marR="0" algn="just">
                        <a:lnSpc>
                          <a:spcPct val="115000"/>
                        </a:lnSpc>
                        <a:spcBef>
                          <a:spcPts val="0"/>
                        </a:spcBef>
                        <a:spcAft>
                          <a:spcPts val="0"/>
                        </a:spcAft>
                      </a:pPr>
                      <a:r>
                        <a:rPr lang="en-US" sz="1500" kern="100" dirty="0">
                          <a:effectLst/>
                          <a:latin typeface="Arial" panose="020B0604020202020204" pitchFamily="34" charset="0"/>
                          <a:cs typeface="Arial" panose="020B0604020202020204" pitchFamily="34" charset="0"/>
                        </a:rPr>
                        <a:t>Thread, also known as “lightweight” process takes lesser resources than a process.</a:t>
                      </a:r>
                      <a:endParaRPr lang="en-US" sz="1500" kern="100" dirty="0">
                        <a:effectLst/>
                        <a:latin typeface="Arial" panose="020B0604020202020204" pitchFamily="34" charset="0"/>
                        <a:ea typeface="Calibri" panose="020F0502020204030204" pitchFamily="34" charset="0"/>
                        <a:cs typeface="Arial" panose="020B0604020202020204" pitchFamily="34" charset="0"/>
                      </a:endParaRPr>
                    </a:p>
                  </a:txBody>
                  <a:tcPr marL="39390" marR="39390" marT="39390" marB="39390" anchor="ctr"/>
                </a:tc>
                <a:extLst>
                  <a:ext uri="{0D108BD9-81ED-4DB2-BD59-A6C34878D82A}">
                    <a16:rowId xmlns:a16="http://schemas.microsoft.com/office/drawing/2014/main" val="2647527228"/>
                  </a:ext>
                </a:extLst>
              </a:tr>
            </a:tbl>
          </a:graphicData>
        </a:graphic>
      </p:graphicFrame>
    </p:spTree>
    <p:custDataLst>
      <p:tags r:id="rId1"/>
    </p:custDataLst>
    <p:extLst>
      <p:ext uri="{BB962C8B-B14F-4D97-AF65-F5344CB8AC3E}">
        <p14:creationId xmlns:p14="http://schemas.microsoft.com/office/powerpoint/2010/main" val="974377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Process/Thread Separation</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12</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2"/>
            <a:ext cx="10433956"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Easier to support multithreaded applications</a:t>
            </a:r>
          </a:p>
          <a:p>
            <a:pPr lvl="1" algn="just"/>
            <a:r>
              <a:rPr lang="en-US" dirty="0">
                <a:latin typeface="Arial" panose="020B0604020202020204" pitchFamily="34" charset="0"/>
                <a:cs typeface="Arial" panose="020B0604020202020204" pitchFamily="34" charset="0"/>
              </a:rPr>
              <a:t>Concurrency does not require creating new processes</a:t>
            </a:r>
          </a:p>
          <a:p>
            <a:pPr lvl="1" algn="just"/>
            <a:endParaRPr lang="en-US" sz="11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Concurrency (multithreading) can be very useful</a:t>
            </a:r>
          </a:p>
          <a:p>
            <a:pPr lvl="1" algn="just"/>
            <a:r>
              <a:rPr lang="en-US" dirty="0">
                <a:latin typeface="Arial" panose="020B0604020202020204" pitchFamily="34" charset="0"/>
                <a:cs typeface="Arial" panose="020B0604020202020204" pitchFamily="34" charset="0"/>
              </a:rPr>
              <a:t>Improving program structure</a:t>
            </a:r>
          </a:p>
          <a:p>
            <a:pPr lvl="1" algn="just"/>
            <a:r>
              <a:rPr lang="en-US" dirty="0">
                <a:latin typeface="Arial" panose="020B0604020202020204" pitchFamily="34" charset="0"/>
                <a:cs typeface="Arial" panose="020B0604020202020204" pitchFamily="34" charset="0"/>
              </a:rPr>
              <a:t>Allowing one process to use multiple CPUs/cores</a:t>
            </a:r>
          </a:p>
          <a:p>
            <a:pPr lvl="1" algn="just"/>
            <a:r>
              <a:rPr lang="en-US" dirty="0">
                <a:latin typeface="Arial" panose="020B0604020202020204" pitchFamily="34" charset="0"/>
                <a:cs typeface="Arial" panose="020B0604020202020204" pitchFamily="34" charset="0"/>
              </a:rPr>
              <a:t>Handling concurrent events (e.g., Web requests)</a:t>
            </a:r>
          </a:p>
          <a:p>
            <a:pPr lvl="1" algn="just"/>
            <a:r>
              <a:rPr lang="en-US" dirty="0">
                <a:latin typeface="Arial" panose="020B0604020202020204" pitchFamily="34" charset="0"/>
                <a:cs typeface="Arial" panose="020B0604020202020204" pitchFamily="34" charset="0"/>
              </a:rPr>
              <a:t>Allowing program to overlap I/O and computation</a:t>
            </a:r>
          </a:p>
          <a:p>
            <a:pPr lvl="1"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So multithreading is even useful on a uniprocessor</a:t>
            </a:r>
          </a:p>
          <a:p>
            <a:pPr lvl="1" algn="just"/>
            <a:r>
              <a:rPr lang="en-US" dirty="0">
                <a:latin typeface="Arial" panose="020B0604020202020204" pitchFamily="34" charset="0"/>
                <a:cs typeface="Arial" panose="020B0604020202020204" pitchFamily="34" charset="0"/>
              </a:rPr>
              <a:t>Although today even cell phones are multicore</a:t>
            </a:r>
          </a:p>
          <a:p>
            <a:pPr lvl="1"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But brings a whole new meaning to Spaghetti Code</a:t>
            </a:r>
          </a:p>
          <a:p>
            <a:pPr lvl="1" algn="just"/>
            <a:r>
              <a:rPr lang="en-US" dirty="0">
                <a:latin typeface="Arial" panose="020B0604020202020204" pitchFamily="34" charset="0"/>
                <a:cs typeface="Arial" panose="020B0604020202020204" pitchFamily="34" charset="0"/>
              </a:rPr>
              <a:t>Forcing OS students to learn about synchronization</a:t>
            </a:r>
          </a:p>
        </p:txBody>
      </p:sp>
    </p:spTree>
    <p:custDataLst>
      <p:tags r:id="rId1"/>
    </p:custDataLst>
    <p:extLst>
      <p:ext uri="{BB962C8B-B14F-4D97-AF65-F5344CB8AC3E}">
        <p14:creationId xmlns:p14="http://schemas.microsoft.com/office/powerpoint/2010/main" val="30197041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Multicore Programming</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13</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340648" cy="5252357"/>
          </a:xfrm>
          <a:prstGeom prst="rect">
            <a:avLst/>
          </a:prstGeom>
          <a:ln w="15875">
            <a:noFill/>
          </a:ln>
        </p:spPr>
        <p:txBody>
          <a:bodyPr vert="horz" lIns="91440" tIns="45720" rIns="91440" bIns="45720" rtlCol="0">
            <a:no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500"/>
              </a:spcBef>
            </a:pPr>
            <a:r>
              <a:rPr lang="en-US" b="1" dirty="0">
                <a:solidFill>
                  <a:srgbClr val="FF0000"/>
                </a:solidFill>
                <a:latin typeface="Arial" panose="020B0604020202020204" pitchFamily="34" charset="0"/>
                <a:cs typeface="Arial" panose="020B0604020202020204" pitchFamily="34" charset="0"/>
              </a:rPr>
              <a:t>Multicore</a:t>
            </a:r>
            <a:r>
              <a:rPr lang="en-US" dirty="0">
                <a:latin typeface="Arial" panose="020B0604020202020204" pitchFamily="34" charset="0"/>
                <a:cs typeface="Arial" panose="020B0604020202020204" pitchFamily="34" charset="0"/>
              </a:rPr>
              <a:t> or </a:t>
            </a:r>
            <a:r>
              <a:rPr lang="en-US" b="1" dirty="0">
                <a:solidFill>
                  <a:srgbClr val="FF0000"/>
                </a:solidFill>
                <a:latin typeface="Arial" panose="020B0604020202020204" pitchFamily="34" charset="0"/>
                <a:cs typeface="Arial" panose="020B0604020202020204" pitchFamily="34" charset="0"/>
              </a:rPr>
              <a:t>multiprocessor</a:t>
            </a:r>
            <a:r>
              <a:rPr lang="en-US" dirty="0">
                <a:latin typeface="Arial" panose="020B0604020202020204" pitchFamily="34" charset="0"/>
                <a:cs typeface="Arial" panose="020B0604020202020204" pitchFamily="34" charset="0"/>
              </a:rPr>
              <a:t> systems putting pressure on programmers, challenges include:</a:t>
            </a:r>
          </a:p>
          <a:p>
            <a:pPr lvl="1" algn="just">
              <a:spcBef>
                <a:spcPts val="500"/>
              </a:spcBef>
            </a:pPr>
            <a:r>
              <a:rPr lang="en-US" dirty="0">
                <a:latin typeface="Arial" panose="020B0604020202020204" pitchFamily="34" charset="0"/>
                <a:cs typeface="Arial" panose="020B0604020202020204" pitchFamily="34" charset="0"/>
              </a:rPr>
              <a:t>Dividing activities</a:t>
            </a:r>
          </a:p>
          <a:p>
            <a:pPr lvl="1" algn="just">
              <a:spcBef>
                <a:spcPts val="500"/>
              </a:spcBef>
            </a:pPr>
            <a:r>
              <a:rPr lang="en-US" dirty="0">
                <a:latin typeface="Arial" panose="020B0604020202020204" pitchFamily="34" charset="0"/>
                <a:cs typeface="Arial" panose="020B0604020202020204" pitchFamily="34" charset="0"/>
              </a:rPr>
              <a:t>Balance</a:t>
            </a:r>
          </a:p>
          <a:p>
            <a:pPr lvl="1" algn="just">
              <a:spcBef>
                <a:spcPts val="500"/>
              </a:spcBef>
            </a:pPr>
            <a:r>
              <a:rPr lang="en-US" dirty="0">
                <a:latin typeface="Arial" panose="020B0604020202020204" pitchFamily="34" charset="0"/>
                <a:cs typeface="Arial" panose="020B0604020202020204" pitchFamily="34" charset="0"/>
              </a:rPr>
              <a:t>Data splitting</a:t>
            </a:r>
          </a:p>
          <a:p>
            <a:pPr lvl="1" algn="just">
              <a:spcBef>
                <a:spcPts val="500"/>
              </a:spcBef>
            </a:pPr>
            <a:r>
              <a:rPr lang="en-US" dirty="0">
                <a:latin typeface="Arial" panose="020B0604020202020204" pitchFamily="34" charset="0"/>
                <a:cs typeface="Arial" panose="020B0604020202020204" pitchFamily="34" charset="0"/>
              </a:rPr>
              <a:t>Data dependency</a:t>
            </a:r>
          </a:p>
          <a:p>
            <a:pPr lvl="1" algn="just">
              <a:spcBef>
                <a:spcPts val="500"/>
              </a:spcBef>
            </a:pPr>
            <a:r>
              <a:rPr lang="en-US" dirty="0">
                <a:latin typeface="Arial" panose="020B0604020202020204" pitchFamily="34" charset="0"/>
                <a:cs typeface="Arial" panose="020B0604020202020204" pitchFamily="34" charset="0"/>
              </a:rPr>
              <a:t>Testing and debugging</a:t>
            </a:r>
          </a:p>
          <a:p>
            <a:pPr lvl="1" algn="just">
              <a:spcBef>
                <a:spcPts val="500"/>
              </a:spcBef>
            </a:pPr>
            <a:endParaRPr lang="en-US" sz="1200" dirty="0">
              <a:latin typeface="Arial" panose="020B0604020202020204" pitchFamily="34" charset="0"/>
              <a:cs typeface="Arial" panose="020B0604020202020204" pitchFamily="34" charset="0"/>
            </a:endParaRPr>
          </a:p>
          <a:p>
            <a:pPr algn="just">
              <a:spcBef>
                <a:spcPts val="500"/>
              </a:spcBef>
            </a:pPr>
            <a:r>
              <a:rPr lang="en-US" b="1" dirty="0">
                <a:solidFill>
                  <a:srgbClr val="FF0000"/>
                </a:solidFill>
                <a:latin typeface="Arial" panose="020B0604020202020204" pitchFamily="34" charset="0"/>
                <a:cs typeface="Arial" panose="020B0604020202020204" pitchFamily="34" charset="0"/>
              </a:rPr>
              <a:t>Parallelism</a:t>
            </a:r>
            <a:r>
              <a:rPr lang="en-US" dirty="0">
                <a:latin typeface="Arial" panose="020B0604020202020204" pitchFamily="34" charset="0"/>
                <a:cs typeface="Arial" panose="020B0604020202020204" pitchFamily="34" charset="0"/>
              </a:rPr>
              <a:t> implies a system can perform more than one task simultaneously</a:t>
            </a:r>
          </a:p>
          <a:p>
            <a:pPr algn="just">
              <a:spcBef>
                <a:spcPts val="500"/>
              </a:spcBef>
            </a:pPr>
            <a:endParaRPr lang="en-US" dirty="0">
              <a:latin typeface="Arial" panose="020B0604020202020204" pitchFamily="34" charset="0"/>
              <a:cs typeface="Arial" panose="020B0604020202020204" pitchFamily="34" charset="0"/>
            </a:endParaRPr>
          </a:p>
          <a:p>
            <a:pPr algn="just">
              <a:spcBef>
                <a:spcPts val="500"/>
              </a:spcBef>
            </a:pPr>
            <a:r>
              <a:rPr lang="en-US" b="1" dirty="0">
                <a:solidFill>
                  <a:srgbClr val="FF0000"/>
                </a:solidFill>
                <a:latin typeface="Arial" panose="020B0604020202020204" pitchFamily="34" charset="0"/>
                <a:cs typeface="Arial" panose="020B0604020202020204" pitchFamily="34" charset="0"/>
              </a:rPr>
              <a:t>Concurrency</a:t>
            </a:r>
            <a:r>
              <a:rPr lang="en-US" dirty="0">
                <a:latin typeface="Arial" panose="020B0604020202020204" pitchFamily="34" charset="0"/>
                <a:cs typeface="Arial" panose="020B0604020202020204" pitchFamily="34" charset="0"/>
              </a:rPr>
              <a:t> supports more than one task making progress</a:t>
            </a:r>
          </a:p>
          <a:p>
            <a:pPr lvl="1" algn="just">
              <a:spcBef>
                <a:spcPts val="500"/>
              </a:spcBef>
            </a:pPr>
            <a:r>
              <a:rPr lang="en-US" dirty="0">
                <a:latin typeface="Arial" panose="020B0604020202020204" pitchFamily="34" charset="0"/>
                <a:cs typeface="Arial" panose="020B0604020202020204" pitchFamily="34" charset="0"/>
              </a:rPr>
              <a:t>Single processor / core, scheduler providing concurrency</a:t>
            </a:r>
          </a:p>
        </p:txBody>
      </p:sp>
    </p:spTree>
    <p:custDataLst>
      <p:tags r:id="rId1"/>
    </p:custDataLst>
    <p:extLst>
      <p:ext uri="{BB962C8B-B14F-4D97-AF65-F5344CB8AC3E}">
        <p14:creationId xmlns:p14="http://schemas.microsoft.com/office/powerpoint/2010/main" val="1126235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Concurrency vs. Parallelism</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14</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358234" cy="5252357"/>
          </a:xfrm>
          <a:prstGeom prst="rect">
            <a:avLst/>
          </a:prstGeom>
          <a:ln w="15875">
            <a:noFill/>
          </a:ln>
        </p:spPr>
        <p:txBody>
          <a:bodyPr vert="horz" lIns="91440" tIns="45720" rIns="91440" bIns="45720" rtlCol="0">
            <a:no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500"/>
              </a:spcBef>
            </a:pPr>
            <a:r>
              <a:rPr lang="en-US" sz="2100" dirty="0">
                <a:latin typeface="Arial" panose="020B0604020202020204" pitchFamily="34" charset="0"/>
                <a:cs typeface="Arial" panose="020B0604020202020204" pitchFamily="34" charset="0"/>
              </a:rPr>
              <a:t>Concurrent execution on single-core system:</a:t>
            </a:r>
          </a:p>
          <a:p>
            <a:pPr algn="just">
              <a:spcBef>
                <a:spcPts val="500"/>
              </a:spcBef>
            </a:pPr>
            <a:endParaRPr lang="en-US" sz="2100" dirty="0">
              <a:latin typeface="Arial" panose="020B0604020202020204" pitchFamily="34" charset="0"/>
              <a:cs typeface="Arial" panose="020B0604020202020204" pitchFamily="34" charset="0"/>
            </a:endParaRPr>
          </a:p>
          <a:p>
            <a:pPr algn="just">
              <a:spcBef>
                <a:spcPts val="500"/>
              </a:spcBef>
            </a:pPr>
            <a:endParaRPr lang="en-US" sz="2100" dirty="0">
              <a:latin typeface="Arial" panose="020B0604020202020204" pitchFamily="34" charset="0"/>
              <a:cs typeface="Arial" panose="020B0604020202020204" pitchFamily="34" charset="0"/>
            </a:endParaRPr>
          </a:p>
          <a:p>
            <a:pPr algn="just">
              <a:spcBef>
                <a:spcPts val="500"/>
              </a:spcBef>
            </a:pPr>
            <a:endParaRPr lang="en-US" sz="2100" dirty="0">
              <a:latin typeface="Arial" panose="020B0604020202020204" pitchFamily="34" charset="0"/>
              <a:cs typeface="Arial" panose="020B0604020202020204" pitchFamily="34" charset="0"/>
            </a:endParaRPr>
          </a:p>
          <a:p>
            <a:pPr algn="just">
              <a:spcBef>
                <a:spcPts val="500"/>
              </a:spcBef>
            </a:pPr>
            <a:endParaRPr lang="en-US" sz="2100" dirty="0">
              <a:latin typeface="Arial" panose="020B0604020202020204" pitchFamily="34" charset="0"/>
              <a:cs typeface="Arial" panose="020B0604020202020204" pitchFamily="34" charset="0"/>
            </a:endParaRPr>
          </a:p>
          <a:p>
            <a:pPr algn="just">
              <a:spcBef>
                <a:spcPts val="500"/>
              </a:spcBef>
            </a:pPr>
            <a:endParaRPr lang="en-US" sz="2100" dirty="0">
              <a:latin typeface="Arial" panose="020B0604020202020204" pitchFamily="34" charset="0"/>
              <a:cs typeface="Arial" panose="020B0604020202020204" pitchFamily="34" charset="0"/>
            </a:endParaRPr>
          </a:p>
          <a:p>
            <a:pPr algn="just">
              <a:spcBef>
                <a:spcPts val="500"/>
              </a:spcBef>
            </a:pPr>
            <a:r>
              <a:rPr lang="en-US" sz="2100" dirty="0">
                <a:latin typeface="Arial" panose="020B0604020202020204" pitchFamily="34" charset="0"/>
                <a:cs typeface="Arial" panose="020B0604020202020204" pitchFamily="34" charset="0"/>
              </a:rPr>
              <a:t>Parallelism on a multi-core system:</a:t>
            </a:r>
          </a:p>
          <a:p>
            <a:pPr algn="just">
              <a:spcBef>
                <a:spcPts val="500"/>
              </a:spcBef>
            </a:pPr>
            <a:endParaRPr lang="en-US" sz="1000" dirty="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D5E3BB0A-BCFD-E888-67F5-0A08E53287C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45828" y="2272750"/>
            <a:ext cx="7799387"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a:extLst>
              <a:ext uri="{FF2B5EF4-FFF2-40B4-BE49-F238E27FC236}">
                <a16:creationId xmlns:a16="http://schemas.microsoft.com/office/drawing/2014/main" id="{7BBCBB2D-8B9A-593F-8266-0A119878E76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749675" y="4497860"/>
            <a:ext cx="4692650" cy="162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049889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Multicore Programming</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15</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321987" cy="5252357"/>
          </a:xfrm>
          <a:prstGeom prst="rect">
            <a:avLst/>
          </a:prstGeom>
          <a:ln w="15875">
            <a:noFill/>
          </a:ln>
        </p:spPr>
        <p:txBody>
          <a:bodyPr vert="horz" lIns="91440" tIns="45720" rIns="91440" bIns="45720" rtlCol="0">
            <a:no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500"/>
              </a:spcBef>
            </a:pPr>
            <a:r>
              <a:rPr lang="en-US" dirty="0">
                <a:latin typeface="Arial" panose="020B0604020202020204" pitchFamily="34" charset="0"/>
                <a:cs typeface="Arial" panose="020B0604020202020204" pitchFamily="34" charset="0"/>
              </a:rPr>
              <a:t>Types of parallelism</a:t>
            </a:r>
          </a:p>
          <a:p>
            <a:pPr lvl="1" algn="just">
              <a:spcBef>
                <a:spcPts val="500"/>
              </a:spcBef>
            </a:pPr>
            <a:r>
              <a:rPr lang="en-US" b="1" dirty="0">
                <a:solidFill>
                  <a:srgbClr val="FF0000"/>
                </a:solidFill>
                <a:latin typeface="Arial" panose="020B0604020202020204" pitchFamily="34" charset="0"/>
                <a:cs typeface="Arial" panose="020B0604020202020204" pitchFamily="34" charset="0"/>
              </a:rPr>
              <a:t>Data parallelism </a:t>
            </a:r>
            <a:r>
              <a:rPr lang="en-US" dirty="0">
                <a:latin typeface="Arial" panose="020B0604020202020204" pitchFamily="34" charset="0"/>
                <a:cs typeface="Arial" panose="020B0604020202020204" pitchFamily="34" charset="0"/>
              </a:rPr>
              <a:t>– distributes subsets of the same data across multiple cores, same operation on each</a:t>
            </a:r>
          </a:p>
          <a:p>
            <a:pPr lvl="1" algn="just">
              <a:spcBef>
                <a:spcPts val="500"/>
              </a:spcBef>
            </a:pPr>
            <a:r>
              <a:rPr lang="en-US" b="1" dirty="0">
                <a:solidFill>
                  <a:srgbClr val="FF0000"/>
                </a:solidFill>
                <a:latin typeface="Arial" panose="020B0604020202020204" pitchFamily="34" charset="0"/>
                <a:cs typeface="Arial" panose="020B0604020202020204" pitchFamily="34" charset="0"/>
              </a:rPr>
              <a:t>Task parallelism </a:t>
            </a:r>
            <a:r>
              <a:rPr lang="en-US" dirty="0">
                <a:latin typeface="Arial" panose="020B0604020202020204" pitchFamily="34" charset="0"/>
                <a:cs typeface="Arial" panose="020B0604020202020204" pitchFamily="34" charset="0"/>
              </a:rPr>
              <a:t>– distributing threads across cores, each thread performing unique operation</a:t>
            </a:r>
          </a:p>
          <a:p>
            <a:pPr lvl="1" algn="just">
              <a:spcBef>
                <a:spcPts val="500"/>
              </a:spcBef>
            </a:pPr>
            <a:endParaRPr lang="en-US" sz="1200" dirty="0">
              <a:latin typeface="Arial" panose="020B0604020202020204" pitchFamily="34" charset="0"/>
              <a:cs typeface="Arial" panose="020B0604020202020204" pitchFamily="34" charset="0"/>
            </a:endParaRPr>
          </a:p>
          <a:p>
            <a:pPr algn="just">
              <a:spcBef>
                <a:spcPts val="500"/>
              </a:spcBef>
            </a:pPr>
            <a:r>
              <a:rPr lang="en-US" dirty="0">
                <a:latin typeface="Arial" panose="020B0604020202020204" pitchFamily="34" charset="0"/>
                <a:cs typeface="Arial" panose="020B0604020202020204" pitchFamily="34" charset="0"/>
              </a:rPr>
              <a:t>As number of threads grows, so does architectural support for threading</a:t>
            </a:r>
          </a:p>
          <a:p>
            <a:pPr lvl="1" algn="just">
              <a:spcBef>
                <a:spcPts val="500"/>
              </a:spcBef>
            </a:pPr>
            <a:r>
              <a:rPr lang="en-US" dirty="0">
                <a:latin typeface="Arial" panose="020B0604020202020204" pitchFamily="34" charset="0"/>
                <a:cs typeface="Arial" panose="020B0604020202020204" pitchFamily="34" charset="0"/>
              </a:rPr>
              <a:t>CPUs have cores as well as hardware threads</a:t>
            </a:r>
          </a:p>
          <a:p>
            <a:pPr lvl="1" algn="just">
              <a:spcBef>
                <a:spcPts val="500"/>
              </a:spcBef>
            </a:pPr>
            <a:r>
              <a:rPr lang="en-US" dirty="0">
                <a:latin typeface="Arial" panose="020B0604020202020204" pitchFamily="34" charset="0"/>
                <a:cs typeface="Arial" panose="020B0604020202020204" pitchFamily="34" charset="0"/>
              </a:rPr>
              <a:t>Consider Oracle SPARC T4 with 8 cores, and 8 hardware threads per core</a:t>
            </a:r>
          </a:p>
        </p:txBody>
      </p:sp>
      <p:pic>
        <p:nvPicPr>
          <p:cNvPr id="2" name="Picture 1">
            <a:extLst>
              <a:ext uri="{FF2B5EF4-FFF2-40B4-BE49-F238E27FC236}">
                <a16:creationId xmlns:a16="http://schemas.microsoft.com/office/drawing/2014/main" id="{7C4056CB-23F8-4E11-9D19-A3540316F524}"/>
              </a:ext>
            </a:extLst>
          </p:cNvPr>
          <p:cNvPicPr>
            <a:picLocks noChangeAspect="1"/>
          </p:cNvPicPr>
          <p:nvPr/>
        </p:nvPicPr>
        <p:blipFill rotWithShape="1">
          <a:blip r:embed="rId3">
            <a:extLst>
              <a:ext uri="{28A0092B-C50C-407E-A947-70E740481C1C}">
                <a14:useLocalDpi xmlns:a14="http://schemas.microsoft.com/office/drawing/2010/main" val="0"/>
              </a:ext>
            </a:extLst>
          </a:blip>
          <a:srcRect r="-2944" b="51546"/>
          <a:stretch/>
        </p:blipFill>
        <p:spPr bwMode="auto">
          <a:xfrm>
            <a:off x="1237861" y="4839448"/>
            <a:ext cx="3836818" cy="1205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13D02E17-505B-2DC0-3D8C-4A5A4C73A012}"/>
              </a:ext>
            </a:extLst>
          </p:cNvPr>
          <p:cNvPicPr>
            <a:picLocks noChangeAspect="1"/>
          </p:cNvPicPr>
          <p:nvPr/>
        </p:nvPicPr>
        <p:blipFill rotWithShape="1">
          <a:blip r:embed="rId3">
            <a:extLst>
              <a:ext uri="{28A0092B-C50C-407E-A947-70E740481C1C}">
                <a14:useLocalDpi xmlns:a14="http://schemas.microsoft.com/office/drawing/2010/main" val="0"/>
              </a:ext>
            </a:extLst>
          </a:blip>
          <a:srcRect t="51546" r="-1383"/>
          <a:stretch/>
        </p:blipFill>
        <p:spPr bwMode="auto">
          <a:xfrm>
            <a:off x="5807095" y="4839447"/>
            <a:ext cx="3778623" cy="1205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4195009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Motivation</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16</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287895"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Most modern applications are multithreaded</a:t>
            </a:r>
          </a:p>
          <a:p>
            <a:pPr algn="just"/>
            <a:r>
              <a:rPr lang="en-US" dirty="0">
                <a:latin typeface="Arial" panose="020B0604020202020204" pitchFamily="34" charset="0"/>
                <a:cs typeface="Arial" panose="020B0604020202020204" pitchFamily="34" charset="0"/>
              </a:rPr>
              <a:t>Threads run within application</a:t>
            </a:r>
          </a:p>
          <a:p>
            <a:pPr algn="just"/>
            <a:r>
              <a:rPr lang="en-US" dirty="0">
                <a:latin typeface="Arial" panose="020B0604020202020204" pitchFamily="34" charset="0"/>
                <a:cs typeface="Arial" panose="020B0604020202020204" pitchFamily="34" charset="0"/>
              </a:rPr>
              <a:t>Multiple tasks with the application can be implemented by separate threads</a:t>
            </a:r>
          </a:p>
          <a:p>
            <a:pPr algn="just"/>
            <a:r>
              <a:rPr lang="en-US" dirty="0">
                <a:latin typeface="Arial" panose="020B0604020202020204" pitchFamily="34" charset="0"/>
                <a:cs typeface="Arial" panose="020B0604020202020204" pitchFamily="34" charset="0"/>
              </a:rPr>
              <a:t>Update display</a:t>
            </a:r>
          </a:p>
          <a:p>
            <a:pPr algn="just"/>
            <a:r>
              <a:rPr lang="en-US" dirty="0">
                <a:latin typeface="Arial" panose="020B0604020202020204" pitchFamily="34" charset="0"/>
                <a:cs typeface="Arial" panose="020B0604020202020204" pitchFamily="34" charset="0"/>
              </a:rPr>
              <a:t>Fetch data</a:t>
            </a:r>
          </a:p>
          <a:p>
            <a:pPr algn="just"/>
            <a:r>
              <a:rPr lang="en-US" dirty="0">
                <a:latin typeface="Arial" panose="020B0604020202020204" pitchFamily="34" charset="0"/>
                <a:cs typeface="Arial" panose="020B0604020202020204" pitchFamily="34" charset="0"/>
              </a:rPr>
              <a:t>Spell checking</a:t>
            </a:r>
          </a:p>
          <a:p>
            <a:pPr algn="just"/>
            <a:r>
              <a:rPr lang="en-US" dirty="0">
                <a:latin typeface="Arial" panose="020B0604020202020204" pitchFamily="34" charset="0"/>
                <a:cs typeface="Arial" panose="020B0604020202020204" pitchFamily="34" charset="0"/>
              </a:rPr>
              <a:t>Answer a network request</a:t>
            </a:r>
          </a:p>
          <a:p>
            <a:pPr algn="just"/>
            <a:r>
              <a:rPr lang="en-US" dirty="0">
                <a:latin typeface="Arial" panose="020B0604020202020204" pitchFamily="34" charset="0"/>
                <a:cs typeface="Arial" panose="020B0604020202020204" pitchFamily="34" charset="0"/>
              </a:rPr>
              <a:t>Process creation is heavy-weight while thread creation is light-weight</a:t>
            </a:r>
          </a:p>
          <a:p>
            <a:pPr algn="just"/>
            <a:r>
              <a:rPr lang="en-US" dirty="0">
                <a:latin typeface="Arial" panose="020B0604020202020204" pitchFamily="34" charset="0"/>
                <a:cs typeface="Arial" panose="020B0604020202020204" pitchFamily="34" charset="0"/>
              </a:rPr>
              <a:t>Can simplify code, increase efficiency</a:t>
            </a:r>
          </a:p>
          <a:p>
            <a:pPr algn="just"/>
            <a:r>
              <a:rPr lang="en-US" dirty="0">
                <a:latin typeface="Arial" panose="020B0604020202020204" pitchFamily="34" charset="0"/>
                <a:cs typeface="Arial" panose="020B0604020202020204" pitchFamily="34" charset="0"/>
              </a:rPr>
              <a:t>Kernels are generally multithreaded</a:t>
            </a:r>
          </a:p>
        </p:txBody>
      </p:sp>
    </p:spTree>
    <p:custDataLst>
      <p:tags r:id="rId1"/>
    </p:custDataLst>
    <p:extLst>
      <p:ext uri="{BB962C8B-B14F-4D97-AF65-F5344CB8AC3E}">
        <p14:creationId xmlns:p14="http://schemas.microsoft.com/office/powerpoint/2010/main" val="4281361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Benefits of Threads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17</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2"/>
            <a:ext cx="10284666" cy="5088236"/>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b="1" dirty="0">
                <a:solidFill>
                  <a:srgbClr val="FF0000"/>
                </a:solidFill>
                <a:latin typeface="Arial" panose="020B0604020202020204" pitchFamily="34" charset="0"/>
                <a:cs typeface="Arial" panose="020B0604020202020204" pitchFamily="34" charset="0"/>
              </a:rPr>
              <a:t>Responsiveness</a:t>
            </a:r>
            <a:r>
              <a:rPr lang="en-US" dirty="0">
                <a:latin typeface="Arial" panose="020B0604020202020204" pitchFamily="34" charset="0"/>
                <a:cs typeface="Arial" panose="020B0604020202020204" pitchFamily="34" charset="0"/>
              </a:rPr>
              <a:t> – may allow continued execution if part of process is blocked, especially important for user interfaces.</a:t>
            </a:r>
          </a:p>
          <a:p>
            <a:pPr lvl="1" algn="just"/>
            <a:r>
              <a:rPr lang="en-US" dirty="0">
                <a:latin typeface="Arial" panose="020B0604020202020204" pitchFamily="34" charset="0"/>
                <a:cs typeface="Arial" panose="020B0604020202020204" pitchFamily="34" charset="0"/>
              </a:rPr>
              <a:t>E.g., user interaction and image loading in multi-threaded web browser:</a:t>
            </a:r>
          </a:p>
          <a:p>
            <a:pPr algn="just"/>
            <a:endParaRPr lang="en-US"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Resource Sharing </a:t>
            </a:r>
            <a:r>
              <a:rPr lang="en-US" dirty="0">
                <a:latin typeface="Arial" panose="020B0604020202020204" pitchFamily="34" charset="0"/>
                <a:cs typeface="Arial" panose="020B0604020202020204" pitchFamily="34" charset="0"/>
              </a:rPr>
              <a:t>– threads share resources of process, easier than shared memory or message passing</a:t>
            </a:r>
          </a:p>
          <a:p>
            <a:pPr algn="just"/>
            <a:endParaRPr lang="en-US"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Economy</a:t>
            </a:r>
            <a:r>
              <a:rPr lang="en-US" dirty="0">
                <a:latin typeface="Arial" panose="020B0604020202020204" pitchFamily="34" charset="0"/>
                <a:cs typeface="Arial" panose="020B0604020202020204" pitchFamily="34" charset="0"/>
              </a:rPr>
              <a:t> – cheaper than process creation, thread switching lower overhead than context switching</a:t>
            </a:r>
          </a:p>
          <a:p>
            <a:pPr lvl="1" algn="just"/>
            <a:r>
              <a:rPr lang="en-US" dirty="0">
                <a:latin typeface="Arial" panose="020B0604020202020204" pitchFamily="34" charset="0"/>
                <a:cs typeface="Arial" panose="020B0604020202020204" pitchFamily="34" charset="0"/>
              </a:rPr>
              <a:t>Solaris: creating process is thirty times slower </a:t>
            </a:r>
          </a:p>
          <a:p>
            <a:pPr lvl="1" algn="just"/>
            <a:r>
              <a:rPr lang="en-US" dirty="0">
                <a:latin typeface="Arial" panose="020B0604020202020204" pitchFamily="34" charset="0"/>
                <a:cs typeface="Arial" panose="020B0604020202020204" pitchFamily="34" charset="0"/>
              </a:rPr>
              <a:t>Context-switch is about five times slower</a:t>
            </a:r>
          </a:p>
          <a:p>
            <a:pPr algn="just"/>
            <a:endParaRPr lang="en-US" dirty="0">
              <a:latin typeface="Arial" panose="020B0604020202020204" pitchFamily="34" charset="0"/>
              <a:cs typeface="Arial" panose="020B0604020202020204" pitchFamily="34" charset="0"/>
            </a:endParaRPr>
          </a:p>
          <a:p>
            <a:pPr algn="just"/>
            <a:r>
              <a:rPr lang="en-US" b="1" dirty="0">
                <a:solidFill>
                  <a:srgbClr val="FF0000"/>
                </a:solidFill>
                <a:latin typeface="Arial" panose="020B0604020202020204" pitchFamily="34" charset="0"/>
                <a:cs typeface="Arial" panose="020B0604020202020204" pitchFamily="34" charset="0"/>
              </a:rPr>
              <a:t>Scalability</a:t>
            </a:r>
            <a:r>
              <a:rPr lang="en-US" dirty="0">
                <a:latin typeface="Arial" panose="020B0604020202020204" pitchFamily="34" charset="0"/>
                <a:cs typeface="Arial" panose="020B0604020202020204" pitchFamily="34" charset="0"/>
              </a:rPr>
              <a:t> – process can take advantage of multiprocessor architectures</a:t>
            </a:r>
          </a:p>
        </p:txBody>
      </p:sp>
    </p:spTree>
    <p:custDataLst>
      <p:tags r:id="rId1"/>
    </p:custDataLst>
    <p:extLst>
      <p:ext uri="{BB962C8B-B14F-4D97-AF65-F5344CB8AC3E}">
        <p14:creationId xmlns:p14="http://schemas.microsoft.com/office/powerpoint/2010/main" val="20689580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Kernel-Level Threads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18</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2"/>
            <a:ext cx="10433956"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All thread operations are implemented in the kernel</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 OS schedules all the threads in the system</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 blocking system call will not block the whole process</a:t>
            </a:r>
          </a:p>
          <a:p>
            <a:pPr algn="just"/>
            <a:endParaRPr lang="en-US" b="1"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Examples:</a:t>
            </a:r>
            <a:r>
              <a:rPr lang="en-US" dirty="0">
                <a:latin typeface="Arial" panose="020B0604020202020204" pitchFamily="34" charset="0"/>
                <a:cs typeface="Arial" panose="020B0604020202020204" pitchFamily="34" charset="0"/>
              </a:rPr>
              <a:t> </a:t>
            </a:r>
          </a:p>
          <a:p>
            <a:pPr lvl="1" algn="just"/>
            <a:r>
              <a:rPr lang="en-US" dirty="0">
                <a:latin typeface="Arial" panose="020B0604020202020204" pitchFamily="34" charset="0"/>
                <a:cs typeface="Arial" panose="020B0604020202020204" pitchFamily="34" charset="0"/>
              </a:rPr>
              <a:t>Windows</a:t>
            </a:r>
          </a:p>
          <a:p>
            <a:pPr lvl="1" algn="just"/>
            <a:r>
              <a:rPr lang="en-US" dirty="0">
                <a:latin typeface="Arial" panose="020B0604020202020204" pitchFamily="34" charset="0"/>
                <a:cs typeface="Arial" panose="020B0604020202020204" pitchFamily="34" charset="0"/>
              </a:rPr>
              <a:t>Solaris</a:t>
            </a:r>
          </a:p>
          <a:p>
            <a:pPr lvl="1" algn="just"/>
            <a:r>
              <a:rPr lang="en-US" dirty="0">
                <a:latin typeface="Arial" panose="020B0604020202020204" pitchFamily="34" charset="0"/>
                <a:cs typeface="Arial" panose="020B0604020202020204" pitchFamily="34" charset="0"/>
              </a:rPr>
              <a:t>Linux</a:t>
            </a:r>
          </a:p>
          <a:p>
            <a:pPr lvl="1" algn="just"/>
            <a:r>
              <a:rPr lang="en-US" dirty="0">
                <a:latin typeface="Arial" panose="020B0604020202020204" pitchFamily="34" charset="0"/>
                <a:cs typeface="Arial" panose="020B0604020202020204" pitchFamily="34" charset="0"/>
              </a:rPr>
              <a:t>Tru64 UNIX</a:t>
            </a:r>
          </a:p>
          <a:p>
            <a:pPr lvl="1" algn="just"/>
            <a:r>
              <a:rPr lang="en-US" dirty="0">
                <a:latin typeface="Arial" panose="020B0604020202020204" pitchFamily="34" charset="0"/>
                <a:cs typeface="Arial" panose="020B0604020202020204" pitchFamily="34" charset="0"/>
              </a:rPr>
              <a:t>Mac OS X</a:t>
            </a:r>
          </a:p>
        </p:txBody>
      </p:sp>
      <p:pic>
        <p:nvPicPr>
          <p:cNvPr id="30722" name="Picture 1">
            <a:extLst>
              <a:ext uri="{FF2B5EF4-FFF2-40B4-BE49-F238E27FC236}">
                <a16:creationId xmlns:a16="http://schemas.microsoft.com/office/drawing/2014/main" id="{2BDB5D90-D947-41F8-BDFE-DD7C4ED2F1D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50465" y="3933810"/>
            <a:ext cx="4299086" cy="2370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6975509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39A40-29FC-9BA2-61E1-C3B2FBB26CD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8C9C4E-0DBE-7883-AA07-8C0382A3D969}"/>
              </a:ext>
            </a:extLst>
          </p:cNvPr>
          <p:cNvSpPr>
            <a:spLocks noGrp="1"/>
          </p:cNvSpPr>
          <p:nvPr>
            <p:ph idx="1"/>
          </p:nvPr>
        </p:nvSpPr>
        <p:spPr/>
        <p:txBody>
          <a:bodyPr>
            <a:normAutofit lnSpcReduction="10000"/>
          </a:bodyPr>
          <a:lstStyle/>
          <a:p>
            <a:r>
              <a:rPr lang="en-GB" dirty="0"/>
              <a:t>Entry Point and </a:t>
            </a:r>
            <a:r>
              <a:rPr lang="en-GB" dirty="0" err="1"/>
              <a:t>Preemption</a:t>
            </a:r>
            <a:r>
              <a:rPr lang="en-GB" dirty="0"/>
              <a:t>:</a:t>
            </a:r>
          </a:p>
          <a:p>
            <a:pPr lvl="0"/>
            <a:endParaRPr lang="en-GB" dirty="0"/>
          </a:p>
          <a:p>
            <a:pPr lvl="0"/>
            <a:r>
              <a:rPr lang="en-GB" dirty="0"/>
              <a:t>The </a:t>
            </a:r>
            <a:r>
              <a:rPr lang="en-GB" b="1" dirty="0"/>
              <a:t>entry point</a:t>
            </a:r>
            <a:r>
              <a:rPr lang="en-GB" dirty="0"/>
              <a:t> refers to the starting function of a thread, usually the first thread launched by a program (often the main thread).</a:t>
            </a:r>
          </a:p>
          <a:p>
            <a:pPr lvl="0"/>
            <a:endParaRPr lang="en-GB" dirty="0"/>
          </a:p>
          <a:p>
            <a:pPr lvl="0"/>
            <a:r>
              <a:rPr lang="en-GB" dirty="0"/>
              <a:t>During execution, if a thread is </a:t>
            </a:r>
            <a:r>
              <a:rPr lang="en-GB" dirty="0" err="1"/>
              <a:t>preempted</a:t>
            </a:r>
            <a:r>
              <a:rPr lang="en-GB" dirty="0"/>
              <a:t> (meaning the OS temporarily interrupts its execution), the kernel performs a context switch. This involves saving the current thread’s state (such as the program counter, registers, etc.) so that it can resume from the same point later.</a:t>
            </a:r>
          </a:p>
          <a:p>
            <a:pPr lvl="0"/>
            <a:endParaRPr lang="en-GB" dirty="0"/>
          </a:p>
          <a:p>
            <a:pPr lvl="0"/>
            <a:r>
              <a:rPr lang="en-GB" dirty="0"/>
              <a:t>The kernel then switches to another thread, which starts executing.</a:t>
            </a:r>
          </a:p>
          <a:p>
            <a:pPr lvl="0"/>
            <a:r>
              <a:rPr lang="en-GB" dirty="0"/>
              <a:t>Once the second thread finishes its execution or is </a:t>
            </a:r>
            <a:r>
              <a:rPr lang="en-GB" dirty="0" err="1"/>
              <a:t>preempted</a:t>
            </a:r>
            <a:r>
              <a:rPr lang="en-GB" dirty="0"/>
              <a:t>, the kernel can restore the state of the original thread, allowing it to continue from where it left off.</a:t>
            </a:r>
          </a:p>
          <a:p>
            <a:endParaRPr lang="en-GB" dirty="0"/>
          </a:p>
        </p:txBody>
      </p:sp>
      <p:sp>
        <p:nvSpPr>
          <p:cNvPr id="4" name="Footer Placeholder 3">
            <a:extLst>
              <a:ext uri="{FF2B5EF4-FFF2-40B4-BE49-F238E27FC236}">
                <a16:creationId xmlns:a16="http://schemas.microsoft.com/office/drawing/2014/main" id="{198BF686-B51F-99D6-4520-E1C8035B5618}"/>
              </a:ext>
            </a:extLst>
          </p:cNvPr>
          <p:cNvSpPr>
            <a:spLocks noGrp="1"/>
          </p:cNvSpPr>
          <p:nvPr>
            <p:ph type="ftr" sz="quarter" idx="11"/>
          </p:nvPr>
        </p:nvSpPr>
        <p:spPr/>
        <p:txBody>
          <a:bodyPr/>
          <a:lstStyle/>
          <a:p>
            <a:r>
              <a:rPr lang="en-US"/>
              <a:t>Design &amp; Analysis of Algorithms</a:t>
            </a:r>
          </a:p>
        </p:txBody>
      </p:sp>
      <p:sp>
        <p:nvSpPr>
          <p:cNvPr id="5" name="Slide Number Placeholder 4">
            <a:extLst>
              <a:ext uri="{FF2B5EF4-FFF2-40B4-BE49-F238E27FC236}">
                <a16:creationId xmlns:a16="http://schemas.microsoft.com/office/drawing/2014/main" id="{EAA84E73-6C96-5F31-391D-FEB18F565996}"/>
              </a:ext>
            </a:extLst>
          </p:cNvPr>
          <p:cNvSpPr>
            <a:spLocks noGrp="1"/>
          </p:cNvSpPr>
          <p:nvPr>
            <p:ph type="sldNum" sz="quarter" idx="12"/>
          </p:nvPr>
        </p:nvSpPr>
        <p:spPr/>
        <p:txBody>
          <a:bodyPr/>
          <a:lstStyle/>
          <a:p>
            <a:fld id="{3485D9CA-6DAA-4C3C-A3E2-EDEA918D5F89}" type="slidenum">
              <a:rPr lang="en-US" smtClean="0"/>
              <a:pPr/>
              <a:t>19</a:t>
            </a:fld>
            <a:endParaRPr lang="en-US"/>
          </a:p>
        </p:txBody>
      </p:sp>
      <p:sp>
        <p:nvSpPr>
          <p:cNvPr id="8" name="Rectangle 2">
            <a:extLst>
              <a:ext uri="{FF2B5EF4-FFF2-40B4-BE49-F238E27FC236}">
                <a16:creationId xmlns:a16="http://schemas.microsoft.com/office/drawing/2014/main" id="{ED24127B-86EE-7907-D90D-8F436181C61D}"/>
              </a:ext>
            </a:extLst>
          </p:cNvPr>
          <p:cNvSpPr txBox="1">
            <a:spLocks noChangeArrowheads="1"/>
          </p:cNvSpPr>
          <p:nvPr/>
        </p:nvSpPr>
        <p:spPr>
          <a:xfrm>
            <a:off x="764620" y="554038"/>
            <a:ext cx="9971690" cy="407507"/>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r>
              <a:rPr lang="en-US" sz="4000" dirty="0">
                <a:latin typeface="Arial" panose="020B0604020202020204" pitchFamily="34" charset="0"/>
                <a:cs typeface="Arial" panose="020B0604020202020204" pitchFamily="34" charset="0"/>
              </a:rPr>
              <a:t>Kernel-Level Threads</a:t>
            </a:r>
          </a:p>
        </p:txBody>
      </p:sp>
    </p:spTree>
    <p:extLst>
      <p:ext uri="{BB962C8B-B14F-4D97-AF65-F5344CB8AC3E}">
        <p14:creationId xmlns:p14="http://schemas.microsoft.com/office/powerpoint/2010/main" val="1968926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D98DF-3358-A1F8-81D0-2627CD568A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2D8ABF-EC8E-9CE4-0866-63D06FC8E6C1}"/>
              </a:ext>
            </a:extLst>
          </p:cNvPr>
          <p:cNvSpPr>
            <a:spLocks noGrp="1"/>
          </p:cNvSpPr>
          <p:nvPr>
            <p:ph idx="1"/>
          </p:nvPr>
        </p:nvSpPr>
        <p:spPr/>
        <p:txBody>
          <a:bodyPr/>
          <a:lstStyle/>
          <a:p>
            <a:pPr marL="114300" indent="0">
              <a:buNone/>
            </a:pPr>
            <a:r>
              <a:rPr lang="en-GB" sz="2800" dirty="0"/>
              <a:t>Pros</a:t>
            </a:r>
          </a:p>
          <a:p>
            <a:pPr lvl="0"/>
            <a:r>
              <a:rPr lang="en-GB" b="1" dirty="0"/>
              <a:t>True Parallelism</a:t>
            </a:r>
            <a:r>
              <a:rPr lang="en-GB" dirty="0"/>
              <a:t>: Since the kernel can independently schedule threads on different processors (on a multi-core system), kernel-level threads allow for true parallel execution.</a:t>
            </a:r>
          </a:p>
          <a:p>
            <a:pPr lvl="0"/>
            <a:r>
              <a:rPr lang="en-GB" b="1" dirty="0"/>
              <a:t>Better Resource Utilization</a:t>
            </a:r>
            <a:r>
              <a:rPr lang="en-GB" dirty="0"/>
              <a:t>: The kernel can optimize system resource allocation (like CPU time) across all threads, ensuring efficient multitasking.</a:t>
            </a:r>
          </a:p>
          <a:p>
            <a:pPr marL="114300" indent="0">
              <a:buNone/>
            </a:pPr>
            <a:r>
              <a:rPr lang="en-GB" sz="2800" dirty="0"/>
              <a:t>Cons</a:t>
            </a:r>
          </a:p>
          <a:p>
            <a:pPr lvl="0"/>
            <a:r>
              <a:rPr lang="en-GB" b="1" dirty="0"/>
              <a:t>Higher Overhead</a:t>
            </a:r>
            <a:r>
              <a:rPr lang="en-GB" dirty="0"/>
              <a:t>: The kernel has to perform frequent context switches between threads, which adds overhead compared to user-level threading. Each switch requires saving and restoring thread states, which can be resource-intensive.</a:t>
            </a:r>
          </a:p>
          <a:p>
            <a:endParaRPr lang="en-GB" dirty="0"/>
          </a:p>
        </p:txBody>
      </p:sp>
      <p:sp>
        <p:nvSpPr>
          <p:cNvPr id="4" name="Footer Placeholder 3">
            <a:extLst>
              <a:ext uri="{FF2B5EF4-FFF2-40B4-BE49-F238E27FC236}">
                <a16:creationId xmlns:a16="http://schemas.microsoft.com/office/drawing/2014/main" id="{5EB30756-0D43-2C49-33C3-21D564845259}"/>
              </a:ext>
            </a:extLst>
          </p:cNvPr>
          <p:cNvSpPr>
            <a:spLocks noGrp="1"/>
          </p:cNvSpPr>
          <p:nvPr>
            <p:ph type="ftr" sz="quarter" idx="11"/>
          </p:nvPr>
        </p:nvSpPr>
        <p:spPr/>
        <p:txBody>
          <a:bodyPr/>
          <a:lstStyle/>
          <a:p>
            <a:r>
              <a:rPr lang="en-US"/>
              <a:t>Design &amp; Analysis of Algorithms</a:t>
            </a:r>
          </a:p>
        </p:txBody>
      </p:sp>
      <p:sp>
        <p:nvSpPr>
          <p:cNvPr id="5" name="Slide Number Placeholder 4">
            <a:extLst>
              <a:ext uri="{FF2B5EF4-FFF2-40B4-BE49-F238E27FC236}">
                <a16:creationId xmlns:a16="http://schemas.microsoft.com/office/drawing/2014/main" id="{FED74D44-EB35-85CA-7BDF-A69EDD355472}"/>
              </a:ext>
            </a:extLst>
          </p:cNvPr>
          <p:cNvSpPr>
            <a:spLocks noGrp="1"/>
          </p:cNvSpPr>
          <p:nvPr>
            <p:ph type="sldNum" sz="quarter" idx="12"/>
          </p:nvPr>
        </p:nvSpPr>
        <p:spPr/>
        <p:txBody>
          <a:bodyPr/>
          <a:lstStyle/>
          <a:p>
            <a:fld id="{3485D9CA-6DAA-4C3C-A3E2-EDEA918D5F89}" type="slidenum">
              <a:rPr lang="en-US" smtClean="0"/>
              <a:pPr/>
              <a:t>20</a:t>
            </a:fld>
            <a:endParaRPr lang="en-US"/>
          </a:p>
        </p:txBody>
      </p:sp>
      <p:sp>
        <p:nvSpPr>
          <p:cNvPr id="8" name="Rectangle 2">
            <a:extLst>
              <a:ext uri="{FF2B5EF4-FFF2-40B4-BE49-F238E27FC236}">
                <a16:creationId xmlns:a16="http://schemas.microsoft.com/office/drawing/2014/main" id="{9A726BA1-02AD-EF84-B93A-9E5D2065DDC8}"/>
              </a:ext>
            </a:extLst>
          </p:cNvPr>
          <p:cNvSpPr txBox="1">
            <a:spLocks noChangeArrowheads="1"/>
          </p:cNvSpPr>
          <p:nvPr/>
        </p:nvSpPr>
        <p:spPr>
          <a:xfrm>
            <a:off x="764620" y="554038"/>
            <a:ext cx="9971690" cy="407507"/>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r>
              <a:rPr lang="en-US" sz="4000" dirty="0">
                <a:latin typeface="Arial" panose="020B0604020202020204" pitchFamily="34" charset="0"/>
                <a:cs typeface="Arial" panose="020B0604020202020204" pitchFamily="34" charset="0"/>
              </a:rPr>
              <a:t>Kernel-Level Threads</a:t>
            </a:r>
          </a:p>
        </p:txBody>
      </p:sp>
    </p:spTree>
    <p:extLst>
      <p:ext uri="{BB962C8B-B14F-4D97-AF65-F5344CB8AC3E}">
        <p14:creationId xmlns:p14="http://schemas.microsoft.com/office/powerpoint/2010/main" val="17633836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Kernel Thread Limitations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21</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2"/>
            <a:ext cx="10433956"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Every thread operation must go through kernel</a:t>
            </a:r>
          </a:p>
          <a:p>
            <a:pPr lvl="1" algn="just"/>
            <a:r>
              <a:rPr lang="en-US" dirty="0">
                <a:latin typeface="Arial" panose="020B0604020202020204" pitchFamily="34" charset="0"/>
                <a:cs typeface="Arial" panose="020B0604020202020204" pitchFamily="34" charset="0"/>
              </a:rPr>
              <a:t>create, join, exit, synchronize, or switch for any reason</a:t>
            </a:r>
          </a:p>
          <a:p>
            <a:pPr lvl="1" algn="just"/>
            <a:r>
              <a:rPr lang="en-US" dirty="0">
                <a:latin typeface="Arial" panose="020B0604020202020204" pitchFamily="34" charset="0"/>
                <a:cs typeface="Arial" panose="020B0604020202020204" pitchFamily="34" charset="0"/>
              </a:rPr>
              <a:t>Generally: threads 10x to 30x slower when implemented in kernel</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One-size fits all thread implementation</a:t>
            </a:r>
          </a:p>
          <a:p>
            <a:pPr lvl="1" algn="just"/>
            <a:r>
              <a:rPr lang="en-US" dirty="0">
                <a:latin typeface="Arial" panose="020B0604020202020204" pitchFamily="34" charset="0"/>
                <a:cs typeface="Arial" panose="020B0604020202020204" pitchFamily="34" charset="0"/>
              </a:rPr>
              <a:t>Kernel threads must please all people</a:t>
            </a:r>
          </a:p>
          <a:p>
            <a:pPr lvl="1" algn="just"/>
            <a:r>
              <a:rPr lang="en-US" dirty="0">
                <a:latin typeface="Arial" panose="020B0604020202020204" pitchFamily="34" charset="0"/>
                <a:cs typeface="Arial" panose="020B0604020202020204" pitchFamily="34" charset="0"/>
              </a:rPr>
              <a:t>Maybe pay for fancy features (priority etc.) you don’t need</a:t>
            </a:r>
          </a:p>
          <a:p>
            <a:pPr algn="just"/>
            <a:endParaRPr lang="en-US" b="1"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General heavy-weight memory requirements</a:t>
            </a:r>
          </a:p>
          <a:p>
            <a:pPr lvl="1" algn="just"/>
            <a:r>
              <a:rPr lang="en-US" dirty="0">
                <a:latin typeface="Arial" panose="020B0604020202020204" pitchFamily="34" charset="0"/>
                <a:cs typeface="Arial" panose="020B0604020202020204" pitchFamily="34" charset="0"/>
              </a:rPr>
              <a:t>e.g., requires a fixed-size stack within kernel</a:t>
            </a:r>
          </a:p>
          <a:p>
            <a:pPr lvl="1" algn="just"/>
            <a:r>
              <a:rPr lang="en-US" dirty="0">
                <a:latin typeface="Arial" panose="020B0604020202020204" pitchFamily="34" charset="0"/>
                <a:cs typeface="Arial" panose="020B0604020202020204" pitchFamily="34" charset="0"/>
              </a:rPr>
              <a:t>other data structures designed for heavier-weight processes</a:t>
            </a:r>
          </a:p>
        </p:txBody>
      </p:sp>
    </p:spTree>
    <p:custDataLst>
      <p:tags r:id="rId1"/>
    </p:custDataLst>
    <p:extLst>
      <p:ext uri="{BB962C8B-B14F-4D97-AF65-F5344CB8AC3E}">
        <p14:creationId xmlns:p14="http://schemas.microsoft.com/office/powerpoint/2010/main" val="38771802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Alternative: User-Level  (Artificial) Threads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22</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2"/>
            <a:ext cx="10433956"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Implement as user-level library </a:t>
            </a:r>
          </a:p>
          <a:p>
            <a:pPr lvl="1" algn="just"/>
            <a:r>
              <a:rPr lang="en-US" dirty="0">
                <a:latin typeface="Arial" panose="020B0604020202020204" pitchFamily="34" charset="0"/>
                <a:cs typeface="Arial" panose="020B0604020202020204" pitchFamily="34" charset="0"/>
              </a:rPr>
              <a:t>One kernel thread per process</a:t>
            </a:r>
          </a:p>
          <a:p>
            <a:pPr lvl="1" algn="just"/>
            <a:r>
              <a:rPr lang="en-US" dirty="0" err="1">
                <a:latin typeface="Arial" panose="020B0604020202020204" pitchFamily="34" charset="0"/>
                <a:cs typeface="Arial" panose="020B0604020202020204" pitchFamily="34" charset="0"/>
              </a:rPr>
              <a:t>thread_create</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thread_exit</a:t>
            </a:r>
            <a:r>
              <a:rPr lang="en-US" dirty="0">
                <a:latin typeface="Arial" panose="020B0604020202020204" pitchFamily="34" charset="0"/>
                <a:cs typeface="Arial" panose="020B0604020202020204" pitchFamily="34" charset="0"/>
              </a:rPr>
              <a:t>, etc., just </a:t>
            </a:r>
            <a:r>
              <a:rPr lang="en-US" b="1" dirty="0">
                <a:solidFill>
                  <a:srgbClr val="00B050"/>
                </a:solidFill>
                <a:latin typeface="Arial" panose="020B0604020202020204" pitchFamily="34" charset="0"/>
                <a:cs typeface="Arial" panose="020B0604020202020204" pitchFamily="34" charset="0"/>
              </a:rPr>
              <a:t>library functions</a:t>
            </a:r>
          </a:p>
          <a:p>
            <a:pPr lvl="1" algn="just"/>
            <a:r>
              <a:rPr lang="en-US" dirty="0">
                <a:latin typeface="Arial" panose="020B0604020202020204" pitchFamily="34" charset="0"/>
                <a:cs typeface="Arial" panose="020B0604020202020204" pitchFamily="34" charset="0"/>
              </a:rPr>
              <a:t>Library does thread context switch</a:t>
            </a:r>
          </a:p>
          <a:p>
            <a:pPr lvl="1" algn="just"/>
            <a:endParaRPr lang="en-US" sz="11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Usually faster to create and manage</a:t>
            </a:r>
          </a:p>
          <a:p>
            <a:pPr algn="just"/>
            <a:endParaRPr lang="en-US" sz="1100" dirty="0">
              <a:latin typeface="Arial" panose="020B0604020202020204" pitchFamily="34" charset="0"/>
              <a:cs typeface="Arial" panose="020B0604020202020204" pitchFamily="34" charset="0"/>
            </a:endParaRPr>
          </a:p>
          <a:p>
            <a:pPr algn="just"/>
            <a:endParaRPr lang="en-US" sz="1100" b="1" dirty="0">
              <a:latin typeface="Arial" panose="020B0604020202020204" pitchFamily="34" charset="0"/>
              <a:cs typeface="Arial" panose="020B0604020202020204" pitchFamily="34" charset="0"/>
            </a:endParaRPr>
          </a:p>
          <a:p>
            <a:pPr algn="just"/>
            <a:r>
              <a:rPr lang="en-US" b="1" dirty="0">
                <a:latin typeface="Arial" panose="020B0604020202020204" pitchFamily="34" charset="0"/>
                <a:cs typeface="Arial" panose="020B0604020202020204" pitchFamily="34" charset="0"/>
              </a:rPr>
              <a:t>Examples:</a:t>
            </a:r>
            <a:r>
              <a:rPr lang="en-US" dirty="0">
                <a:latin typeface="Arial" panose="020B0604020202020204" pitchFamily="34" charset="0"/>
                <a:cs typeface="Arial" panose="020B0604020202020204" pitchFamily="34" charset="0"/>
              </a:rPr>
              <a:t> </a:t>
            </a:r>
          </a:p>
          <a:p>
            <a:pPr lvl="1" algn="just"/>
            <a:r>
              <a:rPr lang="en-US" dirty="0">
                <a:latin typeface="Arial" panose="020B0604020202020204" pitchFamily="34" charset="0"/>
                <a:cs typeface="Arial" panose="020B0604020202020204" pitchFamily="34" charset="0"/>
              </a:rPr>
              <a:t>POSIX </a:t>
            </a:r>
            <a:r>
              <a:rPr lang="en-US" b="1" dirty="0" err="1">
                <a:solidFill>
                  <a:srgbClr val="FF0000"/>
                </a:solidFill>
                <a:latin typeface="Arial" panose="020B0604020202020204" pitchFamily="34" charset="0"/>
                <a:cs typeface="Arial" panose="020B0604020202020204" pitchFamily="34" charset="0"/>
              </a:rPr>
              <a:t>Pthreads</a:t>
            </a:r>
            <a:r>
              <a:rPr lang="en-US" b="1" dirty="0">
                <a:solidFill>
                  <a:srgbClr val="FF0000"/>
                </a:solidFill>
                <a:latin typeface="Arial" panose="020B0604020202020204" pitchFamily="34" charset="0"/>
                <a:cs typeface="Arial" panose="020B0604020202020204" pitchFamily="34" charset="0"/>
              </a:rPr>
              <a:t>, </a:t>
            </a:r>
          </a:p>
          <a:p>
            <a:pPr lvl="1" algn="just"/>
            <a:r>
              <a:rPr lang="en-US" dirty="0">
                <a:latin typeface="Arial" panose="020B0604020202020204" pitchFamily="34" charset="0"/>
                <a:cs typeface="Arial" panose="020B0604020202020204" pitchFamily="34" charset="0"/>
              </a:rPr>
              <a:t>Java threads</a:t>
            </a:r>
          </a:p>
        </p:txBody>
      </p:sp>
    </p:spTree>
    <p:custDataLst>
      <p:tags r:id="rId1"/>
    </p:custDataLst>
    <p:extLst>
      <p:ext uri="{BB962C8B-B14F-4D97-AF65-F5344CB8AC3E}">
        <p14:creationId xmlns:p14="http://schemas.microsoft.com/office/powerpoint/2010/main" val="42058800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C077C-6448-CFC8-971E-D2D1329857D0}"/>
              </a:ext>
            </a:extLst>
          </p:cNvPr>
          <p:cNvSpPr>
            <a:spLocks noGrp="1"/>
          </p:cNvSpPr>
          <p:nvPr>
            <p:ph type="title"/>
          </p:nvPr>
        </p:nvSpPr>
        <p:spPr/>
        <p:txBody>
          <a:bodyPr/>
          <a:lstStyle/>
          <a:p>
            <a:r>
              <a:rPr lang="en-US" sz="4800" dirty="0">
                <a:latin typeface="Arial" panose="020B0604020202020204" pitchFamily="34" charset="0"/>
                <a:cs typeface="Arial" panose="020B0604020202020204" pitchFamily="34" charset="0"/>
              </a:rPr>
              <a:t>User-Level Thread</a:t>
            </a:r>
            <a:endParaRPr lang="en-GB" dirty="0"/>
          </a:p>
        </p:txBody>
      </p:sp>
      <p:sp>
        <p:nvSpPr>
          <p:cNvPr id="3" name="Content Placeholder 2">
            <a:extLst>
              <a:ext uri="{FF2B5EF4-FFF2-40B4-BE49-F238E27FC236}">
                <a16:creationId xmlns:a16="http://schemas.microsoft.com/office/drawing/2014/main" id="{46AC9F49-03EC-C00E-F24C-4A385F83AAA2}"/>
              </a:ext>
            </a:extLst>
          </p:cNvPr>
          <p:cNvSpPr>
            <a:spLocks noGrp="1"/>
          </p:cNvSpPr>
          <p:nvPr>
            <p:ph idx="1"/>
          </p:nvPr>
        </p:nvSpPr>
        <p:spPr/>
        <p:txBody>
          <a:bodyPr>
            <a:normAutofit/>
          </a:bodyPr>
          <a:lstStyle/>
          <a:p>
            <a:pPr lvl="0"/>
            <a:r>
              <a:rPr lang="en-GB" b="1" dirty="0"/>
              <a:t>No Kernel Involvement</a:t>
            </a:r>
            <a:r>
              <a:rPr lang="en-GB" dirty="0"/>
              <a:t>: The kernel does not manage the switching between threads. Instead, the application itself (using a threading library) manages when and how threads switch. This means that switching between threads (context switching) is much faster because it doesn't require the overhead of asking the operating system for permission.</a:t>
            </a:r>
          </a:p>
          <a:p>
            <a:pPr lvl="0"/>
            <a:endParaRPr lang="en-GB" dirty="0"/>
          </a:p>
          <a:p>
            <a:pPr lvl="0"/>
            <a:r>
              <a:rPr lang="en-GB" b="1" dirty="0"/>
              <a:t>Switching</a:t>
            </a:r>
            <a:r>
              <a:rPr lang="en-GB" dirty="0"/>
              <a:t>: If one thread finishes its task or reaches a point where it should yield (pause), the thread library in user space will decide which other thread to run next. The kernel doesn’t step in for this; it's all handled within the application as programmed by the programmer.</a:t>
            </a:r>
          </a:p>
          <a:p>
            <a:endParaRPr lang="en-GB" dirty="0"/>
          </a:p>
          <a:p>
            <a:endParaRPr lang="en-GB" dirty="0"/>
          </a:p>
        </p:txBody>
      </p:sp>
      <p:sp>
        <p:nvSpPr>
          <p:cNvPr id="4" name="Footer Placeholder 3">
            <a:extLst>
              <a:ext uri="{FF2B5EF4-FFF2-40B4-BE49-F238E27FC236}">
                <a16:creationId xmlns:a16="http://schemas.microsoft.com/office/drawing/2014/main" id="{B02E6903-243F-EEAD-0DF0-EA75E76D1A59}"/>
              </a:ext>
            </a:extLst>
          </p:cNvPr>
          <p:cNvSpPr>
            <a:spLocks noGrp="1"/>
          </p:cNvSpPr>
          <p:nvPr>
            <p:ph type="ftr" sz="quarter" idx="11"/>
          </p:nvPr>
        </p:nvSpPr>
        <p:spPr/>
        <p:txBody>
          <a:bodyPr/>
          <a:lstStyle/>
          <a:p>
            <a:r>
              <a:rPr lang="en-US"/>
              <a:t>Design &amp; Analysis of Algorithms</a:t>
            </a:r>
          </a:p>
        </p:txBody>
      </p:sp>
      <p:sp>
        <p:nvSpPr>
          <p:cNvPr id="5" name="Slide Number Placeholder 4">
            <a:extLst>
              <a:ext uri="{FF2B5EF4-FFF2-40B4-BE49-F238E27FC236}">
                <a16:creationId xmlns:a16="http://schemas.microsoft.com/office/drawing/2014/main" id="{4B3314E9-29A9-4CC5-914A-79317D47C326}"/>
              </a:ext>
            </a:extLst>
          </p:cNvPr>
          <p:cNvSpPr>
            <a:spLocks noGrp="1"/>
          </p:cNvSpPr>
          <p:nvPr>
            <p:ph type="sldNum" sz="quarter" idx="12"/>
          </p:nvPr>
        </p:nvSpPr>
        <p:spPr/>
        <p:txBody>
          <a:bodyPr/>
          <a:lstStyle/>
          <a:p>
            <a:fld id="{3485D9CA-6DAA-4C3C-A3E2-EDEA918D5F89}" type="slidenum">
              <a:rPr lang="en-US" smtClean="0"/>
              <a:pPr/>
              <a:t>23</a:t>
            </a:fld>
            <a:endParaRPr lang="en-US"/>
          </a:p>
        </p:txBody>
      </p:sp>
    </p:spTree>
    <p:extLst>
      <p:ext uri="{BB962C8B-B14F-4D97-AF65-F5344CB8AC3E}">
        <p14:creationId xmlns:p14="http://schemas.microsoft.com/office/powerpoint/2010/main" val="3904956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User-Level Thread Limitations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24</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2"/>
            <a:ext cx="10433956" cy="509684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Cannot take advantage of multiple CPUs or cores</a:t>
            </a:r>
          </a:p>
          <a:p>
            <a:pPr lvl="1" algn="just"/>
            <a:endParaRPr lang="en-US" sz="11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User-level threads are invisible to the OS</a:t>
            </a:r>
          </a:p>
          <a:p>
            <a:pPr lvl="1" algn="just"/>
            <a:r>
              <a:rPr lang="en-US" dirty="0">
                <a:latin typeface="Arial" panose="020B0604020202020204" pitchFamily="34" charset="0"/>
                <a:cs typeface="Arial" panose="020B0604020202020204" pitchFamily="34" charset="0"/>
              </a:rPr>
              <a:t>They are not well integrated with the OS</a:t>
            </a:r>
          </a:p>
          <a:p>
            <a:pPr algn="just"/>
            <a:endParaRPr lang="en-US" sz="11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As a result, OS can make poor decisions</a:t>
            </a:r>
          </a:p>
          <a:p>
            <a:pPr lvl="1" algn="just"/>
            <a:r>
              <a:rPr lang="en-US" dirty="0">
                <a:latin typeface="Arial" panose="020B0604020202020204" pitchFamily="34" charset="0"/>
                <a:cs typeface="Arial" panose="020B0604020202020204" pitchFamily="34" charset="0"/>
              </a:rPr>
              <a:t>Scheduling a process with idle threads</a:t>
            </a:r>
          </a:p>
          <a:p>
            <a:pPr lvl="1" algn="just"/>
            <a:r>
              <a:rPr lang="en-US" dirty="0">
                <a:latin typeface="Arial" panose="020B0604020202020204" pitchFamily="34" charset="0"/>
                <a:cs typeface="Arial" panose="020B0604020202020204" pitchFamily="34" charset="0"/>
              </a:rPr>
              <a:t>A blocking system call (e.g., disk read) blocks all threads</a:t>
            </a:r>
          </a:p>
          <a:p>
            <a:pPr lvl="2" algn="just"/>
            <a:r>
              <a:rPr lang="en-US" dirty="0">
                <a:latin typeface="Arial" panose="020B0604020202020204" pitchFamily="34" charset="0"/>
                <a:cs typeface="Arial" panose="020B0604020202020204" pitchFamily="34" charset="0"/>
              </a:rPr>
              <a:t>Even if the process has other threads that can execute</a:t>
            </a:r>
          </a:p>
          <a:p>
            <a:pPr lvl="1" algn="just"/>
            <a:r>
              <a:rPr lang="en-US" dirty="0" err="1">
                <a:latin typeface="Arial" panose="020B0604020202020204" pitchFamily="34" charset="0"/>
                <a:cs typeface="Arial" panose="020B0604020202020204" pitchFamily="34" charset="0"/>
              </a:rPr>
              <a:t>Unscheduling</a:t>
            </a:r>
            <a:r>
              <a:rPr lang="en-US" dirty="0">
                <a:latin typeface="Arial" panose="020B0604020202020204" pitchFamily="34" charset="0"/>
                <a:cs typeface="Arial" panose="020B0604020202020204" pitchFamily="34" charset="0"/>
              </a:rPr>
              <a:t> a process with a thread holding a lock</a:t>
            </a:r>
          </a:p>
          <a:p>
            <a:pPr algn="just"/>
            <a:endParaRPr lang="en-US" sz="1100" b="1"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How to solve this?</a:t>
            </a:r>
          </a:p>
          <a:p>
            <a:pPr lvl="1" algn="just"/>
            <a:r>
              <a:rPr lang="en-US" dirty="0">
                <a:latin typeface="Arial" panose="020B0604020202020204" pitchFamily="34" charset="0"/>
                <a:cs typeface="Arial" panose="020B0604020202020204" pitchFamily="34" charset="0"/>
              </a:rPr>
              <a:t>Communication between the kernel and the user-level thread manager (Windows 8)</a:t>
            </a:r>
          </a:p>
          <a:p>
            <a:pPr lvl="2" algn="just"/>
            <a:r>
              <a:rPr lang="en-US" dirty="0">
                <a:latin typeface="Arial" panose="020B0604020202020204" pitchFamily="34" charset="0"/>
                <a:cs typeface="Arial" panose="020B0604020202020204" pitchFamily="34" charset="0"/>
              </a:rPr>
              <a:t>Scheduler Activation</a:t>
            </a:r>
          </a:p>
        </p:txBody>
      </p:sp>
    </p:spTree>
    <p:custDataLst>
      <p:tags r:id="rId1"/>
    </p:custDataLst>
    <p:extLst>
      <p:ext uri="{BB962C8B-B14F-4D97-AF65-F5344CB8AC3E}">
        <p14:creationId xmlns:p14="http://schemas.microsoft.com/office/powerpoint/2010/main" val="27425092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F7F19-499C-E620-063F-766B14548075}"/>
              </a:ext>
            </a:extLst>
          </p:cNvPr>
          <p:cNvSpPr>
            <a:spLocks noGrp="1"/>
          </p:cNvSpPr>
          <p:nvPr>
            <p:ph type="title"/>
          </p:nvPr>
        </p:nvSpPr>
        <p:spPr/>
        <p:txBody>
          <a:bodyPr/>
          <a:lstStyle/>
          <a:p>
            <a:r>
              <a:rPr lang="en-GB" dirty="0"/>
              <a:t>Efficient Use of Artificial Threading</a:t>
            </a:r>
          </a:p>
        </p:txBody>
      </p:sp>
      <p:sp>
        <p:nvSpPr>
          <p:cNvPr id="3" name="Content Placeholder 2">
            <a:extLst>
              <a:ext uri="{FF2B5EF4-FFF2-40B4-BE49-F238E27FC236}">
                <a16:creationId xmlns:a16="http://schemas.microsoft.com/office/drawing/2014/main" id="{B76566AB-69AC-65DE-C16C-2AB7546DC695}"/>
              </a:ext>
            </a:extLst>
          </p:cNvPr>
          <p:cNvSpPr>
            <a:spLocks noGrp="1"/>
          </p:cNvSpPr>
          <p:nvPr>
            <p:ph idx="1"/>
          </p:nvPr>
        </p:nvSpPr>
        <p:spPr/>
        <p:txBody>
          <a:bodyPr>
            <a:normAutofit/>
          </a:bodyPr>
          <a:lstStyle/>
          <a:p>
            <a:endParaRPr lang="en-GB" dirty="0"/>
          </a:p>
          <a:p>
            <a:r>
              <a:rPr lang="en-GB" dirty="0"/>
              <a:t>Artificial threading can make throughput great if used efficiently.</a:t>
            </a:r>
            <a:br>
              <a:rPr lang="en-GB" dirty="0"/>
            </a:br>
            <a:r>
              <a:rPr lang="en-GB" dirty="0"/>
              <a:t>Despite blocking issues, user-level threads can improve performance if used correctly. This happens because switching between threads is faster (as it avoids kernel intervention). An example would be using global variables to share data between threads, reducing overhead.</a:t>
            </a:r>
          </a:p>
          <a:p>
            <a:endParaRPr lang="en-GB" dirty="0"/>
          </a:p>
        </p:txBody>
      </p:sp>
      <p:sp>
        <p:nvSpPr>
          <p:cNvPr id="4" name="Footer Placeholder 3">
            <a:extLst>
              <a:ext uri="{FF2B5EF4-FFF2-40B4-BE49-F238E27FC236}">
                <a16:creationId xmlns:a16="http://schemas.microsoft.com/office/drawing/2014/main" id="{42ABC95C-5D98-6F61-710B-F38200C0A3A0}"/>
              </a:ext>
            </a:extLst>
          </p:cNvPr>
          <p:cNvSpPr>
            <a:spLocks noGrp="1"/>
          </p:cNvSpPr>
          <p:nvPr>
            <p:ph type="ftr" sz="quarter" idx="11"/>
          </p:nvPr>
        </p:nvSpPr>
        <p:spPr/>
        <p:txBody>
          <a:bodyPr/>
          <a:lstStyle/>
          <a:p>
            <a:r>
              <a:rPr lang="en-US"/>
              <a:t>Design &amp; Analysis of Algorithms</a:t>
            </a:r>
          </a:p>
        </p:txBody>
      </p:sp>
      <p:sp>
        <p:nvSpPr>
          <p:cNvPr id="5" name="Slide Number Placeholder 4">
            <a:extLst>
              <a:ext uri="{FF2B5EF4-FFF2-40B4-BE49-F238E27FC236}">
                <a16:creationId xmlns:a16="http://schemas.microsoft.com/office/drawing/2014/main" id="{63B5A7C6-05BA-A8BD-D11A-D8B248CF0ACA}"/>
              </a:ext>
            </a:extLst>
          </p:cNvPr>
          <p:cNvSpPr>
            <a:spLocks noGrp="1"/>
          </p:cNvSpPr>
          <p:nvPr>
            <p:ph type="sldNum" sz="quarter" idx="12"/>
          </p:nvPr>
        </p:nvSpPr>
        <p:spPr/>
        <p:txBody>
          <a:bodyPr/>
          <a:lstStyle/>
          <a:p>
            <a:fld id="{3485D9CA-6DAA-4C3C-A3E2-EDEA918D5F89}" type="slidenum">
              <a:rPr lang="en-US" smtClean="0"/>
              <a:pPr/>
              <a:t>25</a:t>
            </a:fld>
            <a:endParaRPr lang="en-US"/>
          </a:p>
        </p:txBody>
      </p:sp>
    </p:spTree>
    <p:extLst>
      <p:ext uri="{BB962C8B-B14F-4D97-AF65-F5344CB8AC3E}">
        <p14:creationId xmlns:p14="http://schemas.microsoft.com/office/powerpoint/2010/main" val="5538682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Kernel vs. User Threads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26</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2"/>
            <a:ext cx="10433956" cy="5404758"/>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Kernel-level threads</a:t>
            </a:r>
          </a:p>
          <a:p>
            <a:pPr lvl="1" algn="just"/>
            <a:r>
              <a:rPr lang="en-US" dirty="0">
                <a:latin typeface="Arial" panose="020B0604020202020204" pitchFamily="34" charset="0"/>
                <a:cs typeface="Arial" panose="020B0604020202020204" pitchFamily="34" charset="0"/>
              </a:rPr>
              <a:t>Integrated with OS (informed scheduling)</a:t>
            </a:r>
          </a:p>
          <a:p>
            <a:pPr lvl="1" algn="just"/>
            <a:r>
              <a:rPr lang="en-US" dirty="0">
                <a:latin typeface="Arial" panose="020B0604020202020204" pitchFamily="34" charset="0"/>
                <a:cs typeface="Arial" panose="020B0604020202020204" pitchFamily="34" charset="0"/>
              </a:rPr>
              <a:t>Slower to create, manipulate, synchronize</a:t>
            </a:r>
          </a:p>
          <a:p>
            <a:pPr algn="just"/>
            <a:endParaRPr lang="en-US" sz="11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User-level threads</a:t>
            </a:r>
          </a:p>
          <a:p>
            <a:pPr lvl="1" algn="just"/>
            <a:r>
              <a:rPr lang="en-US" dirty="0">
                <a:latin typeface="Arial" panose="020B0604020202020204" pitchFamily="34" charset="0"/>
                <a:cs typeface="Arial" panose="020B0604020202020204" pitchFamily="34" charset="0"/>
              </a:rPr>
              <a:t>Faster to create, manipulate, synchronize</a:t>
            </a:r>
          </a:p>
          <a:p>
            <a:pPr lvl="1" algn="just"/>
            <a:r>
              <a:rPr lang="en-US" dirty="0">
                <a:latin typeface="Arial" panose="020B0604020202020204" pitchFamily="34" charset="0"/>
                <a:cs typeface="Arial" panose="020B0604020202020204" pitchFamily="34" charset="0"/>
              </a:rPr>
              <a:t>Not integrated with OS (uninformed scheduling)</a:t>
            </a:r>
            <a:endParaRPr lang="en-US" sz="1100" b="1"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Understanding their differences is important</a:t>
            </a:r>
          </a:p>
          <a:p>
            <a:pPr lvl="1" algn="just"/>
            <a:r>
              <a:rPr lang="en-US" dirty="0">
                <a:latin typeface="Arial" panose="020B0604020202020204" pitchFamily="34" charset="0"/>
                <a:cs typeface="Arial" panose="020B0604020202020204" pitchFamily="34" charset="0"/>
              </a:rPr>
              <a:t>Correctness, performance</a:t>
            </a:r>
          </a:p>
          <a:p>
            <a:pPr lvl="1"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Or use </a:t>
            </a:r>
            <a:r>
              <a:rPr lang="en-US" b="1" dirty="0">
                <a:solidFill>
                  <a:srgbClr val="00B050"/>
                </a:solidFill>
                <a:latin typeface="Arial" panose="020B0604020202020204" pitchFamily="34" charset="0"/>
                <a:cs typeface="Arial" panose="020B0604020202020204" pitchFamily="34" charset="0"/>
              </a:rPr>
              <a:t>both</a:t>
            </a:r>
            <a:r>
              <a:rPr lang="en-US" dirty="0">
                <a:latin typeface="Arial" panose="020B0604020202020204" pitchFamily="34" charset="0"/>
                <a:cs typeface="Arial" panose="020B0604020202020204" pitchFamily="34" charset="0"/>
              </a:rPr>
              <a:t> kernel and user-level threads</a:t>
            </a:r>
          </a:p>
          <a:p>
            <a:pPr lvl="1" algn="just"/>
            <a:r>
              <a:rPr lang="en-US" dirty="0">
                <a:latin typeface="Arial" panose="020B0604020202020204" pitchFamily="34" charset="0"/>
                <a:cs typeface="Arial" panose="020B0604020202020204" pitchFamily="34" charset="0"/>
              </a:rPr>
              <a:t>Can associate a user-level thread with a kernel-level thread</a:t>
            </a:r>
          </a:p>
          <a:p>
            <a:pPr lvl="1" algn="just"/>
            <a:r>
              <a:rPr lang="en-US" dirty="0">
                <a:latin typeface="Arial" panose="020B0604020202020204" pitchFamily="34" charset="0"/>
                <a:cs typeface="Arial" panose="020B0604020202020204" pitchFamily="34" charset="0"/>
              </a:rPr>
              <a:t>Or multiplex user-level threads on top of kernel-level threads</a:t>
            </a:r>
          </a:p>
          <a:p>
            <a:pPr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3257346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Multithreading Models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27</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323064"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Three common ways to establishing a relation between user and kernel threads are as follow:</a:t>
            </a:r>
          </a:p>
          <a:p>
            <a:pPr lvl="1" algn="just"/>
            <a:r>
              <a:rPr lang="en-US" dirty="0">
                <a:latin typeface="Arial" panose="020B0604020202020204" pitchFamily="34" charset="0"/>
                <a:cs typeface="Arial" panose="020B0604020202020204" pitchFamily="34" charset="0"/>
              </a:rPr>
              <a:t>Many-to-One</a:t>
            </a:r>
          </a:p>
          <a:p>
            <a:pPr lvl="1" algn="just"/>
            <a:r>
              <a:rPr lang="en-US" dirty="0">
                <a:latin typeface="Arial" panose="020B0604020202020204" pitchFamily="34" charset="0"/>
                <a:cs typeface="Arial" panose="020B0604020202020204" pitchFamily="34" charset="0"/>
              </a:rPr>
              <a:t>One-to-One</a:t>
            </a:r>
          </a:p>
          <a:p>
            <a:pPr lvl="1" algn="just"/>
            <a:r>
              <a:rPr lang="en-US" dirty="0">
                <a:latin typeface="Arial" panose="020B0604020202020204" pitchFamily="34" charset="0"/>
                <a:cs typeface="Arial" panose="020B0604020202020204" pitchFamily="34" charset="0"/>
              </a:rPr>
              <a:t>Many-to-Many</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In user thread implementation, all user threads of the same process are effectively mapped to one kernel thread</a:t>
            </a:r>
          </a:p>
          <a:p>
            <a:pPr algn="just"/>
            <a:endParaRPr lang="en-US"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15835715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Many-to-One</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28</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46374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Many user-level threads mapped to single kernel thread</a:t>
            </a:r>
          </a:p>
          <a:p>
            <a:pPr algn="just"/>
            <a:r>
              <a:rPr lang="en-US" dirty="0">
                <a:latin typeface="Arial" panose="020B0604020202020204" pitchFamily="34" charset="0"/>
                <a:cs typeface="Arial" panose="020B0604020202020204" pitchFamily="34" charset="0"/>
              </a:rPr>
              <a:t>One thread blocking causes all to block</a:t>
            </a:r>
          </a:p>
          <a:p>
            <a:pPr algn="just"/>
            <a:r>
              <a:rPr lang="en-US" dirty="0">
                <a:latin typeface="Arial" panose="020B0604020202020204" pitchFamily="34" charset="0"/>
                <a:cs typeface="Arial" panose="020B0604020202020204" pitchFamily="34" charset="0"/>
              </a:rPr>
              <a:t>Thread management is done by a thread library in user space</a:t>
            </a:r>
          </a:p>
          <a:p>
            <a:pPr algn="just"/>
            <a:r>
              <a:rPr lang="en-US" dirty="0">
                <a:latin typeface="Arial" panose="020B0604020202020204" pitchFamily="34" charset="0"/>
                <a:cs typeface="Arial" panose="020B0604020202020204" pitchFamily="34" charset="0"/>
              </a:rPr>
              <a:t>Multiple threads may not run in parallel on multi-core system because only one may be in kernel at a time</a:t>
            </a:r>
          </a:p>
          <a:p>
            <a:pPr algn="just"/>
            <a:r>
              <a:rPr lang="en-US" dirty="0">
                <a:latin typeface="Arial" panose="020B0604020202020204" pitchFamily="34" charset="0"/>
                <a:cs typeface="Arial" panose="020B0604020202020204" pitchFamily="34" charset="0"/>
              </a:rPr>
              <a:t>Few systems currently use this model</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Examples:</a:t>
            </a:r>
          </a:p>
          <a:p>
            <a:pPr lvl="1" algn="just"/>
            <a:r>
              <a:rPr lang="en-US" dirty="0">
                <a:latin typeface="Arial" panose="020B0604020202020204" pitchFamily="34" charset="0"/>
                <a:cs typeface="Arial" panose="020B0604020202020204" pitchFamily="34" charset="0"/>
              </a:rPr>
              <a:t>Solaris Green Threads</a:t>
            </a:r>
          </a:p>
          <a:p>
            <a:pPr lvl="1" algn="just"/>
            <a:r>
              <a:rPr lang="en-US" dirty="0">
                <a:latin typeface="Arial" panose="020B0604020202020204" pitchFamily="34" charset="0"/>
                <a:cs typeface="Arial" panose="020B0604020202020204" pitchFamily="34" charset="0"/>
              </a:rPr>
              <a:t>GNU Portable Threads</a:t>
            </a:r>
          </a:p>
        </p:txBody>
      </p:sp>
      <p:pic>
        <p:nvPicPr>
          <p:cNvPr id="4" name="Picture 1">
            <a:extLst>
              <a:ext uri="{FF2B5EF4-FFF2-40B4-BE49-F238E27FC236}">
                <a16:creationId xmlns:a16="http://schemas.microsoft.com/office/drawing/2014/main" id="{2C25F73E-F6BB-6C07-7FD2-75CCCA8CAF5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64021" y="3986640"/>
            <a:ext cx="4956931" cy="2718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7289468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One-to-One</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29</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46374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Each user-level thread maps to a kernel thread</a:t>
            </a:r>
          </a:p>
          <a:p>
            <a:pPr algn="just"/>
            <a:r>
              <a:rPr lang="en-US" dirty="0">
                <a:latin typeface="Arial" panose="020B0604020202020204" pitchFamily="34" charset="0"/>
                <a:cs typeface="Arial" panose="020B0604020202020204" pitchFamily="34" charset="0"/>
              </a:rPr>
              <a:t>Creating a user-level thread creates a kernel thread</a:t>
            </a:r>
          </a:p>
          <a:p>
            <a:pPr algn="just"/>
            <a:r>
              <a:rPr lang="en-US" dirty="0">
                <a:latin typeface="Arial" panose="020B0604020202020204" pitchFamily="34" charset="0"/>
                <a:cs typeface="Arial" panose="020B0604020202020204" pitchFamily="34" charset="0"/>
              </a:rPr>
              <a:t>More concurrency than many-to-one model</a:t>
            </a:r>
          </a:p>
          <a:p>
            <a:pPr algn="just"/>
            <a:r>
              <a:rPr lang="en-US" dirty="0">
                <a:latin typeface="Arial" panose="020B0604020202020204" pitchFamily="34" charset="0"/>
                <a:cs typeface="Arial" panose="020B0604020202020204" pitchFamily="34" charset="0"/>
              </a:rPr>
              <a:t>System keeps running while one thread executes a blocking system call</a:t>
            </a:r>
          </a:p>
          <a:p>
            <a:pPr algn="just"/>
            <a:r>
              <a:rPr lang="en-US" dirty="0">
                <a:latin typeface="Arial" panose="020B0604020202020204" pitchFamily="34" charset="0"/>
                <a:cs typeface="Arial" panose="020B0604020202020204" pitchFamily="34" charset="0"/>
              </a:rPr>
              <a:t>It also allow multiple threads to run in parallel on multiprocessor system </a:t>
            </a:r>
          </a:p>
          <a:p>
            <a:pPr algn="just"/>
            <a:r>
              <a:rPr lang="en-US" dirty="0">
                <a:latin typeface="Arial" panose="020B0604020202020204" pitchFamily="34" charset="0"/>
                <a:cs typeface="Arial" panose="020B0604020202020204" pitchFamily="34" charset="0"/>
              </a:rPr>
              <a:t>Number of threads per process sometimes restricted due to overhead</a:t>
            </a:r>
          </a:p>
          <a:p>
            <a:pPr algn="just"/>
            <a:r>
              <a:rPr lang="en-US" dirty="0">
                <a:latin typeface="Arial" panose="020B0604020202020204" pitchFamily="34" charset="0"/>
                <a:cs typeface="Arial" panose="020B0604020202020204" pitchFamily="34" charset="0"/>
              </a:rPr>
              <a:t>May lead to too many kernel threads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Examples:</a:t>
            </a:r>
          </a:p>
          <a:p>
            <a:pPr lvl="1" algn="just"/>
            <a:r>
              <a:rPr lang="en-US" dirty="0">
                <a:latin typeface="Arial" panose="020B0604020202020204" pitchFamily="34" charset="0"/>
                <a:cs typeface="Arial" panose="020B0604020202020204" pitchFamily="34" charset="0"/>
              </a:rPr>
              <a:t>Windows</a:t>
            </a:r>
          </a:p>
          <a:p>
            <a:pPr lvl="1" algn="just"/>
            <a:r>
              <a:rPr lang="en-US" dirty="0">
                <a:latin typeface="Arial" panose="020B0604020202020204" pitchFamily="34" charset="0"/>
                <a:cs typeface="Arial" panose="020B0604020202020204" pitchFamily="34" charset="0"/>
              </a:rPr>
              <a:t>Linux</a:t>
            </a:r>
          </a:p>
        </p:txBody>
      </p:sp>
      <p:pic>
        <p:nvPicPr>
          <p:cNvPr id="35843" name="Picture 1">
            <a:extLst>
              <a:ext uri="{FF2B5EF4-FFF2-40B4-BE49-F238E27FC236}">
                <a16:creationId xmlns:a16="http://schemas.microsoft.com/office/drawing/2014/main" id="{EF8F904A-031A-45E1-82C4-C375DF8A63A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1" y="4211414"/>
            <a:ext cx="4148492" cy="2301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8755257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Many-to-Many</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30</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1" y="1453241"/>
            <a:ext cx="10463741" cy="5252357"/>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Allows many user level threads to be mapped to many kernel threads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Allows the  operating system to create a sufficient number of kernel threads</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Examples:</a:t>
            </a:r>
          </a:p>
          <a:p>
            <a:pPr lvl="1" algn="just"/>
            <a:r>
              <a:rPr lang="en-US" dirty="0">
                <a:latin typeface="Arial" panose="020B0604020202020204" pitchFamily="34" charset="0"/>
                <a:cs typeface="Arial" panose="020B0604020202020204" pitchFamily="34" charset="0"/>
              </a:rPr>
              <a:t>Windows </a:t>
            </a:r>
            <a:r>
              <a:rPr lang="en-US" i="1" dirty="0" err="1">
                <a:latin typeface="Arial" panose="020B0604020202020204" pitchFamily="34" charset="0"/>
                <a:cs typeface="Arial" panose="020B0604020202020204" pitchFamily="34" charset="0"/>
              </a:rPr>
              <a:t>ThreadFiber</a:t>
            </a:r>
            <a:r>
              <a:rPr lang="en-US" dirty="0">
                <a:latin typeface="Arial" panose="020B0604020202020204" pitchFamily="34" charset="0"/>
                <a:cs typeface="Arial" panose="020B0604020202020204" pitchFamily="34" charset="0"/>
              </a:rPr>
              <a:t> package</a:t>
            </a:r>
          </a:p>
          <a:p>
            <a:pPr lvl="1" algn="just"/>
            <a:r>
              <a:rPr lang="en-US" dirty="0">
                <a:latin typeface="Arial" panose="020B0604020202020204" pitchFamily="34" charset="0"/>
                <a:cs typeface="Arial" panose="020B0604020202020204" pitchFamily="34" charset="0"/>
              </a:rPr>
              <a:t>Otherwise not very common</a:t>
            </a:r>
          </a:p>
        </p:txBody>
      </p:sp>
      <p:pic>
        <p:nvPicPr>
          <p:cNvPr id="37891" name="Picture 1">
            <a:extLst>
              <a:ext uri="{FF2B5EF4-FFF2-40B4-BE49-F238E27FC236}">
                <a16:creationId xmlns:a16="http://schemas.microsoft.com/office/drawing/2014/main" id="{CCAA589D-3ED6-47FF-8B49-15D8580890C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03641" y="3578673"/>
            <a:ext cx="4478694" cy="2466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2924847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Thread Context Switch</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31</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2"/>
            <a:ext cx="10516495" cy="5088236"/>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The context switch routine does all of the magic</a:t>
            </a:r>
          </a:p>
          <a:p>
            <a:pPr lvl="1" algn="just"/>
            <a:r>
              <a:rPr lang="en-US" dirty="0">
                <a:latin typeface="Arial" panose="020B0604020202020204" pitchFamily="34" charset="0"/>
                <a:cs typeface="Arial" panose="020B0604020202020204" pitchFamily="34" charset="0"/>
              </a:rPr>
              <a:t>Saves context of the currently running thread</a:t>
            </a:r>
          </a:p>
          <a:p>
            <a:pPr lvl="2" algn="just"/>
            <a:r>
              <a:rPr lang="en-US" dirty="0">
                <a:latin typeface="Arial" panose="020B0604020202020204" pitchFamily="34" charset="0"/>
                <a:cs typeface="Arial" panose="020B0604020202020204" pitchFamily="34" charset="0"/>
              </a:rPr>
              <a:t>Push all machine state onto its stack</a:t>
            </a:r>
          </a:p>
          <a:p>
            <a:pPr lvl="1" algn="just"/>
            <a:r>
              <a:rPr lang="en-US" dirty="0">
                <a:latin typeface="Arial" panose="020B0604020202020204" pitchFamily="34" charset="0"/>
                <a:cs typeface="Arial" panose="020B0604020202020204" pitchFamily="34" charset="0"/>
              </a:rPr>
              <a:t>Restore context of the next thread</a:t>
            </a:r>
          </a:p>
          <a:p>
            <a:pPr lvl="2" algn="just"/>
            <a:r>
              <a:rPr lang="en-US" dirty="0">
                <a:latin typeface="Arial" panose="020B0604020202020204" pitchFamily="34" charset="0"/>
                <a:cs typeface="Arial" panose="020B0604020202020204" pitchFamily="34" charset="0"/>
              </a:rPr>
              <a:t>Pop all machine state from the next thread’s stack</a:t>
            </a:r>
          </a:p>
          <a:p>
            <a:pPr lvl="1" algn="just"/>
            <a:r>
              <a:rPr lang="en-US" dirty="0">
                <a:latin typeface="Arial" panose="020B0604020202020204" pitchFamily="34" charset="0"/>
                <a:cs typeface="Arial" panose="020B0604020202020204" pitchFamily="34" charset="0"/>
              </a:rPr>
              <a:t>The next thread becomes the current thread</a:t>
            </a:r>
          </a:p>
          <a:p>
            <a:pPr lvl="1" algn="just"/>
            <a:r>
              <a:rPr lang="en-US" dirty="0">
                <a:latin typeface="Arial" panose="020B0604020202020204" pitchFamily="34" charset="0"/>
                <a:cs typeface="Arial" panose="020B0604020202020204" pitchFamily="34" charset="0"/>
              </a:rPr>
              <a:t>Returns to caller as new thread</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This is all done in assembly language</a:t>
            </a:r>
            <a:endParaRPr lang="en-US" sz="1000" dirty="0">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It works at the level of the procedure calling convention, so it cannot be implemented using procedure calls</a:t>
            </a:r>
          </a:p>
        </p:txBody>
      </p:sp>
    </p:spTree>
    <p:custDataLst>
      <p:tags r:id="rId1"/>
    </p:custDataLst>
    <p:extLst>
      <p:ext uri="{BB962C8B-B14F-4D97-AF65-F5344CB8AC3E}">
        <p14:creationId xmlns:p14="http://schemas.microsoft.com/office/powerpoint/2010/main" val="2190622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Context Switching of User-Level Threads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32</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0" y="1453242"/>
            <a:ext cx="10516495" cy="5088236"/>
          </a:xfrm>
          <a:prstGeom prst="rect">
            <a:avLst/>
          </a:prstGeom>
          <a:ln w="15875">
            <a:noFill/>
          </a:ln>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r>
              <a:rPr lang="en-US" dirty="0">
                <a:latin typeface="Arial" panose="020B0604020202020204" pitchFamily="34" charset="0"/>
                <a:cs typeface="Arial" panose="020B0604020202020204" pitchFamily="34" charset="0"/>
              </a:rPr>
              <a:t>If both threads belong to the same process</a:t>
            </a:r>
          </a:p>
          <a:p>
            <a:pPr lvl="1" algn="just"/>
            <a:r>
              <a:rPr lang="en-US" dirty="0">
                <a:latin typeface="Arial" panose="020B0604020202020204" pitchFamily="34" charset="0"/>
                <a:cs typeface="Arial" panose="020B0604020202020204" pitchFamily="34" charset="0"/>
              </a:rPr>
              <a:t>Handled by the dispatcher in the library</a:t>
            </a:r>
          </a:p>
          <a:p>
            <a:pPr lvl="2" algn="just"/>
            <a:r>
              <a:rPr lang="en-US" dirty="0">
                <a:latin typeface="Arial" panose="020B0604020202020204" pitchFamily="34" charset="0"/>
                <a:cs typeface="Arial" panose="020B0604020202020204" pitchFamily="34" charset="0"/>
              </a:rPr>
              <a:t>Only need to store/load the TCB information</a:t>
            </a:r>
          </a:p>
          <a:p>
            <a:pPr lvl="1" algn="just"/>
            <a:r>
              <a:rPr lang="en-US" dirty="0">
                <a:latin typeface="Arial" panose="020B0604020202020204" pitchFamily="34" charset="0"/>
                <a:cs typeface="Arial" panose="020B0604020202020204" pitchFamily="34" charset="0"/>
              </a:rPr>
              <a:t>OS does not do anything</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If both threads belong to different processes</a:t>
            </a:r>
            <a:endParaRPr lang="en-US" sz="1000" dirty="0">
              <a:latin typeface="Arial" panose="020B0604020202020204" pitchFamily="34" charset="0"/>
              <a:cs typeface="Arial" panose="020B0604020202020204" pitchFamily="34" charset="0"/>
            </a:endParaRPr>
          </a:p>
          <a:p>
            <a:pPr lvl="1" algn="just"/>
            <a:r>
              <a:rPr lang="en-US" dirty="0">
                <a:latin typeface="Arial" panose="020B0604020202020204" pitchFamily="34" charset="0"/>
                <a:cs typeface="Arial" panose="020B0604020202020204" pitchFamily="34" charset="0"/>
              </a:rPr>
              <a:t>Like an ordinary context switch of two processes</a:t>
            </a:r>
          </a:p>
          <a:p>
            <a:pPr lvl="2" algn="just"/>
            <a:r>
              <a:rPr lang="en-US" dirty="0">
                <a:latin typeface="Arial" panose="020B0604020202020204" pitchFamily="34" charset="0"/>
                <a:cs typeface="Arial" panose="020B0604020202020204" pitchFamily="34" charset="0"/>
              </a:rPr>
              <a:t>Handled by OS (drop in/out of the kernel)</a:t>
            </a:r>
          </a:p>
          <a:p>
            <a:pPr lvl="2" algn="just"/>
            <a:r>
              <a:rPr lang="en-US" dirty="0">
                <a:latin typeface="Arial" panose="020B0604020202020204" pitchFamily="34" charset="0"/>
                <a:cs typeface="Arial" panose="020B0604020202020204" pitchFamily="34" charset="0"/>
              </a:rPr>
              <a:t>OS needs to load/store PCB and TCB information </a:t>
            </a:r>
          </a:p>
        </p:txBody>
      </p:sp>
    </p:spTree>
    <p:custDataLst>
      <p:tags r:id="rId1"/>
    </p:custDataLst>
    <p:extLst>
      <p:ext uri="{BB962C8B-B14F-4D97-AF65-F5344CB8AC3E}">
        <p14:creationId xmlns:p14="http://schemas.microsoft.com/office/powerpoint/2010/main" val="16505028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Programming with Threads: Thread Libraries</a:t>
            </a: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33</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340648" cy="5252357"/>
          </a:xfrm>
          <a:prstGeom prst="rect">
            <a:avLst/>
          </a:prstGeom>
          <a:ln w="15875">
            <a:noFill/>
          </a:ln>
        </p:spPr>
        <p:txBody>
          <a:bodyPr vert="horz" lIns="91440" tIns="45720" rIns="91440" bIns="45720" rtlCol="0">
            <a:no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500"/>
              </a:spcBef>
            </a:pPr>
            <a:r>
              <a:rPr lang="en-US" b="1" dirty="0">
                <a:solidFill>
                  <a:srgbClr val="FF0000"/>
                </a:solidFill>
                <a:latin typeface="Arial" panose="020B0604020202020204" pitchFamily="34" charset="0"/>
                <a:cs typeface="Arial" panose="020B0604020202020204" pitchFamily="34" charset="0"/>
              </a:rPr>
              <a:t>Thread library</a:t>
            </a:r>
            <a:r>
              <a:rPr lang="en-US" dirty="0">
                <a:latin typeface="Arial" panose="020B0604020202020204" pitchFamily="34" charset="0"/>
                <a:cs typeface="Arial" panose="020B0604020202020204" pitchFamily="34" charset="0"/>
              </a:rPr>
              <a:t> provides programmer with API for creating &amp; managing threads</a:t>
            </a:r>
          </a:p>
          <a:p>
            <a:pPr lvl="1" algn="just">
              <a:spcBef>
                <a:spcPts val="500"/>
              </a:spcBef>
            </a:pPr>
            <a:endParaRPr lang="en-US" sz="1200" dirty="0">
              <a:latin typeface="Arial" panose="020B0604020202020204" pitchFamily="34" charset="0"/>
              <a:cs typeface="Arial" panose="020B0604020202020204" pitchFamily="34" charset="0"/>
            </a:endParaRPr>
          </a:p>
          <a:p>
            <a:pPr algn="just">
              <a:spcBef>
                <a:spcPts val="500"/>
              </a:spcBef>
            </a:pPr>
            <a:r>
              <a:rPr lang="en-US" dirty="0">
                <a:latin typeface="Arial" panose="020B0604020202020204" pitchFamily="34" charset="0"/>
                <a:cs typeface="Arial" panose="020B0604020202020204" pitchFamily="34" charset="0"/>
              </a:rPr>
              <a:t>Two primary ways of implementing</a:t>
            </a:r>
          </a:p>
          <a:p>
            <a:pPr lvl="1" algn="just">
              <a:spcBef>
                <a:spcPts val="500"/>
              </a:spcBef>
            </a:pPr>
            <a:r>
              <a:rPr lang="en-US" dirty="0">
                <a:latin typeface="Arial" panose="020B0604020202020204" pitchFamily="34" charset="0"/>
                <a:cs typeface="Arial" panose="020B0604020202020204" pitchFamily="34" charset="0"/>
              </a:rPr>
              <a:t>Library entirely in user space</a:t>
            </a:r>
          </a:p>
          <a:p>
            <a:pPr lvl="1" algn="just">
              <a:spcBef>
                <a:spcPts val="500"/>
              </a:spcBef>
            </a:pPr>
            <a:r>
              <a:rPr lang="en-US" dirty="0">
                <a:latin typeface="Arial" panose="020B0604020202020204" pitchFamily="34" charset="0"/>
                <a:cs typeface="Arial" panose="020B0604020202020204" pitchFamily="34" charset="0"/>
              </a:rPr>
              <a:t>Kernel-level library supported by the OS</a:t>
            </a:r>
          </a:p>
        </p:txBody>
      </p:sp>
    </p:spTree>
    <p:custDataLst>
      <p:tags r:id="rId1"/>
    </p:custDataLst>
    <p:extLst>
      <p:ext uri="{BB962C8B-B14F-4D97-AF65-F5344CB8AC3E}">
        <p14:creationId xmlns:p14="http://schemas.microsoft.com/office/powerpoint/2010/main" val="22018223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Programming with Threads: </a:t>
            </a:r>
            <a:r>
              <a:rPr lang="en-US" sz="4000" dirty="0" err="1">
                <a:latin typeface="Arial" panose="020B0604020202020204" pitchFamily="34" charset="0"/>
                <a:cs typeface="Arial" panose="020B0604020202020204" pitchFamily="34" charset="0"/>
              </a:rPr>
              <a:t>Pthreads</a:t>
            </a:r>
            <a:endParaRPr lang="en-US" sz="4000" dirty="0">
              <a:latin typeface="Arial" panose="020B0604020202020204" pitchFamily="34"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34</a:t>
            </a:fld>
            <a:endParaRPr lang="en-US">
              <a:latin typeface="Calibri"/>
            </a:endParaRPr>
          </a:p>
        </p:txBody>
      </p:sp>
      <p:sp>
        <p:nvSpPr>
          <p:cNvPr id="6" name="TextBox 5">
            <a:extLst>
              <a:ext uri="{FF2B5EF4-FFF2-40B4-BE49-F238E27FC236}">
                <a16:creationId xmlns:a16="http://schemas.microsoft.com/office/drawing/2014/main" id="{A5AFF062-FACE-0A82-C20E-BFA09A9589E8}"/>
              </a:ext>
            </a:extLst>
          </p:cNvPr>
          <p:cNvSpPr txBox="1"/>
          <p:nvPr/>
        </p:nvSpPr>
        <p:spPr>
          <a:xfrm>
            <a:off x="764620" y="1779647"/>
            <a:ext cx="4035980" cy="4524315"/>
          </a:xfrm>
          <a:prstGeom prst="rect">
            <a:avLst/>
          </a:prstGeom>
          <a:noFill/>
        </p:spPr>
        <p:txBody>
          <a:bodyPr wrap="square">
            <a:spAutoFit/>
          </a:bodyPr>
          <a:lstStyle/>
          <a:p>
            <a:r>
              <a:rPr lang="en-GB" dirty="0"/>
              <a:t>#include &lt;</a:t>
            </a:r>
            <a:r>
              <a:rPr lang="en-GB" dirty="0" err="1"/>
              <a:t>stdio.h</a:t>
            </a:r>
            <a:r>
              <a:rPr lang="en-GB" dirty="0"/>
              <a:t>&gt;</a:t>
            </a:r>
          </a:p>
          <a:p>
            <a:r>
              <a:rPr lang="en-GB" dirty="0"/>
              <a:t>#include &lt;</a:t>
            </a:r>
            <a:r>
              <a:rPr lang="en-GB" dirty="0" err="1"/>
              <a:t>pthread.h</a:t>
            </a:r>
            <a:r>
              <a:rPr lang="en-GB" dirty="0"/>
              <a:t>&gt;</a:t>
            </a:r>
          </a:p>
          <a:p>
            <a:endParaRPr lang="en-GB" dirty="0"/>
          </a:p>
          <a:p>
            <a:r>
              <a:rPr lang="en-GB" dirty="0"/>
              <a:t>// Function for thread 1</a:t>
            </a:r>
          </a:p>
          <a:p>
            <a:r>
              <a:rPr lang="en-GB" dirty="0"/>
              <a:t>void* threadFunc1(void* </a:t>
            </a:r>
            <a:r>
              <a:rPr lang="en-GB" dirty="0" err="1"/>
              <a:t>arg</a:t>
            </a:r>
            <a:r>
              <a:rPr lang="en-GB" dirty="0"/>
              <a:t>) {</a:t>
            </a:r>
          </a:p>
          <a:p>
            <a:r>
              <a:rPr lang="en-GB" dirty="0"/>
              <a:t>    printf("Hello from Thread 1!\n");</a:t>
            </a:r>
          </a:p>
          <a:p>
            <a:r>
              <a:rPr lang="en-GB" dirty="0"/>
              <a:t>    return NULL;</a:t>
            </a:r>
          </a:p>
          <a:p>
            <a:r>
              <a:rPr lang="en-GB" dirty="0"/>
              <a:t>}</a:t>
            </a:r>
          </a:p>
          <a:p>
            <a:endParaRPr lang="en-GB" dirty="0"/>
          </a:p>
          <a:p>
            <a:r>
              <a:rPr lang="en-GB" dirty="0"/>
              <a:t>// Function for thread 2</a:t>
            </a:r>
          </a:p>
          <a:p>
            <a:r>
              <a:rPr lang="en-GB" dirty="0"/>
              <a:t>void* threadFunc2(void* </a:t>
            </a:r>
            <a:r>
              <a:rPr lang="en-GB" dirty="0" err="1"/>
              <a:t>arg</a:t>
            </a:r>
            <a:r>
              <a:rPr lang="en-GB" dirty="0"/>
              <a:t>) {</a:t>
            </a:r>
          </a:p>
          <a:p>
            <a:r>
              <a:rPr lang="en-GB" dirty="0"/>
              <a:t>    printf("Hello from Thread 2!\n");</a:t>
            </a:r>
          </a:p>
          <a:p>
            <a:r>
              <a:rPr lang="en-GB" dirty="0"/>
              <a:t>    return NULL;</a:t>
            </a:r>
          </a:p>
          <a:p>
            <a:r>
              <a:rPr lang="en-GB" dirty="0"/>
              <a:t>}</a:t>
            </a:r>
          </a:p>
          <a:p>
            <a:endParaRPr lang="en-GB" dirty="0"/>
          </a:p>
          <a:p>
            <a:endParaRPr lang="en-GB" dirty="0"/>
          </a:p>
        </p:txBody>
      </p:sp>
      <p:sp>
        <p:nvSpPr>
          <p:cNvPr id="7" name="TextBox 6">
            <a:extLst>
              <a:ext uri="{FF2B5EF4-FFF2-40B4-BE49-F238E27FC236}">
                <a16:creationId xmlns:a16="http://schemas.microsoft.com/office/drawing/2014/main" id="{53A4EC4F-354B-948A-1F42-306CE6A7E1A6}"/>
              </a:ext>
            </a:extLst>
          </p:cNvPr>
          <p:cNvSpPr txBox="1"/>
          <p:nvPr/>
        </p:nvSpPr>
        <p:spPr>
          <a:xfrm>
            <a:off x="4800600" y="1976284"/>
            <a:ext cx="4905574" cy="4247317"/>
          </a:xfrm>
          <a:prstGeom prst="rect">
            <a:avLst/>
          </a:prstGeom>
          <a:noFill/>
        </p:spPr>
        <p:txBody>
          <a:bodyPr wrap="none" rtlCol="0">
            <a:spAutoFit/>
          </a:bodyPr>
          <a:lstStyle/>
          <a:p>
            <a:r>
              <a:rPr lang="en-GB" dirty="0"/>
              <a:t>int main() {</a:t>
            </a:r>
          </a:p>
          <a:p>
            <a:r>
              <a:rPr lang="en-GB" dirty="0"/>
              <a:t>    </a:t>
            </a:r>
            <a:r>
              <a:rPr lang="en-GB" dirty="0" err="1"/>
              <a:t>pthread_t</a:t>
            </a:r>
            <a:r>
              <a:rPr lang="en-GB" dirty="0"/>
              <a:t> t1, t2;   // Thread identifiers</a:t>
            </a:r>
          </a:p>
          <a:p>
            <a:endParaRPr lang="en-GB" dirty="0"/>
          </a:p>
          <a:p>
            <a:r>
              <a:rPr lang="en-GB" dirty="0"/>
              <a:t>    // Create two threads</a:t>
            </a:r>
          </a:p>
          <a:p>
            <a:r>
              <a:rPr lang="en-GB" dirty="0"/>
              <a:t>    </a:t>
            </a:r>
            <a:r>
              <a:rPr lang="en-GB" dirty="0" err="1"/>
              <a:t>pthread_create</a:t>
            </a:r>
            <a:r>
              <a:rPr lang="en-GB" dirty="0"/>
              <a:t>(&amp;t1, NULL, threadFunc1, NULL);</a:t>
            </a:r>
          </a:p>
          <a:p>
            <a:r>
              <a:rPr lang="en-GB" dirty="0"/>
              <a:t>    </a:t>
            </a:r>
            <a:r>
              <a:rPr lang="en-GB" dirty="0" err="1"/>
              <a:t>pthread_create</a:t>
            </a:r>
            <a:r>
              <a:rPr lang="en-GB" dirty="0"/>
              <a:t>(&amp;t2, NULL, threadFunc2, NULL);</a:t>
            </a:r>
          </a:p>
          <a:p>
            <a:endParaRPr lang="en-GB" dirty="0"/>
          </a:p>
          <a:p>
            <a:r>
              <a:rPr lang="en-GB" dirty="0"/>
              <a:t>    // Wait for both threads to finish</a:t>
            </a:r>
          </a:p>
          <a:p>
            <a:r>
              <a:rPr lang="en-GB" dirty="0"/>
              <a:t>    </a:t>
            </a:r>
            <a:r>
              <a:rPr lang="en-GB" dirty="0" err="1"/>
              <a:t>pthread_join</a:t>
            </a:r>
            <a:r>
              <a:rPr lang="en-GB" dirty="0"/>
              <a:t>(t1, NULL);</a:t>
            </a:r>
          </a:p>
          <a:p>
            <a:r>
              <a:rPr lang="en-GB" dirty="0"/>
              <a:t>    </a:t>
            </a:r>
            <a:r>
              <a:rPr lang="en-GB" dirty="0" err="1"/>
              <a:t>pthread_join</a:t>
            </a:r>
            <a:r>
              <a:rPr lang="en-GB" dirty="0"/>
              <a:t>(t2, NULL);</a:t>
            </a:r>
          </a:p>
          <a:p>
            <a:endParaRPr lang="en-GB" dirty="0"/>
          </a:p>
          <a:p>
            <a:r>
              <a:rPr lang="en-GB" dirty="0"/>
              <a:t>    printf("Hello from the main thread!\n");</a:t>
            </a:r>
          </a:p>
          <a:p>
            <a:r>
              <a:rPr lang="en-GB" dirty="0"/>
              <a:t>    return 0;</a:t>
            </a:r>
          </a:p>
          <a:p>
            <a:r>
              <a:rPr lang="en-GB" dirty="0"/>
              <a:t>}</a:t>
            </a:r>
          </a:p>
          <a:p>
            <a:endParaRPr lang="en-GB" dirty="0"/>
          </a:p>
        </p:txBody>
      </p:sp>
    </p:spTree>
    <p:custDataLst>
      <p:tags r:id="rId1"/>
    </p:custDataLst>
    <p:extLst>
      <p:ext uri="{BB962C8B-B14F-4D97-AF65-F5344CB8AC3E}">
        <p14:creationId xmlns:p14="http://schemas.microsoft.com/office/powerpoint/2010/main" val="10338522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64620" y="554038"/>
            <a:ext cx="9971690" cy="407507"/>
          </a:xfrm>
        </p:spPr>
        <p:txBody>
          <a:bodyPr/>
          <a:lstStyle/>
          <a:p>
            <a:r>
              <a:rPr lang="en-US" sz="4000" dirty="0">
                <a:latin typeface="Arial" panose="020B0604020202020204" pitchFamily="34" charset="0"/>
                <a:cs typeface="Arial" panose="020B0604020202020204" pitchFamily="34" charset="0"/>
              </a:rPr>
              <a:t>Programming with Threads: </a:t>
            </a:r>
            <a:r>
              <a:rPr lang="en-US" sz="4000" dirty="0" err="1">
                <a:latin typeface="Arial" panose="020B0604020202020204" pitchFamily="34" charset="0"/>
                <a:cs typeface="Arial" panose="020B0604020202020204" pitchFamily="34" charset="0"/>
              </a:rPr>
              <a:t>Pthreads</a:t>
            </a:r>
            <a:endParaRPr lang="en-US" sz="4000" dirty="0">
              <a:latin typeface="Arial" panose="020B0604020202020204" pitchFamily="34" charset="0"/>
              <a:cs typeface="Arial" panose="020B0604020202020204" pitchFamily="34" charset="0"/>
            </a:endParaRPr>
          </a:p>
        </p:txBody>
      </p:sp>
      <p:sp>
        <p:nvSpPr>
          <p:cNvPr id="3" name="Slide Number Placeholder 2"/>
          <p:cNvSpPr>
            <a:spLocks noGrp="1"/>
          </p:cNvSpPr>
          <p:nvPr>
            <p:ph type="sldNum" sz="quarter" idx="12"/>
          </p:nvPr>
        </p:nvSpPr>
        <p:spPr/>
        <p:txBody>
          <a:bodyPr/>
          <a:lstStyle/>
          <a:p>
            <a:fld id="{3485D9CA-6DAA-4C3C-A3E2-EDEA918D5F89}" type="slidenum">
              <a:rPr lang="en-US">
                <a:latin typeface="Calibri"/>
              </a:rPr>
              <a:pPr/>
              <a:t>35</a:t>
            </a:fld>
            <a:endParaRPr lang="en-US">
              <a:latin typeface="Calibri"/>
            </a:endParaRPr>
          </a:p>
        </p:txBody>
      </p:sp>
      <p:sp>
        <p:nvSpPr>
          <p:cNvPr id="12" name="Rectangle 3">
            <a:extLst>
              <a:ext uri="{FF2B5EF4-FFF2-40B4-BE49-F238E27FC236}">
                <a16:creationId xmlns:a16="http://schemas.microsoft.com/office/drawing/2014/main" id="{A773B303-CEA4-39FE-8190-A77ECCC638B8}"/>
              </a:ext>
            </a:extLst>
          </p:cNvPr>
          <p:cNvSpPr txBox="1">
            <a:spLocks noChangeArrowheads="1"/>
          </p:cNvSpPr>
          <p:nvPr/>
        </p:nvSpPr>
        <p:spPr>
          <a:xfrm>
            <a:off x="632152" y="1453241"/>
            <a:ext cx="10340648" cy="5252357"/>
          </a:xfrm>
          <a:prstGeom prst="rect">
            <a:avLst/>
          </a:prstGeom>
          <a:ln w="15875">
            <a:noFill/>
          </a:ln>
        </p:spPr>
        <p:txBody>
          <a:bodyPr vert="horz" lIns="91440" tIns="45720" rIns="91440" bIns="45720" rtlCol="0">
            <a:no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lgn="just">
              <a:spcBef>
                <a:spcPts val="500"/>
              </a:spcBef>
            </a:pPr>
            <a:r>
              <a:rPr lang="en-US" dirty="0">
                <a:latin typeface="Arial" panose="020B0604020202020204" pitchFamily="34" charset="0"/>
                <a:cs typeface="Arial" panose="020B0604020202020204" pitchFamily="34" charset="0"/>
              </a:rPr>
              <a:t>May be provided either as user-level or kernel-level</a:t>
            </a:r>
          </a:p>
          <a:p>
            <a:pPr algn="just">
              <a:spcBef>
                <a:spcPts val="500"/>
              </a:spcBef>
            </a:pPr>
            <a:endParaRPr lang="en-US" dirty="0">
              <a:latin typeface="Arial" panose="020B0604020202020204" pitchFamily="34" charset="0"/>
              <a:cs typeface="Arial" panose="020B0604020202020204" pitchFamily="34" charset="0"/>
            </a:endParaRPr>
          </a:p>
          <a:p>
            <a:pPr algn="just">
              <a:spcBef>
                <a:spcPts val="500"/>
              </a:spcBef>
            </a:pPr>
            <a:r>
              <a:rPr lang="en-US" dirty="0">
                <a:latin typeface="Arial" panose="020B0604020202020204" pitchFamily="34" charset="0"/>
                <a:cs typeface="Arial" panose="020B0604020202020204" pitchFamily="34" charset="0"/>
              </a:rPr>
              <a:t>A POSIX standard (IEEE 1003.1c) API for thread creation and synchronization</a:t>
            </a:r>
          </a:p>
          <a:p>
            <a:pPr algn="just">
              <a:spcBef>
                <a:spcPts val="500"/>
              </a:spcBef>
            </a:pPr>
            <a:endParaRPr lang="en-US" b="1" dirty="0">
              <a:latin typeface="Arial" panose="020B0604020202020204" pitchFamily="34" charset="0"/>
              <a:cs typeface="Arial" panose="020B0604020202020204" pitchFamily="34" charset="0"/>
            </a:endParaRPr>
          </a:p>
          <a:p>
            <a:pPr algn="just">
              <a:spcBef>
                <a:spcPts val="500"/>
              </a:spcBef>
            </a:pPr>
            <a:r>
              <a:rPr lang="en-US" b="1" dirty="0">
                <a:latin typeface="Arial" panose="020B0604020202020204" pitchFamily="34" charset="0"/>
                <a:cs typeface="Arial" panose="020B0604020202020204" pitchFamily="34" charset="0"/>
              </a:rPr>
              <a:t>Specification</a:t>
            </a:r>
            <a:r>
              <a:rPr lang="en-US" dirty="0">
                <a:latin typeface="Arial" panose="020B0604020202020204" pitchFamily="34" charset="0"/>
                <a:cs typeface="Arial" panose="020B0604020202020204" pitchFamily="34" charset="0"/>
              </a:rPr>
              <a:t>, not </a:t>
            </a:r>
            <a:r>
              <a:rPr lang="en-US" b="1" dirty="0">
                <a:latin typeface="Arial" panose="020B0604020202020204" pitchFamily="34" charset="0"/>
                <a:cs typeface="Arial" panose="020B0604020202020204" pitchFamily="34" charset="0"/>
              </a:rPr>
              <a:t>implementation</a:t>
            </a:r>
          </a:p>
          <a:p>
            <a:pPr algn="just">
              <a:spcBef>
                <a:spcPts val="500"/>
              </a:spcBef>
            </a:pPr>
            <a:endParaRPr lang="en-US" dirty="0">
              <a:latin typeface="Arial" panose="020B0604020202020204" pitchFamily="34" charset="0"/>
              <a:cs typeface="Arial" panose="020B0604020202020204" pitchFamily="34" charset="0"/>
            </a:endParaRPr>
          </a:p>
          <a:p>
            <a:pPr algn="just">
              <a:spcBef>
                <a:spcPts val="500"/>
              </a:spcBef>
            </a:pPr>
            <a:r>
              <a:rPr lang="en-US" dirty="0">
                <a:latin typeface="Arial" panose="020B0604020202020204" pitchFamily="34" charset="0"/>
                <a:cs typeface="Arial" panose="020B0604020202020204" pitchFamily="34" charset="0"/>
              </a:rPr>
              <a:t>API specifies behavior of the thread library, implementation is up to development of the library</a:t>
            </a:r>
          </a:p>
          <a:p>
            <a:pPr algn="just">
              <a:spcBef>
                <a:spcPts val="500"/>
              </a:spcBef>
            </a:pPr>
            <a:endParaRPr lang="en-US" dirty="0">
              <a:latin typeface="Arial" panose="020B0604020202020204" pitchFamily="34" charset="0"/>
              <a:cs typeface="Arial" panose="020B0604020202020204" pitchFamily="34" charset="0"/>
            </a:endParaRPr>
          </a:p>
          <a:p>
            <a:pPr algn="just">
              <a:spcBef>
                <a:spcPts val="500"/>
              </a:spcBef>
            </a:pPr>
            <a:r>
              <a:rPr lang="en-US" dirty="0">
                <a:latin typeface="Arial" panose="020B0604020202020204" pitchFamily="34" charset="0"/>
                <a:cs typeface="Arial" panose="020B0604020202020204" pitchFamily="34" charset="0"/>
              </a:rPr>
              <a:t>Common in UNIX operating systems (Solaris, Linux, Mac OS X)</a:t>
            </a:r>
          </a:p>
        </p:txBody>
      </p:sp>
    </p:spTree>
    <p:custDataLst>
      <p:tags r:id="rId1"/>
    </p:custDataLst>
    <p:extLst>
      <p:ext uri="{BB962C8B-B14F-4D97-AF65-F5344CB8AC3E}">
        <p14:creationId xmlns:p14="http://schemas.microsoft.com/office/powerpoint/2010/main" val="9426005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8.5"/>
</p:tagLst>
</file>

<file path=ppt/tags/tag2.xml><?xml version="1.0" encoding="utf-8"?>
<p:tagLst xmlns:a="http://schemas.openxmlformats.org/drawingml/2006/main" xmlns:r="http://schemas.openxmlformats.org/officeDocument/2006/relationships" xmlns:p="http://schemas.openxmlformats.org/presentationml/2006/main">
  <p:tag name="TIMING" val="|38.5"/>
</p:tagLst>
</file>

<file path=ppt/tags/tag3.xml><?xml version="1.0" encoding="utf-8"?>
<p:tagLst xmlns:a="http://schemas.openxmlformats.org/drawingml/2006/main" xmlns:r="http://schemas.openxmlformats.org/officeDocument/2006/relationships" xmlns:p="http://schemas.openxmlformats.org/presentationml/2006/main">
  <p:tag name="TIMING" val="|38.5"/>
</p:tagLst>
</file>

<file path=ppt/tags/tag4.xml><?xml version="1.0" encoding="utf-8"?>
<p:tagLst xmlns:a="http://schemas.openxmlformats.org/drawingml/2006/main" xmlns:r="http://schemas.openxmlformats.org/officeDocument/2006/relationships" xmlns:p="http://schemas.openxmlformats.org/presentationml/2006/main">
  <p:tag name="TIMING" val="|38.5"/>
</p:tagLst>
</file>

<file path=ppt/tags/tag5.xml><?xml version="1.0" encoding="utf-8"?>
<p:tagLst xmlns:a="http://schemas.openxmlformats.org/drawingml/2006/main" xmlns:r="http://schemas.openxmlformats.org/officeDocument/2006/relationships" xmlns:p="http://schemas.openxmlformats.org/presentationml/2006/main">
  <p:tag name="TIMING" val="|38.5"/>
</p:tagLst>
</file>

<file path=ppt/tags/tag6.xml><?xml version="1.0" encoding="utf-8"?>
<p:tagLst xmlns:a="http://schemas.openxmlformats.org/drawingml/2006/main" xmlns:r="http://schemas.openxmlformats.org/officeDocument/2006/relationships" xmlns:p="http://schemas.openxmlformats.org/presentationml/2006/main">
  <p:tag name="TIMING" val="|38.5"/>
</p:tagLst>
</file>

<file path=ppt/tags/tag7.xml><?xml version="1.0" encoding="utf-8"?>
<p:tagLst xmlns:a="http://schemas.openxmlformats.org/drawingml/2006/main" xmlns:r="http://schemas.openxmlformats.org/officeDocument/2006/relationships" xmlns:p="http://schemas.openxmlformats.org/presentationml/2006/main">
  <p:tag name="TIMING" val="|38.5"/>
</p:tagLst>
</file>

<file path=ppt/tags/tag8.xml><?xml version="1.0" encoding="utf-8"?>
<p:tagLst xmlns:a="http://schemas.openxmlformats.org/drawingml/2006/main" xmlns:r="http://schemas.openxmlformats.org/officeDocument/2006/relationships" xmlns:p="http://schemas.openxmlformats.org/presentationml/2006/main">
  <p:tag name="TIMING" val="|38.5"/>
</p:tagLst>
</file>

<file path=ppt/tags/tag9.xml><?xml version="1.0" encoding="utf-8"?>
<p:tagLst xmlns:a="http://schemas.openxmlformats.org/drawingml/2006/main" xmlns:r="http://schemas.openxmlformats.org/officeDocument/2006/relationships" xmlns:p="http://schemas.openxmlformats.org/presentationml/2006/main">
  <p:tag name="TIMING" val="|38.5"/>
</p:tagLst>
</file>

<file path=ppt/tags/tag10.xml><?xml version="1.0" encoding="utf-8"?>
<p:tagLst xmlns:a="http://schemas.openxmlformats.org/drawingml/2006/main" xmlns:r="http://schemas.openxmlformats.org/officeDocument/2006/relationships" xmlns:p="http://schemas.openxmlformats.org/presentationml/2006/main">
  <p:tag name="TIMING" val="|38.5"/>
</p:tagLst>
</file>

<file path=ppt/tags/tag11.xml><?xml version="1.0" encoding="utf-8"?>
<p:tagLst xmlns:a="http://schemas.openxmlformats.org/drawingml/2006/main" xmlns:r="http://schemas.openxmlformats.org/officeDocument/2006/relationships" xmlns:p="http://schemas.openxmlformats.org/presentationml/2006/main">
  <p:tag name="TIMING" val="|38.5"/>
</p:tagLst>
</file>

<file path=ppt/tags/tag12.xml><?xml version="1.0" encoding="utf-8"?>
<p:tagLst xmlns:a="http://schemas.openxmlformats.org/drawingml/2006/main" xmlns:r="http://schemas.openxmlformats.org/officeDocument/2006/relationships" xmlns:p="http://schemas.openxmlformats.org/presentationml/2006/main">
  <p:tag name="TIMING" val="|38.5"/>
</p:tagLst>
</file>

<file path=ppt/tags/tag13.xml><?xml version="1.0" encoding="utf-8"?>
<p:tagLst xmlns:a="http://schemas.openxmlformats.org/drawingml/2006/main" xmlns:r="http://schemas.openxmlformats.org/officeDocument/2006/relationships" xmlns:p="http://schemas.openxmlformats.org/presentationml/2006/main">
  <p:tag name="TIMING" val="|38.5"/>
</p:tagLst>
</file>

<file path=ppt/tags/tag14.xml><?xml version="1.0" encoding="utf-8"?>
<p:tagLst xmlns:a="http://schemas.openxmlformats.org/drawingml/2006/main" xmlns:r="http://schemas.openxmlformats.org/officeDocument/2006/relationships" xmlns:p="http://schemas.openxmlformats.org/presentationml/2006/main">
  <p:tag name="TIMING" val="|38.5"/>
</p:tagLst>
</file>

<file path=ppt/tags/tag15.xml><?xml version="1.0" encoding="utf-8"?>
<p:tagLst xmlns:a="http://schemas.openxmlformats.org/drawingml/2006/main" xmlns:r="http://schemas.openxmlformats.org/officeDocument/2006/relationships" xmlns:p="http://schemas.openxmlformats.org/presentationml/2006/main">
  <p:tag name="TIMING" val="|38.5"/>
</p:tagLst>
</file>

<file path=ppt/tags/tag16.xml><?xml version="1.0" encoding="utf-8"?>
<p:tagLst xmlns:a="http://schemas.openxmlformats.org/drawingml/2006/main" xmlns:r="http://schemas.openxmlformats.org/officeDocument/2006/relationships" xmlns:p="http://schemas.openxmlformats.org/presentationml/2006/main">
  <p:tag name="TIMING" val="|38.5"/>
</p:tagLst>
</file>

<file path=ppt/tags/tag17.xml><?xml version="1.0" encoding="utf-8"?>
<p:tagLst xmlns:a="http://schemas.openxmlformats.org/drawingml/2006/main" xmlns:r="http://schemas.openxmlformats.org/officeDocument/2006/relationships" xmlns:p="http://schemas.openxmlformats.org/presentationml/2006/main">
  <p:tag name="TIMING" val="|38.5"/>
</p:tagLst>
</file>

<file path=ppt/tags/tag18.xml><?xml version="1.0" encoding="utf-8"?>
<p:tagLst xmlns:a="http://schemas.openxmlformats.org/drawingml/2006/main" xmlns:r="http://schemas.openxmlformats.org/officeDocument/2006/relationships" xmlns:p="http://schemas.openxmlformats.org/presentationml/2006/main">
  <p:tag name="TIMING" val="|38.5"/>
</p:tagLst>
</file>

<file path=ppt/tags/tag19.xml><?xml version="1.0" encoding="utf-8"?>
<p:tagLst xmlns:a="http://schemas.openxmlformats.org/drawingml/2006/main" xmlns:r="http://schemas.openxmlformats.org/officeDocument/2006/relationships" xmlns:p="http://schemas.openxmlformats.org/presentationml/2006/main">
  <p:tag name="TIMING" val="|38.5"/>
</p:tagLst>
</file>

<file path=ppt/tags/tag20.xml><?xml version="1.0" encoding="utf-8"?>
<p:tagLst xmlns:a="http://schemas.openxmlformats.org/drawingml/2006/main" xmlns:r="http://schemas.openxmlformats.org/officeDocument/2006/relationships" xmlns:p="http://schemas.openxmlformats.org/presentationml/2006/main">
  <p:tag name="TIMING" val="|38.5"/>
</p:tagLst>
</file>

<file path=ppt/tags/tag21.xml><?xml version="1.0" encoding="utf-8"?>
<p:tagLst xmlns:a="http://schemas.openxmlformats.org/drawingml/2006/main" xmlns:r="http://schemas.openxmlformats.org/officeDocument/2006/relationships" xmlns:p="http://schemas.openxmlformats.org/presentationml/2006/main">
  <p:tag name="TIMING" val="|38.5"/>
</p:tagLst>
</file>

<file path=ppt/tags/tag22.xml><?xml version="1.0" encoding="utf-8"?>
<p:tagLst xmlns:a="http://schemas.openxmlformats.org/drawingml/2006/main" xmlns:r="http://schemas.openxmlformats.org/officeDocument/2006/relationships" xmlns:p="http://schemas.openxmlformats.org/presentationml/2006/main">
  <p:tag name="TIMING" val="|38.5"/>
</p:tagLst>
</file>

<file path=ppt/tags/tag23.xml><?xml version="1.0" encoding="utf-8"?>
<p:tagLst xmlns:a="http://schemas.openxmlformats.org/drawingml/2006/main" xmlns:r="http://schemas.openxmlformats.org/officeDocument/2006/relationships" xmlns:p="http://schemas.openxmlformats.org/presentationml/2006/main">
  <p:tag name="TIMING" val="|38.5"/>
</p:tagLst>
</file>

<file path=ppt/tags/tag24.xml><?xml version="1.0" encoding="utf-8"?>
<p:tagLst xmlns:a="http://schemas.openxmlformats.org/drawingml/2006/main" xmlns:r="http://schemas.openxmlformats.org/officeDocument/2006/relationships" xmlns:p="http://schemas.openxmlformats.org/presentationml/2006/main">
  <p:tag name="TIMING" val="|38.5"/>
</p:tagLst>
</file>

<file path=ppt/tags/tag25.xml><?xml version="1.0" encoding="utf-8"?>
<p:tagLst xmlns:a="http://schemas.openxmlformats.org/drawingml/2006/main" xmlns:r="http://schemas.openxmlformats.org/officeDocument/2006/relationships" xmlns:p="http://schemas.openxmlformats.org/presentationml/2006/main">
  <p:tag name="TIMING" val="|38.5"/>
</p:tagLst>
</file>

<file path=ppt/tags/tag26.xml><?xml version="1.0" encoding="utf-8"?>
<p:tagLst xmlns:a="http://schemas.openxmlformats.org/drawingml/2006/main" xmlns:r="http://schemas.openxmlformats.org/officeDocument/2006/relationships" xmlns:p="http://schemas.openxmlformats.org/presentationml/2006/main">
  <p:tag name="TIMING" val="|38.5"/>
</p:tagLst>
</file>

<file path=ppt/tags/tag27.xml><?xml version="1.0" encoding="utf-8"?>
<p:tagLst xmlns:a="http://schemas.openxmlformats.org/drawingml/2006/main" xmlns:r="http://schemas.openxmlformats.org/officeDocument/2006/relationships" xmlns:p="http://schemas.openxmlformats.org/presentationml/2006/main">
  <p:tag name="TIMING" val="|38.5"/>
</p:tagLst>
</file>

<file path=ppt/tags/tag28.xml><?xml version="1.0" encoding="utf-8"?>
<p:tagLst xmlns:a="http://schemas.openxmlformats.org/drawingml/2006/main" xmlns:r="http://schemas.openxmlformats.org/officeDocument/2006/relationships" xmlns:p="http://schemas.openxmlformats.org/presentationml/2006/main">
  <p:tag name="TIMING" val="|38.5"/>
</p:tagLst>
</file>

<file path=ppt/tags/tag29.xml><?xml version="1.0" encoding="utf-8"?>
<p:tagLst xmlns:a="http://schemas.openxmlformats.org/drawingml/2006/main" xmlns:r="http://schemas.openxmlformats.org/officeDocument/2006/relationships" xmlns:p="http://schemas.openxmlformats.org/presentationml/2006/main">
  <p:tag name="TIMING" val="|38.5"/>
</p:tagLst>
</file>

<file path=ppt/tags/tag30.xml><?xml version="1.0" encoding="utf-8"?>
<p:tagLst xmlns:a="http://schemas.openxmlformats.org/drawingml/2006/main" xmlns:r="http://schemas.openxmlformats.org/officeDocument/2006/relationships" xmlns:p="http://schemas.openxmlformats.org/presentationml/2006/main">
  <p:tag name="TIMING" val="|38.5"/>
</p:tagLst>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26944</TotalTime>
  <Words>2499</Words>
  <Application>Microsoft Office PowerPoint</Application>
  <PresentationFormat>Widescreen</PresentationFormat>
  <Paragraphs>397</Paragraphs>
  <Slides>35</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35</vt:i4>
      </vt:variant>
    </vt:vector>
  </HeadingPairs>
  <TitlesOfParts>
    <vt:vector size="41" baseType="lpstr">
      <vt:lpstr>Arial</vt:lpstr>
      <vt:lpstr>Calibri</vt:lpstr>
      <vt:lpstr>Calibri Light</vt:lpstr>
      <vt:lpstr>Cambria</vt:lpstr>
      <vt:lpstr>Office Theme</vt:lpstr>
      <vt:lpstr>Adjacency</vt:lpstr>
      <vt:lpstr>CSC 323 – Principles of Operating Systems</vt:lpstr>
      <vt:lpstr>Processes</vt:lpstr>
      <vt:lpstr>Example: Web Server</vt:lpstr>
      <vt:lpstr>Concurrent Programs</vt:lpstr>
      <vt:lpstr>Rethinking Processes</vt:lpstr>
      <vt:lpstr>Threads</vt:lpstr>
      <vt:lpstr>Process Control Block (PCB)</vt:lpstr>
      <vt:lpstr>Thread Control Block (TCB)</vt:lpstr>
      <vt:lpstr>Threads in a Process</vt:lpstr>
      <vt:lpstr>Threads in a Process</vt:lpstr>
      <vt:lpstr>Threads vs. Processes</vt:lpstr>
      <vt:lpstr>Process/Thread Separation</vt:lpstr>
      <vt:lpstr>Multicore Programming</vt:lpstr>
      <vt:lpstr>Concurrency vs. Parallelism</vt:lpstr>
      <vt:lpstr>Multicore Programming</vt:lpstr>
      <vt:lpstr>Motivation</vt:lpstr>
      <vt:lpstr>Benefits of Threads</vt:lpstr>
      <vt:lpstr>Kernel-Level Threads</vt:lpstr>
      <vt:lpstr>PowerPoint Presentation</vt:lpstr>
      <vt:lpstr>PowerPoint Presentation</vt:lpstr>
      <vt:lpstr>Kernel Thread Limitations</vt:lpstr>
      <vt:lpstr>Alternative: User-Level  (Artificial) Threads</vt:lpstr>
      <vt:lpstr>User-Level Thread</vt:lpstr>
      <vt:lpstr>User-Level Thread Limitations</vt:lpstr>
      <vt:lpstr>Efficient Use of Artificial Threading</vt:lpstr>
      <vt:lpstr>Kernel vs. User Threads</vt:lpstr>
      <vt:lpstr>Multithreading Models</vt:lpstr>
      <vt:lpstr>Many-to-One</vt:lpstr>
      <vt:lpstr>One-to-One</vt:lpstr>
      <vt:lpstr>Many-to-Many</vt:lpstr>
      <vt:lpstr>Thread Context Switch</vt:lpstr>
      <vt:lpstr>Context Switching of User-Level Threads</vt:lpstr>
      <vt:lpstr>Programming with Threads: Thread Libraries</vt:lpstr>
      <vt:lpstr>Programming with Threads: Pthreads</vt:lpstr>
      <vt:lpstr>Programming with Threads: Pthreads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 323 – Principles of Operating Systems</dc:title>
  <dc:creator>Mamoona Tasadduq</dc:creator>
  <cp:lastModifiedBy>Mamoona Tasadduq</cp:lastModifiedBy>
  <cp:revision>144</cp:revision>
  <dcterms:created xsi:type="dcterms:W3CDTF">2020-06-08T03:46:58Z</dcterms:created>
  <dcterms:modified xsi:type="dcterms:W3CDTF">2025-09-08T07:47:32Z</dcterms:modified>
</cp:coreProperties>
</file>