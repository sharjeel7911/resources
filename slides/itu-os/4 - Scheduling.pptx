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68"/>
  </p:notesMasterIdLst>
  <p:sldIdLst>
    <p:sldId id="267" r:id="rId3"/>
    <p:sldId id="679" r:id="rId4"/>
    <p:sldId id="744" r:id="rId5"/>
    <p:sldId id="694" r:id="rId6"/>
    <p:sldId id="743" r:id="rId7"/>
    <p:sldId id="746" r:id="rId8"/>
    <p:sldId id="723" r:id="rId9"/>
    <p:sldId id="732" r:id="rId10"/>
    <p:sldId id="633" r:id="rId11"/>
    <p:sldId id="747" r:id="rId12"/>
    <p:sldId id="745" r:id="rId13"/>
    <p:sldId id="748" r:id="rId14"/>
    <p:sldId id="752" r:id="rId15"/>
    <p:sldId id="671" r:id="rId16"/>
    <p:sldId id="686" r:id="rId17"/>
    <p:sldId id="751" r:id="rId18"/>
    <p:sldId id="632" r:id="rId19"/>
    <p:sldId id="725" r:id="rId20"/>
    <p:sldId id="733" r:id="rId21"/>
    <p:sldId id="782" r:id="rId22"/>
    <p:sldId id="727" r:id="rId23"/>
    <p:sldId id="783" r:id="rId24"/>
    <p:sldId id="784" r:id="rId25"/>
    <p:sldId id="785" r:id="rId26"/>
    <p:sldId id="726" r:id="rId27"/>
    <p:sldId id="728" r:id="rId28"/>
    <p:sldId id="734" r:id="rId29"/>
    <p:sldId id="735" r:id="rId30"/>
    <p:sldId id="736" r:id="rId31"/>
    <p:sldId id="786" r:id="rId32"/>
    <p:sldId id="729" r:id="rId33"/>
    <p:sldId id="596" r:id="rId34"/>
    <p:sldId id="665" r:id="rId35"/>
    <p:sldId id="737" r:id="rId36"/>
    <p:sldId id="687" r:id="rId37"/>
    <p:sldId id="738" r:id="rId38"/>
    <p:sldId id="739" r:id="rId39"/>
    <p:sldId id="688" r:id="rId40"/>
    <p:sldId id="740" r:id="rId41"/>
    <p:sldId id="787" r:id="rId42"/>
    <p:sldId id="689" r:id="rId43"/>
    <p:sldId id="741" r:id="rId44"/>
    <p:sldId id="742" r:id="rId45"/>
    <p:sldId id="788" r:id="rId46"/>
    <p:sldId id="789" r:id="rId47"/>
    <p:sldId id="690" r:id="rId48"/>
    <p:sldId id="730" r:id="rId49"/>
    <p:sldId id="695" r:id="rId50"/>
    <p:sldId id="753" r:id="rId51"/>
    <p:sldId id="759" r:id="rId52"/>
    <p:sldId id="758" r:id="rId53"/>
    <p:sldId id="766" r:id="rId54"/>
    <p:sldId id="756" r:id="rId55"/>
    <p:sldId id="771" r:id="rId56"/>
    <p:sldId id="767" r:id="rId57"/>
    <p:sldId id="770" r:id="rId58"/>
    <p:sldId id="772" r:id="rId59"/>
    <p:sldId id="754" r:id="rId60"/>
    <p:sldId id="760" r:id="rId61"/>
    <p:sldId id="761" r:id="rId62"/>
    <p:sldId id="762" r:id="rId63"/>
    <p:sldId id="763" r:id="rId64"/>
    <p:sldId id="764" r:id="rId65"/>
    <p:sldId id="765" r:id="rId66"/>
    <p:sldId id="768" r:id="rId6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CC"/>
    <a:srgbClr val="5CD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44" autoAdjust="0"/>
    <p:restoredTop sz="87028" autoAdjust="0"/>
  </p:normalViewPr>
  <p:slideViewPr>
    <p:cSldViewPr snapToGrid="0">
      <p:cViewPr>
        <p:scale>
          <a:sx n="65" d="100"/>
          <a:sy n="65" d="100"/>
        </p:scale>
        <p:origin x="53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71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734546-FD7D-47BB-AA1E-00BBFD21EEC5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2D3D20-B80A-47F2-90D8-E85AAC9E3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0351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D3D20-B80A-47F2-90D8-E85AAC9E3F3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3044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70CC6-EB59-4447-80BA-9D36C629BD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4DD14A-F511-49B0-A91B-978DAEFBBA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739A08-9A7A-49DA-A39B-B0EF1A480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F8B72-9C19-4DBD-8F3B-D049130D4969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AD8D3A-B881-4BC9-A537-ECB468F7F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7F4CF0-1776-4F65-BCA7-0F303DF3D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366AE-5A89-45B7-9EA8-7C0EFF442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570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B02DE-303C-4D87-8E77-879FBE119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B6C54D-48BB-467E-8103-DFE5F6DCED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DAA13-6920-4BB8-A1F1-3A1324279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F8B72-9C19-4DBD-8F3B-D049130D4969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63360B-5BAB-41D8-A02D-7C1BAB8C6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92317C-2498-4AED-8B51-357F03DCA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366AE-5A89-45B7-9EA8-7C0EFF442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134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33ADF-891D-4A12-83B5-454FF556A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492D1F-5588-4349-97C5-EB30CD88E5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C24B3D-6B89-4416-A6EB-152D8D49D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F8B72-9C19-4DBD-8F3B-D049130D4969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1B9C78-BA9A-479E-A3FF-695287295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48EE37-7497-4B13-94F5-9E33310DD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366AE-5A89-45B7-9EA8-7C0EFF442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0596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D8959-A7A6-4D39-AA8B-57C72F6B1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E0084-43D6-45E5-B2FB-83FB50E504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1317EC-AA9D-4624-8395-48D0AE97ED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28D681-CD5B-4D0F-A2B0-BF8B8AD77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F8B72-9C19-4DBD-8F3B-D049130D4969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C1E102-0CFC-4C99-8794-DDB15502C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D0784B-2F5A-4BD4-9EBE-85512D864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366AE-5A89-45B7-9EA8-7C0EFF442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031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A3181-2412-4949-91A3-23CBDDDBC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7C8FC4-D6CA-4D00-B86A-7336B6E1CA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AD6D8B-7024-4E37-B53E-016331394C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A1DB30-80A3-4DC3-9806-9202A76140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997761-D7C3-42D3-803A-AAC22024F8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D11AC6-D32A-4EAD-B726-5AE67DFFC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F8B72-9C19-4DBD-8F3B-D049130D4969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8607F5-A7FB-40DA-A637-507CECE2A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28571F-5213-44AD-9B39-829F87621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366AE-5A89-45B7-9EA8-7C0EFF442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112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16889-5B79-497C-9736-E9B7A36D0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35B599-D225-4693-9E55-C140F796D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F8B72-9C19-4DBD-8F3B-D049130D4969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5B06CB-70EA-4710-B4B5-59BF2C624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B1CA16-87D7-4A9A-93EE-A252B69E1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366AE-5A89-45B7-9EA8-7C0EFF442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811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9141D3-43C6-40C7-A4DB-9BFB3972D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F8B72-9C19-4DBD-8F3B-D049130D4969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B73F51-C531-4416-9A10-50D5280BF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6032B0-273E-4169-9640-156E7D4EA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366AE-5A89-45B7-9EA8-7C0EFF442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267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A39EF-1141-43EF-9A25-60CEC3698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BA0430-0CCC-4FD2-905C-27F04B934A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F68AE7-6F69-4589-A8AF-F2B8927E89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31577C-944C-412C-8F52-FFFC45A36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F8B72-9C19-4DBD-8F3B-D049130D4969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F4FD3B-027E-4C74-964C-C3F64FBB4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DFEB46-4620-4847-8F68-DB3BB84CB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366AE-5A89-45B7-9EA8-7C0EFF442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275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9019B-EBB5-4FBC-99F6-CD60929B5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6A3050-1640-44D7-B8B2-7F5BC0F2C4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7D1C82-DEC0-4624-8D52-79B7F25CF7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CA048C-F343-4D60-96F0-B2859B510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F8B72-9C19-4DBD-8F3B-D049130D4969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788895-9B51-4541-AAB2-BF16ED7D0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53C80-6CDB-486A-B8CF-AAD127321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366AE-5A89-45B7-9EA8-7C0EFF442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7524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7D555-ABD7-4161-B06F-FCD3143D9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095C10-FF95-4025-B207-9881A16465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8C42DD-D420-4BAE-A427-F815A4F37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F8B72-9C19-4DBD-8F3B-D049130D4969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51F7B7-D2EB-4517-9D60-26A66FF0E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D20148-FE35-475E-9068-7641710E2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366AE-5A89-45B7-9EA8-7C0EFF442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8335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554761-8A33-482D-B4B2-18B2A8F89E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B816EB-AB8E-47C2-9A3E-33DE4D4F8D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740179-C5D2-4148-BAA2-30F72348B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F8B72-9C19-4DBD-8F3B-D049130D4969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A0BD9F-3BB0-4D0E-9EBA-8CC5FDF82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969872-32D9-46E9-AB85-0ABCDEE88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366AE-5A89-45B7-9EA8-7C0EFF442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8650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905001"/>
            <a:ext cx="100584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572000"/>
            <a:ext cx="861568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Anaysis of Algorihms, Spring 2008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8831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Anaysis of Algorihms, Spring 2008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8225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5" y="5486400"/>
            <a:ext cx="10212916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5" y="3852863"/>
            <a:ext cx="8180916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Anaysis of Algorihms, Spring 2008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8603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536192"/>
            <a:ext cx="48768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92800" y="1536192"/>
            <a:ext cx="48768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Anaysis of Algorihms, Spring 2008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969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48768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48768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92800" y="1535113"/>
            <a:ext cx="48768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92800" y="2174875"/>
            <a:ext cx="48768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Anaysis of Algorihms, Spring 2008 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1203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Anaysis of Algorihms, Spring 2008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7330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Anaysis of Algorihms, Spring 2008 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67825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401" y="5495544"/>
            <a:ext cx="103632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6400" y="6096000"/>
            <a:ext cx="103632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Anaysis of Algorihms, Spring 2008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406400" y="381000"/>
            <a:ext cx="10363200" cy="49428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4544094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336" y="5495278"/>
            <a:ext cx="103632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112776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2336" y="6096000"/>
            <a:ext cx="103632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Anaysis of Algorihms, Spring 2008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Design &amp; Analysis of Algorithms</a:t>
            </a:r>
          </a:p>
        </p:txBody>
      </p:sp>
    </p:spTree>
    <p:extLst>
      <p:ext uri="{BB962C8B-B14F-4D97-AF65-F5344CB8AC3E}">
        <p14:creationId xmlns:p14="http://schemas.microsoft.com/office/powerpoint/2010/main" val="8020862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Anaysis of Algorihms, Spring 2008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23719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336800" cy="58515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Anaysis of Algorihms, Spring 2008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59366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3938589"/>
            <a:ext cx="53848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Design and Anaysis of Algorihms, Spring 2008 </a:t>
            </a:r>
            <a:endParaRPr lang="en-GB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Design &amp; Analysis of Algorithms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CAA143B-99B6-4B27-B043-E574855ABF90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075925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Design and Anaysis of Algorihms, Spring 2008 </a:t>
            </a: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Design &amp; Analysis of Algorithms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5718971-3FDC-4323-BE22-69C0E5D57951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587144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09600" y="3938589"/>
            <a:ext cx="53848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7600" y="3938589"/>
            <a:ext cx="53848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Design and Anaysis of Algorihms, Spring 2008 </a:t>
            </a: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Design &amp; Analysis of Algorithms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1BCAC09-0EE0-4829-9090-1F0BC639B9B6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3955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EB5029-5875-48B9-9C22-38D785FCE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A0B3BA-C511-4FC7-AA99-072F757CF5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700382-92E4-4D10-875A-89C34EF30D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DF8B72-9C19-4DBD-8F3B-D049130D4969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CD864E-90F0-4014-8C2D-CE853EFCBA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062C12-0EAF-4F9E-BB1B-EED572C618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9366AE-5A89-45B7-9EA8-7C0EFF442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24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16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16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1277600" y="0"/>
            <a:ext cx="9144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/>
        </p:nvSpPr>
        <p:spPr>
          <a:xfrm>
            <a:off x="11277600" y="5486400"/>
            <a:ext cx="9144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10510428" y="3987800"/>
            <a:ext cx="2367281" cy="4876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r>
              <a:rPr lang="en-US"/>
              <a:t>Design &amp; Analysis of Algorithms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474869" y="1584960"/>
            <a:ext cx="2438399" cy="4876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r>
              <a:rPr lang="en-US"/>
              <a:t>Design and Anaysis of Algorihms, Spring 2008 </a:t>
            </a:r>
          </a:p>
        </p:txBody>
      </p:sp>
    </p:spTree>
    <p:extLst>
      <p:ext uri="{BB962C8B-B14F-4D97-AF65-F5344CB8AC3E}">
        <p14:creationId xmlns:p14="http://schemas.microsoft.com/office/powerpoint/2010/main" val="2389917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0.xml"/><Relationship Id="rId6" Type="http://schemas.openxmlformats.org/officeDocument/2006/relationships/image" Target="../media/image9.png"/><Relationship Id="rId5" Type="http://schemas.openxmlformats.org/officeDocument/2006/relationships/image" Target="../media/image80.png"/><Relationship Id="rId4" Type="http://schemas.openxmlformats.org/officeDocument/2006/relationships/image" Target="../media/image8.w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8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9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0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5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8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9.xml"/><Relationship Id="rId4" Type="http://schemas.openxmlformats.org/officeDocument/2006/relationships/image" Target="../media/image17.jpe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50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5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5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5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54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55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56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5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58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59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60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6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6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1</a:t>
            </a:fld>
            <a:endParaRPr lang="en-US">
              <a:latin typeface="Calibri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1524000" y="1654176"/>
            <a:ext cx="8458200" cy="1470025"/>
          </a:xfrm>
        </p:spPr>
        <p:txBody>
          <a:bodyPr/>
          <a:lstStyle/>
          <a:p>
            <a:pPr algn="ctr"/>
            <a:r>
              <a:rPr lang="en-US" sz="3200" b="1" dirty="0"/>
              <a:t>CSC 323 – Principles of Operating Systems</a:t>
            </a:r>
          </a:p>
        </p:txBody>
      </p:sp>
      <p:sp>
        <p:nvSpPr>
          <p:cNvPr id="8" name="Subtitle 2"/>
          <p:cNvSpPr txBox="1">
            <a:spLocks/>
          </p:cNvSpPr>
          <p:nvPr/>
        </p:nvSpPr>
        <p:spPr>
          <a:xfrm>
            <a:off x="1524000" y="3505200"/>
            <a:ext cx="8458200" cy="1752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None/>
              <a:defRPr sz="14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None/>
              <a:defRPr sz="14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rgbClr val="A9A57C"/>
              </a:buClr>
            </a:pPr>
            <a:r>
              <a:rPr lang="en-US" sz="2800" b="1" spc="-100" dirty="0">
                <a:solidFill>
                  <a:srgbClr val="675E47"/>
                </a:solidFill>
                <a:latin typeface="Cambria"/>
              </a:rPr>
              <a:t>Instructor: Ms. Mamoona Tasadduq</a:t>
            </a:r>
          </a:p>
          <a:p>
            <a:pPr algn="ctr">
              <a:buClr>
                <a:srgbClr val="A9A57C"/>
              </a:buClr>
            </a:pPr>
            <a:r>
              <a:rPr lang="en-US" sz="2800" b="1" spc="-100" dirty="0">
                <a:solidFill>
                  <a:srgbClr val="675E47"/>
                </a:solidFill>
                <a:latin typeface="Cambria"/>
              </a:rPr>
              <a:t>Lecture# 3-6: CPU Scheduling</a:t>
            </a:r>
          </a:p>
        </p:txBody>
      </p:sp>
    </p:spTree>
    <p:extLst>
      <p:ext uri="{BB962C8B-B14F-4D97-AF65-F5344CB8AC3E}">
        <p14:creationId xmlns:p14="http://schemas.microsoft.com/office/powerpoint/2010/main" val="1423990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Recap: Processes, Threads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2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773B303-CEA4-39FE-8190-A77ECCC638B8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1"/>
            <a:ext cx="10410988" cy="5404759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 lnSpcReduction="10000"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Process is the OS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abstraction for execution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Own view of machine</a:t>
            </a:r>
          </a:p>
          <a:p>
            <a:pPr algn="just"/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Process components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Address space, program counter, registers, open files, etc.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Kernel data structure: </a:t>
            </a:r>
            <a:r>
              <a:rPr lang="en-US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 Control Block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(PCB)</a:t>
            </a:r>
          </a:p>
          <a:p>
            <a:pPr algn="just"/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Process vs. thread</a:t>
            </a:r>
          </a:p>
          <a:p>
            <a:pPr algn="just"/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Process/thread states and APIs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State graph and queues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Process creation, deletion, waiting</a:t>
            </a:r>
          </a:p>
          <a:p>
            <a:pPr algn="just"/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Multiple processes/threads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Overlapping I/O and CPU activities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Context Switch</a:t>
            </a:r>
          </a:p>
        </p:txBody>
      </p:sp>
      <p:pic>
        <p:nvPicPr>
          <p:cNvPr id="2" name="Picture 9">
            <a:extLst>
              <a:ext uri="{FF2B5EF4-FFF2-40B4-BE49-F238E27FC236}">
                <a16:creationId xmlns:a16="http://schemas.microsoft.com/office/drawing/2014/main" id="{28590DCC-CA81-163F-D803-BA0C9D3BB9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1980" y="4239606"/>
            <a:ext cx="5552791" cy="22136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23488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Scheduling Overview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3</a:t>
            </a:fld>
            <a:endParaRPr lang="en-US">
              <a:latin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3">
                <a:extLst>
                  <a:ext uri="{FF2B5EF4-FFF2-40B4-BE49-F238E27FC236}">
                    <a16:creationId xmlns:a16="http://schemas.microsoft.com/office/drawing/2014/main" id="{A773B303-CEA4-39FE-8190-A77ECCC638B8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632151" y="3526973"/>
                <a:ext cx="10410988" cy="3219061"/>
              </a:xfrm>
              <a:prstGeom prst="rect">
                <a:avLst/>
              </a:prstGeom>
              <a:ln w="15875">
                <a:noFill/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22860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Font typeface="Arial" pitchFamily="34" charset="0"/>
                  <a:buChar char="•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40080" indent="-228600" algn="l" defTabSz="914400" rtl="0" eaLnBrk="1" latinLnBrk="0" hangingPunct="1">
                  <a:spcBef>
                    <a:spcPct val="20000"/>
                  </a:spcBef>
                  <a:buClr>
                    <a:schemeClr val="accent2"/>
                  </a:buClr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05840" indent="-228600" algn="l" defTabSz="914400" rtl="0" eaLnBrk="1" latinLnBrk="0" hangingPunct="1">
                  <a:spcBef>
                    <a:spcPct val="20000"/>
                  </a:spcBef>
                  <a:buClr>
                    <a:schemeClr val="accent3"/>
                  </a:buClr>
                  <a:buFont typeface="Arial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80160" indent="-228600" algn="l" defTabSz="914400" rtl="0" eaLnBrk="1" latinLnBrk="0" hangingPunct="1">
                  <a:spcBef>
                    <a:spcPct val="20000"/>
                  </a:spcBef>
                  <a:buClr>
                    <a:schemeClr val="accent4"/>
                  </a:buClr>
                  <a:buFont typeface="Arial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54480" indent="-228600" algn="l" defTabSz="914400" rtl="0" eaLnBrk="1" latinLnBrk="0" hangingPunct="1">
                  <a:spcBef>
                    <a:spcPct val="20000"/>
                  </a:spcBef>
                  <a:buClr>
                    <a:schemeClr val="accent5"/>
                  </a:buClr>
                  <a:buFont typeface="Arial" pitchFamily="34" charset="0"/>
                  <a:buChar char="•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37360" indent="-18288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Font typeface="Arial" pitchFamily="34" charset="0"/>
                  <a:buChar char="•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920240" indent="-182880" algn="l" defTabSz="914400" rtl="0" eaLnBrk="1" latinLnBrk="0" hangingPunct="1">
                  <a:spcBef>
                    <a:spcPct val="20000"/>
                  </a:spcBef>
                  <a:buClr>
                    <a:schemeClr val="accent2"/>
                  </a:buClr>
                  <a:buFont typeface="Arial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103120" indent="-182880" algn="l" defTabSz="914400" rtl="0" eaLnBrk="1" latinLnBrk="0" hangingPunct="1">
                  <a:spcBef>
                    <a:spcPct val="20000"/>
                  </a:spcBef>
                  <a:buClr>
                    <a:schemeClr val="accent3"/>
                  </a:buClr>
                  <a:buFont typeface="Arial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286000" indent="-182880" algn="l" defTabSz="914400" rtl="0" eaLnBrk="1" latinLnBrk="0" hangingPunct="1">
                  <a:spcBef>
                    <a:spcPct val="20000"/>
                  </a:spcBef>
                  <a:buClr>
                    <a:schemeClr val="accent4"/>
                  </a:buClr>
                  <a:buFont typeface="Arial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The scheduling problem</a:t>
                </a:r>
                <a:endParaRPr lang="en-US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 algn="just"/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Have </a:t>
                </a:r>
                <a:r>
                  <a:rPr lang="en-US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K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jobs ready to run</a:t>
                </a:r>
              </a:p>
              <a:p>
                <a:pPr lvl="1" algn="just"/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Have </a:t>
                </a:r>
                <a:r>
                  <a:rPr lang="en-US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N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≥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1 CPUs</a:t>
                </a:r>
              </a:p>
              <a:p>
                <a:pPr algn="just"/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en-US" b="1" dirty="0">
                    <a:solidFill>
                      <a:srgbClr val="00B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Policy: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which jobs should we assign to which CPU(s), and for how long?</a:t>
                </a:r>
              </a:p>
              <a:p>
                <a:pPr lvl="1" algn="just"/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We’ll refer to schedulable entities as jobs – could be processes, threads etc.</a:t>
                </a:r>
              </a:p>
              <a:p>
                <a:pPr algn="just"/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en-US" b="1" dirty="0">
                    <a:solidFill>
                      <a:srgbClr val="00B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Mechanism: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Context Switch, process state queues</a:t>
                </a:r>
              </a:p>
            </p:txBody>
          </p:sp>
        </mc:Choice>
        <mc:Fallback xmlns="">
          <p:sp>
            <p:nvSpPr>
              <p:cNvPr id="12" name="Rectangle 3">
                <a:extLst>
                  <a:ext uri="{FF2B5EF4-FFF2-40B4-BE49-F238E27FC236}">
                    <a16:creationId xmlns:a16="http://schemas.microsoft.com/office/drawing/2014/main" id="{A773B303-CEA4-39FE-8190-A77ECCC638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151" y="3526973"/>
                <a:ext cx="10410988" cy="3219061"/>
              </a:xfrm>
              <a:prstGeom prst="rect">
                <a:avLst/>
              </a:prstGeom>
              <a:blipFill>
                <a:blip r:embed="rId3"/>
                <a:stretch>
                  <a:fillRect t="-1136" b="-1326"/>
                </a:stretch>
              </a:blipFill>
              <a:ln w="15875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92A72004-000C-0ED3-52BC-4A4FE357E6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6503" y="1340937"/>
            <a:ext cx="5423807" cy="224201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86666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Challenges in Policy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4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773B303-CEA4-39FE-8190-A77ECCC638B8}"/>
              </a:ext>
            </a:extLst>
          </p:cNvPr>
          <p:cNvSpPr txBox="1">
            <a:spLocks noChangeArrowheads="1"/>
          </p:cNvSpPr>
          <p:nvPr/>
        </p:nvSpPr>
        <p:spPr>
          <a:xfrm>
            <a:off x="632152" y="1453241"/>
            <a:ext cx="10321987" cy="5252357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500"/>
              </a:spcBef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Flexibility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– variability in job types</a:t>
            </a:r>
          </a:p>
          <a:p>
            <a:pPr lvl="1" algn="just">
              <a:spcBef>
                <a:spcPts val="5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Long vs. short</a:t>
            </a:r>
          </a:p>
          <a:p>
            <a:pPr lvl="1" algn="just">
              <a:spcBef>
                <a:spcPts val="5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Interactive vs. non-interactive</a:t>
            </a:r>
          </a:p>
          <a:p>
            <a:pPr lvl="1" algn="just">
              <a:spcBef>
                <a:spcPts val="5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CPU-bound vs. I/O-bound</a:t>
            </a:r>
          </a:p>
          <a:p>
            <a:pPr algn="just">
              <a:spcBef>
                <a:spcPts val="5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Issues?</a:t>
            </a:r>
          </a:p>
          <a:p>
            <a:pPr lvl="1" algn="just">
              <a:spcBef>
                <a:spcPts val="5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Short jobs should not suffer</a:t>
            </a:r>
          </a:p>
          <a:p>
            <a:pPr lvl="1" algn="just">
              <a:spcBef>
                <a:spcPts val="5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Users should not be annoyed</a:t>
            </a:r>
          </a:p>
          <a:p>
            <a:pPr lvl="1" algn="just">
              <a:spcBef>
                <a:spcPts val="500"/>
              </a:spcBef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500"/>
              </a:spcBef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Fairness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>
              <a:spcBef>
                <a:spcPts val="5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All users should get access to CPU</a:t>
            </a:r>
          </a:p>
          <a:p>
            <a:pPr lvl="1" algn="just">
              <a:spcBef>
                <a:spcPts val="5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Amount of CPU should be roughly even?</a:t>
            </a:r>
          </a:p>
          <a:p>
            <a:pPr algn="just">
              <a:spcBef>
                <a:spcPts val="5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Issues?</a:t>
            </a:r>
          </a:p>
          <a:p>
            <a:pPr lvl="1" algn="just">
              <a:spcBef>
                <a:spcPts val="5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Short-term vs. long-term fairness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F328AD0-3182-111D-EC23-3333BD3E55FE}"/>
              </a:ext>
            </a:extLst>
          </p:cNvPr>
          <p:cNvSpPr txBox="1"/>
          <p:nvPr/>
        </p:nvSpPr>
        <p:spPr>
          <a:xfrm>
            <a:off x="6842564" y="4472781"/>
            <a:ext cx="4111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  <a:t>Histogram of CPU burst times</a:t>
            </a:r>
          </a:p>
        </p:txBody>
      </p:sp>
      <p:pic>
        <p:nvPicPr>
          <p:cNvPr id="13315" name="Picture 1">
            <a:extLst>
              <a:ext uri="{FF2B5EF4-FFF2-40B4-BE49-F238E27FC236}">
                <a16:creationId xmlns:a16="http://schemas.microsoft.com/office/drawing/2014/main" id="{A278EA04-1701-4441-AB9A-E05347064E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1302" y="1527968"/>
            <a:ext cx="4922837" cy="2944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95009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Scheduling Goal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5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773B303-CEA4-39FE-8190-A77ECCC638B8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1"/>
            <a:ext cx="10410988" cy="5252357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Scheduling works at two levels in an operating system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 determine the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multiprogramming level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– # of jobs loaded into memory</a:t>
            </a:r>
          </a:p>
          <a:p>
            <a:pPr lvl="2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Moving jobs to/from memory is often called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swapping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 decide what job to run next to guarantee </a:t>
            </a:r>
            <a:r>
              <a:rPr lang="en-US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“good service”</a:t>
            </a:r>
          </a:p>
          <a:p>
            <a:pPr lvl="2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Good service could be one of many different criteria</a:t>
            </a:r>
          </a:p>
          <a:p>
            <a:pPr lvl="2"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Known as long-term and short-term scheduling decisions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Long-term scheduling happens relatively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infrequently</a:t>
            </a:r>
          </a:p>
          <a:p>
            <a:pPr lvl="2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Significant overhead in swapping a process out to disk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Short-term scheduling happens relatively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frequently</a:t>
            </a:r>
          </a:p>
          <a:p>
            <a:pPr lvl="2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Want to minimize the overhead of scheduling</a:t>
            </a:r>
          </a:p>
          <a:p>
            <a:pPr lvl="3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Fast context switches, fast queue manipulation</a:t>
            </a:r>
          </a:p>
          <a:p>
            <a:pPr lvl="1"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indent="0" algn="just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682660-5B2D-CFBF-5471-844CBA2D93E9}"/>
              </a:ext>
            </a:extLst>
          </p:cNvPr>
          <p:cNvSpPr txBox="1"/>
          <p:nvPr/>
        </p:nvSpPr>
        <p:spPr>
          <a:xfrm>
            <a:off x="8080307" y="3993502"/>
            <a:ext cx="3071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(Virtual Memory Lecture)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B64DB8-E875-F603-9CC6-CCE872E7EAD3}"/>
              </a:ext>
            </a:extLst>
          </p:cNvPr>
          <p:cNvSpPr txBox="1"/>
          <p:nvPr/>
        </p:nvSpPr>
        <p:spPr>
          <a:xfrm>
            <a:off x="8080307" y="4669864"/>
            <a:ext cx="3071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(This Lecture)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27526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Scheduling “Non-goal”: Starvation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6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773B303-CEA4-39FE-8190-A77ECCC638B8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1"/>
            <a:ext cx="10410988" cy="5252357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Starvation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is when a process is prevented from making progress because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some other process has the resource it requires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Resource could be the CPU, or a lock (recall readers/writers)</a:t>
            </a:r>
          </a:p>
          <a:p>
            <a:pPr lvl="2"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Starvation usually a side effect of the scheduling algorithm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high priority process always prevents a low priority process from running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One thread always beats another when acquiring a lock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Starvation can be a side effect of synchronization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Constant supply of readers always blocks out writers</a:t>
            </a:r>
          </a:p>
          <a:p>
            <a:pPr marL="114300" indent="0" algn="just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17088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Types of Schedulers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7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773B303-CEA4-39FE-8190-A77ECCC638B8}"/>
              </a:ext>
            </a:extLst>
          </p:cNvPr>
          <p:cNvSpPr txBox="1">
            <a:spLocks noChangeArrowheads="1"/>
          </p:cNvSpPr>
          <p:nvPr/>
        </p:nvSpPr>
        <p:spPr>
          <a:xfrm>
            <a:off x="632150" y="1453241"/>
            <a:ext cx="10583245" cy="5252357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Short-term scheduler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(or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CPU scheduler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Selects from among processes in ready queue, &amp; allocates a CPU core to one of them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Sometimes the only scheduler in a system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Invoked frequently (milliseconds)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(must be fast)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Dispatcher module gives control of CPU to process selected by short-term scheduler</a:t>
            </a:r>
          </a:p>
          <a:p>
            <a:pPr lvl="1" algn="just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Dispatch latency: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time taken for dispatcher to stop one process and start another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Long-term scheduler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(or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Job scheduler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Selects which processes should be brought into the ready queue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Invoked  infrequently (seconds, minutes)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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(may be slow)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Controls the </a:t>
            </a:r>
            <a:r>
              <a:rPr lang="en-US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degree of multiprogramming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Strives for good </a:t>
            </a:r>
            <a: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  <a:t>process mix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(I/O and. CPU bound processes)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8211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Types of Schedulers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8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773B303-CEA4-39FE-8190-A77ECCC638B8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1"/>
            <a:ext cx="10410988" cy="5252357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Memory is a scarce resource and in a multiprogramming environment, we want to run many programs that need memory to execute. 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What happens when M(a) + M(b) + M(c) &gt; physical memory?</a:t>
            </a:r>
          </a:p>
          <a:p>
            <a:pPr lvl="1"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Medium-term scheduler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added to decrease the degree of multiprogramming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Remove process from memory, store on disk, bring back in from disk to continue execution: known as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job swapping</a:t>
            </a:r>
          </a:p>
        </p:txBody>
      </p:sp>
      <p:pic>
        <p:nvPicPr>
          <p:cNvPr id="10243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5713" y="4411278"/>
            <a:ext cx="5417976" cy="1970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62124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Scheduling Criteria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9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773B303-CEA4-39FE-8190-A77ECCC638B8}"/>
              </a:ext>
            </a:extLst>
          </p:cNvPr>
          <p:cNvSpPr txBox="1">
            <a:spLocks noChangeArrowheads="1"/>
          </p:cNvSpPr>
          <p:nvPr/>
        </p:nvSpPr>
        <p:spPr>
          <a:xfrm>
            <a:off x="632150" y="1453241"/>
            <a:ext cx="10321989" cy="5404759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Why do we care?</a:t>
            </a:r>
          </a:p>
          <a:p>
            <a:pPr lvl="1" algn="just">
              <a:spcBef>
                <a:spcPts val="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How do we measure the effectiveness of a scheduling algorithm?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230835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Scheduling Criteria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10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773B303-CEA4-39FE-8190-A77ECCC638B8}"/>
              </a:ext>
            </a:extLst>
          </p:cNvPr>
          <p:cNvSpPr txBox="1">
            <a:spLocks noChangeArrowheads="1"/>
          </p:cNvSpPr>
          <p:nvPr/>
        </p:nvSpPr>
        <p:spPr>
          <a:xfrm>
            <a:off x="632150" y="1453241"/>
            <a:ext cx="10527262" cy="5404759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0"/>
              </a:spcBef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Throughput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– # of processes that complete per unit time (# jobs/time)</a:t>
            </a:r>
          </a:p>
          <a:p>
            <a:pPr lvl="1" algn="just">
              <a:spcBef>
                <a:spcPts val="0"/>
              </a:spcBef>
            </a:pPr>
            <a:r>
              <a:rPr lang="en-US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Maximize</a:t>
            </a:r>
          </a:p>
          <a:p>
            <a:pPr algn="just">
              <a:spcBef>
                <a:spcPts val="0"/>
              </a:spcBef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Turnaround time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– time for each process to complete 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finish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start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lvl="1" algn="just">
              <a:spcBef>
                <a:spcPts val="0"/>
              </a:spcBef>
            </a:pPr>
            <a:r>
              <a:rPr lang="en-US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Minimize</a:t>
            </a:r>
          </a:p>
          <a:p>
            <a:pPr algn="just">
              <a:spcBef>
                <a:spcPts val="0"/>
              </a:spcBef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Response time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– time from request to first response</a:t>
            </a:r>
          </a:p>
          <a:p>
            <a:pPr lvl="1" algn="just">
              <a:spcBef>
                <a:spcPts val="0"/>
              </a:spcBef>
            </a:pPr>
            <a:r>
              <a:rPr lang="en-US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Minimize</a:t>
            </a:r>
          </a:p>
          <a:p>
            <a:pPr lvl="1" algn="just">
              <a:spcBef>
                <a:spcPts val="0"/>
              </a:spcBef>
            </a:pPr>
            <a:endParaRPr lang="en-US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Above criteria are affected by secondary criteria</a:t>
            </a:r>
          </a:p>
          <a:p>
            <a:pPr algn="just">
              <a:spcBef>
                <a:spcPts val="0"/>
              </a:spcBef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CPU utilization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– % CPU fraction of time CPU doing productive work</a:t>
            </a:r>
          </a:p>
          <a:p>
            <a:pPr lvl="1" algn="just">
              <a:spcBef>
                <a:spcPts val="0"/>
              </a:spcBef>
            </a:pPr>
            <a:r>
              <a:rPr lang="en-US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Maximize</a:t>
            </a:r>
          </a:p>
          <a:p>
            <a:pPr algn="just">
              <a:spcBef>
                <a:spcPts val="0"/>
              </a:spcBef>
            </a:pPr>
            <a:endParaRPr lang="en-US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Waiting time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– time each process waits in the ready queue</a:t>
            </a:r>
          </a:p>
          <a:p>
            <a:pPr lvl="1" algn="just">
              <a:spcBef>
                <a:spcPts val="0"/>
              </a:spcBef>
            </a:pPr>
            <a:r>
              <a:rPr lang="en-US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Minimize</a:t>
            </a:r>
          </a:p>
          <a:p>
            <a:pPr lvl="1" algn="just">
              <a:spcBef>
                <a:spcPts val="0"/>
              </a:spcBef>
            </a:pPr>
            <a:endParaRPr lang="en-US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70396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What Criteria Should We Use?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11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773B303-CEA4-39FE-8190-A77ECCC638B8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1"/>
            <a:ext cx="10410988" cy="5252357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Batch systems</a:t>
            </a:r>
            <a:endParaRPr lang="en-US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Strive for job throughput, turnaround time (supercomputers)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Interactive systems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Strive to minimize response time for interactive jobs (PC)</a:t>
            </a:r>
          </a:p>
          <a:p>
            <a:pPr lvl="2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Utilization and throughput are often traded off for better response time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Usually optimize average measure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Sometimes also optimize for min/max or variance</a:t>
            </a:r>
          </a:p>
          <a:p>
            <a:pPr lvl="2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e.g., minimize the maximum response time</a:t>
            </a:r>
          </a:p>
          <a:p>
            <a:pPr lvl="2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e.g., users prefer predictable response time over faster but highly variable response time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90721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When Do We Schedule CPU?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12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773B303-CEA4-39FE-8190-A77ECCC638B8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3711250"/>
            <a:ext cx="10743566" cy="3118759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Scheduling decisions may take place when a process:</a:t>
            </a:r>
            <a:endParaRPr lang="en-US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68680" lvl="1" indent="-457200" algn="just">
              <a:buClrTx/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Switches from running to waiting state</a:t>
            </a:r>
          </a:p>
          <a:p>
            <a:pPr marL="868680" lvl="1" indent="-457200" algn="just">
              <a:buClrTx/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Switches from running to ready state</a:t>
            </a:r>
          </a:p>
          <a:p>
            <a:pPr marL="868680" lvl="1" indent="-457200" algn="just">
              <a:buClrTx/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Switches from new/waiting to ready state</a:t>
            </a:r>
          </a:p>
          <a:p>
            <a:pPr marL="868680" lvl="1" indent="-457200" algn="just">
              <a:buClrTx/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Terminates</a:t>
            </a:r>
          </a:p>
          <a:p>
            <a:pPr algn="just"/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12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For (1) &amp; (4), no choice in terms of scheduling. A new process must be selected.</a:t>
            </a:r>
          </a:p>
          <a:p>
            <a:pPr algn="just">
              <a:spcBef>
                <a:spcPts val="12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For (2) &amp; (3), however, there is a choice.</a:t>
            </a:r>
          </a:p>
        </p:txBody>
      </p:sp>
      <p:pic>
        <p:nvPicPr>
          <p:cNvPr id="2" name="Picture 9">
            <a:extLst>
              <a:ext uri="{FF2B5EF4-FFF2-40B4-BE49-F238E27FC236}">
                <a16:creationId xmlns:a16="http://schemas.microsoft.com/office/drawing/2014/main" id="{CF983191-556E-2E5D-0624-5B53719BA5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8792" y="1322880"/>
            <a:ext cx="5552791" cy="22136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588DA28D-2FD1-AD5D-886C-EE0AEB5C4023}"/>
              </a:ext>
            </a:extLst>
          </p:cNvPr>
          <p:cNvGrpSpPr/>
          <p:nvPr/>
        </p:nvGrpSpPr>
        <p:grpSpPr>
          <a:xfrm>
            <a:off x="6240430" y="2673332"/>
            <a:ext cx="1615946" cy="769887"/>
            <a:chOff x="9058275" y="2305050"/>
            <a:chExt cx="1143000" cy="571500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550EE601-06E6-617B-59DC-1AA55C0A8B45}"/>
                </a:ext>
              </a:extLst>
            </p:cNvPr>
            <p:cNvSpPr/>
            <p:nvPr/>
          </p:nvSpPr>
          <p:spPr>
            <a:xfrm>
              <a:off x="9058275" y="2305050"/>
              <a:ext cx="1143000" cy="57150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293C59E-C079-D0D8-8A39-E764A8C66B82}"/>
                </a:ext>
              </a:extLst>
            </p:cNvPr>
            <p:cNvSpPr txBox="1"/>
            <p:nvPr/>
          </p:nvSpPr>
          <p:spPr>
            <a:xfrm>
              <a:off x="9486900" y="2590334"/>
              <a:ext cx="247650" cy="2741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E2084B6-774E-2319-68D0-683ED56C7227}"/>
              </a:ext>
            </a:extLst>
          </p:cNvPr>
          <p:cNvGrpSpPr/>
          <p:nvPr/>
        </p:nvGrpSpPr>
        <p:grpSpPr>
          <a:xfrm>
            <a:off x="5057194" y="1234620"/>
            <a:ext cx="1183238" cy="612841"/>
            <a:chOff x="9058275" y="2285579"/>
            <a:chExt cx="990097" cy="590971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DF0D6798-A067-E902-9E70-A5F092B5DC15}"/>
                </a:ext>
              </a:extLst>
            </p:cNvPr>
            <p:cNvSpPr/>
            <p:nvPr/>
          </p:nvSpPr>
          <p:spPr>
            <a:xfrm>
              <a:off x="9058275" y="2285579"/>
              <a:ext cx="990097" cy="590971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C581DAA-DCE8-3022-029F-E0103B72A4BF}"/>
                </a:ext>
              </a:extLst>
            </p:cNvPr>
            <p:cNvSpPr txBox="1"/>
            <p:nvPr/>
          </p:nvSpPr>
          <p:spPr>
            <a:xfrm>
              <a:off x="9377595" y="2285579"/>
              <a:ext cx="247650" cy="3561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8B1F3C3-D251-D8E0-8CF2-828698A76273}"/>
              </a:ext>
            </a:extLst>
          </p:cNvPr>
          <p:cNvGrpSpPr/>
          <p:nvPr/>
        </p:nvGrpSpPr>
        <p:grpSpPr>
          <a:xfrm>
            <a:off x="3877068" y="1215958"/>
            <a:ext cx="1183238" cy="612841"/>
            <a:chOff x="9058275" y="2285579"/>
            <a:chExt cx="990097" cy="590971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70382E0E-170B-0FFC-961C-FA3034A4EE1E}"/>
                </a:ext>
              </a:extLst>
            </p:cNvPr>
            <p:cNvSpPr/>
            <p:nvPr/>
          </p:nvSpPr>
          <p:spPr>
            <a:xfrm>
              <a:off x="9058275" y="2285579"/>
              <a:ext cx="990097" cy="590971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B2711F8-21E5-E018-1FDB-862851D672AF}"/>
                </a:ext>
              </a:extLst>
            </p:cNvPr>
            <p:cNvSpPr txBox="1"/>
            <p:nvPr/>
          </p:nvSpPr>
          <p:spPr>
            <a:xfrm>
              <a:off x="9440055" y="2285579"/>
              <a:ext cx="247650" cy="3561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BA8B954-5D90-E1F1-191A-7B81FDA89E71}"/>
              </a:ext>
            </a:extLst>
          </p:cNvPr>
          <p:cNvGrpSpPr/>
          <p:nvPr/>
        </p:nvGrpSpPr>
        <p:grpSpPr>
          <a:xfrm>
            <a:off x="2955524" y="2666488"/>
            <a:ext cx="1915056" cy="612841"/>
            <a:chOff x="9058275" y="2285579"/>
            <a:chExt cx="990097" cy="590971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B96B572E-E6FB-E798-0379-CFA2486753B7}"/>
                </a:ext>
              </a:extLst>
            </p:cNvPr>
            <p:cNvSpPr/>
            <p:nvPr/>
          </p:nvSpPr>
          <p:spPr>
            <a:xfrm>
              <a:off x="9058275" y="2285579"/>
              <a:ext cx="990097" cy="590971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7DF3AEE-EE0A-4211-B552-DC58E060CBBD}"/>
                </a:ext>
              </a:extLst>
            </p:cNvPr>
            <p:cNvSpPr txBox="1"/>
            <p:nvPr/>
          </p:nvSpPr>
          <p:spPr>
            <a:xfrm>
              <a:off x="9440055" y="2285579"/>
              <a:ext cx="247650" cy="3561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12F333B-450C-4357-D342-C94B912CB4EC}"/>
              </a:ext>
            </a:extLst>
          </p:cNvPr>
          <p:cNvGrpSpPr/>
          <p:nvPr/>
        </p:nvGrpSpPr>
        <p:grpSpPr>
          <a:xfrm>
            <a:off x="6237320" y="1234620"/>
            <a:ext cx="1183238" cy="612841"/>
            <a:chOff x="9058275" y="2285579"/>
            <a:chExt cx="990097" cy="590971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60A14103-84BC-657E-0917-87B97DB7544E}"/>
                </a:ext>
              </a:extLst>
            </p:cNvPr>
            <p:cNvSpPr/>
            <p:nvPr/>
          </p:nvSpPr>
          <p:spPr>
            <a:xfrm>
              <a:off x="9058275" y="2285579"/>
              <a:ext cx="990097" cy="590971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A73AA56-FAD7-DC67-C247-33E354853CFF}"/>
                </a:ext>
              </a:extLst>
            </p:cNvPr>
            <p:cNvSpPr txBox="1"/>
            <p:nvPr/>
          </p:nvSpPr>
          <p:spPr>
            <a:xfrm>
              <a:off x="9440055" y="2285579"/>
              <a:ext cx="247650" cy="3561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722933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BDBD5-2502-4E29-8AE7-E55EE9413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AB27053C-248C-C3C1-64C3-C4A144256E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Non-preemptive Scheduling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610784E-742F-3B31-C72D-FA1D0374B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13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09F1CB03-18D3-96C9-272B-38A27EBFC999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1"/>
            <a:ext cx="10435900" cy="5404759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Without any hardware support, what can the OS do to a running process?</a:t>
            </a:r>
          </a:p>
          <a:p>
            <a:pPr lvl="1" algn="just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Non-preemptive scheduling: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Once the CPU has been allocated to a process, the process keeps the CPU until it releases it either by terminating or by switching to the waiting state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Invoked by explicit block/yield calls or terminations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Only method when there is no timer!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 calls that triggers Scheduler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Block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– wait on some event/resource</a:t>
            </a:r>
          </a:p>
          <a:p>
            <a:pPr lvl="2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Network packet arrival (e.g.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recv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 ))</a:t>
            </a:r>
          </a:p>
          <a:p>
            <a:pPr lvl="2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Keyboard, mouse input (e.g.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getchar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 ))</a:t>
            </a:r>
          </a:p>
          <a:p>
            <a:pPr lvl="2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Disk activity completion (e.g. read( ))</a:t>
            </a:r>
          </a:p>
          <a:p>
            <a:pPr lvl="1" algn="just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Yield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– give up running for now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Used in Windows 3.1, Mac OS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75173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Preemptive Scheduling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14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773B303-CEA4-39FE-8190-A77ECCC638B8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1"/>
            <a:ext cx="10454949" cy="5252357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Without hardware support, can we do anything other than non-preemptive scheduling?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Timesharing systems support interactive use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Each user feel he/she has the entire machine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Optimize response time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Based on time-slicing</a:t>
            </a:r>
          </a:p>
          <a:p>
            <a:pPr lvl="1"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Using timer interrupt to do CPU management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Generated by hardware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Setting requires privilege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Delivered to the OS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81361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Preemptive Scheduling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15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773B303-CEA4-39FE-8190-A77ECCC638B8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2"/>
            <a:ext cx="10433956" cy="5404758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Preemptive scheduling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allows the process to be taken out from the processor involuntarily after its time slice expires (timer interrupt handler forces yield() call)</a:t>
            </a:r>
          </a:p>
          <a:p>
            <a:pPr algn="just"/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Basic Idea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Before moving process to running state, OS sets timer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If process yields/blocks, clear timer, go to the scheduler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If timer expires, go to the scheduler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Recall Context Switching!</a:t>
            </a:r>
          </a:p>
          <a:p>
            <a:pPr lvl="1" algn="just"/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Considerations: Timer granularity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Finer timers = more responsive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Coarser timers = more efficient</a:t>
            </a:r>
          </a:p>
          <a:p>
            <a:pPr algn="just"/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Virtually all modern operating systems including Windows, MacOS, Linux, and UNIX use preemptive scheduling algorithms.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31312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Scheduling Policies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16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773B303-CEA4-39FE-8190-A77ECCC638B8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1"/>
            <a:ext cx="10287895" cy="5252357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Is there an optimal scheduling policy?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Even if we narrow down to one goal?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But we don’t know about future 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Offline vs. online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41655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Scheduling Algorithms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17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773B303-CEA4-39FE-8190-A77ECCC638B8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2"/>
            <a:ext cx="10284666" cy="5088236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Non-preemptive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First Come First Served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Shortest Job First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Priority Scheduling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Preemptive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Shortest Remaining Time First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Preemptive Priority Scheduling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Round Robin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689580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FCFS Scheduling Policy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18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773B303-CEA4-39FE-8190-A77ECCC638B8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2"/>
            <a:ext cx="10433956" cy="5404758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algn="just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Suppose that the processes arrive in the order: P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, P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, P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Gantt Chart for the schedule is:</a:t>
            </a:r>
          </a:p>
          <a:p>
            <a:pPr algn="just"/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Waiting time for P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= 0; P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= 24; P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= 27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Average waiting time:  (0 + 24 + 27)/3 = 17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5831112-9B3C-E882-C1B2-93F9A11E3E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7451205"/>
              </p:ext>
            </p:extLst>
          </p:nvPr>
        </p:nvGraphicFramePr>
        <p:xfrm>
          <a:off x="2575249" y="1453242"/>
          <a:ext cx="6307494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3747">
                  <a:extLst>
                    <a:ext uri="{9D8B030D-6E8A-4147-A177-3AD203B41FA5}">
                      <a16:colId xmlns:a16="http://schemas.microsoft.com/office/drawing/2014/main" val="557133246"/>
                    </a:ext>
                  </a:extLst>
                </a:gridCol>
                <a:gridCol w="3153747">
                  <a:extLst>
                    <a:ext uri="{9D8B030D-6E8A-4147-A177-3AD203B41FA5}">
                      <a16:colId xmlns:a16="http://schemas.microsoft.com/office/drawing/2014/main" val="2004632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Burst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0651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US" sz="18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09321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US" sz="18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25607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US" sz="18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7521930"/>
                  </a:ext>
                </a:extLst>
              </a:tr>
            </a:tbl>
          </a:graphicData>
        </a:graphic>
      </p:graphicFrame>
      <p:grpSp>
        <p:nvGrpSpPr>
          <p:cNvPr id="23555" name="Group 18"/>
          <p:cNvGrpSpPr>
            <a:grpSpLocks/>
          </p:cNvGrpSpPr>
          <p:nvPr/>
        </p:nvGrpSpPr>
        <p:grpSpPr bwMode="auto">
          <a:xfrm>
            <a:off x="2847623" y="4387356"/>
            <a:ext cx="5582193" cy="1091010"/>
            <a:chOff x="866" y="2688"/>
            <a:chExt cx="3516" cy="687"/>
          </a:xfrm>
        </p:grpSpPr>
        <p:sp>
          <p:nvSpPr>
            <p:cNvPr id="23556" name="Rectangle 4"/>
            <p:cNvSpPr>
              <a:spLocks noChangeArrowheads="1"/>
            </p:cNvSpPr>
            <p:nvPr/>
          </p:nvSpPr>
          <p:spPr bwMode="auto">
            <a:xfrm>
              <a:off x="960" y="2688"/>
              <a:ext cx="3312" cy="38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57" name="Text Box 5"/>
            <p:cNvSpPr txBox="1">
              <a:spLocks noChangeArrowheads="1"/>
            </p:cNvSpPr>
            <p:nvPr/>
          </p:nvSpPr>
          <p:spPr bwMode="auto">
            <a:xfrm>
              <a:off x="1795" y="2759"/>
              <a:ext cx="225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300" dirty="0">
                  <a:latin typeface="Helvetica" pitchFamily="-84" charset="0"/>
                </a:rPr>
                <a:t>P</a:t>
              </a:r>
              <a:r>
                <a:rPr lang="en-US" sz="1300" baseline="-25000" dirty="0">
                  <a:latin typeface="Helvetica" pitchFamily="-84" charset="0"/>
                </a:rPr>
                <a:t>1</a:t>
              </a:r>
              <a:endParaRPr lang="en-US" sz="1300" dirty="0">
                <a:latin typeface="Helvetica" pitchFamily="-84" charset="0"/>
              </a:endParaRPr>
            </a:p>
          </p:txBody>
        </p:sp>
        <p:sp>
          <p:nvSpPr>
            <p:cNvPr id="23558" name="Text Box 6"/>
            <p:cNvSpPr txBox="1">
              <a:spLocks noChangeArrowheads="1"/>
            </p:cNvSpPr>
            <p:nvPr/>
          </p:nvSpPr>
          <p:spPr bwMode="auto">
            <a:xfrm>
              <a:off x="3283" y="2759"/>
              <a:ext cx="225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300">
                  <a:latin typeface="Helvetica" pitchFamily="-84" charset="0"/>
                </a:rPr>
                <a:t>P</a:t>
              </a:r>
              <a:r>
                <a:rPr lang="en-US" sz="1300" baseline="-25000">
                  <a:latin typeface="Helvetica" pitchFamily="-84" charset="0"/>
                </a:rPr>
                <a:t>2</a:t>
              </a:r>
              <a:endParaRPr lang="en-US" sz="1300">
                <a:latin typeface="Helvetica" pitchFamily="-84" charset="0"/>
              </a:endParaRPr>
            </a:p>
          </p:txBody>
        </p:sp>
        <p:sp>
          <p:nvSpPr>
            <p:cNvPr id="23559" name="Text Box 7"/>
            <p:cNvSpPr txBox="1">
              <a:spLocks noChangeArrowheads="1"/>
            </p:cNvSpPr>
            <p:nvPr/>
          </p:nvSpPr>
          <p:spPr bwMode="auto">
            <a:xfrm>
              <a:off x="3859" y="2759"/>
              <a:ext cx="225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300">
                  <a:latin typeface="Helvetica" pitchFamily="-84" charset="0"/>
                </a:rPr>
                <a:t>P</a:t>
              </a:r>
              <a:r>
                <a:rPr lang="en-US" sz="1300" baseline="-25000">
                  <a:latin typeface="Helvetica" pitchFamily="-84" charset="0"/>
                </a:rPr>
                <a:t>3</a:t>
              </a:r>
              <a:endParaRPr lang="en-US" sz="1300">
                <a:latin typeface="Helvetica" pitchFamily="-84" charset="0"/>
              </a:endParaRPr>
            </a:p>
          </p:txBody>
        </p:sp>
        <p:sp>
          <p:nvSpPr>
            <p:cNvPr id="23560" name="Line 8"/>
            <p:cNvSpPr>
              <a:spLocks noChangeShapeType="1"/>
            </p:cNvSpPr>
            <p:nvPr/>
          </p:nvSpPr>
          <p:spPr bwMode="auto">
            <a:xfrm>
              <a:off x="960" y="307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61" name="Line 9"/>
            <p:cNvSpPr>
              <a:spLocks noChangeShapeType="1"/>
            </p:cNvSpPr>
            <p:nvPr/>
          </p:nvSpPr>
          <p:spPr bwMode="auto">
            <a:xfrm>
              <a:off x="4272" y="307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62" name="Line 10"/>
            <p:cNvSpPr>
              <a:spLocks noChangeShapeType="1"/>
            </p:cNvSpPr>
            <p:nvPr/>
          </p:nvSpPr>
          <p:spPr bwMode="auto">
            <a:xfrm>
              <a:off x="3072" y="268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63" name="Line 11"/>
            <p:cNvSpPr>
              <a:spLocks noChangeShapeType="1"/>
            </p:cNvSpPr>
            <p:nvPr/>
          </p:nvSpPr>
          <p:spPr bwMode="auto">
            <a:xfrm>
              <a:off x="3648" y="268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64" name="Line 12"/>
            <p:cNvSpPr>
              <a:spLocks noChangeShapeType="1"/>
            </p:cNvSpPr>
            <p:nvPr/>
          </p:nvSpPr>
          <p:spPr bwMode="auto">
            <a:xfrm>
              <a:off x="3072" y="307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65" name="Line 13"/>
            <p:cNvSpPr>
              <a:spLocks noChangeShapeType="1"/>
            </p:cNvSpPr>
            <p:nvPr/>
          </p:nvSpPr>
          <p:spPr bwMode="auto">
            <a:xfrm>
              <a:off x="3648" y="307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66" name="Text Box 14"/>
            <p:cNvSpPr txBox="1">
              <a:spLocks noChangeArrowheads="1"/>
            </p:cNvSpPr>
            <p:nvPr/>
          </p:nvSpPr>
          <p:spPr bwMode="auto">
            <a:xfrm>
              <a:off x="2942" y="3191"/>
              <a:ext cx="233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300" dirty="0">
                  <a:latin typeface="Helvetica" pitchFamily="-84" charset="0"/>
                </a:rPr>
                <a:t>24</a:t>
              </a:r>
            </a:p>
          </p:txBody>
        </p:sp>
        <p:sp>
          <p:nvSpPr>
            <p:cNvPr id="23567" name="Text Box 15"/>
            <p:cNvSpPr txBox="1">
              <a:spLocks noChangeArrowheads="1"/>
            </p:cNvSpPr>
            <p:nvPr/>
          </p:nvSpPr>
          <p:spPr bwMode="auto">
            <a:xfrm>
              <a:off x="3518" y="3191"/>
              <a:ext cx="233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300" dirty="0">
                  <a:latin typeface="Helvetica" pitchFamily="-84" charset="0"/>
                </a:rPr>
                <a:t>27</a:t>
              </a:r>
            </a:p>
          </p:txBody>
        </p:sp>
        <p:sp>
          <p:nvSpPr>
            <p:cNvPr id="23568" name="Text Box 16"/>
            <p:cNvSpPr txBox="1">
              <a:spLocks noChangeArrowheads="1"/>
            </p:cNvSpPr>
            <p:nvPr/>
          </p:nvSpPr>
          <p:spPr bwMode="auto">
            <a:xfrm>
              <a:off x="4149" y="3191"/>
              <a:ext cx="233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300" dirty="0">
                  <a:latin typeface="Helvetica" pitchFamily="-84" charset="0"/>
                </a:rPr>
                <a:t>30</a:t>
              </a:r>
            </a:p>
          </p:txBody>
        </p:sp>
        <p:sp>
          <p:nvSpPr>
            <p:cNvPr id="23569" name="Text Box 17"/>
            <p:cNvSpPr txBox="1">
              <a:spLocks noChangeArrowheads="1"/>
            </p:cNvSpPr>
            <p:nvPr/>
          </p:nvSpPr>
          <p:spPr bwMode="auto">
            <a:xfrm>
              <a:off x="866" y="3191"/>
              <a:ext cx="175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300" dirty="0">
                  <a:latin typeface="Helvetica" pitchFamily="-84" charset="0"/>
                </a:rPr>
                <a:t>0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697550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FCFS Scheduling Policy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19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773B303-CEA4-39FE-8190-A77ECCC638B8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2"/>
            <a:ext cx="10433956" cy="5404758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Suppose that the processes arrive in the order: P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, P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, P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Gantt Chart for the schedule is:</a:t>
            </a:r>
          </a:p>
          <a:p>
            <a:pPr algn="just"/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Waiting time for P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= 6; P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= 0; P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= 3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Average waiting time:  (6 + 0 + 3)/3 = 3</a:t>
            </a:r>
          </a:p>
          <a:p>
            <a:pPr algn="just"/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Much better than the previous case</a:t>
            </a:r>
          </a:p>
          <a:p>
            <a:pPr algn="just"/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Convoy effect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– short process behind long process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Consider one CPU-bound and many I/O-bound processes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5603" name="Group 20"/>
          <p:cNvGrpSpPr>
            <a:grpSpLocks/>
          </p:cNvGrpSpPr>
          <p:nvPr/>
        </p:nvGrpSpPr>
        <p:grpSpPr bwMode="auto">
          <a:xfrm>
            <a:off x="2933358" y="2567765"/>
            <a:ext cx="5525036" cy="1089817"/>
            <a:chOff x="862" y="1650"/>
            <a:chExt cx="3480" cy="687"/>
          </a:xfrm>
        </p:grpSpPr>
        <p:sp>
          <p:nvSpPr>
            <p:cNvPr id="25604" name="Rectangle 6"/>
            <p:cNvSpPr>
              <a:spLocks noChangeArrowheads="1"/>
            </p:cNvSpPr>
            <p:nvPr/>
          </p:nvSpPr>
          <p:spPr bwMode="auto">
            <a:xfrm flipH="1">
              <a:off x="948" y="1650"/>
              <a:ext cx="3312" cy="38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05" name="Text Box 7"/>
            <p:cNvSpPr txBox="1">
              <a:spLocks noChangeArrowheads="1"/>
            </p:cNvSpPr>
            <p:nvPr/>
          </p:nvSpPr>
          <p:spPr bwMode="auto">
            <a:xfrm flipH="1">
              <a:off x="3198" y="1721"/>
              <a:ext cx="225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300">
                  <a:latin typeface="Helvetica" pitchFamily="-84" charset="0"/>
                </a:rPr>
                <a:t>P</a:t>
              </a:r>
              <a:r>
                <a:rPr lang="en-US" sz="1300" baseline="-25000">
                  <a:latin typeface="Helvetica" pitchFamily="-84" charset="0"/>
                </a:rPr>
                <a:t>1</a:t>
              </a:r>
              <a:endParaRPr lang="en-US" sz="1300">
                <a:latin typeface="Helvetica" pitchFamily="-84" charset="0"/>
              </a:endParaRPr>
            </a:p>
          </p:txBody>
        </p:sp>
        <p:sp>
          <p:nvSpPr>
            <p:cNvPr id="25606" name="Text Box 8"/>
            <p:cNvSpPr txBox="1">
              <a:spLocks noChangeArrowheads="1"/>
            </p:cNvSpPr>
            <p:nvPr/>
          </p:nvSpPr>
          <p:spPr bwMode="auto">
            <a:xfrm flipH="1">
              <a:off x="1710" y="1721"/>
              <a:ext cx="225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300">
                  <a:latin typeface="Helvetica" pitchFamily="-84" charset="0"/>
                </a:rPr>
                <a:t>P</a:t>
              </a:r>
              <a:r>
                <a:rPr lang="en-US" sz="1300" baseline="-25000">
                  <a:latin typeface="Helvetica" pitchFamily="-84" charset="0"/>
                </a:rPr>
                <a:t>3</a:t>
              </a:r>
              <a:endParaRPr lang="en-US" sz="1300">
                <a:latin typeface="Helvetica" pitchFamily="-84" charset="0"/>
              </a:endParaRPr>
            </a:p>
          </p:txBody>
        </p:sp>
        <p:sp>
          <p:nvSpPr>
            <p:cNvPr id="25607" name="Text Box 9"/>
            <p:cNvSpPr txBox="1">
              <a:spLocks noChangeArrowheads="1"/>
            </p:cNvSpPr>
            <p:nvPr/>
          </p:nvSpPr>
          <p:spPr bwMode="auto">
            <a:xfrm flipH="1">
              <a:off x="1134" y="1721"/>
              <a:ext cx="225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300">
                  <a:latin typeface="Helvetica" pitchFamily="-84" charset="0"/>
                </a:rPr>
                <a:t>P</a:t>
              </a:r>
              <a:r>
                <a:rPr lang="en-US" sz="1300" baseline="-25000">
                  <a:latin typeface="Helvetica" pitchFamily="-84" charset="0"/>
                </a:rPr>
                <a:t>2</a:t>
              </a:r>
              <a:endParaRPr lang="en-US" sz="1300">
                <a:latin typeface="Helvetica" pitchFamily="-84" charset="0"/>
              </a:endParaRPr>
            </a:p>
          </p:txBody>
        </p:sp>
        <p:sp>
          <p:nvSpPr>
            <p:cNvPr id="25608" name="Line 10"/>
            <p:cNvSpPr>
              <a:spLocks noChangeShapeType="1"/>
            </p:cNvSpPr>
            <p:nvPr/>
          </p:nvSpPr>
          <p:spPr bwMode="auto">
            <a:xfrm flipH="1">
              <a:off x="4260" y="2034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09" name="Line 11"/>
            <p:cNvSpPr>
              <a:spLocks noChangeShapeType="1"/>
            </p:cNvSpPr>
            <p:nvPr/>
          </p:nvSpPr>
          <p:spPr bwMode="auto">
            <a:xfrm flipH="1">
              <a:off x="948" y="2034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10" name="Line 12"/>
            <p:cNvSpPr>
              <a:spLocks noChangeShapeType="1"/>
            </p:cNvSpPr>
            <p:nvPr/>
          </p:nvSpPr>
          <p:spPr bwMode="auto">
            <a:xfrm flipH="1">
              <a:off x="2148" y="1650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11" name="Line 13"/>
            <p:cNvSpPr>
              <a:spLocks noChangeShapeType="1"/>
            </p:cNvSpPr>
            <p:nvPr/>
          </p:nvSpPr>
          <p:spPr bwMode="auto">
            <a:xfrm flipH="1">
              <a:off x="1572" y="1650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12" name="Line 14"/>
            <p:cNvSpPr>
              <a:spLocks noChangeShapeType="1"/>
            </p:cNvSpPr>
            <p:nvPr/>
          </p:nvSpPr>
          <p:spPr bwMode="auto">
            <a:xfrm flipH="1">
              <a:off x="2148" y="2034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13" name="Line 15"/>
            <p:cNvSpPr>
              <a:spLocks noChangeShapeType="1"/>
            </p:cNvSpPr>
            <p:nvPr/>
          </p:nvSpPr>
          <p:spPr bwMode="auto">
            <a:xfrm flipH="1">
              <a:off x="1572" y="2034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14" name="Text Box 16"/>
            <p:cNvSpPr txBox="1">
              <a:spLocks noChangeArrowheads="1"/>
            </p:cNvSpPr>
            <p:nvPr/>
          </p:nvSpPr>
          <p:spPr bwMode="auto">
            <a:xfrm flipH="1">
              <a:off x="2066" y="2153"/>
              <a:ext cx="175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300" dirty="0">
                  <a:latin typeface="Helvetica" pitchFamily="-84" charset="0"/>
                </a:rPr>
                <a:t>6</a:t>
              </a:r>
            </a:p>
          </p:txBody>
        </p:sp>
        <p:sp>
          <p:nvSpPr>
            <p:cNvPr id="25615" name="Text Box 17"/>
            <p:cNvSpPr txBox="1">
              <a:spLocks noChangeArrowheads="1"/>
            </p:cNvSpPr>
            <p:nvPr/>
          </p:nvSpPr>
          <p:spPr bwMode="auto">
            <a:xfrm flipH="1">
              <a:off x="1490" y="2153"/>
              <a:ext cx="175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300" dirty="0">
                  <a:latin typeface="Helvetica" pitchFamily="-84" charset="0"/>
                </a:rPr>
                <a:t>3</a:t>
              </a:r>
            </a:p>
          </p:txBody>
        </p:sp>
        <p:sp>
          <p:nvSpPr>
            <p:cNvPr id="25616" name="Text Box 18"/>
            <p:cNvSpPr txBox="1">
              <a:spLocks noChangeArrowheads="1"/>
            </p:cNvSpPr>
            <p:nvPr/>
          </p:nvSpPr>
          <p:spPr bwMode="auto">
            <a:xfrm flipH="1">
              <a:off x="4109" y="2153"/>
              <a:ext cx="233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300" dirty="0">
                  <a:latin typeface="Helvetica" pitchFamily="-84" charset="0"/>
                </a:rPr>
                <a:t>30</a:t>
              </a:r>
            </a:p>
          </p:txBody>
        </p:sp>
        <p:sp>
          <p:nvSpPr>
            <p:cNvPr id="25617" name="Text Box 19"/>
            <p:cNvSpPr txBox="1">
              <a:spLocks noChangeArrowheads="1"/>
            </p:cNvSpPr>
            <p:nvPr/>
          </p:nvSpPr>
          <p:spPr bwMode="auto">
            <a:xfrm flipH="1">
              <a:off x="862" y="2153"/>
              <a:ext cx="175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300">
                  <a:latin typeface="Helvetica" pitchFamily="-84" charset="0"/>
                </a:rPr>
                <a:t>0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869820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CA098-DA54-BA22-1087-398643486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AE30472F-1813-ED41-5052-AED031A5D8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Class Exercise: FCFS with Arrival Time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F543A5-C1BC-38C6-0FD2-376CD4340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20</a:t>
            </a:fld>
            <a:endParaRPr lang="en-US">
              <a:latin typeface="Calibri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4B35864-D83B-3934-7108-7A2C7CBC2037}"/>
              </a:ext>
            </a:extLst>
          </p:cNvPr>
          <p:cNvGraphicFramePr>
            <a:graphicFrameLocks noGrp="1"/>
          </p:cNvGraphicFramePr>
          <p:nvPr/>
        </p:nvGraphicFramePr>
        <p:xfrm>
          <a:off x="1686465" y="1405466"/>
          <a:ext cx="812799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401221674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74755434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1943949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Burst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Arrival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78361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US" sz="18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56324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US" sz="18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74219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US" sz="18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79561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US" sz="18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8605412"/>
                  </a:ext>
                </a:extLst>
              </a:tr>
            </a:tbl>
          </a:graphicData>
        </a:graphic>
      </p:graphicFrame>
      <p:sp>
        <p:nvSpPr>
          <p:cNvPr id="2" name="Rectangle 3">
            <a:extLst>
              <a:ext uri="{FF2B5EF4-FFF2-40B4-BE49-F238E27FC236}">
                <a16:creationId xmlns:a16="http://schemas.microsoft.com/office/drawing/2014/main" id="{83956E28-89EA-3A29-9D2B-C94E5DD24BAF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2"/>
            <a:ext cx="10433956" cy="5404758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algn="just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Gantt Chart for the schedule is:</a:t>
            </a:r>
          </a:p>
          <a:p>
            <a:pPr algn="just"/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Waiting time for P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= 9; P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= 12; P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= 2; P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= 0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Average waiting time:  (9 + 12 + 2 + 0)/4 = 5.75</a:t>
            </a:r>
          </a:p>
        </p:txBody>
      </p:sp>
      <p:grpSp>
        <p:nvGrpSpPr>
          <p:cNvPr id="4" name="Group 74">
            <a:extLst>
              <a:ext uri="{FF2B5EF4-FFF2-40B4-BE49-F238E27FC236}">
                <a16:creationId xmlns:a16="http://schemas.microsoft.com/office/drawing/2014/main" id="{437FF99A-FC63-BFA5-C44E-68F19FDE327E}"/>
              </a:ext>
            </a:extLst>
          </p:cNvPr>
          <p:cNvGrpSpPr>
            <a:grpSpLocks/>
          </p:cNvGrpSpPr>
          <p:nvPr/>
        </p:nvGrpSpPr>
        <p:grpSpPr bwMode="auto">
          <a:xfrm>
            <a:off x="2790792" y="4310160"/>
            <a:ext cx="5228588" cy="1094601"/>
            <a:chOff x="874" y="2370"/>
            <a:chExt cx="3293" cy="690"/>
          </a:xfrm>
        </p:grpSpPr>
        <p:sp>
          <p:nvSpPr>
            <p:cNvPr id="6" name="Rectangle 37">
              <a:extLst>
                <a:ext uri="{FF2B5EF4-FFF2-40B4-BE49-F238E27FC236}">
                  <a16:creationId xmlns:a16="http://schemas.microsoft.com/office/drawing/2014/main" id="{C4F7A8CC-EE2D-54EE-F1AB-73A8EA3EBD73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960" y="2373"/>
              <a:ext cx="3088" cy="38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" name="Text Box 38">
              <a:extLst>
                <a:ext uri="{FF2B5EF4-FFF2-40B4-BE49-F238E27FC236}">
                  <a16:creationId xmlns:a16="http://schemas.microsoft.com/office/drawing/2014/main" id="{979F6175-3D2A-328E-AA64-859C740BC7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1160" y="2460"/>
              <a:ext cx="225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300">
                  <a:latin typeface="Helvetica" pitchFamily="-84" charset="0"/>
                </a:rPr>
                <a:t>P</a:t>
              </a:r>
              <a:r>
                <a:rPr lang="en-US" sz="1300" baseline="-25000">
                  <a:latin typeface="Helvetica" pitchFamily="-84" charset="0"/>
                </a:rPr>
                <a:t>4</a:t>
              </a:r>
              <a:endParaRPr lang="en-US" sz="1300">
                <a:latin typeface="Helvetica" pitchFamily="-84" charset="0"/>
              </a:endParaRPr>
            </a:p>
          </p:txBody>
        </p:sp>
        <p:sp>
          <p:nvSpPr>
            <p:cNvPr id="8" name="Text Box 39">
              <a:extLst>
                <a:ext uri="{FF2B5EF4-FFF2-40B4-BE49-F238E27FC236}">
                  <a16:creationId xmlns:a16="http://schemas.microsoft.com/office/drawing/2014/main" id="{BFD91B0D-18F0-9595-D7BE-39606E6E9F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2995" y="2453"/>
              <a:ext cx="225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300" dirty="0">
                  <a:latin typeface="Helvetica" pitchFamily="-84" charset="0"/>
                </a:rPr>
                <a:t>P</a:t>
              </a:r>
              <a:r>
                <a:rPr lang="en-US" sz="1300" baseline="-25000" dirty="0">
                  <a:latin typeface="Helvetica" pitchFamily="-84" charset="0"/>
                </a:rPr>
                <a:t>1</a:t>
              </a:r>
              <a:endParaRPr lang="en-US" sz="1300" dirty="0">
                <a:latin typeface="Helvetica" pitchFamily="-84" charset="0"/>
              </a:endParaRPr>
            </a:p>
          </p:txBody>
        </p:sp>
        <p:sp>
          <p:nvSpPr>
            <p:cNvPr id="9" name="Text Box 40">
              <a:extLst>
                <a:ext uri="{FF2B5EF4-FFF2-40B4-BE49-F238E27FC236}">
                  <a16:creationId xmlns:a16="http://schemas.microsoft.com/office/drawing/2014/main" id="{EA11AB63-F332-35D1-570B-DD2483ACC3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2006" y="2460"/>
              <a:ext cx="225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300" dirty="0">
                  <a:latin typeface="Helvetica" pitchFamily="-84" charset="0"/>
                </a:rPr>
                <a:t>P</a:t>
              </a:r>
              <a:r>
                <a:rPr lang="en-US" sz="1300" baseline="-25000" dirty="0">
                  <a:latin typeface="Helvetica" pitchFamily="-84" charset="0"/>
                </a:rPr>
                <a:t>3</a:t>
              </a:r>
              <a:endParaRPr lang="en-US" sz="1300" dirty="0">
                <a:latin typeface="Helvetica" pitchFamily="-84" charset="0"/>
              </a:endParaRPr>
            </a:p>
          </p:txBody>
        </p:sp>
        <p:sp>
          <p:nvSpPr>
            <p:cNvPr id="10" name="Line 41">
              <a:extLst>
                <a:ext uri="{FF2B5EF4-FFF2-40B4-BE49-F238E27FC236}">
                  <a16:creationId xmlns:a16="http://schemas.microsoft.com/office/drawing/2014/main" id="{CDC4A43B-5FB7-8B72-079F-F5FC076AC8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50" y="2748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Line 42">
              <a:extLst>
                <a:ext uri="{FF2B5EF4-FFF2-40B4-BE49-F238E27FC236}">
                  <a16:creationId xmlns:a16="http://schemas.microsoft.com/office/drawing/2014/main" id="{C52BAE88-3ACA-48C9-81FE-9D6BD804B3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60" y="2757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Line 43">
              <a:extLst>
                <a:ext uri="{FF2B5EF4-FFF2-40B4-BE49-F238E27FC236}">
                  <a16:creationId xmlns:a16="http://schemas.microsoft.com/office/drawing/2014/main" id="{9AC63056-4039-050E-76A4-A8994AFF33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88" y="2373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Text Box 48">
              <a:extLst>
                <a:ext uri="{FF2B5EF4-FFF2-40B4-BE49-F238E27FC236}">
                  <a16:creationId xmlns:a16="http://schemas.microsoft.com/office/drawing/2014/main" id="{F858279C-707A-D061-F548-4FF6791A1C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1385" y="2856"/>
              <a:ext cx="175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300">
                  <a:latin typeface="Helvetica" pitchFamily="-84" charset="0"/>
                </a:rPr>
                <a:t>3</a:t>
              </a:r>
            </a:p>
          </p:txBody>
        </p:sp>
        <p:sp>
          <p:nvSpPr>
            <p:cNvPr id="14" name="Text Box 49">
              <a:extLst>
                <a:ext uri="{FF2B5EF4-FFF2-40B4-BE49-F238E27FC236}">
                  <a16:creationId xmlns:a16="http://schemas.microsoft.com/office/drawing/2014/main" id="{B8692687-857A-751A-00AB-96092F8AAC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3334" y="2868"/>
              <a:ext cx="233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300" dirty="0">
                  <a:latin typeface="Helvetica" pitchFamily="-84" charset="0"/>
                </a:rPr>
                <a:t>17</a:t>
              </a:r>
            </a:p>
          </p:txBody>
        </p:sp>
        <p:sp>
          <p:nvSpPr>
            <p:cNvPr id="15" name="Text Box 50">
              <a:extLst>
                <a:ext uri="{FF2B5EF4-FFF2-40B4-BE49-F238E27FC236}">
                  <a16:creationId xmlns:a16="http://schemas.microsoft.com/office/drawing/2014/main" id="{05BAC8E6-4928-5F51-2CEB-1939C16C82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874" y="2876"/>
              <a:ext cx="175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300">
                  <a:latin typeface="Helvetica" pitchFamily="-84" charset="0"/>
                </a:rPr>
                <a:t>0</a:t>
              </a:r>
            </a:p>
          </p:txBody>
        </p:sp>
        <p:sp>
          <p:nvSpPr>
            <p:cNvPr id="16" name="Line 52">
              <a:extLst>
                <a:ext uri="{FF2B5EF4-FFF2-40B4-BE49-F238E27FC236}">
                  <a16:creationId xmlns:a16="http://schemas.microsoft.com/office/drawing/2014/main" id="{67A8EF77-3353-F384-6E3C-DF36DD0B05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56" y="2373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" name="Line 58">
              <a:extLst>
                <a:ext uri="{FF2B5EF4-FFF2-40B4-BE49-F238E27FC236}">
                  <a16:creationId xmlns:a16="http://schemas.microsoft.com/office/drawing/2014/main" id="{711BCF93-BFF2-0784-C985-56B90F8D18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88" y="2757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" name="Line 63">
              <a:extLst>
                <a:ext uri="{FF2B5EF4-FFF2-40B4-BE49-F238E27FC236}">
                  <a16:creationId xmlns:a16="http://schemas.microsoft.com/office/drawing/2014/main" id="{29EE8CA2-FCF2-2A90-8211-BB09837884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56" y="2757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Text Box 64">
              <a:extLst>
                <a:ext uri="{FF2B5EF4-FFF2-40B4-BE49-F238E27FC236}">
                  <a16:creationId xmlns:a16="http://schemas.microsoft.com/office/drawing/2014/main" id="{185BC742-01C0-2E76-C72D-9DCBBA1659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2578" y="2856"/>
              <a:ext cx="226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300" dirty="0">
                  <a:latin typeface="Helvetica" pitchFamily="-84" charset="0"/>
                </a:rPr>
                <a:t>11</a:t>
              </a:r>
            </a:p>
          </p:txBody>
        </p:sp>
        <p:sp>
          <p:nvSpPr>
            <p:cNvPr id="21" name="Line 69">
              <a:extLst>
                <a:ext uri="{FF2B5EF4-FFF2-40B4-BE49-F238E27FC236}">
                  <a16:creationId xmlns:a16="http://schemas.microsoft.com/office/drawing/2014/main" id="{522F0266-E58B-DC3B-6683-991BF853BF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70" y="2370"/>
              <a:ext cx="0" cy="5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2" name="Text Box 70">
              <a:extLst>
                <a:ext uri="{FF2B5EF4-FFF2-40B4-BE49-F238E27FC236}">
                  <a16:creationId xmlns:a16="http://schemas.microsoft.com/office/drawing/2014/main" id="{1F12CFD8-E648-2E43-D1E4-99FCD757B9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3667" y="2459"/>
              <a:ext cx="225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300" dirty="0">
                  <a:latin typeface="Helvetica" pitchFamily="-84" charset="0"/>
                </a:rPr>
                <a:t>P</a:t>
              </a:r>
              <a:r>
                <a:rPr lang="en-US" sz="1300" baseline="-25000" dirty="0">
                  <a:latin typeface="Helvetica" pitchFamily="-84" charset="0"/>
                </a:rPr>
                <a:t>2</a:t>
              </a:r>
              <a:endParaRPr lang="en-US" sz="1300" dirty="0">
                <a:latin typeface="Helvetica" pitchFamily="-84" charset="0"/>
              </a:endParaRPr>
            </a:p>
          </p:txBody>
        </p:sp>
        <p:sp>
          <p:nvSpPr>
            <p:cNvPr id="23" name="Text Box 73">
              <a:extLst>
                <a:ext uri="{FF2B5EF4-FFF2-40B4-BE49-F238E27FC236}">
                  <a16:creationId xmlns:a16="http://schemas.microsoft.com/office/drawing/2014/main" id="{87B42B01-4758-CA01-FADA-AA612D53E7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3934" y="2868"/>
              <a:ext cx="233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300" dirty="0">
                  <a:latin typeface="Helvetica" pitchFamily="-84" charset="0"/>
                </a:rPr>
                <a:t>20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928167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Class Exercise: FCFS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21</a:t>
            </a:fld>
            <a:endParaRPr lang="en-US">
              <a:latin typeface="Calibri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973FA240-0CE1-88B4-2795-3C83BD31BE93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246239"/>
            <a:ext cx="10433956" cy="5611761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algn="just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indent="0" algn="just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indent="0" algn="just">
              <a:buNone/>
            </a:pP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indent="0" algn="just">
              <a:buNone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Complete the table and draw a Gantt chart</a:t>
            </a:r>
          </a:p>
          <a:p>
            <a:pPr algn="just"/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DFCE004F-4D2A-6A75-F5EF-3AD07BE658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1355779"/>
              </p:ext>
            </p:extLst>
          </p:nvPr>
        </p:nvGraphicFramePr>
        <p:xfrm>
          <a:off x="1242961" y="1341834"/>
          <a:ext cx="8128002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152185349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4051294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89571020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424189259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322903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5996937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Proocess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Arrival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Burst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Completion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Turnaround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Waiting time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1158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76528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38332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90600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8771802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8092E-D208-4CA5-DC02-0B144DDE2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41D4BA2E-86E5-16C2-EFBD-BB4A30509A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Class Exercise: FCFS with Arrival Time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08096B0-9ED0-F125-305D-C76017262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22</a:t>
            </a:fld>
            <a:endParaRPr lang="en-US">
              <a:latin typeface="Calibri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DE6D9E5-B851-8605-575F-F784EB4004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9307155"/>
              </p:ext>
            </p:extLst>
          </p:nvPr>
        </p:nvGraphicFramePr>
        <p:xfrm>
          <a:off x="1686465" y="1405466"/>
          <a:ext cx="8127999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401221674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74755434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1943949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Burst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Arrival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78361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US" sz="18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56324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US" sz="18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74219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US" sz="18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79561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US" sz="18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86054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US" sz="18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70127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US" sz="18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9702146"/>
                  </a:ext>
                </a:extLst>
              </a:tr>
            </a:tbl>
          </a:graphicData>
        </a:graphic>
      </p:graphicFrame>
      <p:sp>
        <p:nvSpPr>
          <p:cNvPr id="2" name="Rectangle 3">
            <a:extLst>
              <a:ext uri="{FF2B5EF4-FFF2-40B4-BE49-F238E27FC236}">
                <a16:creationId xmlns:a16="http://schemas.microsoft.com/office/drawing/2014/main" id="{171F792F-2333-FD48-58EA-F56574386973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2"/>
            <a:ext cx="10433956" cy="5404758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algn="just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AE06A14-F222-2431-345E-D89BFC5C90D1}"/>
              </a:ext>
            </a:extLst>
          </p:cNvPr>
          <p:cNvSpPr txBox="1"/>
          <p:nvPr/>
        </p:nvSpPr>
        <p:spPr>
          <a:xfrm>
            <a:off x="2273096" y="5002629"/>
            <a:ext cx="60947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CPU Idleness % = 6/25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Average waiting time: ?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26430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54BEF-6180-D201-6E81-D9D768C82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F5AE0C50-6FEC-4D7D-0CB0-50A270CDFB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Class Exercise: FCFS with IO Burst Time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C1A8E46-BCD4-A0D8-320D-4E3BD3880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23</a:t>
            </a:fld>
            <a:endParaRPr lang="en-US">
              <a:latin typeface="Calibri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6993A9A7-F618-4086-614B-5F9E38AE33E0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260987"/>
            <a:ext cx="10433956" cy="5597013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algn="just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indent="0" algn="just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CPU Overhead  = 1 unit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Gantt Chart for the schedule is:</a:t>
            </a:r>
          </a:p>
          <a:p>
            <a:pPr algn="just"/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02B19600-E914-5C6E-117A-DE4C81DF76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3308425"/>
              </p:ext>
            </p:extLst>
          </p:nvPr>
        </p:nvGraphicFramePr>
        <p:xfrm>
          <a:off x="1314886" y="1473503"/>
          <a:ext cx="8128002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140599159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97123904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27207214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78515003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59471434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6423780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Arrival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Burst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IO Burst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Burst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Wait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42659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54359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17771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6252679"/>
                  </a:ext>
                </a:extLst>
              </a:tr>
            </a:tbl>
          </a:graphicData>
        </a:graphic>
      </p:graphicFrame>
      <p:pic>
        <p:nvPicPr>
          <p:cNvPr id="25" name="Picture 24">
            <a:extLst>
              <a:ext uri="{FF2B5EF4-FFF2-40B4-BE49-F238E27FC236}">
                <a16:creationId xmlns:a16="http://schemas.microsoft.com/office/drawing/2014/main" id="{4CABD628-1A58-138E-7F33-01812CFB58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3757" y="3989439"/>
            <a:ext cx="7017467" cy="197061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92409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4231D-BD69-E79D-DA06-6929496C1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4F1BBA58-624F-2F9A-B61F-111D084CB5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Class Exercise: FCFS with IO Burst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5ABF8A1-7BEE-9D89-DAAE-7A9BABD25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24</a:t>
            </a:fld>
            <a:endParaRPr lang="en-US">
              <a:latin typeface="Calibri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2B7A75EB-F962-2545-A32B-2CF1D2B944DB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2"/>
            <a:ext cx="10433956" cy="5404758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algn="just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CPU overhead is 1 unit</a:t>
            </a:r>
          </a:p>
          <a:p>
            <a:pPr algn="just"/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1B871C11-E409-E1D8-8B3C-E8A29F90F6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6237182"/>
              </p:ext>
            </p:extLst>
          </p:nvPr>
        </p:nvGraphicFramePr>
        <p:xfrm>
          <a:off x="1314886" y="1473503"/>
          <a:ext cx="8128002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140599159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97123904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27207214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78515003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59471434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6423780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Arrival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IO Burst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Burst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IO Burst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Wait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42659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54359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17771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6252679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468638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Comments on FCFS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25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773B303-CEA4-39FE-8190-A77ECCC638B8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2"/>
            <a:ext cx="10247343" cy="5404758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Advantage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Simple and easy to program</a:t>
            </a:r>
          </a:p>
          <a:p>
            <a:pPr lvl="1" algn="just"/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Disadvantages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Non-Preemptive scheduling algorithm so after the process has been allocated to the CPU, it will never release the CPU until it finishes executing or blocked.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Average Waiting Time is high.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Short processes at the back wait for the long process at the front.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Not an ideal technique for time-sharing systems.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058800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Shortest Job First (SJF) Scheduling Policy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26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773B303-CEA4-39FE-8190-A77ECCC638B8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2"/>
            <a:ext cx="10433956" cy="5096848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Associate with each process the length of its next CPU burst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 these lengths to schedule the process with the shortest time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once CPU given to the process it cannot be preempted until completes its CPU burst</a:t>
            </a:r>
          </a:p>
          <a:p>
            <a:pPr lvl="1"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SJF is optimal – gives minimum average waiting time and turnaround time for a given set of processes</a:t>
            </a:r>
          </a:p>
          <a:p>
            <a:pPr lvl="1"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Disadvantages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Can cause starvation if there is a steady supply of shorter processes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Difficult to know the future (length of the next CPU request)</a:t>
            </a:r>
          </a:p>
          <a:p>
            <a:pPr lvl="2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Could ask the user</a:t>
            </a:r>
          </a:p>
          <a:p>
            <a:pPr lvl="2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Estimate CPU burst length based on past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425092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SJF Scheduling Policy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27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773B303-CEA4-39FE-8190-A77ECCC638B8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2"/>
            <a:ext cx="10433956" cy="5404758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algn="just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Gantt Chart for the schedule is:</a:t>
            </a:r>
          </a:p>
          <a:p>
            <a:pPr algn="just"/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Waiting time for P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= 3; P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= 16; P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= 9; P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= 0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Average waiting time:  (3 + 16 + 9 + 0)/4 = 7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5831112-9B3C-E882-C1B2-93F9A11E3E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1878913"/>
              </p:ext>
            </p:extLst>
          </p:nvPr>
        </p:nvGraphicFramePr>
        <p:xfrm>
          <a:off x="2575249" y="1453242"/>
          <a:ext cx="6307494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3747">
                  <a:extLst>
                    <a:ext uri="{9D8B030D-6E8A-4147-A177-3AD203B41FA5}">
                      <a16:colId xmlns:a16="http://schemas.microsoft.com/office/drawing/2014/main" val="557133246"/>
                    </a:ext>
                  </a:extLst>
                </a:gridCol>
                <a:gridCol w="3153747">
                  <a:extLst>
                    <a:ext uri="{9D8B030D-6E8A-4147-A177-3AD203B41FA5}">
                      <a16:colId xmlns:a16="http://schemas.microsoft.com/office/drawing/2014/main" val="2004632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Burst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0651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US" sz="18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09321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US" sz="18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25607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US" sz="18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75219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US" sz="18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0563988"/>
                  </a:ext>
                </a:extLst>
              </a:tr>
            </a:tbl>
          </a:graphicData>
        </a:graphic>
      </p:graphicFrame>
      <p:grpSp>
        <p:nvGrpSpPr>
          <p:cNvPr id="29699" name="Group 74"/>
          <p:cNvGrpSpPr>
            <a:grpSpLocks/>
          </p:cNvGrpSpPr>
          <p:nvPr/>
        </p:nvGrpSpPr>
        <p:grpSpPr bwMode="auto">
          <a:xfrm>
            <a:off x="2790792" y="4310160"/>
            <a:ext cx="5885935" cy="1094601"/>
            <a:chOff x="874" y="2370"/>
            <a:chExt cx="3707" cy="690"/>
          </a:xfrm>
        </p:grpSpPr>
        <p:sp>
          <p:nvSpPr>
            <p:cNvPr id="29700" name="Rectangle 37"/>
            <p:cNvSpPr>
              <a:spLocks noChangeArrowheads="1"/>
            </p:cNvSpPr>
            <p:nvPr/>
          </p:nvSpPr>
          <p:spPr bwMode="auto">
            <a:xfrm flipH="1">
              <a:off x="960" y="2373"/>
              <a:ext cx="3504" cy="38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01" name="Text Box 38"/>
            <p:cNvSpPr txBox="1">
              <a:spLocks noChangeArrowheads="1"/>
            </p:cNvSpPr>
            <p:nvPr/>
          </p:nvSpPr>
          <p:spPr bwMode="auto">
            <a:xfrm flipH="1">
              <a:off x="1028" y="2436"/>
              <a:ext cx="225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300">
                  <a:latin typeface="Helvetica" pitchFamily="-84" charset="0"/>
                </a:rPr>
                <a:t>P</a:t>
              </a:r>
              <a:r>
                <a:rPr lang="en-US" sz="1300" baseline="-25000">
                  <a:latin typeface="Helvetica" pitchFamily="-84" charset="0"/>
                </a:rPr>
                <a:t>4</a:t>
              </a:r>
              <a:endParaRPr lang="en-US" sz="1300">
                <a:latin typeface="Helvetica" pitchFamily="-84" charset="0"/>
              </a:endParaRPr>
            </a:p>
          </p:txBody>
        </p:sp>
        <p:sp>
          <p:nvSpPr>
            <p:cNvPr id="29702" name="Text Box 39"/>
            <p:cNvSpPr txBox="1">
              <a:spLocks noChangeArrowheads="1"/>
            </p:cNvSpPr>
            <p:nvPr/>
          </p:nvSpPr>
          <p:spPr bwMode="auto">
            <a:xfrm flipH="1">
              <a:off x="2995" y="2423"/>
              <a:ext cx="225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300">
                  <a:latin typeface="Helvetica" pitchFamily="-84" charset="0"/>
                </a:rPr>
                <a:t>P</a:t>
              </a:r>
              <a:r>
                <a:rPr lang="en-US" sz="1300" baseline="-25000">
                  <a:latin typeface="Helvetica" pitchFamily="-84" charset="0"/>
                </a:rPr>
                <a:t>3</a:t>
              </a:r>
              <a:endParaRPr lang="en-US" sz="1300">
                <a:latin typeface="Helvetica" pitchFamily="-84" charset="0"/>
              </a:endParaRPr>
            </a:p>
          </p:txBody>
        </p:sp>
        <p:sp>
          <p:nvSpPr>
            <p:cNvPr id="29703" name="Text Box 40"/>
            <p:cNvSpPr txBox="1">
              <a:spLocks noChangeArrowheads="1"/>
            </p:cNvSpPr>
            <p:nvPr/>
          </p:nvSpPr>
          <p:spPr bwMode="auto">
            <a:xfrm flipH="1">
              <a:off x="1988" y="2472"/>
              <a:ext cx="225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300">
                  <a:latin typeface="Helvetica" pitchFamily="-84" charset="0"/>
                </a:rPr>
                <a:t>P</a:t>
              </a:r>
              <a:r>
                <a:rPr lang="en-US" sz="1300" baseline="-25000">
                  <a:latin typeface="Helvetica" pitchFamily="-84" charset="0"/>
                </a:rPr>
                <a:t>1</a:t>
              </a:r>
              <a:endParaRPr lang="en-US" sz="1300">
                <a:latin typeface="Helvetica" pitchFamily="-84" charset="0"/>
              </a:endParaRPr>
            </a:p>
          </p:txBody>
        </p:sp>
        <p:sp>
          <p:nvSpPr>
            <p:cNvPr id="29704" name="Line 41"/>
            <p:cNvSpPr>
              <a:spLocks noChangeShapeType="1"/>
            </p:cNvSpPr>
            <p:nvPr/>
          </p:nvSpPr>
          <p:spPr bwMode="auto">
            <a:xfrm flipH="1">
              <a:off x="4464" y="2748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05" name="Line 42"/>
            <p:cNvSpPr>
              <a:spLocks noChangeShapeType="1"/>
            </p:cNvSpPr>
            <p:nvPr/>
          </p:nvSpPr>
          <p:spPr bwMode="auto">
            <a:xfrm flipH="1">
              <a:off x="960" y="2757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06" name="Line 43"/>
            <p:cNvSpPr>
              <a:spLocks noChangeShapeType="1"/>
            </p:cNvSpPr>
            <p:nvPr/>
          </p:nvSpPr>
          <p:spPr bwMode="auto">
            <a:xfrm flipH="1">
              <a:off x="2688" y="2373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07" name="Text Box 48"/>
            <p:cNvSpPr txBox="1">
              <a:spLocks noChangeArrowheads="1"/>
            </p:cNvSpPr>
            <p:nvPr/>
          </p:nvSpPr>
          <p:spPr bwMode="auto">
            <a:xfrm flipH="1">
              <a:off x="1547" y="2856"/>
              <a:ext cx="175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300">
                  <a:latin typeface="Helvetica" pitchFamily="-84" charset="0"/>
                </a:rPr>
                <a:t>3</a:t>
              </a:r>
            </a:p>
          </p:txBody>
        </p:sp>
        <p:sp>
          <p:nvSpPr>
            <p:cNvPr id="29708" name="Text Box 49"/>
            <p:cNvSpPr txBox="1">
              <a:spLocks noChangeArrowheads="1"/>
            </p:cNvSpPr>
            <p:nvPr/>
          </p:nvSpPr>
          <p:spPr bwMode="auto">
            <a:xfrm flipH="1">
              <a:off x="3334" y="2868"/>
              <a:ext cx="233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300" dirty="0">
                  <a:latin typeface="Helvetica" pitchFamily="-84" charset="0"/>
                </a:rPr>
                <a:t>16</a:t>
              </a:r>
            </a:p>
          </p:txBody>
        </p:sp>
        <p:sp>
          <p:nvSpPr>
            <p:cNvPr id="29709" name="Text Box 50"/>
            <p:cNvSpPr txBox="1">
              <a:spLocks noChangeArrowheads="1"/>
            </p:cNvSpPr>
            <p:nvPr/>
          </p:nvSpPr>
          <p:spPr bwMode="auto">
            <a:xfrm flipH="1">
              <a:off x="874" y="2876"/>
              <a:ext cx="175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300">
                  <a:latin typeface="Helvetica" pitchFamily="-84" charset="0"/>
                </a:rPr>
                <a:t>0</a:t>
              </a:r>
            </a:p>
          </p:txBody>
        </p:sp>
        <p:sp>
          <p:nvSpPr>
            <p:cNvPr id="29710" name="Line 52"/>
            <p:cNvSpPr>
              <a:spLocks noChangeShapeType="1"/>
            </p:cNvSpPr>
            <p:nvPr/>
          </p:nvSpPr>
          <p:spPr bwMode="auto">
            <a:xfrm flipH="1">
              <a:off x="3456" y="2373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11" name="Line 54"/>
            <p:cNvSpPr>
              <a:spLocks noChangeShapeType="1"/>
            </p:cNvSpPr>
            <p:nvPr/>
          </p:nvSpPr>
          <p:spPr bwMode="auto">
            <a:xfrm flipH="1">
              <a:off x="1632" y="2686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12" name="Line 58"/>
            <p:cNvSpPr>
              <a:spLocks noChangeShapeType="1"/>
            </p:cNvSpPr>
            <p:nvPr/>
          </p:nvSpPr>
          <p:spPr bwMode="auto">
            <a:xfrm flipH="1">
              <a:off x="2688" y="2757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13" name="Line 63"/>
            <p:cNvSpPr>
              <a:spLocks noChangeShapeType="1"/>
            </p:cNvSpPr>
            <p:nvPr/>
          </p:nvSpPr>
          <p:spPr bwMode="auto">
            <a:xfrm flipH="1">
              <a:off x="3456" y="2757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14" name="Text Box 64"/>
            <p:cNvSpPr txBox="1">
              <a:spLocks noChangeArrowheads="1"/>
            </p:cNvSpPr>
            <p:nvPr/>
          </p:nvSpPr>
          <p:spPr bwMode="auto">
            <a:xfrm flipH="1">
              <a:off x="2603" y="2856"/>
              <a:ext cx="175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300">
                  <a:latin typeface="Helvetica" pitchFamily="-84" charset="0"/>
                </a:rPr>
                <a:t>9</a:t>
              </a:r>
            </a:p>
          </p:txBody>
        </p:sp>
        <p:sp>
          <p:nvSpPr>
            <p:cNvPr id="29715" name="Line 69"/>
            <p:cNvSpPr>
              <a:spLocks noChangeShapeType="1"/>
            </p:cNvSpPr>
            <p:nvPr/>
          </p:nvSpPr>
          <p:spPr bwMode="auto">
            <a:xfrm flipH="1">
              <a:off x="1632" y="2370"/>
              <a:ext cx="0" cy="5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9716" name="Text Box 70"/>
            <p:cNvSpPr txBox="1">
              <a:spLocks noChangeArrowheads="1"/>
            </p:cNvSpPr>
            <p:nvPr/>
          </p:nvSpPr>
          <p:spPr bwMode="auto">
            <a:xfrm flipH="1">
              <a:off x="3763" y="2423"/>
              <a:ext cx="225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300">
                  <a:latin typeface="Helvetica" pitchFamily="-84" charset="0"/>
                </a:rPr>
                <a:t>P</a:t>
              </a:r>
              <a:r>
                <a:rPr lang="en-US" sz="1300" baseline="-25000">
                  <a:latin typeface="Helvetica" pitchFamily="-84" charset="0"/>
                </a:rPr>
                <a:t>2</a:t>
              </a:r>
              <a:endParaRPr lang="en-US" sz="1300">
                <a:latin typeface="Helvetica" pitchFamily="-84" charset="0"/>
              </a:endParaRPr>
            </a:p>
          </p:txBody>
        </p:sp>
        <p:sp>
          <p:nvSpPr>
            <p:cNvPr id="29717" name="Text Box 73"/>
            <p:cNvSpPr txBox="1">
              <a:spLocks noChangeArrowheads="1"/>
            </p:cNvSpPr>
            <p:nvPr/>
          </p:nvSpPr>
          <p:spPr bwMode="auto">
            <a:xfrm flipH="1">
              <a:off x="4348" y="2868"/>
              <a:ext cx="233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300">
                  <a:latin typeface="Helvetica" pitchFamily="-84" charset="0"/>
                </a:rPr>
                <a:t>24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916577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Class Exercise: SJF Scheduling Policy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28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773B303-CEA4-39FE-8190-A77ECCC638B8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2"/>
            <a:ext cx="10433956" cy="5404758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algn="just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Gantt Chart for the schedule is:</a:t>
            </a:r>
          </a:p>
          <a:p>
            <a:pPr algn="just"/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Waiting time for P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= 7; P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= 14; P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= 3; P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= 0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Average waiting time:  (7 + 14 + 3 + 0)/4 = 6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5831112-9B3C-E882-C1B2-93F9A11E3E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2129160"/>
              </p:ext>
            </p:extLst>
          </p:nvPr>
        </p:nvGraphicFramePr>
        <p:xfrm>
          <a:off x="2575249" y="1453242"/>
          <a:ext cx="6307494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3747">
                  <a:extLst>
                    <a:ext uri="{9D8B030D-6E8A-4147-A177-3AD203B41FA5}">
                      <a16:colId xmlns:a16="http://schemas.microsoft.com/office/drawing/2014/main" val="557133246"/>
                    </a:ext>
                  </a:extLst>
                </a:gridCol>
                <a:gridCol w="3153747">
                  <a:extLst>
                    <a:ext uri="{9D8B030D-6E8A-4147-A177-3AD203B41FA5}">
                      <a16:colId xmlns:a16="http://schemas.microsoft.com/office/drawing/2014/main" val="2004632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Burst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0651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US" sz="18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09321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US" sz="18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25607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US" sz="18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75219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US" sz="18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0563988"/>
                  </a:ext>
                </a:extLst>
              </a:tr>
            </a:tbl>
          </a:graphicData>
        </a:graphic>
      </p:graphicFrame>
      <p:grpSp>
        <p:nvGrpSpPr>
          <p:cNvPr id="4" name="Group 74"/>
          <p:cNvGrpSpPr>
            <a:grpSpLocks/>
          </p:cNvGrpSpPr>
          <p:nvPr/>
        </p:nvGrpSpPr>
        <p:grpSpPr bwMode="auto">
          <a:xfrm>
            <a:off x="2799181" y="4298409"/>
            <a:ext cx="5876408" cy="1219924"/>
            <a:chOff x="874" y="2352"/>
            <a:chExt cx="3701" cy="769"/>
          </a:xfrm>
        </p:grpSpPr>
        <p:sp>
          <p:nvSpPr>
            <p:cNvPr id="5" name="Rectangle 37"/>
            <p:cNvSpPr>
              <a:spLocks noChangeArrowheads="1"/>
            </p:cNvSpPr>
            <p:nvPr/>
          </p:nvSpPr>
          <p:spPr bwMode="auto">
            <a:xfrm flipH="1">
              <a:off x="960" y="2373"/>
              <a:ext cx="3504" cy="38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" name="Text Box 38"/>
            <p:cNvSpPr txBox="1">
              <a:spLocks noChangeArrowheads="1"/>
            </p:cNvSpPr>
            <p:nvPr/>
          </p:nvSpPr>
          <p:spPr bwMode="auto">
            <a:xfrm flipH="1">
              <a:off x="1135" y="2448"/>
              <a:ext cx="225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300" dirty="0">
                  <a:latin typeface="Helvetica" pitchFamily="-84" charset="0"/>
                </a:rPr>
                <a:t>P</a:t>
              </a:r>
              <a:r>
                <a:rPr lang="en-US" sz="1300" baseline="-25000" dirty="0">
                  <a:latin typeface="Helvetica" pitchFamily="-84" charset="0"/>
                </a:rPr>
                <a:t>4</a:t>
              </a:r>
              <a:endParaRPr lang="en-US" sz="1300" dirty="0">
                <a:latin typeface="Helvetica" pitchFamily="-84" charset="0"/>
              </a:endParaRPr>
            </a:p>
          </p:txBody>
        </p:sp>
        <p:sp>
          <p:nvSpPr>
            <p:cNvPr id="7" name="Text Box 39"/>
            <p:cNvSpPr txBox="1">
              <a:spLocks noChangeArrowheads="1"/>
            </p:cNvSpPr>
            <p:nvPr/>
          </p:nvSpPr>
          <p:spPr bwMode="auto">
            <a:xfrm flipH="1">
              <a:off x="2847" y="2456"/>
              <a:ext cx="225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300" dirty="0">
                  <a:latin typeface="Helvetica" pitchFamily="-84" charset="0"/>
                </a:rPr>
                <a:t>P</a:t>
              </a:r>
              <a:r>
                <a:rPr lang="en-US" sz="1300" baseline="-25000" dirty="0">
                  <a:latin typeface="Helvetica" pitchFamily="-84" charset="0"/>
                </a:rPr>
                <a:t>1</a:t>
              </a:r>
              <a:endParaRPr lang="en-US" sz="1300" dirty="0">
                <a:latin typeface="Helvetica" pitchFamily="-84" charset="0"/>
              </a:endParaRPr>
            </a:p>
          </p:txBody>
        </p:sp>
        <p:sp>
          <p:nvSpPr>
            <p:cNvPr id="8" name="Text Box 40"/>
            <p:cNvSpPr txBox="1">
              <a:spLocks noChangeArrowheads="1"/>
            </p:cNvSpPr>
            <p:nvPr/>
          </p:nvSpPr>
          <p:spPr bwMode="auto">
            <a:xfrm flipH="1">
              <a:off x="1887" y="2472"/>
              <a:ext cx="225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300" dirty="0">
                  <a:latin typeface="Helvetica" pitchFamily="-84" charset="0"/>
                </a:rPr>
                <a:t>P</a:t>
              </a:r>
              <a:r>
                <a:rPr lang="en-US" sz="1300" baseline="-25000" dirty="0">
                  <a:latin typeface="Helvetica" pitchFamily="-84" charset="0"/>
                </a:rPr>
                <a:t>3</a:t>
              </a:r>
              <a:endParaRPr lang="en-US" sz="1300" dirty="0">
                <a:latin typeface="Helvetica" pitchFamily="-84" charset="0"/>
              </a:endParaRPr>
            </a:p>
          </p:txBody>
        </p:sp>
        <p:sp>
          <p:nvSpPr>
            <p:cNvPr id="9" name="Line 41"/>
            <p:cNvSpPr>
              <a:spLocks noChangeShapeType="1"/>
            </p:cNvSpPr>
            <p:nvPr/>
          </p:nvSpPr>
          <p:spPr bwMode="auto">
            <a:xfrm flipH="1">
              <a:off x="4464" y="2748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" name="Line 42"/>
            <p:cNvSpPr>
              <a:spLocks noChangeShapeType="1"/>
            </p:cNvSpPr>
            <p:nvPr/>
          </p:nvSpPr>
          <p:spPr bwMode="auto">
            <a:xfrm flipH="1">
              <a:off x="960" y="2757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Line 43"/>
            <p:cNvSpPr>
              <a:spLocks noChangeShapeType="1"/>
            </p:cNvSpPr>
            <p:nvPr/>
          </p:nvSpPr>
          <p:spPr bwMode="auto">
            <a:xfrm flipH="1">
              <a:off x="2319" y="2364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Text Box 48"/>
            <p:cNvSpPr txBox="1">
              <a:spLocks noChangeArrowheads="1"/>
            </p:cNvSpPr>
            <p:nvPr/>
          </p:nvSpPr>
          <p:spPr bwMode="auto">
            <a:xfrm flipH="1">
              <a:off x="1547" y="2937"/>
              <a:ext cx="175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300" dirty="0">
                  <a:latin typeface="Helvetica" pitchFamily="-84" charset="0"/>
                </a:rPr>
                <a:t>3</a:t>
              </a:r>
            </a:p>
          </p:txBody>
        </p:sp>
        <p:sp>
          <p:nvSpPr>
            <p:cNvPr id="14" name="Text Box 49"/>
            <p:cNvSpPr txBox="1">
              <a:spLocks noChangeArrowheads="1"/>
            </p:cNvSpPr>
            <p:nvPr/>
          </p:nvSpPr>
          <p:spPr bwMode="auto">
            <a:xfrm flipH="1">
              <a:off x="3334" y="2868"/>
              <a:ext cx="233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300" dirty="0">
                  <a:latin typeface="Helvetica" pitchFamily="-84" charset="0"/>
                </a:rPr>
                <a:t>14</a:t>
              </a:r>
            </a:p>
          </p:txBody>
        </p:sp>
        <p:sp>
          <p:nvSpPr>
            <p:cNvPr id="15" name="Text Box 50"/>
            <p:cNvSpPr txBox="1">
              <a:spLocks noChangeArrowheads="1"/>
            </p:cNvSpPr>
            <p:nvPr/>
          </p:nvSpPr>
          <p:spPr bwMode="auto">
            <a:xfrm flipH="1">
              <a:off x="874" y="2876"/>
              <a:ext cx="175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300">
                  <a:latin typeface="Helvetica" pitchFamily="-84" charset="0"/>
                </a:rPr>
                <a:t>0</a:t>
              </a:r>
            </a:p>
          </p:txBody>
        </p:sp>
        <p:sp>
          <p:nvSpPr>
            <p:cNvPr id="16" name="Line 52"/>
            <p:cNvSpPr>
              <a:spLocks noChangeShapeType="1"/>
            </p:cNvSpPr>
            <p:nvPr/>
          </p:nvSpPr>
          <p:spPr bwMode="auto">
            <a:xfrm flipH="1">
              <a:off x="3456" y="2373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Line 54"/>
            <p:cNvSpPr>
              <a:spLocks noChangeShapeType="1"/>
            </p:cNvSpPr>
            <p:nvPr/>
          </p:nvSpPr>
          <p:spPr bwMode="auto">
            <a:xfrm flipH="1">
              <a:off x="1632" y="2686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" name="Line 58"/>
            <p:cNvSpPr>
              <a:spLocks noChangeShapeType="1"/>
            </p:cNvSpPr>
            <p:nvPr/>
          </p:nvSpPr>
          <p:spPr bwMode="auto">
            <a:xfrm flipH="1">
              <a:off x="2320" y="2736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" name="Line 63"/>
            <p:cNvSpPr>
              <a:spLocks noChangeShapeType="1"/>
            </p:cNvSpPr>
            <p:nvPr/>
          </p:nvSpPr>
          <p:spPr bwMode="auto">
            <a:xfrm flipH="1">
              <a:off x="3456" y="2757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Text Box 64"/>
            <p:cNvSpPr txBox="1">
              <a:spLocks noChangeArrowheads="1"/>
            </p:cNvSpPr>
            <p:nvPr/>
          </p:nvSpPr>
          <p:spPr bwMode="auto">
            <a:xfrm flipH="1">
              <a:off x="2223" y="2889"/>
              <a:ext cx="175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300" dirty="0">
                  <a:latin typeface="Helvetica" pitchFamily="-84" charset="0"/>
                </a:rPr>
                <a:t>7</a:t>
              </a:r>
            </a:p>
          </p:txBody>
        </p:sp>
        <p:sp>
          <p:nvSpPr>
            <p:cNvPr id="21" name="Line 69"/>
            <p:cNvSpPr>
              <a:spLocks noChangeShapeType="1"/>
            </p:cNvSpPr>
            <p:nvPr/>
          </p:nvSpPr>
          <p:spPr bwMode="auto">
            <a:xfrm flipH="1">
              <a:off x="1632" y="2352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" name="Text Box 70"/>
            <p:cNvSpPr txBox="1">
              <a:spLocks noChangeArrowheads="1"/>
            </p:cNvSpPr>
            <p:nvPr/>
          </p:nvSpPr>
          <p:spPr bwMode="auto">
            <a:xfrm flipH="1">
              <a:off x="3822" y="2456"/>
              <a:ext cx="225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300" dirty="0">
                  <a:latin typeface="Helvetica" pitchFamily="-84" charset="0"/>
                </a:rPr>
                <a:t>P</a:t>
              </a:r>
              <a:r>
                <a:rPr lang="en-US" sz="1300" baseline="-25000" dirty="0">
                  <a:latin typeface="Helvetica" pitchFamily="-84" charset="0"/>
                </a:rPr>
                <a:t>2</a:t>
              </a:r>
              <a:endParaRPr lang="en-US" sz="1300" dirty="0">
                <a:latin typeface="Helvetica" pitchFamily="-84" charset="0"/>
              </a:endParaRPr>
            </a:p>
          </p:txBody>
        </p:sp>
        <p:sp>
          <p:nvSpPr>
            <p:cNvPr id="23" name="Text Box 73"/>
            <p:cNvSpPr txBox="1">
              <a:spLocks noChangeArrowheads="1"/>
            </p:cNvSpPr>
            <p:nvPr/>
          </p:nvSpPr>
          <p:spPr bwMode="auto">
            <a:xfrm flipH="1">
              <a:off x="4342" y="2868"/>
              <a:ext cx="233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300" dirty="0">
                  <a:latin typeface="Helvetica" pitchFamily="-84" charset="0"/>
                </a:rPr>
                <a:t>22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091040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Class Exercise: SJF with Arrival Time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29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773B303-CEA4-39FE-8190-A77ECCC638B8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2"/>
            <a:ext cx="10433956" cy="5404758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algn="just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Gantt Chart for the schedule is:</a:t>
            </a:r>
          </a:p>
          <a:p>
            <a:pPr algn="just"/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Waiting time for P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= 0; P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= 14; P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= 2; P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= 6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Average waiting time:  (0 + 14 + 2 + 6)/4 = 5.5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5831112-9B3C-E882-C1B2-93F9A11E3E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7587474"/>
              </p:ext>
            </p:extLst>
          </p:nvPr>
        </p:nvGraphicFramePr>
        <p:xfrm>
          <a:off x="2575249" y="1453242"/>
          <a:ext cx="6307494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2498">
                  <a:extLst>
                    <a:ext uri="{9D8B030D-6E8A-4147-A177-3AD203B41FA5}">
                      <a16:colId xmlns:a16="http://schemas.microsoft.com/office/drawing/2014/main" val="557133246"/>
                    </a:ext>
                  </a:extLst>
                </a:gridCol>
                <a:gridCol w="2102498">
                  <a:extLst>
                    <a:ext uri="{9D8B030D-6E8A-4147-A177-3AD203B41FA5}">
                      <a16:colId xmlns:a16="http://schemas.microsoft.com/office/drawing/2014/main" val="200463272"/>
                    </a:ext>
                  </a:extLst>
                </a:gridCol>
                <a:gridCol w="2102498">
                  <a:extLst>
                    <a:ext uri="{9D8B030D-6E8A-4147-A177-3AD203B41FA5}">
                      <a16:colId xmlns:a16="http://schemas.microsoft.com/office/drawing/2014/main" val="38718644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Arrival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Burst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0651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US" sz="18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09321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US" sz="18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25607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US" sz="18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75219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US" sz="18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0563988"/>
                  </a:ext>
                </a:extLst>
              </a:tr>
            </a:tbl>
          </a:graphicData>
        </a:graphic>
      </p:graphicFrame>
      <p:grpSp>
        <p:nvGrpSpPr>
          <p:cNvPr id="24" name="Group 74"/>
          <p:cNvGrpSpPr>
            <a:grpSpLocks/>
          </p:cNvGrpSpPr>
          <p:nvPr/>
        </p:nvGrpSpPr>
        <p:grpSpPr bwMode="auto">
          <a:xfrm>
            <a:off x="2892264" y="4278522"/>
            <a:ext cx="5876408" cy="1143780"/>
            <a:chOff x="874" y="2364"/>
            <a:chExt cx="3701" cy="721"/>
          </a:xfrm>
        </p:grpSpPr>
        <p:sp>
          <p:nvSpPr>
            <p:cNvPr id="25" name="Rectangle 37"/>
            <p:cNvSpPr>
              <a:spLocks noChangeArrowheads="1"/>
            </p:cNvSpPr>
            <p:nvPr/>
          </p:nvSpPr>
          <p:spPr bwMode="auto">
            <a:xfrm flipH="1">
              <a:off x="960" y="2373"/>
              <a:ext cx="3504" cy="38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" name="Text Box 38"/>
            <p:cNvSpPr txBox="1">
              <a:spLocks noChangeArrowheads="1"/>
            </p:cNvSpPr>
            <p:nvPr/>
          </p:nvSpPr>
          <p:spPr bwMode="auto">
            <a:xfrm flipH="1">
              <a:off x="1135" y="2448"/>
              <a:ext cx="225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300" dirty="0">
                  <a:latin typeface="Helvetica" pitchFamily="-84" charset="0"/>
                </a:rPr>
                <a:t>P</a:t>
              </a:r>
              <a:r>
                <a:rPr lang="en-US" sz="1300" baseline="-25000" dirty="0">
                  <a:latin typeface="Helvetica" pitchFamily="-84" charset="0"/>
                </a:rPr>
                <a:t>1</a:t>
              </a:r>
              <a:endParaRPr lang="en-US" sz="1300" dirty="0">
                <a:latin typeface="Helvetica" pitchFamily="-84" charset="0"/>
              </a:endParaRPr>
            </a:p>
          </p:txBody>
        </p:sp>
        <p:sp>
          <p:nvSpPr>
            <p:cNvPr id="27" name="Text Box 39"/>
            <p:cNvSpPr txBox="1">
              <a:spLocks noChangeArrowheads="1"/>
            </p:cNvSpPr>
            <p:nvPr/>
          </p:nvSpPr>
          <p:spPr bwMode="auto">
            <a:xfrm flipH="1">
              <a:off x="2668" y="2456"/>
              <a:ext cx="225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300" dirty="0">
                  <a:latin typeface="Helvetica" pitchFamily="-84" charset="0"/>
                </a:rPr>
                <a:t>P</a:t>
              </a:r>
              <a:r>
                <a:rPr lang="en-US" sz="1300" baseline="-25000" dirty="0">
                  <a:latin typeface="Helvetica" pitchFamily="-84" charset="0"/>
                </a:rPr>
                <a:t>4</a:t>
              </a:r>
              <a:endParaRPr lang="en-US" sz="1300" dirty="0">
                <a:latin typeface="Helvetica" pitchFamily="-84" charset="0"/>
              </a:endParaRPr>
            </a:p>
          </p:txBody>
        </p:sp>
        <p:sp>
          <p:nvSpPr>
            <p:cNvPr id="28" name="Text Box 40"/>
            <p:cNvSpPr txBox="1">
              <a:spLocks noChangeArrowheads="1"/>
            </p:cNvSpPr>
            <p:nvPr/>
          </p:nvSpPr>
          <p:spPr bwMode="auto">
            <a:xfrm flipH="1">
              <a:off x="1887" y="2472"/>
              <a:ext cx="225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300" dirty="0">
                  <a:latin typeface="Helvetica" pitchFamily="-84" charset="0"/>
                </a:rPr>
                <a:t>P</a:t>
              </a:r>
              <a:r>
                <a:rPr lang="en-US" sz="1300" baseline="-25000" dirty="0">
                  <a:latin typeface="Helvetica" pitchFamily="-84" charset="0"/>
                </a:rPr>
                <a:t>3</a:t>
              </a:r>
              <a:endParaRPr lang="en-US" sz="1300" dirty="0">
                <a:latin typeface="Helvetica" pitchFamily="-84" charset="0"/>
              </a:endParaRPr>
            </a:p>
          </p:txBody>
        </p:sp>
        <p:sp>
          <p:nvSpPr>
            <p:cNvPr id="29" name="Line 41"/>
            <p:cNvSpPr>
              <a:spLocks noChangeShapeType="1"/>
            </p:cNvSpPr>
            <p:nvPr/>
          </p:nvSpPr>
          <p:spPr bwMode="auto">
            <a:xfrm flipH="1">
              <a:off x="4464" y="2748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" name="Line 42"/>
            <p:cNvSpPr>
              <a:spLocks noChangeShapeType="1"/>
            </p:cNvSpPr>
            <p:nvPr/>
          </p:nvSpPr>
          <p:spPr bwMode="auto">
            <a:xfrm flipH="1">
              <a:off x="960" y="2757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" name="Line 43"/>
            <p:cNvSpPr>
              <a:spLocks noChangeShapeType="1"/>
            </p:cNvSpPr>
            <p:nvPr/>
          </p:nvSpPr>
          <p:spPr bwMode="auto">
            <a:xfrm flipH="1">
              <a:off x="2428" y="2364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2" name="Text Box 48"/>
            <p:cNvSpPr txBox="1">
              <a:spLocks noChangeArrowheads="1"/>
            </p:cNvSpPr>
            <p:nvPr/>
          </p:nvSpPr>
          <p:spPr bwMode="auto">
            <a:xfrm flipH="1">
              <a:off x="1547" y="2901"/>
              <a:ext cx="175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300" dirty="0">
                  <a:latin typeface="Helvetica" pitchFamily="-84" charset="0"/>
                </a:rPr>
                <a:t>6</a:t>
              </a:r>
            </a:p>
          </p:txBody>
        </p:sp>
        <p:sp>
          <p:nvSpPr>
            <p:cNvPr id="3073" name="Text Box 49"/>
            <p:cNvSpPr txBox="1">
              <a:spLocks noChangeArrowheads="1"/>
            </p:cNvSpPr>
            <p:nvPr/>
          </p:nvSpPr>
          <p:spPr bwMode="auto">
            <a:xfrm flipH="1">
              <a:off x="3052" y="2868"/>
              <a:ext cx="233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300" dirty="0">
                  <a:latin typeface="Helvetica" pitchFamily="-84" charset="0"/>
                </a:rPr>
                <a:t>16</a:t>
              </a:r>
            </a:p>
          </p:txBody>
        </p:sp>
        <p:sp>
          <p:nvSpPr>
            <p:cNvPr id="3075" name="Text Box 50"/>
            <p:cNvSpPr txBox="1">
              <a:spLocks noChangeArrowheads="1"/>
            </p:cNvSpPr>
            <p:nvPr/>
          </p:nvSpPr>
          <p:spPr bwMode="auto">
            <a:xfrm flipH="1">
              <a:off x="874" y="2876"/>
              <a:ext cx="175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300">
                  <a:latin typeface="Helvetica" pitchFamily="-84" charset="0"/>
                </a:rPr>
                <a:t>0</a:t>
              </a:r>
            </a:p>
          </p:txBody>
        </p:sp>
        <p:sp>
          <p:nvSpPr>
            <p:cNvPr id="3076" name="Line 52"/>
            <p:cNvSpPr>
              <a:spLocks noChangeShapeType="1"/>
            </p:cNvSpPr>
            <p:nvPr/>
          </p:nvSpPr>
          <p:spPr bwMode="auto">
            <a:xfrm flipH="1">
              <a:off x="3148" y="2373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7" name="Line 54"/>
            <p:cNvSpPr>
              <a:spLocks noChangeShapeType="1"/>
            </p:cNvSpPr>
            <p:nvPr/>
          </p:nvSpPr>
          <p:spPr bwMode="auto">
            <a:xfrm flipH="1">
              <a:off x="1632" y="2686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8" name="Line 58"/>
            <p:cNvSpPr>
              <a:spLocks noChangeShapeType="1"/>
            </p:cNvSpPr>
            <p:nvPr/>
          </p:nvSpPr>
          <p:spPr bwMode="auto">
            <a:xfrm flipH="1">
              <a:off x="2428" y="2736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9" name="Line 63"/>
            <p:cNvSpPr>
              <a:spLocks noChangeShapeType="1"/>
            </p:cNvSpPr>
            <p:nvPr/>
          </p:nvSpPr>
          <p:spPr bwMode="auto">
            <a:xfrm flipH="1">
              <a:off x="3148" y="2757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80" name="Text Box 64"/>
            <p:cNvSpPr txBox="1">
              <a:spLocks noChangeArrowheads="1"/>
            </p:cNvSpPr>
            <p:nvPr/>
          </p:nvSpPr>
          <p:spPr bwMode="auto">
            <a:xfrm flipH="1">
              <a:off x="2339" y="2889"/>
              <a:ext cx="233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300" dirty="0">
                  <a:latin typeface="Helvetica" pitchFamily="-84" charset="0"/>
                </a:rPr>
                <a:t>13</a:t>
              </a:r>
            </a:p>
          </p:txBody>
        </p:sp>
        <p:sp>
          <p:nvSpPr>
            <p:cNvPr id="3081" name="Line 69"/>
            <p:cNvSpPr>
              <a:spLocks noChangeShapeType="1"/>
            </p:cNvSpPr>
            <p:nvPr/>
          </p:nvSpPr>
          <p:spPr bwMode="auto">
            <a:xfrm flipH="1">
              <a:off x="1632" y="2370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82" name="Text Box 70"/>
            <p:cNvSpPr txBox="1">
              <a:spLocks noChangeArrowheads="1"/>
            </p:cNvSpPr>
            <p:nvPr/>
          </p:nvSpPr>
          <p:spPr bwMode="auto">
            <a:xfrm flipH="1">
              <a:off x="3822" y="2456"/>
              <a:ext cx="225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300" dirty="0">
                  <a:latin typeface="Helvetica" pitchFamily="-84" charset="0"/>
                </a:rPr>
                <a:t>P</a:t>
              </a:r>
              <a:r>
                <a:rPr lang="en-US" sz="1300" baseline="-25000" dirty="0">
                  <a:latin typeface="Helvetica" pitchFamily="-84" charset="0"/>
                </a:rPr>
                <a:t>2</a:t>
              </a:r>
              <a:endParaRPr lang="en-US" sz="1300" dirty="0">
                <a:latin typeface="Helvetica" pitchFamily="-84" charset="0"/>
              </a:endParaRPr>
            </a:p>
          </p:txBody>
        </p:sp>
        <p:sp>
          <p:nvSpPr>
            <p:cNvPr id="3083" name="Text Box 73"/>
            <p:cNvSpPr txBox="1">
              <a:spLocks noChangeArrowheads="1"/>
            </p:cNvSpPr>
            <p:nvPr/>
          </p:nvSpPr>
          <p:spPr bwMode="auto">
            <a:xfrm flipH="1">
              <a:off x="4342" y="2868"/>
              <a:ext cx="233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300" dirty="0">
                  <a:latin typeface="Helvetica" pitchFamily="-84" charset="0"/>
                </a:rPr>
                <a:t>24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981574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99DCA-6054-CD63-0777-22E768F8B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001D18F8-EB08-D074-14F8-B6DE707F47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SJF with Predicted Time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F8B03F-7786-0229-A004-89AF42A2F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30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8E6CF326-8DE7-6CC8-1FF8-5AEDB6EF3D5A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2"/>
            <a:ext cx="10433956" cy="5404758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algn="just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What if we predict based on process size?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Take the average of the previous processes’ burst times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Exponential Average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Example: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61F4857-7349-5E26-8AB7-6CEAE03086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8267717"/>
              </p:ext>
            </p:extLst>
          </p:nvPr>
        </p:nvGraphicFramePr>
        <p:xfrm>
          <a:off x="855306" y="3794760"/>
          <a:ext cx="4204996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2498">
                  <a:extLst>
                    <a:ext uri="{9D8B030D-6E8A-4147-A177-3AD203B41FA5}">
                      <a16:colId xmlns:a16="http://schemas.microsoft.com/office/drawing/2014/main" val="557133246"/>
                    </a:ext>
                  </a:extLst>
                </a:gridCol>
                <a:gridCol w="2102498">
                  <a:extLst>
                    <a:ext uri="{9D8B030D-6E8A-4147-A177-3AD203B41FA5}">
                      <a16:colId xmlns:a16="http://schemas.microsoft.com/office/drawing/2014/main" val="2004632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Burst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0651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US" sz="18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09321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US" sz="18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25607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US" sz="18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75219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US" sz="18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056398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100115E-D04B-E783-6F1A-CB5EBCAB853E}"/>
                  </a:ext>
                </a:extLst>
              </p:cNvPr>
              <p:cNvSpPr txBox="1"/>
              <p:nvPr/>
            </p:nvSpPr>
            <p:spPr>
              <a:xfrm>
                <a:off x="-846189" y="5847080"/>
                <a:ext cx="609477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                    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𝐹𝑖𝑛𝑑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𝑤h𝑒𝑛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=0.5 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𝑎𝑛𝑑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=5?</m:t>
                      </m:r>
                    </m:oMath>
                  </m:oMathPara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100115E-D04B-E783-6F1A-CB5EBCAB85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46189" y="5847080"/>
                <a:ext cx="6094770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749728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Determining Length of Next CPU Burst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31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773B303-CEA4-39FE-8190-A77ECCC638B8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2"/>
            <a:ext cx="10433956" cy="5404758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Can only estimate the length – should be similar to the previous one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Then pick process with shortest predicted next CPU burst</a:t>
            </a:r>
          </a:p>
          <a:p>
            <a:pPr algn="just"/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Can be done using length of previous CPU bursts, using exponential averaging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Commonly 𝛼 set to ½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𝛼 = 0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          (recent history does not count)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𝛼 = 1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            (only the actual last CPU burst counts)</a:t>
            </a:r>
          </a:p>
        </p:txBody>
      </p:sp>
      <p:graphicFrame>
        <p:nvGraphicFramePr>
          <p:cNvPr id="102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1585359"/>
              </p:ext>
            </p:extLst>
          </p:nvPr>
        </p:nvGraphicFramePr>
        <p:xfrm>
          <a:off x="3063551" y="2976140"/>
          <a:ext cx="4427537" cy="1254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400800" imgH="1778000" progId="Equation.3">
                  <p:embed/>
                </p:oleObj>
              </mc:Choice>
              <mc:Fallback>
                <p:oleObj name="Equation" r:id="rId3" imgW="6400800" imgH="1778000" progId="Equation.3">
                  <p:embed/>
                  <p:pic>
                    <p:nvPicPr>
                      <p:cNvPr id="102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3551" y="2976140"/>
                        <a:ext cx="4427537" cy="1254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27" name="Object 3"/>
              <p:cNvSpPr txBox="1"/>
              <p:nvPr/>
            </p:nvSpPr>
            <p:spPr bwMode="auto">
              <a:xfrm>
                <a:off x="4074368" y="3909947"/>
                <a:ext cx="2749550" cy="4540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27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74368" y="3909947"/>
                <a:ext cx="2749550" cy="45402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3">
                <a:extLst>
                  <a:ext uri="{FF2B5EF4-FFF2-40B4-BE49-F238E27FC236}">
                    <a16:creationId xmlns:a16="http://schemas.microsoft.com/office/drawing/2014/main" id="{DF4FE524-5DEB-1EDC-119B-B5370BB3704D}"/>
                  </a:ext>
                </a:extLst>
              </p:cNvPr>
              <p:cNvSpPr txBox="1"/>
              <p:nvPr/>
            </p:nvSpPr>
            <p:spPr bwMode="auto">
              <a:xfrm>
                <a:off x="1324818" y="5328642"/>
                <a:ext cx="2749550" cy="4540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Object 3">
                <a:extLst>
                  <a:ext uri="{FF2B5EF4-FFF2-40B4-BE49-F238E27FC236}">
                    <a16:creationId xmlns:a16="http://schemas.microsoft.com/office/drawing/2014/main" id="{DF4FE524-5DEB-1EDC-119B-B5370BB370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24818" y="5328642"/>
                <a:ext cx="2749550" cy="45402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3">
                <a:extLst>
                  <a:ext uri="{FF2B5EF4-FFF2-40B4-BE49-F238E27FC236}">
                    <a16:creationId xmlns:a16="http://schemas.microsoft.com/office/drawing/2014/main" id="{54B4CE88-AB1B-4993-EA03-B416FAF74D8B}"/>
                  </a:ext>
                </a:extLst>
              </p:cNvPr>
              <p:cNvSpPr txBox="1"/>
              <p:nvPr/>
            </p:nvSpPr>
            <p:spPr bwMode="auto">
              <a:xfrm>
                <a:off x="1324818" y="6085198"/>
                <a:ext cx="2749550" cy="4540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𝛼𝜏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Object 3">
                <a:extLst>
                  <a:ext uri="{FF2B5EF4-FFF2-40B4-BE49-F238E27FC236}">
                    <a16:creationId xmlns:a16="http://schemas.microsoft.com/office/drawing/2014/main" id="{54B4CE88-AB1B-4993-EA03-B416FAF74D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24818" y="6085198"/>
                <a:ext cx="2749550" cy="45402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3257346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Predicting Length of the Next CPU Burst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32</a:t>
            </a:fld>
            <a:endParaRPr lang="en-US">
              <a:latin typeface="Calibri"/>
            </a:endParaRPr>
          </a:p>
        </p:txBody>
      </p:sp>
      <p:pic>
        <p:nvPicPr>
          <p:cNvPr id="17411" name="Picture 1" descr="6_03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8007" y="1383382"/>
            <a:ext cx="6543869" cy="5325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835715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Priority Scheduling Policy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33</a:t>
            </a:fld>
            <a:endParaRPr lang="en-US">
              <a:latin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3">
                <a:extLst>
                  <a:ext uri="{FF2B5EF4-FFF2-40B4-BE49-F238E27FC236}">
                    <a16:creationId xmlns:a16="http://schemas.microsoft.com/office/drawing/2014/main" id="{A773B303-CEA4-39FE-8190-A77ECCC638B8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632151" y="1453241"/>
                <a:ext cx="10433955" cy="5252357"/>
              </a:xfrm>
              <a:prstGeom prst="rect">
                <a:avLst/>
              </a:prstGeom>
              <a:ln w="15875">
                <a:noFill/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22860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Font typeface="Arial" pitchFamily="34" charset="0"/>
                  <a:buChar char="•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40080" indent="-228600" algn="l" defTabSz="914400" rtl="0" eaLnBrk="1" latinLnBrk="0" hangingPunct="1">
                  <a:spcBef>
                    <a:spcPct val="20000"/>
                  </a:spcBef>
                  <a:buClr>
                    <a:schemeClr val="accent2"/>
                  </a:buClr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05840" indent="-228600" algn="l" defTabSz="914400" rtl="0" eaLnBrk="1" latinLnBrk="0" hangingPunct="1">
                  <a:spcBef>
                    <a:spcPct val="20000"/>
                  </a:spcBef>
                  <a:buClr>
                    <a:schemeClr val="accent3"/>
                  </a:buClr>
                  <a:buFont typeface="Arial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80160" indent="-228600" algn="l" defTabSz="914400" rtl="0" eaLnBrk="1" latinLnBrk="0" hangingPunct="1">
                  <a:spcBef>
                    <a:spcPct val="20000"/>
                  </a:spcBef>
                  <a:buClr>
                    <a:schemeClr val="accent4"/>
                  </a:buClr>
                  <a:buFont typeface="Arial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54480" indent="-228600" algn="l" defTabSz="914400" rtl="0" eaLnBrk="1" latinLnBrk="0" hangingPunct="1">
                  <a:spcBef>
                    <a:spcPct val="20000"/>
                  </a:spcBef>
                  <a:buClr>
                    <a:schemeClr val="accent5"/>
                  </a:buClr>
                  <a:buFont typeface="Arial" pitchFamily="34" charset="0"/>
                  <a:buChar char="•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37360" indent="-18288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Font typeface="Arial" pitchFamily="34" charset="0"/>
                  <a:buChar char="•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920240" indent="-182880" algn="l" defTabSz="914400" rtl="0" eaLnBrk="1" latinLnBrk="0" hangingPunct="1">
                  <a:spcBef>
                    <a:spcPct val="20000"/>
                  </a:spcBef>
                  <a:buClr>
                    <a:schemeClr val="accent2"/>
                  </a:buClr>
                  <a:buFont typeface="Arial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103120" indent="-182880" algn="l" defTabSz="914400" rtl="0" eaLnBrk="1" latinLnBrk="0" hangingPunct="1">
                  <a:spcBef>
                    <a:spcPct val="20000"/>
                  </a:spcBef>
                  <a:buClr>
                    <a:schemeClr val="accent3"/>
                  </a:buClr>
                  <a:buFont typeface="Arial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286000" indent="-182880" algn="l" defTabSz="914400" rtl="0" eaLnBrk="1" latinLnBrk="0" hangingPunct="1">
                  <a:spcBef>
                    <a:spcPct val="20000"/>
                  </a:spcBef>
                  <a:buClr>
                    <a:schemeClr val="accent4"/>
                  </a:buClr>
                  <a:buFont typeface="Arial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Assign each process a priority (integer) number </a:t>
                </a:r>
              </a:p>
              <a:p>
                <a:pPr lvl="1" algn="just"/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smallest integer</a:t>
                </a:r>
                <a:r>
                  <a:rPr lang="en-US" dirty="0">
                    <a:ea typeface="Cambria Math" panose="02040503050406030204" pitchFamily="18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≡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 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highest priority</a:t>
                </a:r>
              </a:p>
              <a:p>
                <a:pPr algn="just"/>
                <a:endParaRPr lang="en-US" sz="1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Run the process with highest priority in the ready queue first</a:t>
                </a:r>
              </a:p>
              <a:p>
                <a:pPr algn="just"/>
                <a:endParaRPr lang="en-US" sz="1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Use FIFO for processes with equal priority</a:t>
                </a:r>
              </a:p>
              <a:p>
                <a:pPr algn="just"/>
                <a:endParaRPr lang="en-US" sz="1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SJF is priority scheduling where priority is the inverse of predicted next CPU burst time</a:t>
                </a:r>
              </a:p>
              <a:p>
                <a:pPr algn="just"/>
                <a:endParaRPr lang="en-US" sz="1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Advantage</a:t>
                </a:r>
              </a:p>
              <a:p>
                <a:pPr lvl="1" algn="just"/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Flexibility: Not all processes are born equal</a:t>
                </a:r>
              </a:p>
              <a:p>
                <a:pPr algn="just"/>
                <a:endParaRPr lang="en-US" sz="1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Problem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≡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Starvation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– low priority processes may never execute</a:t>
                </a:r>
              </a:p>
              <a:p>
                <a:pPr algn="just"/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Solution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≡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Aging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– adjust priority dynamically (increase priority over time)</a:t>
                </a:r>
              </a:p>
              <a:p>
                <a:pPr algn="just"/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Rectangle 3">
                <a:extLst>
                  <a:ext uri="{FF2B5EF4-FFF2-40B4-BE49-F238E27FC236}">
                    <a16:creationId xmlns:a16="http://schemas.microsoft.com/office/drawing/2014/main" id="{A773B303-CEA4-39FE-8190-A77ECCC638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151" y="1453241"/>
                <a:ext cx="10433955" cy="5252357"/>
              </a:xfrm>
              <a:prstGeom prst="rect">
                <a:avLst/>
              </a:prstGeom>
              <a:blipFill>
                <a:blip r:embed="rId3"/>
                <a:stretch>
                  <a:fillRect t="-580" r="-818"/>
                </a:stretch>
              </a:blipFill>
              <a:ln w="15875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728946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Priority Scheduling Policy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34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773B303-CEA4-39FE-8190-A77ECCC638B8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2"/>
            <a:ext cx="10433956" cy="5404758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 lnSpcReduction="10000"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algn="just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Gantt Chart for the schedule is:</a:t>
            </a:r>
          </a:p>
          <a:p>
            <a:pPr algn="just"/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Waiting time for P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= 6; P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= 0; P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= 16; P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= 18; P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= 1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Average waiting time:  (6 + 0 + 16 + 18 + 1)/5 = 8.2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5831112-9B3C-E882-C1B2-93F9A11E3E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2588713"/>
              </p:ext>
            </p:extLst>
          </p:nvPr>
        </p:nvGraphicFramePr>
        <p:xfrm>
          <a:off x="2575249" y="1453242"/>
          <a:ext cx="6307494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2498">
                  <a:extLst>
                    <a:ext uri="{9D8B030D-6E8A-4147-A177-3AD203B41FA5}">
                      <a16:colId xmlns:a16="http://schemas.microsoft.com/office/drawing/2014/main" val="557133246"/>
                    </a:ext>
                  </a:extLst>
                </a:gridCol>
                <a:gridCol w="2102498">
                  <a:extLst>
                    <a:ext uri="{9D8B030D-6E8A-4147-A177-3AD203B41FA5}">
                      <a16:colId xmlns:a16="http://schemas.microsoft.com/office/drawing/2014/main" val="200463272"/>
                    </a:ext>
                  </a:extLst>
                </a:gridCol>
                <a:gridCol w="2102498">
                  <a:extLst>
                    <a:ext uri="{9D8B030D-6E8A-4147-A177-3AD203B41FA5}">
                      <a16:colId xmlns:a16="http://schemas.microsoft.com/office/drawing/2014/main" val="38718644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Burst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Priority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0651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US" sz="18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09321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US" sz="18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25607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US" sz="18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75219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US" sz="18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0563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US" sz="18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358657"/>
                  </a:ext>
                </a:extLst>
              </a:tr>
            </a:tbl>
          </a:graphicData>
        </a:graphic>
      </p:graphicFrame>
      <p:grpSp>
        <p:nvGrpSpPr>
          <p:cNvPr id="41987" name="Group 74"/>
          <p:cNvGrpSpPr>
            <a:grpSpLocks/>
          </p:cNvGrpSpPr>
          <p:nvPr/>
        </p:nvGrpSpPr>
        <p:grpSpPr bwMode="auto">
          <a:xfrm>
            <a:off x="3194322" y="4432601"/>
            <a:ext cx="5112286" cy="1045765"/>
            <a:chOff x="879" y="2366"/>
            <a:chExt cx="3220" cy="659"/>
          </a:xfrm>
        </p:grpSpPr>
        <p:sp>
          <p:nvSpPr>
            <p:cNvPr id="41988" name="Rectangle 37"/>
            <p:cNvSpPr>
              <a:spLocks noChangeArrowheads="1"/>
            </p:cNvSpPr>
            <p:nvPr/>
          </p:nvSpPr>
          <p:spPr bwMode="auto">
            <a:xfrm flipH="1">
              <a:off x="960" y="2373"/>
              <a:ext cx="3024" cy="38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89" name="Text Box 38"/>
            <p:cNvSpPr txBox="1">
              <a:spLocks noChangeArrowheads="1"/>
            </p:cNvSpPr>
            <p:nvPr/>
          </p:nvSpPr>
          <p:spPr bwMode="auto">
            <a:xfrm flipH="1">
              <a:off x="1028" y="2436"/>
              <a:ext cx="225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300">
                  <a:latin typeface="Helvetica" pitchFamily="-84" charset="0"/>
                </a:rPr>
                <a:t>P</a:t>
              </a:r>
              <a:r>
                <a:rPr lang="en-US" sz="1300" baseline="-25000">
                  <a:latin typeface="Helvetica" pitchFamily="-84" charset="0"/>
                </a:rPr>
                <a:t>2</a:t>
              </a:r>
              <a:endParaRPr lang="en-US" sz="1300">
                <a:latin typeface="Helvetica" pitchFamily="-84" charset="0"/>
              </a:endParaRPr>
            </a:p>
          </p:txBody>
        </p:sp>
        <p:sp>
          <p:nvSpPr>
            <p:cNvPr id="41990" name="Text Box 39"/>
            <p:cNvSpPr txBox="1">
              <a:spLocks noChangeArrowheads="1"/>
            </p:cNvSpPr>
            <p:nvPr/>
          </p:nvSpPr>
          <p:spPr bwMode="auto">
            <a:xfrm flipH="1">
              <a:off x="3211" y="2434"/>
              <a:ext cx="225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300">
                  <a:latin typeface="Helvetica" pitchFamily="-84" charset="0"/>
                </a:rPr>
                <a:t>P</a:t>
              </a:r>
              <a:r>
                <a:rPr lang="en-US" sz="1300" baseline="-25000">
                  <a:latin typeface="Helvetica" pitchFamily="-84" charset="0"/>
                </a:rPr>
                <a:t>3</a:t>
              </a:r>
              <a:endParaRPr lang="en-US" sz="1300">
                <a:latin typeface="Helvetica" pitchFamily="-84" charset="0"/>
              </a:endParaRPr>
            </a:p>
          </p:txBody>
        </p:sp>
        <p:sp>
          <p:nvSpPr>
            <p:cNvPr id="41991" name="Text Box 40"/>
            <p:cNvSpPr txBox="1">
              <a:spLocks noChangeArrowheads="1"/>
            </p:cNvSpPr>
            <p:nvPr/>
          </p:nvSpPr>
          <p:spPr bwMode="auto">
            <a:xfrm flipH="1">
              <a:off x="1474" y="2434"/>
              <a:ext cx="225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300">
                  <a:latin typeface="Helvetica" pitchFamily="-84" charset="0"/>
                </a:rPr>
                <a:t>P</a:t>
              </a:r>
              <a:r>
                <a:rPr lang="en-US" sz="1300" baseline="-25000">
                  <a:latin typeface="Helvetica" pitchFamily="-84" charset="0"/>
                </a:rPr>
                <a:t>5</a:t>
              </a:r>
              <a:endParaRPr lang="en-US" sz="1300">
                <a:latin typeface="Helvetica" pitchFamily="-84" charset="0"/>
              </a:endParaRPr>
            </a:p>
          </p:txBody>
        </p:sp>
        <p:sp>
          <p:nvSpPr>
            <p:cNvPr id="41992" name="Line 43"/>
            <p:cNvSpPr>
              <a:spLocks noChangeShapeType="1"/>
            </p:cNvSpPr>
            <p:nvPr/>
          </p:nvSpPr>
          <p:spPr bwMode="auto">
            <a:xfrm flipH="1">
              <a:off x="3174" y="237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93" name="Text Box 48"/>
            <p:cNvSpPr txBox="1">
              <a:spLocks noChangeArrowheads="1"/>
            </p:cNvSpPr>
            <p:nvPr/>
          </p:nvSpPr>
          <p:spPr bwMode="auto">
            <a:xfrm flipH="1">
              <a:off x="1222" y="2840"/>
              <a:ext cx="175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300" dirty="0">
                  <a:latin typeface="Helvetica" pitchFamily="-84" charset="0"/>
                </a:rPr>
                <a:t>1</a:t>
              </a:r>
            </a:p>
          </p:txBody>
        </p:sp>
        <p:sp>
          <p:nvSpPr>
            <p:cNvPr id="41994" name="Text Box 49"/>
            <p:cNvSpPr txBox="1">
              <a:spLocks noChangeArrowheads="1"/>
            </p:cNvSpPr>
            <p:nvPr/>
          </p:nvSpPr>
          <p:spPr bwMode="auto">
            <a:xfrm flipH="1">
              <a:off x="3556" y="2841"/>
              <a:ext cx="233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300">
                  <a:latin typeface="Helvetica" pitchFamily="-84" charset="0"/>
                </a:rPr>
                <a:t>18</a:t>
              </a:r>
            </a:p>
          </p:txBody>
        </p:sp>
        <p:sp>
          <p:nvSpPr>
            <p:cNvPr id="41995" name="Text Box 50"/>
            <p:cNvSpPr txBox="1">
              <a:spLocks noChangeArrowheads="1"/>
            </p:cNvSpPr>
            <p:nvPr/>
          </p:nvSpPr>
          <p:spPr bwMode="auto">
            <a:xfrm flipH="1">
              <a:off x="879" y="2838"/>
              <a:ext cx="175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300" dirty="0">
                  <a:latin typeface="Helvetica" pitchFamily="-84" charset="0"/>
                </a:rPr>
                <a:t>0</a:t>
              </a:r>
            </a:p>
          </p:txBody>
        </p:sp>
        <p:sp>
          <p:nvSpPr>
            <p:cNvPr id="41996" name="Line 52"/>
            <p:cNvSpPr>
              <a:spLocks noChangeShapeType="1"/>
            </p:cNvSpPr>
            <p:nvPr/>
          </p:nvSpPr>
          <p:spPr bwMode="auto">
            <a:xfrm flipH="1">
              <a:off x="3683" y="2373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97" name="Text Box 64"/>
            <p:cNvSpPr txBox="1">
              <a:spLocks noChangeArrowheads="1"/>
            </p:cNvSpPr>
            <p:nvPr/>
          </p:nvSpPr>
          <p:spPr bwMode="auto">
            <a:xfrm flipH="1">
              <a:off x="3065" y="2840"/>
              <a:ext cx="233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300">
                  <a:latin typeface="Helvetica" pitchFamily="-84" charset="0"/>
                </a:rPr>
                <a:t>16</a:t>
              </a:r>
            </a:p>
          </p:txBody>
        </p:sp>
        <p:sp>
          <p:nvSpPr>
            <p:cNvPr id="41998" name="Line 69"/>
            <p:cNvSpPr>
              <a:spLocks noChangeShapeType="1"/>
            </p:cNvSpPr>
            <p:nvPr/>
          </p:nvSpPr>
          <p:spPr bwMode="auto">
            <a:xfrm flipH="1">
              <a:off x="1313" y="2374"/>
              <a:ext cx="5" cy="3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99" name="Text Box 70"/>
            <p:cNvSpPr txBox="1">
              <a:spLocks noChangeArrowheads="1"/>
            </p:cNvSpPr>
            <p:nvPr/>
          </p:nvSpPr>
          <p:spPr bwMode="auto">
            <a:xfrm flipH="1">
              <a:off x="3698" y="2434"/>
              <a:ext cx="225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300">
                  <a:latin typeface="Helvetica" pitchFamily="-84" charset="0"/>
                </a:rPr>
                <a:t>P</a:t>
              </a:r>
              <a:r>
                <a:rPr lang="en-US" sz="1300" baseline="-25000">
                  <a:latin typeface="Helvetica" pitchFamily="-84" charset="0"/>
                </a:rPr>
                <a:t>4</a:t>
              </a:r>
              <a:endParaRPr lang="en-US" sz="1300">
                <a:latin typeface="Helvetica" pitchFamily="-84" charset="0"/>
              </a:endParaRPr>
            </a:p>
          </p:txBody>
        </p:sp>
        <p:sp>
          <p:nvSpPr>
            <p:cNvPr id="42000" name="Text Box 73"/>
            <p:cNvSpPr txBox="1">
              <a:spLocks noChangeArrowheads="1"/>
            </p:cNvSpPr>
            <p:nvPr/>
          </p:nvSpPr>
          <p:spPr bwMode="auto">
            <a:xfrm flipH="1">
              <a:off x="3866" y="2841"/>
              <a:ext cx="233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300">
                  <a:latin typeface="Helvetica" pitchFamily="-84" charset="0"/>
                </a:rPr>
                <a:t>19</a:t>
              </a:r>
            </a:p>
          </p:txBody>
        </p:sp>
        <p:sp>
          <p:nvSpPr>
            <p:cNvPr id="42001" name="Line 43"/>
            <p:cNvSpPr>
              <a:spLocks noChangeShapeType="1"/>
            </p:cNvSpPr>
            <p:nvPr/>
          </p:nvSpPr>
          <p:spPr bwMode="auto">
            <a:xfrm flipH="1">
              <a:off x="1925" y="236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02" name="Text Box 64"/>
            <p:cNvSpPr txBox="1">
              <a:spLocks noChangeArrowheads="1"/>
            </p:cNvSpPr>
            <p:nvPr/>
          </p:nvSpPr>
          <p:spPr bwMode="auto">
            <a:xfrm flipH="1">
              <a:off x="1839" y="2838"/>
              <a:ext cx="175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300">
                  <a:latin typeface="Helvetica" pitchFamily="-84" charset="0"/>
                </a:rPr>
                <a:t>6</a:t>
              </a:r>
            </a:p>
          </p:txBody>
        </p:sp>
        <p:sp>
          <p:nvSpPr>
            <p:cNvPr id="42003" name="Text Box 39"/>
            <p:cNvSpPr txBox="1">
              <a:spLocks noChangeArrowheads="1"/>
            </p:cNvSpPr>
            <p:nvPr/>
          </p:nvSpPr>
          <p:spPr bwMode="auto">
            <a:xfrm flipH="1">
              <a:off x="2545" y="2433"/>
              <a:ext cx="225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300">
                  <a:latin typeface="Helvetica" pitchFamily="-84" charset="0"/>
                </a:rPr>
                <a:t>P</a:t>
              </a:r>
              <a:r>
                <a:rPr lang="en-US" sz="1300" baseline="-25000">
                  <a:latin typeface="Helvetica" pitchFamily="-84" charset="0"/>
                </a:rPr>
                <a:t>1</a:t>
              </a:r>
              <a:endParaRPr lang="en-US" sz="1300">
                <a:latin typeface="Helvetica" pitchFamily="-84" charset="0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863663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SRTF Scheduling Policy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35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773B303-CEA4-39FE-8190-A77ECCC638B8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1"/>
            <a:ext cx="10463741" cy="5252357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Shortest Remaining Time First scheduling</a:t>
            </a:r>
          </a:p>
          <a:p>
            <a:pPr lvl="1" algn="just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Preemptive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version of SJF.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Schedule the process with the minimum remaining time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Recalculate the remaining execution time for each process upon arrival of a process</a:t>
            </a:r>
          </a:p>
          <a:p>
            <a:pPr lvl="1"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Advantage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Minimal average waiting and turnaround time for a given set of processes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Disadvantage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Like SJF, can cause starvation for longer processes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755257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SRTF Scheduling Policy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36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773B303-CEA4-39FE-8190-A77ECCC638B8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2"/>
            <a:ext cx="10433956" cy="5404758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algn="just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Gantt Chart for the schedule is:</a:t>
            </a:r>
          </a:p>
          <a:p>
            <a:pPr algn="just"/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Waiting time for P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= 9; P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= 0; P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= 15; P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= 2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Average waiting time:  (9 + 0 + 15 + 2)/4 = 6.5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5831112-9B3C-E882-C1B2-93F9A11E3E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5098850"/>
              </p:ext>
            </p:extLst>
          </p:nvPr>
        </p:nvGraphicFramePr>
        <p:xfrm>
          <a:off x="2575249" y="1453242"/>
          <a:ext cx="6307494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2498">
                  <a:extLst>
                    <a:ext uri="{9D8B030D-6E8A-4147-A177-3AD203B41FA5}">
                      <a16:colId xmlns:a16="http://schemas.microsoft.com/office/drawing/2014/main" val="557133246"/>
                    </a:ext>
                  </a:extLst>
                </a:gridCol>
                <a:gridCol w="2102498">
                  <a:extLst>
                    <a:ext uri="{9D8B030D-6E8A-4147-A177-3AD203B41FA5}">
                      <a16:colId xmlns:a16="http://schemas.microsoft.com/office/drawing/2014/main" val="200463272"/>
                    </a:ext>
                  </a:extLst>
                </a:gridCol>
                <a:gridCol w="2102498">
                  <a:extLst>
                    <a:ext uri="{9D8B030D-6E8A-4147-A177-3AD203B41FA5}">
                      <a16:colId xmlns:a16="http://schemas.microsoft.com/office/drawing/2014/main" val="38718644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Arrival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Burst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0651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US" sz="18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09321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US" sz="18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25607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US" sz="18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75219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US" sz="18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0563988"/>
                  </a:ext>
                </a:extLst>
              </a:tr>
            </a:tbl>
          </a:graphicData>
        </a:graphic>
      </p:graphicFrame>
      <p:grpSp>
        <p:nvGrpSpPr>
          <p:cNvPr id="37891" name="Group 74"/>
          <p:cNvGrpSpPr>
            <a:grpSpLocks/>
          </p:cNvGrpSpPr>
          <p:nvPr/>
        </p:nvGrpSpPr>
        <p:grpSpPr bwMode="auto">
          <a:xfrm>
            <a:off x="2911460" y="4080977"/>
            <a:ext cx="5875338" cy="1045765"/>
            <a:chOff x="879" y="2366"/>
            <a:chExt cx="3701" cy="659"/>
          </a:xfrm>
        </p:grpSpPr>
        <p:sp>
          <p:nvSpPr>
            <p:cNvPr id="37892" name="Rectangle 37"/>
            <p:cNvSpPr>
              <a:spLocks noChangeArrowheads="1"/>
            </p:cNvSpPr>
            <p:nvPr/>
          </p:nvSpPr>
          <p:spPr bwMode="auto">
            <a:xfrm flipH="1">
              <a:off x="960" y="2373"/>
              <a:ext cx="3504" cy="38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37893" name="Text Box 38"/>
            <p:cNvSpPr txBox="1">
              <a:spLocks noChangeArrowheads="1"/>
            </p:cNvSpPr>
            <p:nvPr/>
          </p:nvSpPr>
          <p:spPr bwMode="auto">
            <a:xfrm flipH="1">
              <a:off x="1028" y="2436"/>
              <a:ext cx="225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300">
                  <a:latin typeface="Helvetica" pitchFamily="-84" charset="0"/>
                </a:rPr>
                <a:t>P</a:t>
              </a:r>
              <a:r>
                <a:rPr lang="en-US" sz="1300" baseline="-25000">
                  <a:latin typeface="Helvetica" pitchFamily="-84" charset="0"/>
                </a:rPr>
                <a:t>1</a:t>
              </a:r>
              <a:endParaRPr lang="en-US" sz="1300">
                <a:latin typeface="Helvetica" pitchFamily="-84" charset="0"/>
              </a:endParaRPr>
            </a:p>
          </p:txBody>
        </p:sp>
        <p:sp>
          <p:nvSpPr>
            <p:cNvPr id="37894" name="Text Box 39"/>
            <p:cNvSpPr txBox="1">
              <a:spLocks noChangeArrowheads="1"/>
            </p:cNvSpPr>
            <p:nvPr/>
          </p:nvSpPr>
          <p:spPr bwMode="auto">
            <a:xfrm flipH="1">
              <a:off x="2995" y="2423"/>
              <a:ext cx="225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300">
                  <a:latin typeface="Helvetica" pitchFamily="-84" charset="0"/>
                </a:rPr>
                <a:t>P</a:t>
              </a:r>
              <a:r>
                <a:rPr lang="en-US" sz="1300" baseline="-25000">
                  <a:latin typeface="Helvetica" pitchFamily="-84" charset="0"/>
                </a:rPr>
                <a:t>1</a:t>
              </a:r>
              <a:endParaRPr lang="en-US" sz="1300">
                <a:latin typeface="Helvetica" pitchFamily="-84" charset="0"/>
              </a:endParaRPr>
            </a:p>
          </p:txBody>
        </p:sp>
        <p:sp>
          <p:nvSpPr>
            <p:cNvPr id="37895" name="Text Box 40"/>
            <p:cNvSpPr txBox="1">
              <a:spLocks noChangeArrowheads="1"/>
            </p:cNvSpPr>
            <p:nvPr/>
          </p:nvSpPr>
          <p:spPr bwMode="auto">
            <a:xfrm flipH="1">
              <a:off x="1474" y="2434"/>
              <a:ext cx="225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300">
                  <a:latin typeface="Helvetica" pitchFamily="-84" charset="0"/>
                </a:rPr>
                <a:t>P</a:t>
              </a:r>
              <a:r>
                <a:rPr lang="en-US" sz="1300" baseline="-25000">
                  <a:latin typeface="Helvetica" pitchFamily="-84" charset="0"/>
                </a:rPr>
                <a:t>2</a:t>
              </a:r>
              <a:endParaRPr lang="en-US" sz="1300">
                <a:latin typeface="Helvetica" pitchFamily="-84" charset="0"/>
              </a:endParaRPr>
            </a:p>
          </p:txBody>
        </p:sp>
        <p:sp>
          <p:nvSpPr>
            <p:cNvPr id="37896" name="Line 43"/>
            <p:cNvSpPr>
              <a:spLocks noChangeShapeType="1"/>
            </p:cNvSpPr>
            <p:nvPr/>
          </p:nvSpPr>
          <p:spPr bwMode="auto">
            <a:xfrm flipH="1">
              <a:off x="2688" y="2373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897" name="Text Box 48"/>
            <p:cNvSpPr txBox="1">
              <a:spLocks noChangeArrowheads="1"/>
            </p:cNvSpPr>
            <p:nvPr/>
          </p:nvSpPr>
          <p:spPr bwMode="auto">
            <a:xfrm flipH="1">
              <a:off x="1222" y="2840"/>
              <a:ext cx="175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300">
                  <a:latin typeface="Helvetica" pitchFamily="-84" charset="0"/>
                </a:rPr>
                <a:t>1</a:t>
              </a:r>
            </a:p>
          </p:txBody>
        </p:sp>
        <p:sp>
          <p:nvSpPr>
            <p:cNvPr id="37898" name="Text Box 49"/>
            <p:cNvSpPr txBox="1">
              <a:spLocks noChangeArrowheads="1"/>
            </p:cNvSpPr>
            <p:nvPr/>
          </p:nvSpPr>
          <p:spPr bwMode="auto">
            <a:xfrm flipH="1">
              <a:off x="3329" y="2841"/>
              <a:ext cx="233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300">
                  <a:latin typeface="Helvetica" pitchFamily="-84" charset="0"/>
                </a:rPr>
                <a:t>17</a:t>
              </a:r>
            </a:p>
          </p:txBody>
        </p:sp>
        <p:sp>
          <p:nvSpPr>
            <p:cNvPr id="37899" name="Text Box 50"/>
            <p:cNvSpPr txBox="1">
              <a:spLocks noChangeArrowheads="1"/>
            </p:cNvSpPr>
            <p:nvPr/>
          </p:nvSpPr>
          <p:spPr bwMode="auto">
            <a:xfrm flipH="1">
              <a:off x="879" y="2838"/>
              <a:ext cx="175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300">
                  <a:latin typeface="Helvetica" pitchFamily="-84" charset="0"/>
                </a:rPr>
                <a:t>0</a:t>
              </a:r>
            </a:p>
          </p:txBody>
        </p:sp>
        <p:sp>
          <p:nvSpPr>
            <p:cNvPr id="37900" name="Line 52"/>
            <p:cNvSpPr>
              <a:spLocks noChangeShapeType="1"/>
            </p:cNvSpPr>
            <p:nvPr/>
          </p:nvSpPr>
          <p:spPr bwMode="auto">
            <a:xfrm flipH="1">
              <a:off x="3456" y="2373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01" name="Text Box 64"/>
            <p:cNvSpPr txBox="1">
              <a:spLocks noChangeArrowheads="1"/>
            </p:cNvSpPr>
            <p:nvPr/>
          </p:nvSpPr>
          <p:spPr bwMode="auto">
            <a:xfrm flipH="1">
              <a:off x="2573" y="2840"/>
              <a:ext cx="233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300">
                  <a:latin typeface="Helvetica" pitchFamily="-84" charset="0"/>
                </a:rPr>
                <a:t>10</a:t>
              </a:r>
            </a:p>
          </p:txBody>
        </p:sp>
        <p:sp>
          <p:nvSpPr>
            <p:cNvPr id="37902" name="Line 69"/>
            <p:cNvSpPr>
              <a:spLocks noChangeShapeType="1"/>
            </p:cNvSpPr>
            <p:nvPr/>
          </p:nvSpPr>
          <p:spPr bwMode="auto">
            <a:xfrm flipH="1">
              <a:off x="1313" y="2374"/>
              <a:ext cx="5" cy="3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03" name="Text Box 70"/>
            <p:cNvSpPr txBox="1">
              <a:spLocks noChangeArrowheads="1"/>
            </p:cNvSpPr>
            <p:nvPr/>
          </p:nvSpPr>
          <p:spPr bwMode="auto">
            <a:xfrm flipH="1">
              <a:off x="3763" y="2423"/>
              <a:ext cx="225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300">
                  <a:latin typeface="Helvetica" pitchFamily="-84" charset="0"/>
                </a:rPr>
                <a:t>P</a:t>
              </a:r>
              <a:r>
                <a:rPr lang="en-US" sz="1300" baseline="-25000">
                  <a:latin typeface="Helvetica" pitchFamily="-84" charset="0"/>
                </a:rPr>
                <a:t>3</a:t>
              </a:r>
              <a:endParaRPr lang="en-US" sz="1300">
                <a:latin typeface="Helvetica" pitchFamily="-84" charset="0"/>
              </a:endParaRPr>
            </a:p>
          </p:txBody>
        </p:sp>
        <p:sp>
          <p:nvSpPr>
            <p:cNvPr id="37904" name="Text Box 73"/>
            <p:cNvSpPr txBox="1">
              <a:spLocks noChangeArrowheads="1"/>
            </p:cNvSpPr>
            <p:nvPr/>
          </p:nvSpPr>
          <p:spPr bwMode="auto">
            <a:xfrm flipH="1">
              <a:off x="4347" y="2841"/>
              <a:ext cx="233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300" dirty="0">
                  <a:latin typeface="Helvetica" pitchFamily="-84" charset="0"/>
                </a:rPr>
                <a:t>26</a:t>
              </a:r>
            </a:p>
          </p:txBody>
        </p:sp>
        <p:sp>
          <p:nvSpPr>
            <p:cNvPr id="37905" name="Line 43"/>
            <p:cNvSpPr>
              <a:spLocks noChangeShapeType="1"/>
            </p:cNvSpPr>
            <p:nvPr/>
          </p:nvSpPr>
          <p:spPr bwMode="auto">
            <a:xfrm flipH="1">
              <a:off x="1925" y="236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06" name="Text Box 64"/>
            <p:cNvSpPr txBox="1">
              <a:spLocks noChangeArrowheads="1"/>
            </p:cNvSpPr>
            <p:nvPr/>
          </p:nvSpPr>
          <p:spPr bwMode="auto">
            <a:xfrm flipH="1">
              <a:off x="1839" y="2838"/>
              <a:ext cx="175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300">
                  <a:latin typeface="Helvetica" pitchFamily="-84" charset="0"/>
                </a:rPr>
                <a:t>5</a:t>
              </a:r>
            </a:p>
          </p:txBody>
        </p:sp>
        <p:sp>
          <p:nvSpPr>
            <p:cNvPr id="37907" name="Text Box 39"/>
            <p:cNvSpPr txBox="1">
              <a:spLocks noChangeArrowheads="1"/>
            </p:cNvSpPr>
            <p:nvPr/>
          </p:nvSpPr>
          <p:spPr bwMode="auto">
            <a:xfrm flipH="1">
              <a:off x="2161" y="2433"/>
              <a:ext cx="225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300">
                  <a:latin typeface="Helvetica" pitchFamily="-84" charset="0"/>
                </a:rPr>
                <a:t>P</a:t>
              </a:r>
              <a:r>
                <a:rPr lang="en-US" sz="1300" baseline="-25000">
                  <a:latin typeface="Helvetica" pitchFamily="-84" charset="0"/>
                </a:rPr>
                <a:t>4</a:t>
              </a:r>
              <a:endParaRPr lang="en-US" sz="1300">
                <a:latin typeface="Helvetica" pitchFamily="-84" charset="0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173996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Class Exercise: SRTF Scheduling Policy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37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773B303-CEA4-39FE-8190-A77ECCC638B8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2"/>
            <a:ext cx="10433956" cy="5404758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algn="just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Gantt Chart for the schedule is:</a:t>
            </a:r>
          </a:p>
          <a:p>
            <a:pPr algn="just"/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Waiting time for P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= 7; P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= 0; P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= 12; P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= 1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Average waiting time:  (7 + 0 + 12 + 1)/4 = 5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5831112-9B3C-E882-C1B2-93F9A11E3E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5017081"/>
              </p:ext>
            </p:extLst>
          </p:nvPr>
        </p:nvGraphicFramePr>
        <p:xfrm>
          <a:off x="2575249" y="1453242"/>
          <a:ext cx="6307494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2498">
                  <a:extLst>
                    <a:ext uri="{9D8B030D-6E8A-4147-A177-3AD203B41FA5}">
                      <a16:colId xmlns:a16="http://schemas.microsoft.com/office/drawing/2014/main" val="557133246"/>
                    </a:ext>
                  </a:extLst>
                </a:gridCol>
                <a:gridCol w="2102498">
                  <a:extLst>
                    <a:ext uri="{9D8B030D-6E8A-4147-A177-3AD203B41FA5}">
                      <a16:colId xmlns:a16="http://schemas.microsoft.com/office/drawing/2014/main" val="200463272"/>
                    </a:ext>
                  </a:extLst>
                </a:gridCol>
                <a:gridCol w="2102498">
                  <a:extLst>
                    <a:ext uri="{9D8B030D-6E8A-4147-A177-3AD203B41FA5}">
                      <a16:colId xmlns:a16="http://schemas.microsoft.com/office/drawing/2014/main" val="38718644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Arrival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Burst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0651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US" sz="18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09321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US" sz="18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25607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US" sz="18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75219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US" sz="18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0563988"/>
                  </a:ext>
                </a:extLst>
              </a:tr>
            </a:tbl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8DAAF8AC-5216-4BFB-38FF-ED3635E5FC79}"/>
              </a:ext>
            </a:extLst>
          </p:cNvPr>
          <p:cNvGrpSpPr/>
          <p:nvPr/>
        </p:nvGrpSpPr>
        <p:grpSpPr>
          <a:xfrm>
            <a:off x="2207165" y="4155621"/>
            <a:ext cx="7086600" cy="1220172"/>
            <a:chOff x="990600" y="3733800"/>
            <a:chExt cx="7086600" cy="1220172"/>
          </a:xfrm>
        </p:grpSpPr>
        <p:sp>
          <p:nvSpPr>
            <p:cNvPr id="5" name="Rectangle 37"/>
            <p:cNvSpPr>
              <a:spLocks noChangeArrowheads="1"/>
            </p:cNvSpPr>
            <p:nvPr/>
          </p:nvSpPr>
          <p:spPr bwMode="auto">
            <a:xfrm flipH="1">
              <a:off x="1155271" y="3767114"/>
              <a:ext cx="6709388" cy="60916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" name="Text Box 38"/>
            <p:cNvSpPr txBox="1">
              <a:spLocks noChangeArrowheads="1"/>
            </p:cNvSpPr>
            <p:nvPr/>
          </p:nvSpPr>
          <p:spPr bwMode="auto">
            <a:xfrm flipH="1">
              <a:off x="1255717" y="3885845"/>
              <a:ext cx="357790" cy="292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300" dirty="0">
                  <a:latin typeface="Helvetica" pitchFamily="-84" charset="0"/>
                </a:rPr>
                <a:t>P</a:t>
              </a:r>
              <a:r>
                <a:rPr lang="en-US" sz="1300" baseline="-25000" dirty="0">
                  <a:latin typeface="Helvetica" pitchFamily="-84" charset="0"/>
                </a:rPr>
                <a:t>1</a:t>
              </a:r>
              <a:endParaRPr lang="en-US" sz="1300" dirty="0">
                <a:latin typeface="Helvetica" pitchFamily="-84" charset="0"/>
              </a:endParaRPr>
            </a:p>
          </p:txBody>
        </p:sp>
        <p:sp>
          <p:nvSpPr>
            <p:cNvPr id="7" name="Text Box 39"/>
            <p:cNvSpPr txBox="1">
              <a:spLocks noChangeArrowheads="1"/>
            </p:cNvSpPr>
            <p:nvPr/>
          </p:nvSpPr>
          <p:spPr bwMode="auto">
            <a:xfrm flipH="1">
              <a:off x="4768461" y="3898783"/>
              <a:ext cx="430825" cy="2918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300" dirty="0">
                  <a:latin typeface="Helvetica" pitchFamily="-84" charset="0"/>
                </a:rPr>
                <a:t>P</a:t>
              </a:r>
              <a:r>
                <a:rPr lang="en-US" sz="1300" baseline="-25000" dirty="0">
                  <a:latin typeface="Helvetica" pitchFamily="-84" charset="0"/>
                </a:rPr>
                <a:t>1</a:t>
              </a:r>
              <a:endParaRPr lang="en-US" sz="1300" dirty="0">
                <a:latin typeface="Helvetica" pitchFamily="-84" charset="0"/>
              </a:endParaRPr>
            </a:p>
          </p:txBody>
        </p:sp>
        <p:sp>
          <p:nvSpPr>
            <p:cNvPr id="8" name="Text Box 40"/>
            <p:cNvSpPr txBox="1">
              <a:spLocks noChangeArrowheads="1"/>
            </p:cNvSpPr>
            <p:nvPr/>
          </p:nvSpPr>
          <p:spPr bwMode="auto">
            <a:xfrm flipH="1">
              <a:off x="2966789" y="3923918"/>
              <a:ext cx="357791" cy="292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300" dirty="0">
                  <a:latin typeface="Helvetica" pitchFamily="-84" charset="0"/>
                </a:rPr>
                <a:t>P</a:t>
              </a:r>
              <a:r>
                <a:rPr lang="en-US" sz="1300" baseline="-25000" dirty="0">
                  <a:latin typeface="Helvetica" pitchFamily="-84" charset="0"/>
                </a:rPr>
                <a:t>4</a:t>
              </a:r>
              <a:endParaRPr lang="en-US" sz="1300" dirty="0">
                <a:latin typeface="Helvetica" pitchFamily="-84" charset="0"/>
              </a:endParaRPr>
            </a:p>
          </p:txBody>
        </p:sp>
        <p:sp>
          <p:nvSpPr>
            <p:cNvPr id="9" name="Line 41"/>
            <p:cNvSpPr>
              <a:spLocks noChangeShapeType="1"/>
            </p:cNvSpPr>
            <p:nvPr/>
          </p:nvSpPr>
          <p:spPr bwMode="auto">
            <a:xfrm flipH="1">
              <a:off x="7871499" y="4362005"/>
              <a:ext cx="0" cy="2284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" name="Line 42"/>
            <p:cNvSpPr>
              <a:spLocks noChangeShapeType="1"/>
            </p:cNvSpPr>
            <p:nvPr/>
          </p:nvSpPr>
          <p:spPr bwMode="auto">
            <a:xfrm flipH="1">
              <a:off x="1155271" y="4376283"/>
              <a:ext cx="0" cy="2284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Line 43"/>
            <p:cNvSpPr>
              <a:spLocks noChangeShapeType="1"/>
            </p:cNvSpPr>
            <p:nvPr/>
          </p:nvSpPr>
          <p:spPr bwMode="auto">
            <a:xfrm flipH="1">
              <a:off x="3886200" y="3752837"/>
              <a:ext cx="0" cy="83260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Text Box 48"/>
            <p:cNvSpPr txBox="1">
              <a:spLocks noChangeArrowheads="1"/>
            </p:cNvSpPr>
            <p:nvPr/>
          </p:nvSpPr>
          <p:spPr bwMode="auto">
            <a:xfrm flipH="1">
              <a:off x="2465560" y="4661584"/>
              <a:ext cx="277640" cy="292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300" dirty="0">
                  <a:latin typeface="Helvetica" pitchFamily="-84" charset="0"/>
                </a:rPr>
                <a:t>4</a:t>
              </a:r>
            </a:p>
          </p:txBody>
        </p:sp>
        <p:sp>
          <p:nvSpPr>
            <p:cNvPr id="14" name="Text Box 49"/>
            <p:cNvSpPr txBox="1">
              <a:spLocks noChangeArrowheads="1"/>
            </p:cNvSpPr>
            <p:nvPr/>
          </p:nvSpPr>
          <p:spPr bwMode="auto">
            <a:xfrm flipH="1">
              <a:off x="5700958" y="4552371"/>
              <a:ext cx="446144" cy="2918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300" dirty="0">
                  <a:latin typeface="Helvetica" pitchFamily="-84" charset="0"/>
                </a:rPr>
                <a:t>14</a:t>
              </a:r>
            </a:p>
          </p:txBody>
        </p:sp>
        <p:sp>
          <p:nvSpPr>
            <p:cNvPr id="15" name="Text Box 50"/>
            <p:cNvSpPr txBox="1">
              <a:spLocks noChangeArrowheads="1"/>
            </p:cNvSpPr>
            <p:nvPr/>
          </p:nvSpPr>
          <p:spPr bwMode="auto">
            <a:xfrm flipH="1">
              <a:off x="990600" y="4661107"/>
              <a:ext cx="335086" cy="2918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300" dirty="0">
                  <a:latin typeface="Helvetica" pitchFamily="-84" charset="0"/>
                </a:rPr>
                <a:t>0</a:t>
              </a:r>
            </a:p>
          </p:txBody>
        </p:sp>
        <p:sp>
          <p:nvSpPr>
            <p:cNvPr id="16" name="Line 52"/>
            <p:cNvSpPr>
              <a:spLocks noChangeShapeType="1"/>
            </p:cNvSpPr>
            <p:nvPr/>
          </p:nvSpPr>
          <p:spPr bwMode="auto">
            <a:xfrm flipH="1">
              <a:off x="5934561" y="3767114"/>
              <a:ext cx="0" cy="6091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" name="Line 63"/>
            <p:cNvSpPr>
              <a:spLocks noChangeShapeType="1"/>
            </p:cNvSpPr>
            <p:nvPr/>
          </p:nvSpPr>
          <p:spPr bwMode="auto">
            <a:xfrm flipH="1">
              <a:off x="5934561" y="4376283"/>
              <a:ext cx="0" cy="2284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" name="Text Box 64"/>
            <p:cNvSpPr txBox="1">
              <a:spLocks noChangeArrowheads="1"/>
            </p:cNvSpPr>
            <p:nvPr/>
          </p:nvSpPr>
          <p:spPr bwMode="auto">
            <a:xfrm flipH="1">
              <a:off x="3760960" y="4585438"/>
              <a:ext cx="277640" cy="292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300" dirty="0">
                  <a:latin typeface="Helvetica" pitchFamily="-84" charset="0"/>
                </a:rPr>
                <a:t>8</a:t>
              </a:r>
            </a:p>
          </p:txBody>
        </p:sp>
        <p:sp>
          <p:nvSpPr>
            <p:cNvPr id="20" name="Line 69"/>
            <p:cNvSpPr>
              <a:spLocks noChangeShapeType="1"/>
            </p:cNvSpPr>
            <p:nvPr/>
          </p:nvSpPr>
          <p:spPr bwMode="auto">
            <a:xfrm flipH="1">
              <a:off x="2590800" y="3733800"/>
              <a:ext cx="0" cy="9137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Text Box 70"/>
            <p:cNvSpPr txBox="1">
              <a:spLocks noChangeArrowheads="1"/>
            </p:cNvSpPr>
            <p:nvPr/>
          </p:nvSpPr>
          <p:spPr bwMode="auto">
            <a:xfrm flipH="1">
              <a:off x="6671888" y="3898536"/>
              <a:ext cx="357791" cy="292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300" dirty="0">
                  <a:latin typeface="Helvetica" pitchFamily="-84" charset="0"/>
                </a:rPr>
                <a:t>P</a:t>
              </a:r>
              <a:r>
                <a:rPr lang="en-US" sz="1300" baseline="-25000" dirty="0">
                  <a:latin typeface="Helvetica" pitchFamily="-84" charset="0"/>
                </a:rPr>
                <a:t>3</a:t>
              </a:r>
              <a:endParaRPr lang="en-US" sz="1300" dirty="0">
                <a:latin typeface="Helvetica" pitchFamily="-84" charset="0"/>
              </a:endParaRPr>
            </a:p>
          </p:txBody>
        </p:sp>
        <p:sp>
          <p:nvSpPr>
            <p:cNvPr id="22" name="Text Box 73"/>
            <p:cNvSpPr txBox="1">
              <a:spLocks noChangeArrowheads="1"/>
            </p:cNvSpPr>
            <p:nvPr/>
          </p:nvSpPr>
          <p:spPr bwMode="auto">
            <a:xfrm flipH="1">
              <a:off x="7631056" y="4552371"/>
              <a:ext cx="446144" cy="2918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300" dirty="0">
                  <a:latin typeface="Helvetica" pitchFamily="-84" charset="0"/>
                </a:rPr>
                <a:t>22</a:t>
              </a:r>
            </a:p>
          </p:txBody>
        </p:sp>
        <p:sp>
          <p:nvSpPr>
            <p:cNvPr id="25" name="Line 69"/>
            <p:cNvSpPr>
              <a:spLocks noChangeShapeType="1"/>
            </p:cNvSpPr>
            <p:nvPr/>
          </p:nvSpPr>
          <p:spPr bwMode="auto">
            <a:xfrm flipH="1">
              <a:off x="1705770" y="3745275"/>
              <a:ext cx="0" cy="9137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" name="Text Box 50"/>
            <p:cNvSpPr txBox="1">
              <a:spLocks noChangeArrowheads="1"/>
            </p:cNvSpPr>
            <p:nvPr/>
          </p:nvSpPr>
          <p:spPr bwMode="auto">
            <a:xfrm flipH="1">
              <a:off x="1566950" y="4660612"/>
              <a:ext cx="277640" cy="292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300" dirty="0">
                  <a:latin typeface="Helvetica" pitchFamily="-84" charset="0"/>
                </a:rPr>
                <a:t>1</a:t>
              </a:r>
            </a:p>
          </p:txBody>
        </p:sp>
        <p:sp>
          <p:nvSpPr>
            <p:cNvPr id="27" name="Text Box 38"/>
            <p:cNvSpPr txBox="1">
              <a:spLocks noChangeArrowheads="1"/>
            </p:cNvSpPr>
            <p:nvPr/>
          </p:nvSpPr>
          <p:spPr bwMode="auto">
            <a:xfrm flipH="1">
              <a:off x="1852010" y="3886200"/>
              <a:ext cx="357791" cy="292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300" dirty="0">
                  <a:latin typeface="Helvetica" pitchFamily="-84" charset="0"/>
                </a:rPr>
                <a:t>P</a:t>
              </a:r>
              <a:r>
                <a:rPr lang="en-US" sz="1300" baseline="-25000" dirty="0">
                  <a:latin typeface="Helvetica" pitchFamily="-84" charset="0"/>
                </a:rPr>
                <a:t>2</a:t>
              </a:r>
              <a:endParaRPr lang="en-US" sz="1300" dirty="0">
                <a:latin typeface="Helvetica" pitchFamily="-84" charset="0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26489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Preemptive Priority Scheduling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38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773B303-CEA4-39FE-8190-A77ECCC638B8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1"/>
            <a:ext cx="10463741" cy="5252357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number is assigned to each process that indicates its priority level.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If a newer process arrives having higher priority than the currently running process, then the currently running process is preempted.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Important Points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waiting time for the process having the highest priority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will always be zero in preemptive mode.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may not be zero in non-preemptive mode</a:t>
            </a:r>
          </a:p>
          <a:p>
            <a:pPr lvl="1"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Preemptive and non-preemptive mode behaves exactly same, if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arrival time of all the processes is same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All the processes become available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9248474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Priority Scheduling Policy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39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773B303-CEA4-39FE-8190-A77ECCC638B8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2"/>
            <a:ext cx="10433956" cy="5404758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 lnSpcReduction="10000"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algn="just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Gantt Chart for the schedule is:</a:t>
            </a:r>
          </a:p>
          <a:p>
            <a:pPr algn="just"/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Waiting time for P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= 11; P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= 8; P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= 0; P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= 0; P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= 5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Average waiting time:  (11 + 8 + 0 + 0 + 4)/5 = 4.6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5831112-9B3C-E882-C1B2-93F9A11E3E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2424079"/>
              </p:ext>
            </p:extLst>
          </p:nvPr>
        </p:nvGraphicFramePr>
        <p:xfrm>
          <a:off x="2575249" y="1453242"/>
          <a:ext cx="6307496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74">
                  <a:extLst>
                    <a:ext uri="{9D8B030D-6E8A-4147-A177-3AD203B41FA5}">
                      <a16:colId xmlns:a16="http://schemas.microsoft.com/office/drawing/2014/main" val="557133246"/>
                    </a:ext>
                  </a:extLst>
                </a:gridCol>
                <a:gridCol w="1576874">
                  <a:extLst>
                    <a:ext uri="{9D8B030D-6E8A-4147-A177-3AD203B41FA5}">
                      <a16:colId xmlns:a16="http://schemas.microsoft.com/office/drawing/2014/main" val="2644972547"/>
                    </a:ext>
                  </a:extLst>
                </a:gridCol>
                <a:gridCol w="1576874">
                  <a:extLst>
                    <a:ext uri="{9D8B030D-6E8A-4147-A177-3AD203B41FA5}">
                      <a16:colId xmlns:a16="http://schemas.microsoft.com/office/drawing/2014/main" val="200463272"/>
                    </a:ext>
                  </a:extLst>
                </a:gridCol>
                <a:gridCol w="1576874">
                  <a:extLst>
                    <a:ext uri="{9D8B030D-6E8A-4147-A177-3AD203B41FA5}">
                      <a16:colId xmlns:a16="http://schemas.microsoft.com/office/drawing/2014/main" val="38718644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Arrival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Burst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Priority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0651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US" sz="18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09321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US" sz="18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25607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US" sz="18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75219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US" sz="18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0563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US" sz="18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358657"/>
                  </a:ext>
                </a:extLst>
              </a:tr>
            </a:tbl>
          </a:graphicData>
        </a:graphic>
      </p:graphicFrame>
      <p:grpSp>
        <p:nvGrpSpPr>
          <p:cNvPr id="28" name="Group 27">
            <a:extLst>
              <a:ext uri="{FF2B5EF4-FFF2-40B4-BE49-F238E27FC236}">
                <a16:creationId xmlns:a16="http://schemas.microsoft.com/office/drawing/2014/main" id="{E653CF9E-2AC7-02BC-5582-6A330A7F006C}"/>
              </a:ext>
            </a:extLst>
          </p:cNvPr>
          <p:cNvGrpSpPr/>
          <p:nvPr/>
        </p:nvGrpSpPr>
        <p:grpSpPr>
          <a:xfrm>
            <a:off x="2183672" y="4452297"/>
            <a:ext cx="7189792" cy="1045765"/>
            <a:chOff x="2911460" y="4358992"/>
            <a:chExt cx="7189792" cy="1045765"/>
          </a:xfrm>
        </p:grpSpPr>
        <p:grpSp>
          <p:nvGrpSpPr>
            <p:cNvPr id="4" name="Group 74">
              <a:extLst>
                <a:ext uri="{FF2B5EF4-FFF2-40B4-BE49-F238E27FC236}">
                  <a16:creationId xmlns:a16="http://schemas.microsoft.com/office/drawing/2014/main" id="{EBF98760-A04C-655D-3773-DD583222A5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11460" y="4358992"/>
              <a:ext cx="6986592" cy="1045765"/>
              <a:chOff x="879" y="2366"/>
              <a:chExt cx="4401" cy="659"/>
            </a:xfrm>
          </p:grpSpPr>
          <p:sp>
            <p:nvSpPr>
              <p:cNvPr id="5" name="Rectangle 37">
                <a:extLst>
                  <a:ext uri="{FF2B5EF4-FFF2-40B4-BE49-F238E27FC236}">
                    <a16:creationId xmlns:a16="http://schemas.microsoft.com/office/drawing/2014/main" id="{70A2352C-00A5-664A-2D0E-78429D31C9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960" y="2373"/>
                <a:ext cx="4320" cy="384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6" name="Text Box 38">
                <a:extLst>
                  <a:ext uri="{FF2B5EF4-FFF2-40B4-BE49-F238E27FC236}">
                    <a16:creationId xmlns:a16="http://schemas.microsoft.com/office/drawing/2014/main" id="{9CAA68FC-871A-FBA9-2122-36550FEDBE5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H="1">
                <a:off x="1064" y="2436"/>
                <a:ext cx="225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sz="1300" dirty="0">
                    <a:latin typeface="Helvetica" pitchFamily="-84" charset="0"/>
                  </a:rPr>
                  <a:t>P</a:t>
                </a:r>
                <a:r>
                  <a:rPr lang="en-US" sz="1300" baseline="-25000" dirty="0">
                    <a:latin typeface="Helvetica" pitchFamily="-84" charset="0"/>
                  </a:rPr>
                  <a:t>1</a:t>
                </a:r>
                <a:endParaRPr lang="en-US" sz="1300" dirty="0">
                  <a:latin typeface="Helvetica" pitchFamily="-84" charset="0"/>
                </a:endParaRPr>
              </a:p>
            </p:txBody>
          </p:sp>
          <p:sp>
            <p:nvSpPr>
              <p:cNvPr id="7" name="Text Box 39">
                <a:extLst>
                  <a:ext uri="{FF2B5EF4-FFF2-40B4-BE49-F238E27FC236}">
                    <a16:creationId xmlns:a16="http://schemas.microsoft.com/office/drawing/2014/main" id="{7201B006-4131-511F-AF16-A31F9F0D4D7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H="1">
                <a:off x="2654" y="2423"/>
                <a:ext cx="225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sz="1300" dirty="0">
                    <a:latin typeface="Helvetica" pitchFamily="-84" charset="0"/>
                  </a:rPr>
                  <a:t>P</a:t>
                </a:r>
                <a:r>
                  <a:rPr lang="en-US" sz="1300" baseline="-25000" dirty="0">
                    <a:latin typeface="Helvetica" pitchFamily="-84" charset="0"/>
                  </a:rPr>
                  <a:t>4</a:t>
                </a:r>
                <a:endParaRPr lang="en-US" sz="1300" dirty="0">
                  <a:latin typeface="Helvetica" pitchFamily="-84" charset="0"/>
                </a:endParaRPr>
              </a:p>
            </p:txBody>
          </p:sp>
          <p:sp>
            <p:nvSpPr>
              <p:cNvPr id="8" name="Text Box 40">
                <a:extLst>
                  <a:ext uri="{FF2B5EF4-FFF2-40B4-BE49-F238E27FC236}">
                    <a16:creationId xmlns:a16="http://schemas.microsoft.com/office/drawing/2014/main" id="{BDC0559F-B100-4E60-9C6B-6D7144BD8A3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H="1">
                <a:off x="1474" y="2434"/>
                <a:ext cx="225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sz="1300">
                    <a:latin typeface="Helvetica" pitchFamily="-84" charset="0"/>
                  </a:rPr>
                  <a:t>P</a:t>
                </a:r>
                <a:r>
                  <a:rPr lang="en-US" sz="1300" baseline="-25000">
                    <a:latin typeface="Helvetica" pitchFamily="-84" charset="0"/>
                  </a:rPr>
                  <a:t>2</a:t>
                </a:r>
                <a:endParaRPr lang="en-US" sz="1300">
                  <a:latin typeface="Helvetica" pitchFamily="-84" charset="0"/>
                </a:endParaRPr>
              </a:p>
            </p:txBody>
          </p:sp>
          <p:sp>
            <p:nvSpPr>
              <p:cNvPr id="9" name="Line 43">
                <a:extLst>
                  <a:ext uri="{FF2B5EF4-FFF2-40B4-BE49-F238E27FC236}">
                    <a16:creationId xmlns:a16="http://schemas.microsoft.com/office/drawing/2014/main" id="{6747B710-5DA9-DFF6-3255-336384ACEF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274" y="2373"/>
                <a:ext cx="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" name="Text Box 48">
                <a:extLst>
                  <a:ext uri="{FF2B5EF4-FFF2-40B4-BE49-F238E27FC236}">
                    <a16:creationId xmlns:a16="http://schemas.microsoft.com/office/drawing/2014/main" id="{C9EAEE7F-E483-817D-6504-541FFDBB613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H="1">
                <a:off x="1294" y="2840"/>
                <a:ext cx="175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sz="1300" dirty="0">
                    <a:latin typeface="Helvetica" pitchFamily="-84" charset="0"/>
                  </a:rPr>
                  <a:t>1</a:t>
                </a:r>
              </a:p>
            </p:txBody>
          </p:sp>
          <p:sp>
            <p:nvSpPr>
              <p:cNvPr id="11" name="Text Box 49">
                <a:extLst>
                  <a:ext uri="{FF2B5EF4-FFF2-40B4-BE49-F238E27FC236}">
                    <a16:creationId xmlns:a16="http://schemas.microsoft.com/office/drawing/2014/main" id="{76FF91E8-07D4-8D50-1314-B0A56A2A61A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H="1">
                <a:off x="3156" y="2841"/>
                <a:ext cx="175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sz="1300" dirty="0">
                    <a:latin typeface="Helvetica" pitchFamily="-84" charset="0"/>
                  </a:rPr>
                  <a:t>8</a:t>
                </a:r>
              </a:p>
            </p:txBody>
          </p:sp>
          <p:sp>
            <p:nvSpPr>
              <p:cNvPr id="13" name="Text Box 50">
                <a:extLst>
                  <a:ext uri="{FF2B5EF4-FFF2-40B4-BE49-F238E27FC236}">
                    <a16:creationId xmlns:a16="http://schemas.microsoft.com/office/drawing/2014/main" id="{6F7D145B-CBD5-C200-6D1F-F9199E9C3A5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H="1">
                <a:off x="879" y="2838"/>
                <a:ext cx="175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sz="1300" dirty="0">
                    <a:latin typeface="Helvetica" pitchFamily="-84" charset="0"/>
                  </a:rPr>
                  <a:t>0</a:t>
                </a:r>
              </a:p>
            </p:txBody>
          </p:sp>
          <p:sp>
            <p:nvSpPr>
              <p:cNvPr id="14" name="Line 52">
                <a:extLst>
                  <a:ext uri="{FF2B5EF4-FFF2-40B4-BE49-F238E27FC236}">
                    <a16:creationId xmlns:a16="http://schemas.microsoft.com/office/drawing/2014/main" id="{C428755C-885E-04D6-ACCB-739752B183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25" y="2373"/>
                <a:ext cx="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" name="Text Box 64">
                <a:extLst>
                  <a:ext uri="{FF2B5EF4-FFF2-40B4-BE49-F238E27FC236}">
                    <a16:creationId xmlns:a16="http://schemas.microsoft.com/office/drawing/2014/main" id="{3C3506E9-924A-A8A4-782F-8421217C758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H="1">
                <a:off x="2188" y="2840"/>
                <a:ext cx="175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sz="1300" dirty="0">
                    <a:latin typeface="Helvetica" pitchFamily="-84" charset="0"/>
                  </a:rPr>
                  <a:t>3</a:t>
                </a:r>
              </a:p>
            </p:txBody>
          </p:sp>
          <p:sp>
            <p:nvSpPr>
              <p:cNvPr id="16" name="Line 69">
                <a:extLst>
                  <a:ext uri="{FF2B5EF4-FFF2-40B4-BE49-F238E27FC236}">
                    <a16:creationId xmlns:a16="http://schemas.microsoft.com/office/drawing/2014/main" id="{D336DFB3-F81D-C5E9-C727-756190C146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385" y="2374"/>
                <a:ext cx="0" cy="39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" name="Text Box 70">
                <a:extLst>
                  <a:ext uri="{FF2B5EF4-FFF2-40B4-BE49-F238E27FC236}">
                    <a16:creationId xmlns:a16="http://schemas.microsoft.com/office/drawing/2014/main" id="{2CF7F9A6-32B9-5E73-E8DA-98053E513B5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H="1">
                <a:off x="3431" y="2423"/>
                <a:ext cx="225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sz="1300" dirty="0">
                    <a:latin typeface="Helvetica" pitchFamily="-84" charset="0"/>
                  </a:rPr>
                  <a:t>P</a:t>
                </a:r>
                <a:r>
                  <a:rPr lang="en-US" sz="1300" baseline="-25000" dirty="0">
                    <a:latin typeface="Helvetica" pitchFamily="-84" charset="0"/>
                  </a:rPr>
                  <a:t>5</a:t>
                </a:r>
                <a:endParaRPr lang="en-US" sz="1300" dirty="0">
                  <a:latin typeface="Helvetica" pitchFamily="-84" charset="0"/>
                </a:endParaRPr>
              </a:p>
            </p:txBody>
          </p:sp>
          <p:sp>
            <p:nvSpPr>
              <p:cNvPr id="18" name="Text Box 73">
                <a:extLst>
                  <a:ext uri="{FF2B5EF4-FFF2-40B4-BE49-F238E27FC236}">
                    <a16:creationId xmlns:a16="http://schemas.microsoft.com/office/drawing/2014/main" id="{6541BDEF-B114-EEF4-4DD8-3DBD1027430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H="1">
                <a:off x="4347" y="2841"/>
                <a:ext cx="233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sz="1300" dirty="0">
                    <a:latin typeface="Helvetica" pitchFamily="-84" charset="0"/>
                  </a:rPr>
                  <a:t>12</a:t>
                </a:r>
              </a:p>
            </p:txBody>
          </p:sp>
          <p:sp>
            <p:nvSpPr>
              <p:cNvPr id="19" name="Line 43">
                <a:extLst>
                  <a:ext uri="{FF2B5EF4-FFF2-40B4-BE49-F238E27FC236}">
                    <a16:creationId xmlns:a16="http://schemas.microsoft.com/office/drawing/2014/main" id="{06645F9C-FE83-EF00-1E13-9BF9D1D4ED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841" y="2366"/>
                <a:ext cx="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" name="Text Box 64">
                <a:extLst>
                  <a:ext uri="{FF2B5EF4-FFF2-40B4-BE49-F238E27FC236}">
                    <a16:creationId xmlns:a16="http://schemas.microsoft.com/office/drawing/2014/main" id="{1FD5DA8A-6E39-36E1-493C-0F1C14B2784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H="1">
                <a:off x="1755" y="2838"/>
                <a:ext cx="175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sz="1300" dirty="0">
                    <a:latin typeface="Helvetica" pitchFamily="-84" charset="0"/>
                  </a:rPr>
                  <a:t>2</a:t>
                </a:r>
              </a:p>
            </p:txBody>
          </p:sp>
          <p:sp>
            <p:nvSpPr>
              <p:cNvPr id="21" name="Text Box 39">
                <a:extLst>
                  <a:ext uri="{FF2B5EF4-FFF2-40B4-BE49-F238E27FC236}">
                    <a16:creationId xmlns:a16="http://schemas.microsoft.com/office/drawing/2014/main" id="{D01A2774-113F-2175-7C3A-B1509331C9C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H="1">
                <a:off x="1935" y="2433"/>
                <a:ext cx="225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sz="1300" dirty="0">
                    <a:latin typeface="Helvetica" pitchFamily="-84" charset="0"/>
                  </a:rPr>
                  <a:t>P</a:t>
                </a:r>
                <a:r>
                  <a:rPr lang="en-US" sz="1300" baseline="-25000" dirty="0">
                    <a:latin typeface="Helvetica" pitchFamily="-84" charset="0"/>
                  </a:rPr>
                  <a:t>3</a:t>
                </a:r>
                <a:endParaRPr lang="en-US" sz="1300" dirty="0">
                  <a:latin typeface="Helvetica" pitchFamily="-84" charset="0"/>
                </a:endParaRPr>
              </a:p>
            </p:txBody>
          </p:sp>
        </p:grpSp>
        <p:sp>
          <p:nvSpPr>
            <p:cNvPr id="22" name="Line 52">
              <a:extLst>
                <a:ext uri="{FF2B5EF4-FFF2-40B4-BE49-F238E27FC236}">
                  <a16:creationId xmlns:a16="http://schemas.microsoft.com/office/drawing/2014/main" id="{C81C794E-CE23-E6A9-4078-1FE288834E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654907" y="4373212"/>
              <a:ext cx="0" cy="6093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" name="Text Box 49">
              <a:extLst>
                <a:ext uri="{FF2B5EF4-FFF2-40B4-BE49-F238E27FC236}">
                  <a16:creationId xmlns:a16="http://schemas.microsoft.com/office/drawing/2014/main" id="{2EF9C86E-85FB-C87F-AEB1-AFA822CB86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7480308" y="5097020"/>
              <a:ext cx="370614" cy="292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300" dirty="0">
                  <a:latin typeface="Helvetica" pitchFamily="-84" charset="0"/>
                </a:rPr>
                <a:t>10</a:t>
              </a:r>
            </a:p>
          </p:txBody>
        </p:sp>
        <p:sp>
          <p:nvSpPr>
            <p:cNvPr id="24" name="Line 52">
              <a:extLst>
                <a:ext uri="{FF2B5EF4-FFF2-40B4-BE49-F238E27FC236}">
                  <a16:creationId xmlns:a16="http://schemas.microsoft.com/office/drawing/2014/main" id="{81F337E8-D537-AF43-F216-5A6FE4CECA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693132" y="4358992"/>
              <a:ext cx="0" cy="6093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" name="Text Box 73">
              <a:extLst>
                <a:ext uri="{FF2B5EF4-FFF2-40B4-BE49-F238E27FC236}">
                  <a16:creationId xmlns:a16="http://schemas.microsoft.com/office/drawing/2014/main" id="{345242FC-ACF2-7BA8-C1DF-7DB2F56729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9731364" y="5112768"/>
              <a:ext cx="369888" cy="2919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300" dirty="0">
                  <a:latin typeface="Helvetica" pitchFamily="-84" charset="0"/>
                </a:rPr>
                <a:t>15</a:t>
              </a:r>
            </a:p>
          </p:txBody>
        </p:sp>
        <p:sp>
          <p:nvSpPr>
            <p:cNvPr id="26" name="Text Box 39">
              <a:extLst>
                <a:ext uri="{FF2B5EF4-FFF2-40B4-BE49-F238E27FC236}">
                  <a16:creationId xmlns:a16="http://schemas.microsoft.com/office/drawing/2014/main" id="{C8FBEEB4-5D02-5A99-4F48-91E86EC2C1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8024498" y="4449246"/>
              <a:ext cx="357791" cy="292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300" dirty="0">
                  <a:latin typeface="Helvetica" pitchFamily="-84" charset="0"/>
                </a:rPr>
                <a:t>P</a:t>
              </a:r>
              <a:r>
                <a:rPr lang="en-US" sz="1300" baseline="-25000" dirty="0">
                  <a:latin typeface="Helvetica" pitchFamily="-84" charset="0"/>
                </a:rPr>
                <a:t>2</a:t>
              </a:r>
              <a:endParaRPr lang="en-US" sz="1300" dirty="0">
                <a:latin typeface="Helvetica" pitchFamily="-84" charset="0"/>
              </a:endParaRPr>
            </a:p>
          </p:txBody>
        </p:sp>
        <p:sp>
          <p:nvSpPr>
            <p:cNvPr id="27" name="Text Box 70">
              <a:extLst>
                <a:ext uri="{FF2B5EF4-FFF2-40B4-BE49-F238E27FC236}">
                  <a16:creationId xmlns:a16="http://schemas.microsoft.com/office/drawing/2014/main" id="{AD5A256C-282C-F60A-31D6-D4F606D646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9163038" y="4449445"/>
              <a:ext cx="357188" cy="2919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300" dirty="0">
                  <a:latin typeface="Helvetica" pitchFamily="-84" charset="0"/>
                </a:rPr>
                <a:t>P</a:t>
              </a:r>
              <a:r>
                <a:rPr lang="en-US" sz="1300" baseline="-25000" dirty="0">
                  <a:latin typeface="Helvetica" pitchFamily="-84" charset="0"/>
                </a:rPr>
                <a:t>1</a:t>
              </a:r>
              <a:endParaRPr lang="en-US" sz="1300" dirty="0">
                <a:latin typeface="Helvetica" pitchFamily="-84" charset="0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136827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C9FF6-CEE4-FC2B-D64F-91876A3FD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Preemptive Priority Scheduling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5EE22-A1D6-AAE2-24C6-9AC741C2A0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14948"/>
            <a:ext cx="10160000" cy="4800600"/>
          </a:xfrm>
        </p:spPr>
        <p:txBody>
          <a:bodyPr/>
          <a:lstStyle/>
          <a:p>
            <a:pPr marL="11430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a System with Preemptive priority-based Scheduling with 3 Processes P1, P2, and P3 with infinite instances of them. The instances of these Processes arrive at regular intervals of 3, 7 &amp; 20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respectively. The priority of the Process instances is the inverse of their periods. Each of the Process instances P1, P2, and P3 consumes 1, 2 &amp; 4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CPU time,  respectively. The 1st instance of each Process is available at 1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What is the Completion time of the 1st instance of Process P3?</a:t>
            </a:r>
          </a:p>
          <a:p>
            <a:pPr marL="11430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>
              <a:buNone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734099-C544-AD58-2E54-CE53AD5C3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102C91-270E-B82D-D112-446CB869D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 smtClean="0"/>
              <a:pPr/>
              <a:t>40</a:t>
            </a:fld>
            <a:endParaRPr lang="en-US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657A2865-58C2-2FF1-A39F-23FFE0AAEA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400" y="4600893"/>
            <a:ext cx="7858125" cy="1628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801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Round Robin (RR) Scheduling Policy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41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773B303-CEA4-39FE-8190-A77ECCC638B8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1"/>
            <a:ext cx="10340649" cy="5252357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Each process runs a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 slice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or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quantum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 After this time has elapsed, the process is preempted and added to the end of the ready queue.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For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processes in the ready queue and time quantum of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each process gets 1/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of the CPU time in chunks of at most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time units. Each process waits no longer than (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-1)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time units until its next time quantum.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Timer interrupts every quantum to schedule next process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Performance</a:t>
            </a:r>
          </a:p>
          <a:p>
            <a:pPr lvl="1" algn="just"/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large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FIFO</a:t>
            </a:r>
          </a:p>
          <a:p>
            <a:pPr lvl="1" algn="just"/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small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RR</a:t>
            </a:r>
          </a:p>
          <a:p>
            <a:pPr algn="just"/>
            <a:endParaRPr lang="en-US" sz="10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5315" y="4720816"/>
            <a:ext cx="5296229" cy="1717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281490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RR Scheduling Policy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42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773B303-CEA4-39FE-8190-A77ECCC638B8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2"/>
            <a:ext cx="10433956" cy="5404758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algn="just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Time slice: 4 sec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Gantt Chart for the schedule is:</a:t>
            </a:r>
          </a:p>
          <a:p>
            <a:pPr algn="just"/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Average waiting time:  (6 + 4 + 7)/3 = 5.67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Typically, higher average turnaround time than SJF, but better </a:t>
            </a:r>
            <a: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  <a:t>response time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5831112-9B3C-E882-C1B2-93F9A11E3E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6122179"/>
              </p:ext>
            </p:extLst>
          </p:nvPr>
        </p:nvGraphicFramePr>
        <p:xfrm>
          <a:off x="3337248" y="1453242"/>
          <a:ext cx="472145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0729">
                  <a:extLst>
                    <a:ext uri="{9D8B030D-6E8A-4147-A177-3AD203B41FA5}">
                      <a16:colId xmlns:a16="http://schemas.microsoft.com/office/drawing/2014/main" val="557133246"/>
                    </a:ext>
                  </a:extLst>
                </a:gridCol>
                <a:gridCol w="2360729">
                  <a:extLst>
                    <a:ext uri="{9D8B030D-6E8A-4147-A177-3AD203B41FA5}">
                      <a16:colId xmlns:a16="http://schemas.microsoft.com/office/drawing/2014/main" val="2004632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Burst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0651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US" sz="18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09321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US" sz="18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25607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US" sz="18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7521930"/>
                  </a:ext>
                </a:extLst>
              </a:tr>
            </a:tbl>
          </a:graphicData>
        </a:graphic>
      </p:graphicFrame>
      <p:grpSp>
        <p:nvGrpSpPr>
          <p:cNvPr id="3072" name="Group 3071">
            <a:extLst>
              <a:ext uri="{FF2B5EF4-FFF2-40B4-BE49-F238E27FC236}">
                <a16:creationId xmlns:a16="http://schemas.microsoft.com/office/drawing/2014/main" id="{4BA8C8D6-F09A-03E2-C719-938EF7503945}"/>
              </a:ext>
            </a:extLst>
          </p:cNvPr>
          <p:cNvGrpSpPr/>
          <p:nvPr/>
        </p:nvGrpSpPr>
        <p:grpSpPr>
          <a:xfrm>
            <a:off x="2183672" y="4203283"/>
            <a:ext cx="7190155" cy="1036442"/>
            <a:chOff x="2183672" y="3680770"/>
            <a:chExt cx="7190155" cy="1036442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E653CF9E-2AC7-02BC-5582-6A330A7F006C}"/>
                </a:ext>
              </a:extLst>
            </p:cNvPr>
            <p:cNvGrpSpPr/>
            <p:nvPr/>
          </p:nvGrpSpPr>
          <p:grpSpPr>
            <a:xfrm>
              <a:off x="2183672" y="3680770"/>
              <a:ext cx="7190155" cy="1036442"/>
              <a:chOff x="2911460" y="4368515"/>
              <a:chExt cx="7190155" cy="1036442"/>
            </a:xfrm>
          </p:grpSpPr>
          <p:grpSp>
            <p:nvGrpSpPr>
              <p:cNvPr id="4" name="Group 74">
                <a:extLst>
                  <a:ext uri="{FF2B5EF4-FFF2-40B4-BE49-F238E27FC236}">
                    <a16:creationId xmlns:a16="http://schemas.microsoft.com/office/drawing/2014/main" id="{EBF98760-A04C-655D-3773-DD583222A53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11460" y="4368515"/>
                <a:ext cx="6986592" cy="1036244"/>
                <a:chOff x="879" y="2372"/>
                <a:chExt cx="4401" cy="653"/>
              </a:xfrm>
            </p:grpSpPr>
            <p:sp>
              <p:nvSpPr>
                <p:cNvPr id="5" name="Rectangle 37">
                  <a:extLst>
                    <a:ext uri="{FF2B5EF4-FFF2-40B4-BE49-F238E27FC236}">
                      <a16:creationId xmlns:a16="http://schemas.microsoft.com/office/drawing/2014/main" id="{70A2352C-00A5-664A-2D0E-78429D31C95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H="1">
                  <a:off x="960" y="2373"/>
                  <a:ext cx="4320" cy="384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6" name="Text Box 38">
                  <a:extLst>
                    <a:ext uri="{FF2B5EF4-FFF2-40B4-BE49-F238E27FC236}">
                      <a16:creationId xmlns:a16="http://schemas.microsoft.com/office/drawing/2014/main" id="{9CAA68FC-871A-FBA9-2122-36550FEDBE5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 flipH="1">
                  <a:off x="1064" y="2436"/>
                  <a:ext cx="225" cy="1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</a:pPr>
                  <a:r>
                    <a:rPr lang="en-US" sz="1300" dirty="0">
                      <a:latin typeface="Helvetica" pitchFamily="-84" charset="0"/>
                    </a:rPr>
                    <a:t>P</a:t>
                  </a:r>
                  <a:r>
                    <a:rPr lang="en-US" sz="1300" baseline="-25000" dirty="0">
                      <a:latin typeface="Helvetica" pitchFamily="-84" charset="0"/>
                    </a:rPr>
                    <a:t>1</a:t>
                  </a:r>
                  <a:endParaRPr lang="en-US" sz="1300" dirty="0">
                    <a:latin typeface="Helvetica" pitchFamily="-84" charset="0"/>
                  </a:endParaRPr>
                </a:p>
              </p:txBody>
            </p:sp>
            <p:sp>
              <p:nvSpPr>
                <p:cNvPr id="7" name="Text Box 39">
                  <a:extLst>
                    <a:ext uri="{FF2B5EF4-FFF2-40B4-BE49-F238E27FC236}">
                      <a16:creationId xmlns:a16="http://schemas.microsoft.com/office/drawing/2014/main" id="{7201B006-4131-511F-AF16-A31F9F0D4D7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 flipH="1">
                  <a:off x="2396" y="2423"/>
                  <a:ext cx="225" cy="1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</a:pPr>
                  <a:r>
                    <a:rPr lang="en-US" sz="1300" dirty="0">
                      <a:latin typeface="Helvetica" pitchFamily="-84" charset="0"/>
                    </a:rPr>
                    <a:t>P</a:t>
                  </a:r>
                  <a:r>
                    <a:rPr lang="en-US" sz="1300" baseline="-25000" dirty="0">
                      <a:latin typeface="Helvetica" pitchFamily="-84" charset="0"/>
                    </a:rPr>
                    <a:t>1</a:t>
                  </a:r>
                  <a:endParaRPr lang="en-US" sz="1300" dirty="0">
                    <a:latin typeface="Helvetica" pitchFamily="-84" charset="0"/>
                  </a:endParaRPr>
                </a:p>
              </p:txBody>
            </p:sp>
            <p:sp>
              <p:nvSpPr>
                <p:cNvPr id="8" name="Text Box 40">
                  <a:extLst>
                    <a:ext uri="{FF2B5EF4-FFF2-40B4-BE49-F238E27FC236}">
                      <a16:creationId xmlns:a16="http://schemas.microsoft.com/office/drawing/2014/main" id="{BDC0559F-B100-4E60-9C6B-6D7144BD8A3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 flipH="1">
                  <a:off x="1474" y="2434"/>
                  <a:ext cx="225" cy="1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</a:pPr>
                  <a:r>
                    <a:rPr lang="en-US" sz="1300">
                      <a:latin typeface="Helvetica" pitchFamily="-84" charset="0"/>
                    </a:rPr>
                    <a:t>P</a:t>
                  </a:r>
                  <a:r>
                    <a:rPr lang="en-US" sz="1300" baseline="-25000">
                      <a:latin typeface="Helvetica" pitchFamily="-84" charset="0"/>
                    </a:rPr>
                    <a:t>2</a:t>
                  </a:r>
                  <a:endParaRPr lang="en-US" sz="1300">
                    <a:latin typeface="Helvetica" pitchFamily="-84" charset="0"/>
                  </a:endParaRPr>
                </a:p>
              </p:txBody>
            </p:sp>
            <p:sp>
              <p:nvSpPr>
                <p:cNvPr id="9" name="Line 43">
                  <a:extLst>
                    <a:ext uri="{FF2B5EF4-FFF2-40B4-BE49-F238E27FC236}">
                      <a16:creationId xmlns:a16="http://schemas.microsoft.com/office/drawing/2014/main" id="{6747B710-5DA9-DFF6-3255-336384ACEFF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232" y="2373"/>
                  <a:ext cx="0" cy="38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" name="Text Box 48">
                  <a:extLst>
                    <a:ext uri="{FF2B5EF4-FFF2-40B4-BE49-F238E27FC236}">
                      <a16:creationId xmlns:a16="http://schemas.microsoft.com/office/drawing/2014/main" id="{C9EAEE7F-E483-817D-6504-541FFDBB613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 flipH="1">
                  <a:off x="1312" y="2840"/>
                  <a:ext cx="175" cy="1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</a:pPr>
                  <a:r>
                    <a:rPr lang="en-US" sz="1300" dirty="0">
                      <a:latin typeface="Helvetica" pitchFamily="-84" charset="0"/>
                    </a:rPr>
                    <a:t>4</a:t>
                  </a:r>
                </a:p>
              </p:txBody>
            </p:sp>
            <p:sp>
              <p:nvSpPr>
                <p:cNvPr id="11" name="Text Box 49">
                  <a:extLst>
                    <a:ext uri="{FF2B5EF4-FFF2-40B4-BE49-F238E27FC236}">
                      <a16:creationId xmlns:a16="http://schemas.microsoft.com/office/drawing/2014/main" id="{76FF91E8-07D4-8D50-1314-B0A56A2A61A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 flipH="1">
                  <a:off x="3343" y="2841"/>
                  <a:ext cx="233" cy="1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</a:pPr>
                  <a:r>
                    <a:rPr lang="en-US" sz="1300" dirty="0">
                      <a:latin typeface="Helvetica" pitchFamily="-84" charset="0"/>
                    </a:rPr>
                    <a:t>18</a:t>
                  </a:r>
                </a:p>
              </p:txBody>
            </p:sp>
            <p:sp>
              <p:nvSpPr>
                <p:cNvPr id="13" name="Text Box 50">
                  <a:extLst>
                    <a:ext uri="{FF2B5EF4-FFF2-40B4-BE49-F238E27FC236}">
                      <a16:creationId xmlns:a16="http://schemas.microsoft.com/office/drawing/2014/main" id="{6F7D145B-CBD5-C200-6D1F-F9199E9C3A5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 flipH="1">
                  <a:off x="879" y="2838"/>
                  <a:ext cx="175" cy="1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</a:pPr>
                  <a:r>
                    <a:rPr lang="en-US" sz="1300" dirty="0">
                      <a:latin typeface="Helvetica" pitchFamily="-84" charset="0"/>
                    </a:rPr>
                    <a:t>0</a:t>
                  </a:r>
                </a:p>
              </p:txBody>
            </p:sp>
            <p:sp>
              <p:nvSpPr>
                <p:cNvPr id="14" name="Line 52">
                  <a:extLst>
                    <a:ext uri="{FF2B5EF4-FFF2-40B4-BE49-F238E27FC236}">
                      <a16:creationId xmlns:a16="http://schemas.microsoft.com/office/drawing/2014/main" id="{C428755C-885E-04D6-ACCB-739752B183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441" y="2373"/>
                  <a:ext cx="0" cy="38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" name="Text Box 64">
                  <a:extLst>
                    <a:ext uri="{FF2B5EF4-FFF2-40B4-BE49-F238E27FC236}">
                      <a16:creationId xmlns:a16="http://schemas.microsoft.com/office/drawing/2014/main" id="{3C3506E9-924A-A8A4-782F-8421217C758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 flipH="1">
                  <a:off x="2117" y="2840"/>
                  <a:ext cx="233" cy="1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</a:pPr>
                  <a:r>
                    <a:rPr lang="en-US" sz="1300" dirty="0">
                      <a:latin typeface="Helvetica" pitchFamily="-84" charset="0"/>
                    </a:rPr>
                    <a:t>10</a:t>
                  </a:r>
                </a:p>
              </p:txBody>
            </p:sp>
            <p:sp>
              <p:nvSpPr>
                <p:cNvPr id="16" name="Line 69">
                  <a:extLst>
                    <a:ext uri="{FF2B5EF4-FFF2-40B4-BE49-F238E27FC236}">
                      <a16:creationId xmlns:a16="http://schemas.microsoft.com/office/drawing/2014/main" id="{D336DFB3-F81D-C5E9-C727-756190C146C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403" y="2374"/>
                  <a:ext cx="0" cy="399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7" name="Text Box 70">
                  <a:extLst>
                    <a:ext uri="{FF2B5EF4-FFF2-40B4-BE49-F238E27FC236}">
                      <a16:creationId xmlns:a16="http://schemas.microsoft.com/office/drawing/2014/main" id="{2CF7F9A6-32B9-5E73-E8DA-98053E513B5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 flipH="1">
                  <a:off x="3635" y="2423"/>
                  <a:ext cx="225" cy="1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</a:pPr>
                  <a:r>
                    <a:rPr lang="en-US" sz="1300" dirty="0">
                      <a:latin typeface="Helvetica" pitchFamily="-84" charset="0"/>
                    </a:rPr>
                    <a:t>P</a:t>
                  </a:r>
                  <a:r>
                    <a:rPr lang="en-US" sz="1300" baseline="-25000" dirty="0">
                      <a:latin typeface="Helvetica" pitchFamily="-84" charset="0"/>
                    </a:rPr>
                    <a:t>1</a:t>
                  </a:r>
                  <a:endParaRPr lang="en-US" sz="1300" dirty="0">
                    <a:latin typeface="Helvetica" pitchFamily="-84" charset="0"/>
                  </a:endParaRPr>
                </a:p>
              </p:txBody>
            </p:sp>
            <p:sp>
              <p:nvSpPr>
                <p:cNvPr id="18" name="Text Box 73">
                  <a:extLst>
                    <a:ext uri="{FF2B5EF4-FFF2-40B4-BE49-F238E27FC236}">
                      <a16:creationId xmlns:a16="http://schemas.microsoft.com/office/drawing/2014/main" id="{6541BDEF-B114-EEF4-4DD8-3DBD1027430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 flipH="1">
                  <a:off x="4526" y="2841"/>
                  <a:ext cx="233" cy="1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</a:pPr>
                  <a:r>
                    <a:rPr lang="en-US" sz="1300" dirty="0">
                      <a:latin typeface="Helvetica" pitchFamily="-84" charset="0"/>
                    </a:rPr>
                    <a:t>26</a:t>
                  </a:r>
                </a:p>
              </p:txBody>
            </p:sp>
            <p:sp>
              <p:nvSpPr>
                <p:cNvPr id="19" name="Line 43">
                  <a:extLst>
                    <a:ext uri="{FF2B5EF4-FFF2-40B4-BE49-F238E27FC236}">
                      <a16:creationId xmlns:a16="http://schemas.microsoft.com/office/drawing/2014/main" id="{06645F9C-FE83-EF00-1E13-9BF9D1D4EDD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805" y="2372"/>
                  <a:ext cx="0" cy="38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0" name="Text Box 64">
                  <a:extLst>
                    <a:ext uri="{FF2B5EF4-FFF2-40B4-BE49-F238E27FC236}">
                      <a16:creationId xmlns:a16="http://schemas.microsoft.com/office/drawing/2014/main" id="{1FD5DA8A-6E39-36E1-493C-0F1C14B2784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 flipH="1">
                  <a:off x="1719" y="2838"/>
                  <a:ext cx="175" cy="1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</a:pPr>
                  <a:r>
                    <a:rPr lang="en-US" sz="1300" dirty="0">
                      <a:latin typeface="Helvetica" pitchFamily="-84" charset="0"/>
                    </a:rPr>
                    <a:t>7</a:t>
                  </a:r>
                </a:p>
              </p:txBody>
            </p:sp>
            <p:sp>
              <p:nvSpPr>
                <p:cNvPr id="21" name="Text Box 39">
                  <a:extLst>
                    <a:ext uri="{FF2B5EF4-FFF2-40B4-BE49-F238E27FC236}">
                      <a16:creationId xmlns:a16="http://schemas.microsoft.com/office/drawing/2014/main" id="{D01A2774-113F-2175-7C3A-B1509331C9C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 flipH="1">
                  <a:off x="1935" y="2433"/>
                  <a:ext cx="225" cy="1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</a:pPr>
                  <a:r>
                    <a:rPr lang="en-US" sz="1300" dirty="0">
                      <a:latin typeface="Helvetica" pitchFamily="-84" charset="0"/>
                    </a:rPr>
                    <a:t>P</a:t>
                  </a:r>
                  <a:r>
                    <a:rPr lang="en-US" sz="1300" baseline="-25000" dirty="0">
                      <a:latin typeface="Helvetica" pitchFamily="-84" charset="0"/>
                    </a:rPr>
                    <a:t>3</a:t>
                  </a:r>
                  <a:endParaRPr lang="en-US" sz="1300" dirty="0">
                    <a:latin typeface="Helvetica" pitchFamily="-84" charset="0"/>
                  </a:endParaRPr>
                </a:p>
              </p:txBody>
            </p:sp>
          </p:grpSp>
          <p:sp>
            <p:nvSpPr>
              <p:cNvPr id="22" name="Line 52">
                <a:extLst>
                  <a:ext uri="{FF2B5EF4-FFF2-40B4-BE49-F238E27FC236}">
                    <a16:creationId xmlns:a16="http://schemas.microsoft.com/office/drawing/2014/main" id="{C81C794E-CE23-E6A9-4078-1FE288834E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950182" y="4373212"/>
                <a:ext cx="0" cy="6093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" name="Text Box 49">
                <a:extLst>
                  <a:ext uri="{FF2B5EF4-FFF2-40B4-BE49-F238E27FC236}">
                    <a16:creationId xmlns:a16="http://schemas.microsoft.com/office/drawing/2014/main" id="{2EF9C86E-85FB-C87F-AEB1-AFA822CB86A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H="1">
                <a:off x="7775583" y="5097020"/>
                <a:ext cx="370614" cy="2923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sz="1300" dirty="0">
                    <a:latin typeface="Helvetica" pitchFamily="-84" charset="0"/>
                  </a:rPr>
                  <a:t>22</a:t>
                </a:r>
              </a:p>
            </p:txBody>
          </p:sp>
          <p:sp>
            <p:nvSpPr>
              <p:cNvPr id="24" name="Line 52">
                <a:extLst>
                  <a:ext uri="{FF2B5EF4-FFF2-40B4-BE49-F238E27FC236}">
                    <a16:creationId xmlns:a16="http://schemas.microsoft.com/office/drawing/2014/main" id="{81F337E8-D537-AF43-F216-5A6FE4CECA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8921732" y="4368517"/>
                <a:ext cx="0" cy="6093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" name="Text Box 73">
                <a:extLst>
                  <a:ext uri="{FF2B5EF4-FFF2-40B4-BE49-F238E27FC236}">
                    <a16:creationId xmlns:a16="http://schemas.microsoft.com/office/drawing/2014/main" id="{345242FC-ACF2-7BA8-C1DF-7DB2F56729B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H="1">
                <a:off x="9731001" y="5112569"/>
                <a:ext cx="370614" cy="2923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sz="1300" dirty="0">
                    <a:latin typeface="Helvetica" pitchFamily="-84" charset="0"/>
                  </a:rPr>
                  <a:t>30</a:t>
                </a:r>
              </a:p>
            </p:txBody>
          </p:sp>
          <p:sp>
            <p:nvSpPr>
              <p:cNvPr id="26" name="Text Box 39">
                <a:extLst>
                  <a:ext uri="{FF2B5EF4-FFF2-40B4-BE49-F238E27FC236}">
                    <a16:creationId xmlns:a16="http://schemas.microsoft.com/office/drawing/2014/main" id="{C8FBEEB4-5D02-5A99-4F48-91E86EC2C19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H="1">
                <a:off x="8205473" y="4449246"/>
                <a:ext cx="357791" cy="2923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sz="1300" dirty="0">
                    <a:latin typeface="Helvetica" pitchFamily="-84" charset="0"/>
                  </a:rPr>
                  <a:t>P</a:t>
                </a:r>
                <a:r>
                  <a:rPr lang="en-US" sz="1300" baseline="-25000" dirty="0">
                    <a:latin typeface="Helvetica" pitchFamily="-84" charset="0"/>
                  </a:rPr>
                  <a:t>1</a:t>
                </a:r>
                <a:endParaRPr lang="en-US" sz="1300" dirty="0">
                  <a:latin typeface="Helvetica" pitchFamily="-84" charset="0"/>
                </a:endParaRPr>
              </a:p>
            </p:txBody>
          </p:sp>
          <p:sp>
            <p:nvSpPr>
              <p:cNvPr id="27" name="Text Box 70">
                <a:extLst>
                  <a:ext uri="{FF2B5EF4-FFF2-40B4-BE49-F238E27FC236}">
                    <a16:creationId xmlns:a16="http://schemas.microsoft.com/office/drawing/2014/main" id="{AD5A256C-282C-F60A-31D6-D4F606D646D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H="1">
                <a:off x="9239238" y="4449445"/>
                <a:ext cx="357188" cy="29198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sz="1300" dirty="0">
                    <a:latin typeface="Helvetica" pitchFamily="-84" charset="0"/>
                  </a:rPr>
                  <a:t>P</a:t>
                </a:r>
                <a:r>
                  <a:rPr lang="en-US" sz="1300" baseline="-25000" dirty="0">
                    <a:latin typeface="Helvetica" pitchFamily="-84" charset="0"/>
                  </a:rPr>
                  <a:t>1</a:t>
                </a:r>
                <a:endParaRPr lang="en-US" sz="1300" dirty="0">
                  <a:latin typeface="Helvetica" pitchFamily="-84" charset="0"/>
                </a:endParaRPr>
              </a:p>
            </p:txBody>
          </p:sp>
        </p:grpSp>
        <p:sp>
          <p:nvSpPr>
            <p:cNvPr id="29" name="Line 43">
              <a:extLst>
                <a:ext uri="{FF2B5EF4-FFF2-40B4-BE49-F238E27FC236}">
                  <a16:creationId xmlns:a16="http://schemas.microsoft.com/office/drawing/2014/main" id="{4D34475B-EEA7-4423-8404-4F09F7C6A2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65011" y="3682357"/>
              <a:ext cx="0" cy="6093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" name="Text Box 64">
              <a:extLst>
                <a:ext uri="{FF2B5EF4-FFF2-40B4-BE49-F238E27FC236}">
                  <a16:creationId xmlns:a16="http://schemas.microsoft.com/office/drawing/2014/main" id="{61D99384-7936-A364-44C4-0671FF3070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5082086" y="4423239"/>
              <a:ext cx="370614" cy="292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300" dirty="0">
                  <a:latin typeface="Helvetica" pitchFamily="-84" charset="0"/>
                </a:rPr>
                <a:t>14</a:t>
              </a:r>
            </a:p>
          </p:txBody>
        </p:sp>
        <p:sp>
          <p:nvSpPr>
            <p:cNvPr id="31" name="Text Box 39">
              <a:extLst>
                <a:ext uri="{FF2B5EF4-FFF2-40B4-BE49-F238E27FC236}">
                  <a16:creationId xmlns:a16="http://schemas.microsoft.com/office/drawing/2014/main" id="{C3F87581-BACE-4FCE-EC7F-E0BFC703F4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5534886" y="3761702"/>
              <a:ext cx="357188" cy="2919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300" dirty="0">
                  <a:latin typeface="Helvetica" pitchFamily="-84" charset="0"/>
                </a:rPr>
                <a:t>P</a:t>
              </a:r>
              <a:r>
                <a:rPr lang="en-US" sz="1300" baseline="-25000" dirty="0">
                  <a:latin typeface="Helvetica" pitchFamily="-84" charset="0"/>
                </a:rPr>
                <a:t>1</a:t>
              </a:r>
              <a:endParaRPr lang="en-US" sz="1300" dirty="0">
                <a:latin typeface="Helvetica" pitchFamily="-84" charset="0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720626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Class Exercise: RR Scheduling Policy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43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773B303-CEA4-39FE-8190-A77ECCC638B8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2"/>
            <a:ext cx="10433956" cy="5404758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 lnSpcReduction="10000"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algn="just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Time slice: 2 sec</a:t>
            </a:r>
          </a:p>
          <a:p>
            <a:pPr algn="just"/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Gantt Chart for the schedule is:</a:t>
            </a:r>
          </a:p>
          <a:p>
            <a:pPr algn="just"/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Average waiting time:  (8 + 8 + 2 + 4 + 7)/5 = 5.8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5831112-9B3C-E882-C1B2-93F9A11E3E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7233572"/>
              </p:ext>
            </p:extLst>
          </p:nvPr>
        </p:nvGraphicFramePr>
        <p:xfrm>
          <a:off x="2575248" y="1453242"/>
          <a:ext cx="5559099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3033">
                  <a:extLst>
                    <a:ext uri="{9D8B030D-6E8A-4147-A177-3AD203B41FA5}">
                      <a16:colId xmlns:a16="http://schemas.microsoft.com/office/drawing/2014/main" val="557133246"/>
                    </a:ext>
                  </a:extLst>
                </a:gridCol>
                <a:gridCol w="1853033">
                  <a:extLst>
                    <a:ext uri="{9D8B030D-6E8A-4147-A177-3AD203B41FA5}">
                      <a16:colId xmlns:a16="http://schemas.microsoft.com/office/drawing/2014/main" val="2644972547"/>
                    </a:ext>
                  </a:extLst>
                </a:gridCol>
                <a:gridCol w="1853033">
                  <a:extLst>
                    <a:ext uri="{9D8B030D-6E8A-4147-A177-3AD203B41FA5}">
                      <a16:colId xmlns:a16="http://schemas.microsoft.com/office/drawing/2014/main" val="2004632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Arrival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Burst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0651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US" sz="18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09321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US" sz="18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25607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US" sz="18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75219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US" sz="18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0563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US" sz="18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358657"/>
                  </a:ext>
                </a:extLst>
              </a:tr>
            </a:tbl>
          </a:graphicData>
        </a:graphic>
      </p:graphicFrame>
      <p:grpSp>
        <p:nvGrpSpPr>
          <p:cNvPr id="3101" name="Group 3100">
            <a:extLst>
              <a:ext uri="{FF2B5EF4-FFF2-40B4-BE49-F238E27FC236}">
                <a16:creationId xmlns:a16="http://schemas.microsoft.com/office/drawing/2014/main" id="{36727C5A-4586-553A-4317-23621D48CFB2}"/>
              </a:ext>
            </a:extLst>
          </p:cNvPr>
          <p:cNvGrpSpPr/>
          <p:nvPr/>
        </p:nvGrpSpPr>
        <p:grpSpPr>
          <a:xfrm>
            <a:off x="1533121" y="5002412"/>
            <a:ext cx="8568105" cy="1042790"/>
            <a:chOff x="1533121" y="5002412"/>
            <a:chExt cx="8568105" cy="1042790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127DCC34-6708-21A2-3071-FB81A9721EC7}"/>
                </a:ext>
              </a:extLst>
            </p:cNvPr>
            <p:cNvGrpSpPr/>
            <p:nvPr/>
          </p:nvGrpSpPr>
          <p:grpSpPr>
            <a:xfrm>
              <a:off x="1533121" y="5002412"/>
              <a:ext cx="8568105" cy="1042788"/>
              <a:chOff x="1701072" y="3674424"/>
              <a:chExt cx="8568105" cy="1042788"/>
            </a:xfrm>
          </p:grpSpPr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0F8417F5-1F01-1B11-B252-735EE03E1826}"/>
                  </a:ext>
                </a:extLst>
              </p:cNvPr>
              <p:cNvGrpSpPr/>
              <p:nvPr/>
            </p:nvGrpSpPr>
            <p:grpSpPr>
              <a:xfrm>
                <a:off x="1701072" y="3674424"/>
                <a:ext cx="8568105" cy="1042788"/>
                <a:chOff x="2428860" y="4362169"/>
                <a:chExt cx="8568105" cy="1042788"/>
              </a:xfrm>
            </p:grpSpPr>
            <p:grpSp>
              <p:nvGrpSpPr>
                <p:cNvPr id="3075" name="Group 74">
                  <a:extLst>
                    <a:ext uri="{FF2B5EF4-FFF2-40B4-BE49-F238E27FC236}">
                      <a16:creationId xmlns:a16="http://schemas.microsoft.com/office/drawing/2014/main" id="{A7B1076F-A83E-6C05-85D2-D65F8ED8931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28860" y="4362169"/>
                  <a:ext cx="8383594" cy="1042592"/>
                  <a:chOff x="575" y="2368"/>
                  <a:chExt cx="5281" cy="657"/>
                </a:xfrm>
              </p:grpSpPr>
              <p:sp>
                <p:nvSpPr>
                  <p:cNvPr id="3082" name="Rectangle 37">
                    <a:extLst>
                      <a:ext uri="{FF2B5EF4-FFF2-40B4-BE49-F238E27FC236}">
                        <a16:creationId xmlns:a16="http://schemas.microsoft.com/office/drawing/2014/main" id="{9155D766-EF61-7575-6EE8-6F533F1E003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H="1">
                    <a:off x="575" y="2373"/>
                    <a:ext cx="5281" cy="384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3083" name="Text Box 38">
                    <a:extLst>
                      <a:ext uri="{FF2B5EF4-FFF2-40B4-BE49-F238E27FC236}">
                        <a16:creationId xmlns:a16="http://schemas.microsoft.com/office/drawing/2014/main" id="{1FB44640-6520-3E0B-15A3-33B3C064454E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 flipH="1">
                    <a:off x="854" y="2436"/>
                    <a:ext cx="225" cy="1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9pPr>
                  </a:lstStyle>
                  <a:p>
                    <a:pPr algn="ctr">
                      <a:spcBef>
                        <a:spcPct val="50000"/>
                      </a:spcBef>
                    </a:pPr>
                    <a:r>
                      <a:rPr lang="en-US" sz="1300" dirty="0">
                        <a:latin typeface="Helvetica" pitchFamily="-84" charset="0"/>
                      </a:rPr>
                      <a:t>P</a:t>
                    </a:r>
                    <a:r>
                      <a:rPr lang="en-US" sz="1300" baseline="-25000" dirty="0">
                        <a:latin typeface="Helvetica" pitchFamily="-84" charset="0"/>
                      </a:rPr>
                      <a:t>1</a:t>
                    </a:r>
                    <a:endParaRPr lang="en-US" sz="1300" dirty="0">
                      <a:latin typeface="Helvetica" pitchFamily="-84" charset="0"/>
                    </a:endParaRPr>
                  </a:p>
                </p:txBody>
              </p:sp>
              <p:sp>
                <p:nvSpPr>
                  <p:cNvPr id="3084" name="Text Box 39">
                    <a:extLst>
                      <a:ext uri="{FF2B5EF4-FFF2-40B4-BE49-F238E27FC236}">
                        <a16:creationId xmlns:a16="http://schemas.microsoft.com/office/drawing/2014/main" id="{03B5D689-7D8A-53AC-FF64-1B183A7C5603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 flipH="1">
                    <a:off x="2396" y="2423"/>
                    <a:ext cx="225" cy="1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9pPr>
                  </a:lstStyle>
                  <a:p>
                    <a:pPr algn="ctr">
                      <a:spcBef>
                        <a:spcPct val="50000"/>
                      </a:spcBef>
                    </a:pPr>
                    <a:r>
                      <a:rPr lang="en-US" sz="1300" dirty="0">
                        <a:latin typeface="Helvetica" pitchFamily="-84" charset="0"/>
                      </a:rPr>
                      <a:t>P</a:t>
                    </a:r>
                    <a:r>
                      <a:rPr lang="en-US" sz="1300" baseline="-25000" dirty="0">
                        <a:latin typeface="Helvetica" pitchFamily="-84" charset="0"/>
                      </a:rPr>
                      <a:t>1</a:t>
                    </a:r>
                    <a:endParaRPr lang="en-US" sz="1300" dirty="0">
                      <a:latin typeface="Helvetica" pitchFamily="-84" charset="0"/>
                    </a:endParaRPr>
                  </a:p>
                </p:txBody>
              </p:sp>
              <p:sp>
                <p:nvSpPr>
                  <p:cNvPr id="3085" name="Text Box 40">
                    <a:extLst>
                      <a:ext uri="{FF2B5EF4-FFF2-40B4-BE49-F238E27FC236}">
                        <a16:creationId xmlns:a16="http://schemas.microsoft.com/office/drawing/2014/main" id="{84B1AAB6-B357-7324-D2A2-9C83A5D47302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 flipH="1">
                    <a:off x="1444" y="2434"/>
                    <a:ext cx="225" cy="1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9pPr>
                  </a:lstStyle>
                  <a:p>
                    <a:pPr algn="ctr">
                      <a:spcBef>
                        <a:spcPct val="50000"/>
                      </a:spcBef>
                    </a:pPr>
                    <a:r>
                      <a:rPr lang="en-US" sz="1300" dirty="0">
                        <a:latin typeface="Helvetica" pitchFamily="-84" charset="0"/>
                      </a:rPr>
                      <a:t>P</a:t>
                    </a:r>
                    <a:r>
                      <a:rPr lang="en-US" sz="1300" baseline="-25000" dirty="0">
                        <a:latin typeface="Helvetica" pitchFamily="-84" charset="0"/>
                      </a:rPr>
                      <a:t>2</a:t>
                    </a:r>
                    <a:endParaRPr lang="en-US" sz="1300" dirty="0">
                      <a:latin typeface="Helvetica" pitchFamily="-84" charset="0"/>
                    </a:endParaRPr>
                  </a:p>
                </p:txBody>
              </p:sp>
              <p:sp>
                <p:nvSpPr>
                  <p:cNvPr id="3086" name="Line 43">
                    <a:extLst>
                      <a:ext uri="{FF2B5EF4-FFF2-40B4-BE49-F238E27FC236}">
                        <a16:creationId xmlns:a16="http://schemas.microsoft.com/office/drawing/2014/main" id="{72BDBD91-F0BF-2131-F976-BB74461CF78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232" y="2373"/>
                    <a:ext cx="0" cy="38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087" name="Text Box 48">
                    <a:extLst>
                      <a:ext uri="{FF2B5EF4-FFF2-40B4-BE49-F238E27FC236}">
                        <a16:creationId xmlns:a16="http://schemas.microsoft.com/office/drawing/2014/main" id="{2E818D7B-1B9E-62B1-A1E2-3EAB4167EEBE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 flipH="1">
                    <a:off x="1264" y="2840"/>
                    <a:ext cx="175" cy="1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9pPr>
                  </a:lstStyle>
                  <a:p>
                    <a:pPr algn="ctr">
                      <a:spcBef>
                        <a:spcPct val="50000"/>
                      </a:spcBef>
                    </a:pPr>
                    <a:r>
                      <a:rPr lang="en-US" sz="1300" dirty="0">
                        <a:latin typeface="Helvetica" pitchFamily="-84" charset="0"/>
                      </a:rPr>
                      <a:t>2</a:t>
                    </a:r>
                  </a:p>
                </p:txBody>
              </p:sp>
              <p:sp>
                <p:nvSpPr>
                  <p:cNvPr id="3088" name="Text Box 49">
                    <a:extLst>
                      <a:ext uri="{FF2B5EF4-FFF2-40B4-BE49-F238E27FC236}">
                        <a16:creationId xmlns:a16="http://schemas.microsoft.com/office/drawing/2014/main" id="{6F25E689-48C3-CE68-F52A-A80EF804CBC7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 flipH="1">
                    <a:off x="3522" y="2841"/>
                    <a:ext cx="175" cy="1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9pPr>
                  </a:lstStyle>
                  <a:p>
                    <a:pPr algn="ctr">
                      <a:spcBef>
                        <a:spcPct val="50000"/>
                      </a:spcBef>
                    </a:pPr>
                    <a:r>
                      <a:rPr lang="en-US" sz="1300" dirty="0">
                        <a:latin typeface="Helvetica" pitchFamily="-84" charset="0"/>
                      </a:rPr>
                      <a:t>9</a:t>
                    </a:r>
                  </a:p>
                </p:txBody>
              </p:sp>
              <p:sp>
                <p:nvSpPr>
                  <p:cNvPr id="3089" name="Text Box 50">
                    <a:extLst>
                      <a:ext uri="{FF2B5EF4-FFF2-40B4-BE49-F238E27FC236}">
                        <a16:creationId xmlns:a16="http://schemas.microsoft.com/office/drawing/2014/main" id="{28C3B1AF-A499-9841-640E-1571B423CC6A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 flipH="1">
                    <a:off x="645" y="2838"/>
                    <a:ext cx="175" cy="1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9pPr>
                  </a:lstStyle>
                  <a:p>
                    <a:pPr algn="ctr">
                      <a:spcBef>
                        <a:spcPct val="50000"/>
                      </a:spcBef>
                    </a:pPr>
                    <a:r>
                      <a:rPr lang="en-US" sz="1300" dirty="0">
                        <a:latin typeface="Helvetica" pitchFamily="-84" charset="0"/>
                      </a:rPr>
                      <a:t>0</a:t>
                    </a:r>
                  </a:p>
                </p:txBody>
              </p:sp>
              <p:sp>
                <p:nvSpPr>
                  <p:cNvPr id="3090" name="Line 52">
                    <a:extLst>
                      <a:ext uri="{FF2B5EF4-FFF2-40B4-BE49-F238E27FC236}">
                        <a16:creationId xmlns:a16="http://schemas.microsoft.com/office/drawing/2014/main" id="{11C83D34-7EB6-670C-5AD2-AC933EA5B04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591" y="2373"/>
                    <a:ext cx="0" cy="38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091" name="Text Box 64">
                    <a:extLst>
                      <a:ext uri="{FF2B5EF4-FFF2-40B4-BE49-F238E27FC236}">
                        <a16:creationId xmlns:a16="http://schemas.microsoft.com/office/drawing/2014/main" id="{250CFF89-079C-2EA4-1E3C-B0C7435DDE2B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 flipH="1">
                    <a:off x="2146" y="2840"/>
                    <a:ext cx="175" cy="1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9pPr>
                  </a:lstStyle>
                  <a:p>
                    <a:pPr algn="ctr">
                      <a:spcBef>
                        <a:spcPct val="50000"/>
                      </a:spcBef>
                    </a:pPr>
                    <a:r>
                      <a:rPr lang="en-US" sz="1300" dirty="0">
                        <a:latin typeface="Helvetica" pitchFamily="-84" charset="0"/>
                      </a:rPr>
                      <a:t>5</a:t>
                    </a:r>
                  </a:p>
                </p:txBody>
              </p:sp>
              <p:sp>
                <p:nvSpPr>
                  <p:cNvPr id="3092" name="Line 69">
                    <a:extLst>
                      <a:ext uri="{FF2B5EF4-FFF2-40B4-BE49-F238E27FC236}">
                        <a16:creationId xmlns:a16="http://schemas.microsoft.com/office/drawing/2014/main" id="{3013FED4-3DB4-5ABD-E4FD-B2BCD13F157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355" y="2368"/>
                    <a:ext cx="0" cy="399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093" name="Text Box 70">
                    <a:extLst>
                      <a:ext uri="{FF2B5EF4-FFF2-40B4-BE49-F238E27FC236}">
                        <a16:creationId xmlns:a16="http://schemas.microsoft.com/office/drawing/2014/main" id="{85A899BE-DFF6-942B-9E91-9507C6DBA324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 flipH="1">
                    <a:off x="3815" y="2423"/>
                    <a:ext cx="225" cy="1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9pPr>
                  </a:lstStyle>
                  <a:p>
                    <a:pPr algn="ctr">
                      <a:spcBef>
                        <a:spcPct val="50000"/>
                      </a:spcBef>
                    </a:pPr>
                    <a:r>
                      <a:rPr lang="en-US" sz="1300" dirty="0">
                        <a:latin typeface="Helvetica" pitchFamily="-84" charset="0"/>
                      </a:rPr>
                      <a:t>P</a:t>
                    </a:r>
                    <a:r>
                      <a:rPr lang="en-US" sz="1300" baseline="-25000" dirty="0">
                        <a:latin typeface="Helvetica" pitchFamily="-84" charset="0"/>
                      </a:rPr>
                      <a:t>5</a:t>
                    </a:r>
                    <a:endParaRPr lang="en-US" sz="1300" dirty="0">
                      <a:latin typeface="Helvetica" pitchFamily="-84" charset="0"/>
                    </a:endParaRPr>
                  </a:p>
                </p:txBody>
              </p:sp>
              <p:sp>
                <p:nvSpPr>
                  <p:cNvPr id="3094" name="Text Box 73">
                    <a:extLst>
                      <a:ext uri="{FF2B5EF4-FFF2-40B4-BE49-F238E27FC236}">
                        <a16:creationId xmlns:a16="http://schemas.microsoft.com/office/drawing/2014/main" id="{637004B6-DA7E-B258-35EF-8E44DAB5C693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 flipH="1">
                    <a:off x="4712" y="2841"/>
                    <a:ext cx="233" cy="1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9pPr>
                  </a:lstStyle>
                  <a:p>
                    <a:pPr algn="ctr">
                      <a:spcBef>
                        <a:spcPct val="50000"/>
                      </a:spcBef>
                    </a:pPr>
                    <a:r>
                      <a:rPr lang="en-US" sz="1300" dirty="0">
                        <a:latin typeface="Helvetica" pitchFamily="-84" charset="0"/>
                      </a:rPr>
                      <a:t>12</a:t>
                    </a:r>
                  </a:p>
                </p:txBody>
              </p:sp>
              <p:sp>
                <p:nvSpPr>
                  <p:cNvPr id="3095" name="Line 43">
                    <a:extLst>
                      <a:ext uri="{FF2B5EF4-FFF2-40B4-BE49-F238E27FC236}">
                        <a16:creationId xmlns:a16="http://schemas.microsoft.com/office/drawing/2014/main" id="{910F271E-338A-72C0-7E7A-583C1A1EC6D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775" y="2372"/>
                    <a:ext cx="0" cy="38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096" name="Text Box 64">
                    <a:extLst>
                      <a:ext uri="{FF2B5EF4-FFF2-40B4-BE49-F238E27FC236}">
                        <a16:creationId xmlns:a16="http://schemas.microsoft.com/office/drawing/2014/main" id="{DE185A0D-03B8-1C9E-8FC1-89BEF9FFE400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 flipH="1">
                    <a:off x="1689" y="2838"/>
                    <a:ext cx="175" cy="1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9pPr>
                  </a:lstStyle>
                  <a:p>
                    <a:pPr algn="ctr">
                      <a:spcBef>
                        <a:spcPct val="50000"/>
                      </a:spcBef>
                    </a:pPr>
                    <a:r>
                      <a:rPr lang="en-US" sz="1300" dirty="0">
                        <a:latin typeface="Helvetica" pitchFamily="-84" charset="0"/>
                      </a:rPr>
                      <a:t>4</a:t>
                    </a:r>
                  </a:p>
                </p:txBody>
              </p:sp>
              <p:sp>
                <p:nvSpPr>
                  <p:cNvPr id="3097" name="Text Box 39">
                    <a:extLst>
                      <a:ext uri="{FF2B5EF4-FFF2-40B4-BE49-F238E27FC236}">
                        <a16:creationId xmlns:a16="http://schemas.microsoft.com/office/drawing/2014/main" id="{397E57DD-DE64-1A20-8501-4F8955D9A701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 flipH="1">
                    <a:off x="1899" y="2433"/>
                    <a:ext cx="225" cy="1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9pPr>
                  </a:lstStyle>
                  <a:p>
                    <a:pPr algn="ctr">
                      <a:spcBef>
                        <a:spcPct val="50000"/>
                      </a:spcBef>
                    </a:pPr>
                    <a:r>
                      <a:rPr lang="en-US" sz="1300" dirty="0">
                        <a:latin typeface="Helvetica" pitchFamily="-84" charset="0"/>
                      </a:rPr>
                      <a:t>P</a:t>
                    </a:r>
                    <a:r>
                      <a:rPr lang="en-US" sz="1300" baseline="-25000" dirty="0">
                        <a:latin typeface="Helvetica" pitchFamily="-84" charset="0"/>
                      </a:rPr>
                      <a:t>3</a:t>
                    </a:r>
                    <a:endParaRPr lang="en-US" sz="1300" dirty="0">
                      <a:latin typeface="Helvetica" pitchFamily="-84" charset="0"/>
                    </a:endParaRPr>
                  </a:p>
                </p:txBody>
              </p:sp>
            </p:grpSp>
            <p:sp>
              <p:nvSpPr>
                <p:cNvPr id="3076" name="Line 52">
                  <a:extLst>
                    <a:ext uri="{FF2B5EF4-FFF2-40B4-BE49-F238E27FC236}">
                      <a16:creationId xmlns:a16="http://schemas.microsoft.com/office/drawing/2014/main" id="{A09259D4-B3FB-A1B1-89A6-491FE6897FA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8397857" y="4373212"/>
                  <a:ext cx="0" cy="60936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077" name="Text Box 49">
                  <a:extLst>
                    <a:ext uri="{FF2B5EF4-FFF2-40B4-BE49-F238E27FC236}">
                      <a16:creationId xmlns:a16="http://schemas.microsoft.com/office/drawing/2014/main" id="{2BC12B97-92DA-CF9E-3599-CD74395842E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 flipH="1">
                  <a:off x="8229445" y="5097020"/>
                  <a:ext cx="358240" cy="2923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</a:pPr>
                  <a:r>
                    <a:rPr lang="en-US" sz="1300" dirty="0">
                      <a:latin typeface="Helvetica" pitchFamily="-84" charset="0"/>
                    </a:rPr>
                    <a:t>11</a:t>
                  </a:r>
                </a:p>
              </p:txBody>
            </p:sp>
            <p:sp>
              <p:nvSpPr>
                <p:cNvPr id="3078" name="Line 52">
                  <a:extLst>
                    <a:ext uri="{FF2B5EF4-FFF2-40B4-BE49-F238E27FC236}">
                      <a16:creationId xmlns:a16="http://schemas.microsoft.com/office/drawing/2014/main" id="{AE3FD35E-0111-F0AE-E2EF-4A09218DC6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9217007" y="4368517"/>
                  <a:ext cx="0" cy="60936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079" name="Text Box 73">
                  <a:extLst>
                    <a:ext uri="{FF2B5EF4-FFF2-40B4-BE49-F238E27FC236}">
                      <a16:creationId xmlns:a16="http://schemas.microsoft.com/office/drawing/2014/main" id="{3ACD4414-B232-71E6-805E-499FCCBED29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 flipH="1">
                  <a:off x="10626351" y="5112569"/>
                  <a:ext cx="370614" cy="2923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</a:pPr>
                  <a:r>
                    <a:rPr lang="en-US" sz="1300" dirty="0">
                      <a:latin typeface="Helvetica" pitchFamily="-84" charset="0"/>
                    </a:rPr>
                    <a:t>14</a:t>
                  </a:r>
                </a:p>
              </p:txBody>
            </p:sp>
            <p:sp>
              <p:nvSpPr>
                <p:cNvPr id="3080" name="Text Box 39">
                  <a:extLst>
                    <a:ext uri="{FF2B5EF4-FFF2-40B4-BE49-F238E27FC236}">
                      <a16:creationId xmlns:a16="http://schemas.microsoft.com/office/drawing/2014/main" id="{D5B6E087-3B6E-A7F7-D029-F2A5AFA25F6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 flipH="1">
                  <a:off x="8624573" y="4449246"/>
                  <a:ext cx="357791" cy="2923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</a:pPr>
                  <a:r>
                    <a:rPr lang="en-US" sz="1300" dirty="0">
                      <a:latin typeface="Helvetica" pitchFamily="-84" charset="0"/>
                    </a:rPr>
                    <a:t>P</a:t>
                  </a:r>
                  <a:r>
                    <a:rPr lang="en-US" sz="1300" baseline="-25000" dirty="0">
                      <a:latin typeface="Helvetica" pitchFamily="-84" charset="0"/>
                    </a:rPr>
                    <a:t>2</a:t>
                  </a:r>
                  <a:endParaRPr lang="en-US" sz="1300" dirty="0">
                    <a:latin typeface="Helvetica" pitchFamily="-84" charset="0"/>
                  </a:endParaRPr>
                </a:p>
              </p:txBody>
            </p:sp>
            <p:sp>
              <p:nvSpPr>
                <p:cNvPr id="3081" name="Text Box 70">
                  <a:extLst>
                    <a:ext uri="{FF2B5EF4-FFF2-40B4-BE49-F238E27FC236}">
                      <a16:creationId xmlns:a16="http://schemas.microsoft.com/office/drawing/2014/main" id="{699E8301-E33B-E9D0-B4ED-A5EE504EA97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 flipH="1">
                  <a:off x="9439263" y="4449445"/>
                  <a:ext cx="357188" cy="29198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</a:pPr>
                  <a:r>
                    <a:rPr lang="en-US" sz="1300" dirty="0">
                      <a:latin typeface="Helvetica" pitchFamily="-84" charset="0"/>
                    </a:rPr>
                    <a:t>P</a:t>
                  </a:r>
                  <a:r>
                    <a:rPr lang="en-US" sz="1300" baseline="-25000" dirty="0">
                      <a:latin typeface="Helvetica" pitchFamily="-84" charset="0"/>
                    </a:rPr>
                    <a:t>1</a:t>
                  </a:r>
                  <a:endParaRPr lang="en-US" sz="1300" dirty="0">
                    <a:latin typeface="Helvetica" pitchFamily="-84" charset="0"/>
                  </a:endParaRPr>
                </a:p>
              </p:txBody>
            </p:sp>
          </p:grpSp>
          <p:sp>
            <p:nvSpPr>
              <p:cNvPr id="31" name="Line 43">
                <a:extLst>
                  <a:ext uri="{FF2B5EF4-FFF2-40B4-BE49-F238E27FC236}">
                    <a16:creationId xmlns:a16="http://schemas.microsoft.com/office/drawing/2014/main" id="{D751F6D4-E286-D72C-691D-9E08A7946E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360261" y="3682357"/>
                <a:ext cx="0" cy="60936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72" name="Text Box 64">
                <a:extLst>
                  <a:ext uri="{FF2B5EF4-FFF2-40B4-BE49-F238E27FC236}">
                    <a16:creationId xmlns:a16="http://schemas.microsoft.com/office/drawing/2014/main" id="{6EF7FFB6-1618-652B-F726-724D3B4EE4A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H="1">
                <a:off x="5223823" y="4423239"/>
                <a:ext cx="277640" cy="2923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sz="1300" dirty="0">
                    <a:latin typeface="Helvetica" pitchFamily="-84" charset="0"/>
                  </a:rPr>
                  <a:t>7</a:t>
                </a:r>
              </a:p>
            </p:txBody>
          </p:sp>
          <p:sp>
            <p:nvSpPr>
              <p:cNvPr id="3073" name="Text Box 39">
                <a:extLst>
                  <a:ext uri="{FF2B5EF4-FFF2-40B4-BE49-F238E27FC236}">
                    <a16:creationId xmlns:a16="http://schemas.microsoft.com/office/drawing/2014/main" id="{C89B0801-1CCA-810B-4750-191B76BABE2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H="1">
                <a:off x="5753961" y="3761702"/>
                <a:ext cx="357188" cy="29198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sz="1300" dirty="0">
                    <a:latin typeface="Helvetica" pitchFamily="-84" charset="0"/>
                  </a:rPr>
                  <a:t>P</a:t>
                </a:r>
                <a:r>
                  <a:rPr lang="en-US" sz="1300" baseline="-25000" dirty="0">
                    <a:latin typeface="Helvetica" pitchFamily="-84" charset="0"/>
                  </a:rPr>
                  <a:t>4</a:t>
                </a:r>
                <a:endParaRPr lang="en-US" sz="1300" dirty="0">
                  <a:latin typeface="Helvetica" pitchFamily="-84" charset="0"/>
                </a:endParaRPr>
              </a:p>
            </p:txBody>
          </p:sp>
        </p:grpSp>
        <p:sp>
          <p:nvSpPr>
            <p:cNvPr id="3098" name="Text Box 73">
              <a:extLst>
                <a:ext uri="{FF2B5EF4-FFF2-40B4-BE49-F238E27FC236}">
                  <a16:creationId xmlns:a16="http://schemas.microsoft.com/office/drawing/2014/main" id="{00B83E1A-CE47-16E1-185E-BB77384D99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8909875" y="5752814"/>
              <a:ext cx="370614" cy="292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300" dirty="0">
                  <a:latin typeface="Helvetica" pitchFamily="-84" charset="0"/>
                </a:rPr>
                <a:t>13</a:t>
              </a:r>
            </a:p>
          </p:txBody>
        </p:sp>
        <p:sp>
          <p:nvSpPr>
            <p:cNvPr id="3099" name="Line 52">
              <a:extLst>
                <a:ext uri="{FF2B5EF4-FFF2-40B4-BE49-F238E27FC236}">
                  <a16:creationId xmlns:a16="http://schemas.microsoft.com/office/drawing/2014/main" id="{F40157AC-CA60-34D0-2A8F-A8FC82AD420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130893" y="5008760"/>
              <a:ext cx="0" cy="6093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00" name="Text Box 70">
              <a:extLst>
                <a:ext uri="{FF2B5EF4-FFF2-40B4-BE49-F238E27FC236}">
                  <a16:creationId xmlns:a16="http://schemas.microsoft.com/office/drawing/2014/main" id="{22D3F6F4-6F87-05A8-4D79-CF3D435928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9295999" y="5099213"/>
              <a:ext cx="357188" cy="2919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300" dirty="0">
                  <a:latin typeface="Helvetica" pitchFamily="-84" charset="0"/>
                </a:rPr>
                <a:t>P</a:t>
              </a:r>
              <a:r>
                <a:rPr lang="en-US" sz="1300" baseline="-25000" dirty="0">
                  <a:latin typeface="Helvetica" pitchFamily="-84" charset="0"/>
                </a:rPr>
                <a:t>5</a:t>
              </a:r>
              <a:endParaRPr lang="en-US" sz="1300" dirty="0">
                <a:latin typeface="Helvetica" pitchFamily="-84" charset="0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371985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B5861E-94A2-3211-9F40-5E7457EEE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A4D016F8-C084-9F32-651F-02B329853A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Class Exercise: RR Scheduling Policy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76D1BA-B002-9916-744E-281EBAE91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44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231B800A-2BFB-A7EC-26CF-F4A9DC8DE1E2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2"/>
            <a:ext cx="10433956" cy="5404758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 lnSpcReduction="10000"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algn="just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Time slice: 2 sec</a:t>
            </a:r>
          </a:p>
          <a:p>
            <a:pPr algn="just"/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Gantt Chart for the schedule is:</a:t>
            </a:r>
          </a:p>
          <a:p>
            <a:pPr algn="just"/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Average waiting time:  (4 + 5 + 2)/3 = 3.66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651FA3A-7E1E-B830-0FAA-08208DA072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1802773"/>
              </p:ext>
            </p:extLst>
          </p:nvPr>
        </p:nvGraphicFramePr>
        <p:xfrm>
          <a:off x="2575247" y="1453242"/>
          <a:ext cx="5691215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8243">
                  <a:extLst>
                    <a:ext uri="{9D8B030D-6E8A-4147-A177-3AD203B41FA5}">
                      <a16:colId xmlns:a16="http://schemas.microsoft.com/office/drawing/2014/main" val="557133246"/>
                    </a:ext>
                  </a:extLst>
                </a:gridCol>
                <a:gridCol w="1138243">
                  <a:extLst>
                    <a:ext uri="{9D8B030D-6E8A-4147-A177-3AD203B41FA5}">
                      <a16:colId xmlns:a16="http://schemas.microsoft.com/office/drawing/2014/main" val="2644972547"/>
                    </a:ext>
                  </a:extLst>
                </a:gridCol>
                <a:gridCol w="1138243">
                  <a:extLst>
                    <a:ext uri="{9D8B030D-6E8A-4147-A177-3AD203B41FA5}">
                      <a16:colId xmlns:a16="http://schemas.microsoft.com/office/drawing/2014/main" val="200463272"/>
                    </a:ext>
                  </a:extLst>
                </a:gridCol>
                <a:gridCol w="1138243">
                  <a:extLst>
                    <a:ext uri="{9D8B030D-6E8A-4147-A177-3AD203B41FA5}">
                      <a16:colId xmlns:a16="http://schemas.microsoft.com/office/drawing/2014/main" val="1989277856"/>
                    </a:ext>
                  </a:extLst>
                </a:gridCol>
                <a:gridCol w="1138243">
                  <a:extLst>
                    <a:ext uri="{9D8B030D-6E8A-4147-A177-3AD203B41FA5}">
                      <a16:colId xmlns:a16="http://schemas.microsoft.com/office/drawing/2014/main" val="1169010907"/>
                    </a:ext>
                  </a:extLst>
                </a:gridCol>
              </a:tblGrid>
              <a:tr h="45024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Arrival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Burst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IO Burst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Burst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0651049"/>
                  </a:ext>
                </a:extLst>
              </a:tr>
              <a:tr h="26085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US" sz="18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0932112"/>
                  </a:ext>
                </a:extLst>
              </a:tr>
              <a:tr h="26085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US" sz="18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2560738"/>
                  </a:ext>
                </a:extLst>
              </a:tr>
              <a:tr h="26085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US" sz="18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7521930"/>
                  </a:ext>
                </a:extLst>
              </a:tr>
            </a:tbl>
          </a:graphicData>
        </a:graphic>
      </p:graphicFrame>
      <p:grpSp>
        <p:nvGrpSpPr>
          <p:cNvPr id="3101" name="Group 3100">
            <a:extLst>
              <a:ext uri="{FF2B5EF4-FFF2-40B4-BE49-F238E27FC236}">
                <a16:creationId xmlns:a16="http://schemas.microsoft.com/office/drawing/2014/main" id="{D738B3B0-94C9-2A9F-12E9-EB63BD9877E2}"/>
              </a:ext>
            </a:extLst>
          </p:cNvPr>
          <p:cNvGrpSpPr/>
          <p:nvPr/>
        </p:nvGrpSpPr>
        <p:grpSpPr>
          <a:xfrm>
            <a:off x="1359695" y="4984954"/>
            <a:ext cx="8799519" cy="1074227"/>
            <a:chOff x="1644246" y="4984956"/>
            <a:chExt cx="8799519" cy="1074227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8785DA04-118E-598A-4C20-C2E0A6FC9585}"/>
                </a:ext>
              </a:extLst>
            </p:cNvPr>
            <p:cNvGrpSpPr/>
            <p:nvPr/>
          </p:nvGrpSpPr>
          <p:grpSpPr>
            <a:xfrm>
              <a:off x="1644246" y="4984956"/>
              <a:ext cx="8799519" cy="1074227"/>
              <a:chOff x="1812197" y="3656968"/>
              <a:chExt cx="8799519" cy="1074227"/>
            </a:xfrm>
          </p:grpSpPr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24BF318B-CB8E-F6E6-1E2C-C51074B0C3E9}"/>
                  </a:ext>
                </a:extLst>
              </p:cNvPr>
              <p:cNvGrpSpPr/>
              <p:nvPr/>
            </p:nvGrpSpPr>
            <p:grpSpPr>
              <a:xfrm>
                <a:off x="1812197" y="3656968"/>
                <a:ext cx="8799519" cy="1074227"/>
                <a:chOff x="2539985" y="4344713"/>
                <a:chExt cx="8799519" cy="1074227"/>
              </a:xfrm>
            </p:grpSpPr>
            <p:grpSp>
              <p:nvGrpSpPr>
                <p:cNvPr id="3075" name="Group 74">
                  <a:extLst>
                    <a:ext uri="{FF2B5EF4-FFF2-40B4-BE49-F238E27FC236}">
                      <a16:creationId xmlns:a16="http://schemas.microsoft.com/office/drawing/2014/main" id="{EF9F31F3-11AA-7F78-FD36-E5A0EBD8DC4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539985" y="4344713"/>
                  <a:ext cx="8799519" cy="1069569"/>
                  <a:chOff x="645" y="2357"/>
                  <a:chExt cx="5543" cy="674"/>
                </a:xfrm>
              </p:grpSpPr>
              <p:sp>
                <p:nvSpPr>
                  <p:cNvPr id="3082" name="Rectangle 37">
                    <a:extLst>
                      <a:ext uri="{FF2B5EF4-FFF2-40B4-BE49-F238E27FC236}">
                        <a16:creationId xmlns:a16="http://schemas.microsoft.com/office/drawing/2014/main" id="{19AE4602-ED94-631F-D7F4-55C1F6C16AB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H="1">
                    <a:off x="738" y="2373"/>
                    <a:ext cx="5450" cy="384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3083" name="Text Box 38">
                    <a:extLst>
                      <a:ext uri="{FF2B5EF4-FFF2-40B4-BE49-F238E27FC236}">
                        <a16:creationId xmlns:a16="http://schemas.microsoft.com/office/drawing/2014/main" id="{DDEF011F-08C6-F0E3-4068-93BED9E5FCE1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 flipH="1">
                    <a:off x="854" y="2436"/>
                    <a:ext cx="225" cy="1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9pPr>
                  </a:lstStyle>
                  <a:p>
                    <a:pPr algn="ctr">
                      <a:spcBef>
                        <a:spcPct val="50000"/>
                      </a:spcBef>
                    </a:pPr>
                    <a:r>
                      <a:rPr lang="en-US" sz="1300" dirty="0">
                        <a:latin typeface="Helvetica" pitchFamily="-84" charset="0"/>
                      </a:rPr>
                      <a:t>P</a:t>
                    </a:r>
                    <a:r>
                      <a:rPr lang="en-US" sz="1300" baseline="-25000" dirty="0">
                        <a:latin typeface="Helvetica" pitchFamily="-84" charset="0"/>
                      </a:rPr>
                      <a:t>1</a:t>
                    </a:r>
                    <a:endParaRPr lang="en-US" sz="1300" dirty="0">
                      <a:latin typeface="Helvetica" pitchFamily="-84" charset="0"/>
                    </a:endParaRPr>
                  </a:p>
                </p:txBody>
              </p:sp>
              <p:sp>
                <p:nvSpPr>
                  <p:cNvPr id="3084" name="Text Box 39">
                    <a:extLst>
                      <a:ext uri="{FF2B5EF4-FFF2-40B4-BE49-F238E27FC236}">
                        <a16:creationId xmlns:a16="http://schemas.microsoft.com/office/drawing/2014/main" id="{C2CCB1FD-EC4A-4EF6-810F-C2126D3ABB09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 flipH="1">
                    <a:off x="2396" y="2423"/>
                    <a:ext cx="225" cy="1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9pPr>
                  </a:lstStyle>
                  <a:p>
                    <a:pPr algn="ctr">
                      <a:spcBef>
                        <a:spcPct val="50000"/>
                      </a:spcBef>
                    </a:pPr>
                    <a:r>
                      <a:rPr lang="en-US" sz="1300" dirty="0">
                        <a:latin typeface="Helvetica" pitchFamily="-84" charset="0"/>
                      </a:rPr>
                      <a:t>P</a:t>
                    </a:r>
                    <a:r>
                      <a:rPr lang="en-US" sz="1300" baseline="-25000" dirty="0">
                        <a:latin typeface="Helvetica" pitchFamily="-84" charset="0"/>
                      </a:rPr>
                      <a:t>3</a:t>
                    </a:r>
                    <a:endParaRPr lang="en-US" sz="1300" dirty="0">
                      <a:latin typeface="Helvetica" pitchFamily="-84" charset="0"/>
                    </a:endParaRPr>
                  </a:p>
                </p:txBody>
              </p:sp>
              <p:sp>
                <p:nvSpPr>
                  <p:cNvPr id="3085" name="Text Box 40">
                    <a:extLst>
                      <a:ext uri="{FF2B5EF4-FFF2-40B4-BE49-F238E27FC236}">
                        <a16:creationId xmlns:a16="http://schemas.microsoft.com/office/drawing/2014/main" id="{AB3C1644-E263-8686-1BB1-37D5DD68D587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 flipH="1">
                    <a:off x="1444" y="2434"/>
                    <a:ext cx="225" cy="1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9pPr>
                  </a:lstStyle>
                  <a:p>
                    <a:pPr algn="ctr">
                      <a:spcBef>
                        <a:spcPct val="50000"/>
                      </a:spcBef>
                    </a:pPr>
                    <a:r>
                      <a:rPr lang="en-US" sz="1300" dirty="0">
                        <a:latin typeface="Helvetica" pitchFamily="-84" charset="0"/>
                      </a:rPr>
                      <a:t>P</a:t>
                    </a:r>
                    <a:r>
                      <a:rPr lang="en-US" sz="1300" baseline="-25000" dirty="0">
                        <a:latin typeface="Helvetica" pitchFamily="-84" charset="0"/>
                      </a:rPr>
                      <a:t>2</a:t>
                    </a:r>
                    <a:endParaRPr lang="en-US" sz="1300" dirty="0">
                      <a:latin typeface="Helvetica" pitchFamily="-84" charset="0"/>
                    </a:endParaRPr>
                  </a:p>
                </p:txBody>
              </p:sp>
              <p:sp>
                <p:nvSpPr>
                  <p:cNvPr id="3086" name="Line 43">
                    <a:extLst>
                      <a:ext uri="{FF2B5EF4-FFF2-40B4-BE49-F238E27FC236}">
                        <a16:creationId xmlns:a16="http://schemas.microsoft.com/office/drawing/2014/main" id="{FFDD9C19-9CEB-BA29-CA71-BC937DE1CA5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232" y="2373"/>
                    <a:ext cx="0" cy="38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087" name="Text Box 48">
                    <a:extLst>
                      <a:ext uri="{FF2B5EF4-FFF2-40B4-BE49-F238E27FC236}">
                        <a16:creationId xmlns:a16="http://schemas.microsoft.com/office/drawing/2014/main" id="{F3B00D2E-8AC1-FEA3-A917-25A1364C6D70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 flipH="1">
                    <a:off x="1116" y="2838"/>
                    <a:ext cx="175" cy="1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9pPr>
                  </a:lstStyle>
                  <a:p>
                    <a:pPr algn="ctr">
                      <a:spcBef>
                        <a:spcPct val="50000"/>
                      </a:spcBef>
                    </a:pPr>
                    <a:r>
                      <a:rPr lang="en-US" sz="1300" dirty="0">
                        <a:latin typeface="Helvetica" pitchFamily="-84" charset="0"/>
                      </a:rPr>
                      <a:t>2</a:t>
                    </a:r>
                  </a:p>
                </p:txBody>
              </p:sp>
              <p:sp>
                <p:nvSpPr>
                  <p:cNvPr id="3088" name="Text Box 49">
                    <a:extLst>
                      <a:ext uri="{FF2B5EF4-FFF2-40B4-BE49-F238E27FC236}">
                        <a16:creationId xmlns:a16="http://schemas.microsoft.com/office/drawing/2014/main" id="{4D5319AC-5BC9-4D68-7DCA-BE6B0294C08B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 flipH="1">
                    <a:off x="3236" y="2838"/>
                    <a:ext cx="175" cy="1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9pPr>
                  </a:lstStyle>
                  <a:p>
                    <a:pPr algn="ctr">
                      <a:spcBef>
                        <a:spcPct val="50000"/>
                      </a:spcBef>
                    </a:pPr>
                    <a:r>
                      <a:rPr lang="en-US" sz="1300" dirty="0">
                        <a:latin typeface="Helvetica" pitchFamily="-84" charset="0"/>
                      </a:rPr>
                      <a:t>9</a:t>
                    </a:r>
                  </a:p>
                </p:txBody>
              </p:sp>
              <p:sp>
                <p:nvSpPr>
                  <p:cNvPr id="3089" name="Text Box 50">
                    <a:extLst>
                      <a:ext uri="{FF2B5EF4-FFF2-40B4-BE49-F238E27FC236}">
                        <a16:creationId xmlns:a16="http://schemas.microsoft.com/office/drawing/2014/main" id="{07CC10B8-7A96-2555-2067-86523E164ED9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 flipH="1">
                    <a:off x="645" y="2838"/>
                    <a:ext cx="175" cy="1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9pPr>
                  </a:lstStyle>
                  <a:p>
                    <a:pPr algn="ctr">
                      <a:spcBef>
                        <a:spcPct val="50000"/>
                      </a:spcBef>
                    </a:pPr>
                    <a:r>
                      <a:rPr lang="en-US" sz="1300" dirty="0">
                        <a:latin typeface="Helvetica" pitchFamily="-84" charset="0"/>
                      </a:rPr>
                      <a:t>0</a:t>
                    </a:r>
                  </a:p>
                </p:txBody>
              </p:sp>
              <p:sp>
                <p:nvSpPr>
                  <p:cNvPr id="3090" name="Line 52">
                    <a:extLst>
                      <a:ext uri="{FF2B5EF4-FFF2-40B4-BE49-F238E27FC236}">
                        <a16:creationId xmlns:a16="http://schemas.microsoft.com/office/drawing/2014/main" id="{B7EE5C6D-C97F-5158-F9A8-DAF54CD5EB9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353" y="2357"/>
                    <a:ext cx="0" cy="38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091" name="Text Box 64">
                    <a:extLst>
                      <a:ext uri="{FF2B5EF4-FFF2-40B4-BE49-F238E27FC236}">
                        <a16:creationId xmlns:a16="http://schemas.microsoft.com/office/drawing/2014/main" id="{31E48FA5-0BBD-E809-D1DA-C685F80FF96D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 flipH="1">
                    <a:off x="2146" y="2840"/>
                    <a:ext cx="175" cy="1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9pPr>
                  </a:lstStyle>
                  <a:p>
                    <a:pPr algn="ctr">
                      <a:spcBef>
                        <a:spcPct val="50000"/>
                      </a:spcBef>
                    </a:pPr>
                    <a:r>
                      <a:rPr lang="en-US" sz="1300" dirty="0">
                        <a:latin typeface="Helvetica" pitchFamily="-84" charset="0"/>
                      </a:rPr>
                      <a:t>5</a:t>
                    </a:r>
                  </a:p>
                </p:txBody>
              </p:sp>
              <p:sp>
                <p:nvSpPr>
                  <p:cNvPr id="3092" name="Line 69">
                    <a:extLst>
                      <a:ext uri="{FF2B5EF4-FFF2-40B4-BE49-F238E27FC236}">
                        <a16:creationId xmlns:a16="http://schemas.microsoft.com/office/drawing/2014/main" id="{04EB3CD1-4467-D9A5-D07B-A7D7B9A7500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197" y="2357"/>
                    <a:ext cx="0" cy="399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093" name="Text Box 70">
                    <a:extLst>
                      <a:ext uri="{FF2B5EF4-FFF2-40B4-BE49-F238E27FC236}">
                        <a16:creationId xmlns:a16="http://schemas.microsoft.com/office/drawing/2014/main" id="{DCE008BB-2602-9153-07FA-53A8E4FB92FC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 flipH="1">
                    <a:off x="3384" y="2423"/>
                    <a:ext cx="225" cy="1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9pPr>
                  </a:lstStyle>
                  <a:p>
                    <a:pPr algn="ctr">
                      <a:spcBef>
                        <a:spcPct val="50000"/>
                      </a:spcBef>
                    </a:pPr>
                    <a:r>
                      <a:rPr lang="en-US" sz="1300" dirty="0">
                        <a:latin typeface="Helvetica" pitchFamily="-84" charset="0"/>
                      </a:rPr>
                      <a:t>P</a:t>
                    </a:r>
                    <a:r>
                      <a:rPr lang="en-US" sz="1300" baseline="-25000" dirty="0">
                        <a:latin typeface="Helvetica" pitchFamily="-84" charset="0"/>
                      </a:rPr>
                      <a:t>3</a:t>
                    </a:r>
                    <a:endParaRPr lang="en-US" sz="1300" dirty="0">
                      <a:latin typeface="Helvetica" pitchFamily="-84" charset="0"/>
                    </a:endParaRPr>
                  </a:p>
                </p:txBody>
              </p:sp>
              <p:sp>
                <p:nvSpPr>
                  <p:cNvPr id="3094" name="Text Box 73">
                    <a:extLst>
                      <a:ext uri="{FF2B5EF4-FFF2-40B4-BE49-F238E27FC236}">
                        <a16:creationId xmlns:a16="http://schemas.microsoft.com/office/drawing/2014/main" id="{4939E67F-57B0-0506-8A16-1ED1011C3F7B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 flipH="1">
                    <a:off x="4349" y="2847"/>
                    <a:ext cx="233" cy="1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9pPr>
                  </a:lstStyle>
                  <a:p>
                    <a:pPr algn="ctr">
                      <a:spcBef>
                        <a:spcPct val="50000"/>
                      </a:spcBef>
                    </a:pPr>
                    <a:r>
                      <a:rPr lang="en-US" sz="1300" dirty="0">
                        <a:latin typeface="Helvetica" pitchFamily="-84" charset="0"/>
                      </a:rPr>
                      <a:t>12</a:t>
                    </a:r>
                  </a:p>
                </p:txBody>
              </p:sp>
              <p:sp>
                <p:nvSpPr>
                  <p:cNvPr id="3095" name="Line 43">
                    <a:extLst>
                      <a:ext uri="{FF2B5EF4-FFF2-40B4-BE49-F238E27FC236}">
                        <a16:creationId xmlns:a16="http://schemas.microsoft.com/office/drawing/2014/main" id="{71E03FAF-A51B-424F-B10F-53016BE8EB5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775" y="2372"/>
                    <a:ext cx="0" cy="38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096" name="Text Box 64">
                    <a:extLst>
                      <a:ext uri="{FF2B5EF4-FFF2-40B4-BE49-F238E27FC236}">
                        <a16:creationId xmlns:a16="http://schemas.microsoft.com/office/drawing/2014/main" id="{6312C747-DD1D-2767-B262-4C451264990A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 flipH="1">
                    <a:off x="1689" y="2838"/>
                    <a:ext cx="175" cy="1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9pPr>
                  </a:lstStyle>
                  <a:p>
                    <a:pPr algn="ctr">
                      <a:spcBef>
                        <a:spcPct val="50000"/>
                      </a:spcBef>
                    </a:pPr>
                    <a:r>
                      <a:rPr lang="en-US" sz="1300" dirty="0">
                        <a:latin typeface="Helvetica" pitchFamily="-84" charset="0"/>
                      </a:rPr>
                      <a:t>4</a:t>
                    </a:r>
                  </a:p>
                </p:txBody>
              </p:sp>
              <p:sp>
                <p:nvSpPr>
                  <p:cNvPr id="3097" name="Text Box 39">
                    <a:extLst>
                      <a:ext uri="{FF2B5EF4-FFF2-40B4-BE49-F238E27FC236}">
                        <a16:creationId xmlns:a16="http://schemas.microsoft.com/office/drawing/2014/main" id="{76D309B6-B5F8-33DB-F72B-779F2D04CC3B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 flipH="1">
                    <a:off x="1899" y="2433"/>
                    <a:ext cx="225" cy="1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Verdana" pitchFamily="34" charset="0"/>
                        <a:ea typeface="ＭＳ Ｐゴシック" pitchFamily="-84" charset="-128"/>
                      </a:defRPr>
                    </a:lvl9pPr>
                  </a:lstStyle>
                  <a:p>
                    <a:pPr algn="ctr">
                      <a:spcBef>
                        <a:spcPct val="50000"/>
                      </a:spcBef>
                    </a:pPr>
                    <a:r>
                      <a:rPr lang="en-US" sz="1300" dirty="0">
                        <a:latin typeface="Helvetica" pitchFamily="-84" charset="0"/>
                      </a:rPr>
                      <a:t>P</a:t>
                    </a:r>
                    <a:r>
                      <a:rPr lang="en-US" sz="1300" baseline="-25000" dirty="0">
                        <a:latin typeface="Helvetica" pitchFamily="-84" charset="0"/>
                      </a:rPr>
                      <a:t>1</a:t>
                    </a:r>
                    <a:endParaRPr lang="en-US" sz="1300" dirty="0">
                      <a:latin typeface="Helvetica" pitchFamily="-84" charset="0"/>
                    </a:endParaRPr>
                  </a:p>
                </p:txBody>
              </p:sp>
            </p:grpSp>
            <p:sp>
              <p:nvSpPr>
                <p:cNvPr id="3076" name="Line 52">
                  <a:extLst>
                    <a:ext uri="{FF2B5EF4-FFF2-40B4-BE49-F238E27FC236}">
                      <a16:creationId xmlns:a16="http://schemas.microsoft.com/office/drawing/2014/main" id="{83B30058-FD1F-4130-87C5-03C6E0AEECB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7527700" y="4373212"/>
                  <a:ext cx="0" cy="60936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077" name="Text Box 49">
                  <a:extLst>
                    <a:ext uri="{FF2B5EF4-FFF2-40B4-BE49-F238E27FC236}">
                      <a16:creationId xmlns:a16="http://schemas.microsoft.com/office/drawing/2014/main" id="{EA416403-1D88-842E-2BCC-355262D0609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 flipH="1">
                  <a:off x="7363754" y="5108012"/>
                  <a:ext cx="358240" cy="2923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</a:pPr>
                  <a:r>
                    <a:rPr lang="en-US" sz="1300" dirty="0">
                      <a:latin typeface="Helvetica" pitchFamily="-84" charset="0"/>
                    </a:rPr>
                    <a:t>11</a:t>
                  </a:r>
                </a:p>
              </p:txBody>
            </p:sp>
            <p:sp>
              <p:nvSpPr>
                <p:cNvPr id="3078" name="Line 52">
                  <a:extLst>
                    <a:ext uri="{FF2B5EF4-FFF2-40B4-BE49-F238E27FC236}">
                      <a16:creationId xmlns:a16="http://schemas.microsoft.com/office/drawing/2014/main" id="{28299F33-C050-BC58-91CB-9995D0234C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9217007" y="4368517"/>
                  <a:ext cx="0" cy="60936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079" name="Text Box 73">
                  <a:extLst>
                    <a:ext uri="{FF2B5EF4-FFF2-40B4-BE49-F238E27FC236}">
                      <a16:creationId xmlns:a16="http://schemas.microsoft.com/office/drawing/2014/main" id="{57EFE1AB-C7D2-664E-3EEB-BD2211C7E18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 flipH="1">
                  <a:off x="9066250" y="5126552"/>
                  <a:ext cx="370614" cy="2923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</a:pPr>
                  <a:r>
                    <a:rPr lang="en-US" sz="1300" dirty="0">
                      <a:latin typeface="Helvetica" pitchFamily="-84" charset="0"/>
                    </a:rPr>
                    <a:t>14</a:t>
                  </a:r>
                </a:p>
              </p:txBody>
            </p:sp>
            <p:sp>
              <p:nvSpPr>
                <p:cNvPr id="3080" name="Text Box 39">
                  <a:extLst>
                    <a:ext uri="{FF2B5EF4-FFF2-40B4-BE49-F238E27FC236}">
                      <a16:creationId xmlns:a16="http://schemas.microsoft.com/office/drawing/2014/main" id="{F1319F02-B65C-261E-E641-6AAD7555CFA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 flipH="1">
                  <a:off x="7931394" y="4449246"/>
                  <a:ext cx="357791" cy="2923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</a:pPr>
                  <a:r>
                    <a:rPr lang="en-US" sz="1300" dirty="0">
                      <a:latin typeface="Helvetica" pitchFamily="-84" charset="0"/>
                    </a:rPr>
                    <a:t>P</a:t>
                  </a:r>
                  <a:r>
                    <a:rPr lang="en-US" sz="1300" baseline="-25000" dirty="0">
                      <a:latin typeface="Helvetica" pitchFamily="-84" charset="0"/>
                    </a:rPr>
                    <a:t>2</a:t>
                  </a:r>
                  <a:endParaRPr lang="en-US" sz="1300" dirty="0">
                    <a:latin typeface="Helvetica" pitchFamily="-84" charset="0"/>
                  </a:endParaRPr>
                </a:p>
              </p:txBody>
            </p:sp>
            <p:sp>
              <p:nvSpPr>
                <p:cNvPr id="3081" name="Text Box 70">
                  <a:extLst>
                    <a:ext uri="{FF2B5EF4-FFF2-40B4-BE49-F238E27FC236}">
                      <a16:creationId xmlns:a16="http://schemas.microsoft.com/office/drawing/2014/main" id="{B64EA168-D257-9E02-D966-E2FC77DC019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 flipH="1">
                  <a:off x="8746084" y="4449445"/>
                  <a:ext cx="357188" cy="29198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</a:pPr>
                  <a:r>
                    <a:rPr lang="en-US" sz="1300" dirty="0">
                      <a:latin typeface="Helvetica" pitchFamily="-84" charset="0"/>
                    </a:rPr>
                    <a:t>P</a:t>
                  </a:r>
                  <a:r>
                    <a:rPr lang="en-US" sz="1300" baseline="-25000" dirty="0">
                      <a:latin typeface="Helvetica" pitchFamily="-84" charset="0"/>
                    </a:rPr>
                    <a:t>1</a:t>
                  </a:r>
                  <a:endParaRPr lang="en-US" sz="1300" dirty="0">
                    <a:latin typeface="Helvetica" pitchFamily="-84" charset="0"/>
                  </a:endParaRPr>
                </a:p>
              </p:txBody>
            </p:sp>
          </p:grpSp>
          <p:sp>
            <p:nvSpPr>
              <p:cNvPr id="31" name="Line 43">
                <a:extLst>
                  <a:ext uri="{FF2B5EF4-FFF2-40B4-BE49-F238E27FC236}">
                    <a16:creationId xmlns:a16="http://schemas.microsoft.com/office/drawing/2014/main" id="{B2589C21-ADCF-A66F-7E2F-AAAEDB8E3E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131661" y="3711603"/>
                <a:ext cx="0" cy="60936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72" name="Text Box 64">
                <a:extLst>
                  <a:ext uri="{FF2B5EF4-FFF2-40B4-BE49-F238E27FC236}">
                    <a16:creationId xmlns:a16="http://schemas.microsoft.com/office/drawing/2014/main" id="{629FA07C-B229-C7BB-6C28-9E0F52C0D61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H="1">
                <a:off x="4991186" y="4420267"/>
                <a:ext cx="277640" cy="2923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sz="1300" dirty="0">
                    <a:latin typeface="Helvetica" pitchFamily="-84" charset="0"/>
                  </a:rPr>
                  <a:t>7</a:t>
                </a:r>
              </a:p>
            </p:txBody>
          </p:sp>
          <p:sp>
            <p:nvSpPr>
              <p:cNvPr id="3073" name="Text Box 39">
                <a:extLst>
                  <a:ext uri="{FF2B5EF4-FFF2-40B4-BE49-F238E27FC236}">
                    <a16:creationId xmlns:a16="http://schemas.microsoft.com/office/drawing/2014/main" id="{E3E3EA1D-7EC3-8DB4-E87F-0ABA788D95F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H="1">
                <a:off x="5499359" y="3778960"/>
                <a:ext cx="357791" cy="2923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sz="1300" dirty="0">
                    <a:latin typeface="Helvetica" pitchFamily="-84" charset="0"/>
                  </a:rPr>
                  <a:t>P</a:t>
                </a:r>
                <a:r>
                  <a:rPr lang="en-US" sz="1300" baseline="-25000" dirty="0">
                    <a:latin typeface="Helvetica" pitchFamily="-84" charset="0"/>
                  </a:rPr>
                  <a:t>2</a:t>
                </a:r>
                <a:endParaRPr lang="en-US" sz="1300" dirty="0">
                  <a:latin typeface="Helvetica" pitchFamily="-84" charset="0"/>
                </a:endParaRPr>
              </a:p>
            </p:txBody>
          </p:sp>
        </p:grpSp>
        <p:sp>
          <p:nvSpPr>
            <p:cNvPr id="3098" name="Text Box 73">
              <a:extLst>
                <a:ext uri="{FF2B5EF4-FFF2-40B4-BE49-F238E27FC236}">
                  <a16:creationId xmlns:a16="http://schemas.microsoft.com/office/drawing/2014/main" id="{6415BE72-9746-E307-070B-E66563E5CB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8909875" y="5752814"/>
              <a:ext cx="370614" cy="292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300" dirty="0">
                  <a:latin typeface="Helvetica" pitchFamily="-84" charset="0"/>
                </a:rPr>
                <a:t>16</a:t>
              </a:r>
            </a:p>
          </p:txBody>
        </p:sp>
        <p:sp>
          <p:nvSpPr>
            <p:cNvPr id="3099" name="Line 52">
              <a:extLst>
                <a:ext uri="{FF2B5EF4-FFF2-40B4-BE49-F238E27FC236}">
                  <a16:creationId xmlns:a16="http://schemas.microsoft.com/office/drawing/2014/main" id="{9A357BFF-6871-D758-246F-58D2216BA1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130893" y="5008760"/>
              <a:ext cx="0" cy="6093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00" name="Text Box 70">
              <a:extLst>
                <a:ext uri="{FF2B5EF4-FFF2-40B4-BE49-F238E27FC236}">
                  <a16:creationId xmlns:a16="http://schemas.microsoft.com/office/drawing/2014/main" id="{D8416995-33BA-B81F-DBDA-178373F561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8602519" y="5099014"/>
              <a:ext cx="357790" cy="292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300" dirty="0">
                  <a:latin typeface="Helvetica" pitchFamily="-84" charset="0"/>
                </a:rPr>
                <a:t>P</a:t>
              </a:r>
              <a:r>
                <a:rPr lang="en-US" sz="1300" baseline="-25000" dirty="0">
                  <a:latin typeface="Helvetica" pitchFamily="-84" charset="0"/>
                </a:rPr>
                <a:t>1</a:t>
              </a:r>
            </a:p>
          </p:txBody>
        </p:sp>
      </p:grpSp>
      <p:sp>
        <p:nvSpPr>
          <p:cNvPr id="4" name="Line 52">
            <a:extLst>
              <a:ext uri="{FF2B5EF4-FFF2-40B4-BE49-F238E27FC236}">
                <a16:creationId xmlns:a16="http://schemas.microsoft.com/office/drawing/2014/main" id="{B79FF49E-F87A-51F9-17F6-527C3B51E65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377265" y="5013455"/>
            <a:ext cx="0" cy="60936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" name="Line 52">
            <a:extLst>
              <a:ext uri="{FF2B5EF4-FFF2-40B4-BE49-F238E27FC236}">
                <a16:creationId xmlns:a16="http://schemas.microsoft.com/office/drawing/2014/main" id="{A585E187-FFAD-F429-0644-E803DA8EC21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502118" y="5013455"/>
            <a:ext cx="0" cy="60936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Text Box 73">
            <a:extLst>
              <a:ext uri="{FF2B5EF4-FFF2-40B4-BE49-F238E27FC236}">
                <a16:creationId xmlns:a16="http://schemas.microsoft.com/office/drawing/2014/main" id="{C220533E-16FC-64E4-2482-380988ADF5AD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9222341" y="5770988"/>
            <a:ext cx="370614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300" dirty="0">
                <a:latin typeface="Helvetica" pitchFamily="-84" charset="0"/>
              </a:rPr>
              <a:t>20</a:t>
            </a:r>
          </a:p>
        </p:txBody>
      </p:sp>
      <p:sp>
        <p:nvSpPr>
          <p:cNvPr id="7" name="Text Box 73">
            <a:extLst>
              <a:ext uri="{FF2B5EF4-FFF2-40B4-BE49-F238E27FC236}">
                <a16:creationId xmlns:a16="http://schemas.microsoft.com/office/drawing/2014/main" id="{82DF7384-0AD4-51C0-ACF4-E8878A4B0262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9918628" y="5762599"/>
            <a:ext cx="370614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300" dirty="0">
                <a:latin typeface="Helvetica" pitchFamily="-84" charset="0"/>
              </a:rPr>
              <a:t>21</a:t>
            </a:r>
          </a:p>
        </p:txBody>
      </p:sp>
      <p:sp>
        <p:nvSpPr>
          <p:cNvPr id="8" name="Text Box 39">
            <a:extLst>
              <a:ext uri="{FF2B5EF4-FFF2-40B4-BE49-F238E27FC236}">
                <a16:creationId xmlns:a16="http://schemas.microsoft.com/office/drawing/2014/main" id="{C5C85FD5-FB1B-752B-5D7F-24550258A494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9571206" y="5149608"/>
            <a:ext cx="357791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300" dirty="0">
                <a:latin typeface="Helvetica" pitchFamily="-84" charset="0"/>
              </a:rPr>
              <a:t>P</a:t>
            </a:r>
            <a:r>
              <a:rPr lang="en-US" sz="1300" baseline="-25000" dirty="0">
                <a:latin typeface="Helvetica" pitchFamily="-84" charset="0"/>
              </a:rPr>
              <a:t>2</a:t>
            </a:r>
            <a:endParaRPr lang="en-US" sz="1300" dirty="0">
              <a:latin typeface="Helvetica" pitchFamily="-8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31023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92DE6-2CE8-8DCA-3106-12D9CAC8E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188C3927-E306-94C5-570A-38E15E4747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RR Scheduling Policy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1991D5F-1427-0CB0-E414-589F45979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45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07916438-F97B-FC54-5153-A3628B6CB4B1}"/>
              </a:ext>
            </a:extLst>
          </p:cNvPr>
          <p:cNvSpPr txBox="1">
            <a:spLocks noChangeArrowheads="1"/>
          </p:cNvSpPr>
          <p:nvPr/>
        </p:nvSpPr>
        <p:spPr>
          <a:xfrm>
            <a:off x="632150" y="1453242"/>
            <a:ext cx="10516495" cy="5088236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Responsiveness vs Overhead</a:t>
            </a:r>
          </a:p>
          <a:p>
            <a:pPr marL="114300" indent="0" algn="just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What if the time quantum is small?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What happens when the time quantum is large?</a:t>
            </a:r>
          </a:p>
          <a:p>
            <a:pPr marL="411480" lvl="1" indent="0" algn="just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411480" lvl="1" indent="0" algn="just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If the time quantum is the maximum of the burst times, how will RR behave?</a:t>
            </a:r>
          </a:p>
          <a:p>
            <a:pPr lvl="1"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5538608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RR Scheduling Policy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46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773B303-CEA4-39FE-8190-A77ECCC638B8}"/>
              </a:ext>
            </a:extLst>
          </p:cNvPr>
          <p:cNvSpPr txBox="1">
            <a:spLocks noChangeArrowheads="1"/>
          </p:cNvSpPr>
          <p:nvPr/>
        </p:nvSpPr>
        <p:spPr>
          <a:xfrm>
            <a:off x="632150" y="1453242"/>
            <a:ext cx="10516495" cy="5088236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Advantages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Fair allocation of CPU across jobs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Low average waiting time when job lengths vary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best performance in terms of average response time.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best suited for </a:t>
            </a:r>
          </a:p>
          <a:p>
            <a:pPr lvl="2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time sharing system, </a:t>
            </a:r>
          </a:p>
          <a:p>
            <a:pPr lvl="2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client server architecture and </a:t>
            </a:r>
          </a:p>
          <a:p>
            <a:pPr lvl="2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interactive system.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Disadvantages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leads to starvation for processes with larger burst time </a:t>
            </a:r>
          </a:p>
          <a:p>
            <a:pPr lvl="2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as they have to repeat the cycle many times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Its performance heavily depends on time quantum.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906229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RR Scheduling Policy: Important Notes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47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773B303-CEA4-39FE-8190-A77ECCC638B8}"/>
              </a:ext>
            </a:extLst>
          </p:cNvPr>
          <p:cNvSpPr txBox="1">
            <a:spLocks noChangeArrowheads="1"/>
          </p:cNvSpPr>
          <p:nvPr/>
        </p:nvSpPr>
        <p:spPr>
          <a:xfrm>
            <a:off x="632150" y="1453242"/>
            <a:ext cx="10743567" cy="5088236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With decreasing value of time quantum,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Number of context switch increases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Response time decreases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Chances of starvation decreases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How to choose time slice?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Overhead vs. response time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Overhead is typically about 1% or less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Quantum typically between 10 ~ 100 msec</a:t>
            </a:r>
          </a:p>
        </p:txBody>
      </p:sp>
      <p:pic>
        <p:nvPicPr>
          <p:cNvPr id="24579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690" y="4814831"/>
            <a:ext cx="5288762" cy="19525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5050287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1078992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Turnaround Time Varies With Time Quantum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48</a:t>
            </a:fld>
            <a:endParaRPr lang="en-US">
              <a:latin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567C552-BF4C-49F4-EA31-DB25606299EB}"/>
              </a:ext>
            </a:extLst>
          </p:cNvPr>
          <p:cNvGrpSpPr/>
          <p:nvPr/>
        </p:nvGrpSpPr>
        <p:grpSpPr>
          <a:xfrm>
            <a:off x="2589246" y="1599581"/>
            <a:ext cx="7002621" cy="4837342"/>
            <a:chOff x="1600200" y="1182458"/>
            <a:chExt cx="7002621" cy="4837342"/>
          </a:xfrm>
        </p:grpSpPr>
        <p:pic>
          <p:nvPicPr>
            <p:cNvPr id="25603" name="Picture 7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00200" y="1182458"/>
              <a:ext cx="5872983" cy="48373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604" name="TextBox 3"/>
            <p:cNvSpPr txBox="1">
              <a:spLocks noChangeArrowheads="1"/>
            </p:cNvSpPr>
            <p:nvPr/>
          </p:nvSpPr>
          <p:spPr bwMode="auto">
            <a:xfrm>
              <a:off x="5805193" y="3821113"/>
              <a:ext cx="2797628" cy="6155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17" tIns="45709" rIns="91417" bIns="45709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r>
                <a:rPr lang="en-US" altLang="en-US" sz="1700" dirty="0">
                  <a:latin typeface="Arial" panose="020B0604020202020204" pitchFamily="34" charset="0"/>
                  <a:cs typeface="Arial" panose="020B0604020202020204" pitchFamily="34" charset="0"/>
                </a:rPr>
                <a:t>80% of CPU bursts should be shorter than q.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20182234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7F655-14E6-F84C-C30F-22FBB928E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E4C25150-3A2A-D460-CC5C-C55FD2528C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Priority Scheduling Policy with Round Robin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4079F05-411F-54E7-5E3C-5033EC1D2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49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3F115E31-5F67-E327-293B-7F038CC61EC5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2"/>
            <a:ext cx="10433956" cy="5404758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 lnSpcReduction="10000"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algn="just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Time slice: 2 sec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Gantt Chart for the schedule is:</a:t>
            </a:r>
          </a:p>
          <a:p>
            <a:pPr algn="just"/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Waiting time for P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= 22; P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= 11; P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= 12; P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= 0; P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= 24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Average waiting time:  (22 + 11 + 12 + 0 + 24)/5 = 13.8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43EC6D9-853C-EF49-19A8-36F48ECD8F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7144583"/>
              </p:ext>
            </p:extLst>
          </p:nvPr>
        </p:nvGraphicFramePr>
        <p:xfrm>
          <a:off x="2575248" y="1453242"/>
          <a:ext cx="54837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7920">
                  <a:extLst>
                    <a:ext uri="{9D8B030D-6E8A-4147-A177-3AD203B41FA5}">
                      <a16:colId xmlns:a16="http://schemas.microsoft.com/office/drawing/2014/main" val="557133246"/>
                    </a:ext>
                  </a:extLst>
                </a:gridCol>
                <a:gridCol w="1827920">
                  <a:extLst>
                    <a:ext uri="{9D8B030D-6E8A-4147-A177-3AD203B41FA5}">
                      <a16:colId xmlns:a16="http://schemas.microsoft.com/office/drawing/2014/main" val="200463272"/>
                    </a:ext>
                  </a:extLst>
                </a:gridCol>
                <a:gridCol w="1827920">
                  <a:extLst>
                    <a:ext uri="{9D8B030D-6E8A-4147-A177-3AD203B41FA5}">
                      <a16:colId xmlns:a16="http://schemas.microsoft.com/office/drawing/2014/main" val="3871864460"/>
                    </a:ext>
                  </a:extLst>
                </a:gridCol>
              </a:tblGrid>
              <a:tr h="361173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Burst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Priority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0651049"/>
                  </a:ext>
                </a:extLst>
              </a:tr>
              <a:tr h="361173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US" sz="18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0932112"/>
                  </a:ext>
                </a:extLst>
              </a:tr>
              <a:tr h="361173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US" sz="18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2560738"/>
                  </a:ext>
                </a:extLst>
              </a:tr>
              <a:tr h="361173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US" sz="18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7521930"/>
                  </a:ext>
                </a:extLst>
              </a:tr>
              <a:tr h="36117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US" sz="18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0563988"/>
                  </a:ext>
                </a:extLst>
              </a:tr>
              <a:tr h="36117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US" sz="18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358657"/>
                  </a:ext>
                </a:extLst>
              </a:tr>
            </a:tbl>
          </a:graphicData>
        </a:graphic>
      </p:graphicFrame>
      <p:grpSp>
        <p:nvGrpSpPr>
          <p:cNvPr id="52234" name="Group 52233">
            <a:extLst>
              <a:ext uri="{FF2B5EF4-FFF2-40B4-BE49-F238E27FC236}">
                <a16:creationId xmlns:a16="http://schemas.microsoft.com/office/drawing/2014/main" id="{11991558-934D-009F-D075-85537A71BD9B}"/>
              </a:ext>
            </a:extLst>
          </p:cNvPr>
          <p:cNvGrpSpPr/>
          <p:nvPr/>
        </p:nvGrpSpPr>
        <p:grpSpPr>
          <a:xfrm>
            <a:off x="1850297" y="4769145"/>
            <a:ext cx="8266481" cy="1045965"/>
            <a:chOff x="2183672" y="4788195"/>
            <a:chExt cx="8266481" cy="1045965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A0974A49-75C6-4C3C-228A-B0D25C5D6B81}"/>
                </a:ext>
              </a:extLst>
            </p:cNvPr>
            <p:cNvGrpSpPr/>
            <p:nvPr/>
          </p:nvGrpSpPr>
          <p:grpSpPr>
            <a:xfrm>
              <a:off x="2183672" y="4788195"/>
              <a:ext cx="8083557" cy="1045965"/>
              <a:chOff x="2911460" y="4358992"/>
              <a:chExt cx="8083557" cy="1045965"/>
            </a:xfrm>
          </p:grpSpPr>
          <p:grpSp>
            <p:nvGrpSpPr>
              <p:cNvPr id="4" name="Group 74">
                <a:extLst>
                  <a:ext uri="{FF2B5EF4-FFF2-40B4-BE49-F238E27FC236}">
                    <a16:creationId xmlns:a16="http://schemas.microsoft.com/office/drawing/2014/main" id="{C21FAE2C-59DB-17ED-4DFA-73BC29CBEE2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11460" y="4358992"/>
                <a:ext cx="8083557" cy="1045765"/>
                <a:chOff x="879" y="2366"/>
                <a:chExt cx="5092" cy="659"/>
              </a:xfrm>
            </p:grpSpPr>
            <p:sp>
              <p:nvSpPr>
                <p:cNvPr id="5" name="Rectangle 37">
                  <a:extLst>
                    <a:ext uri="{FF2B5EF4-FFF2-40B4-BE49-F238E27FC236}">
                      <a16:creationId xmlns:a16="http://schemas.microsoft.com/office/drawing/2014/main" id="{19B3D73B-22A3-5E77-0CB2-82BD63BFFB2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H="1">
                  <a:off x="960" y="2373"/>
                  <a:ext cx="5011" cy="384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6" name="Text Box 38">
                  <a:extLst>
                    <a:ext uri="{FF2B5EF4-FFF2-40B4-BE49-F238E27FC236}">
                      <a16:creationId xmlns:a16="http://schemas.microsoft.com/office/drawing/2014/main" id="{B34BE216-9A67-0164-3EBE-176E26FB6A0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 flipH="1">
                  <a:off x="1250" y="2454"/>
                  <a:ext cx="225" cy="1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</a:pPr>
                  <a:r>
                    <a:rPr lang="en-US" sz="1300" dirty="0">
                      <a:latin typeface="Helvetica" pitchFamily="-84" charset="0"/>
                    </a:rPr>
                    <a:t>P</a:t>
                  </a:r>
                  <a:r>
                    <a:rPr lang="en-US" sz="1300" baseline="-25000" dirty="0">
                      <a:latin typeface="Helvetica" pitchFamily="-84" charset="0"/>
                    </a:rPr>
                    <a:t>4</a:t>
                  </a:r>
                  <a:endParaRPr lang="en-US" sz="1300" dirty="0">
                    <a:latin typeface="Helvetica" pitchFamily="-84" charset="0"/>
                  </a:endParaRPr>
                </a:p>
              </p:txBody>
            </p:sp>
            <p:sp>
              <p:nvSpPr>
                <p:cNvPr id="7" name="Text Box 39">
                  <a:extLst>
                    <a:ext uri="{FF2B5EF4-FFF2-40B4-BE49-F238E27FC236}">
                      <a16:creationId xmlns:a16="http://schemas.microsoft.com/office/drawing/2014/main" id="{6B81011F-2B7E-3627-0917-08D7B3D61EC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 flipH="1">
                  <a:off x="3050" y="2453"/>
                  <a:ext cx="225" cy="1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</a:pPr>
                  <a:r>
                    <a:rPr lang="en-US" sz="1300" dirty="0">
                      <a:latin typeface="Helvetica" pitchFamily="-84" charset="0"/>
                    </a:rPr>
                    <a:t>P</a:t>
                  </a:r>
                  <a:r>
                    <a:rPr lang="en-US" sz="1300" baseline="-25000" dirty="0">
                      <a:latin typeface="Helvetica" pitchFamily="-84" charset="0"/>
                    </a:rPr>
                    <a:t>3</a:t>
                  </a:r>
                  <a:endParaRPr lang="en-US" sz="1300" dirty="0">
                    <a:latin typeface="Helvetica" pitchFamily="-84" charset="0"/>
                  </a:endParaRPr>
                </a:p>
              </p:txBody>
            </p:sp>
            <p:sp>
              <p:nvSpPr>
                <p:cNvPr id="8" name="Text Box 40">
                  <a:extLst>
                    <a:ext uri="{FF2B5EF4-FFF2-40B4-BE49-F238E27FC236}">
                      <a16:creationId xmlns:a16="http://schemas.microsoft.com/office/drawing/2014/main" id="{CDEF3129-B759-D761-2E55-77320D7DD39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 flipH="1">
                  <a:off x="1948" y="2452"/>
                  <a:ext cx="225" cy="1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</a:pPr>
                  <a:r>
                    <a:rPr lang="en-US" sz="1300">
                      <a:latin typeface="Helvetica" pitchFamily="-84" charset="0"/>
                    </a:rPr>
                    <a:t>P</a:t>
                  </a:r>
                  <a:r>
                    <a:rPr lang="en-US" sz="1300" baseline="-25000">
                      <a:latin typeface="Helvetica" pitchFamily="-84" charset="0"/>
                    </a:rPr>
                    <a:t>2</a:t>
                  </a:r>
                  <a:endParaRPr lang="en-US" sz="1300">
                    <a:latin typeface="Helvetica" pitchFamily="-84" charset="0"/>
                  </a:endParaRPr>
                </a:p>
              </p:txBody>
            </p:sp>
            <p:sp>
              <p:nvSpPr>
                <p:cNvPr id="9" name="Line 43">
                  <a:extLst>
                    <a:ext uri="{FF2B5EF4-FFF2-40B4-BE49-F238E27FC236}">
                      <a16:creationId xmlns:a16="http://schemas.microsoft.com/office/drawing/2014/main" id="{0F15392D-CA4B-4C72-E5F5-C936C487FE9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580" y="2373"/>
                  <a:ext cx="0" cy="38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" name="Text Box 48">
                  <a:extLst>
                    <a:ext uri="{FF2B5EF4-FFF2-40B4-BE49-F238E27FC236}">
                      <a16:creationId xmlns:a16="http://schemas.microsoft.com/office/drawing/2014/main" id="{1ACE8D3C-7C08-DCFD-F35E-47935FE0D5B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 flipH="1">
                  <a:off x="1786" y="2834"/>
                  <a:ext cx="175" cy="1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</a:pPr>
                  <a:r>
                    <a:rPr lang="en-US" sz="1300" dirty="0">
                      <a:latin typeface="Helvetica" pitchFamily="-84" charset="0"/>
                    </a:rPr>
                    <a:t>7</a:t>
                  </a:r>
                </a:p>
              </p:txBody>
            </p:sp>
            <p:sp>
              <p:nvSpPr>
                <p:cNvPr id="11" name="Text Box 49">
                  <a:extLst>
                    <a:ext uri="{FF2B5EF4-FFF2-40B4-BE49-F238E27FC236}">
                      <a16:creationId xmlns:a16="http://schemas.microsoft.com/office/drawing/2014/main" id="{961636FB-B286-3050-6356-346B730E4E1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 flipH="1">
                  <a:off x="3301" y="2829"/>
                  <a:ext cx="233" cy="1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</a:pPr>
                  <a:r>
                    <a:rPr lang="en-US" sz="1300" dirty="0">
                      <a:latin typeface="Helvetica" pitchFamily="-84" charset="0"/>
                    </a:rPr>
                    <a:t>15</a:t>
                  </a:r>
                </a:p>
              </p:txBody>
            </p:sp>
            <p:sp>
              <p:nvSpPr>
                <p:cNvPr id="13" name="Text Box 50">
                  <a:extLst>
                    <a:ext uri="{FF2B5EF4-FFF2-40B4-BE49-F238E27FC236}">
                      <a16:creationId xmlns:a16="http://schemas.microsoft.com/office/drawing/2014/main" id="{028DBC82-1967-26D9-98DF-47B3ED6286F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 flipH="1">
                  <a:off x="879" y="2838"/>
                  <a:ext cx="175" cy="1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</a:pPr>
                  <a:r>
                    <a:rPr lang="en-US" sz="1300" dirty="0">
                      <a:latin typeface="Helvetica" pitchFamily="-84" charset="0"/>
                    </a:rPr>
                    <a:t>0</a:t>
                  </a:r>
                </a:p>
              </p:txBody>
            </p:sp>
            <p:sp>
              <p:nvSpPr>
                <p:cNvPr id="14" name="Line 52">
                  <a:extLst>
                    <a:ext uri="{FF2B5EF4-FFF2-40B4-BE49-F238E27FC236}">
                      <a16:creationId xmlns:a16="http://schemas.microsoft.com/office/drawing/2014/main" id="{8231B339-8EAB-E24B-16CD-B6D6757B54F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399" y="2373"/>
                  <a:ext cx="0" cy="38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" name="Text Box 64">
                  <a:extLst>
                    <a:ext uri="{FF2B5EF4-FFF2-40B4-BE49-F238E27FC236}">
                      <a16:creationId xmlns:a16="http://schemas.microsoft.com/office/drawing/2014/main" id="{03B3C6F5-AC14-7BD6-76E1-D89B79D14A9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 flipH="1">
                  <a:off x="2469" y="2840"/>
                  <a:ext cx="226" cy="1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</a:pPr>
                  <a:r>
                    <a:rPr lang="en-US" sz="1300" dirty="0">
                      <a:latin typeface="Helvetica" pitchFamily="-84" charset="0"/>
                    </a:rPr>
                    <a:t>11</a:t>
                  </a:r>
                </a:p>
              </p:txBody>
            </p:sp>
            <p:sp>
              <p:nvSpPr>
                <p:cNvPr id="16" name="Line 69">
                  <a:extLst>
                    <a:ext uri="{FF2B5EF4-FFF2-40B4-BE49-F238E27FC236}">
                      <a16:creationId xmlns:a16="http://schemas.microsoft.com/office/drawing/2014/main" id="{7B800240-0A74-947F-161F-6305015BA80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877" y="2374"/>
                  <a:ext cx="0" cy="399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7" name="Text Box 70">
                  <a:extLst>
                    <a:ext uri="{FF2B5EF4-FFF2-40B4-BE49-F238E27FC236}">
                      <a16:creationId xmlns:a16="http://schemas.microsoft.com/office/drawing/2014/main" id="{ED92BDD6-9A41-EFC7-F6AA-7D522FF6AB5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 flipH="1">
                  <a:off x="3467" y="2453"/>
                  <a:ext cx="225" cy="1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</a:pPr>
                  <a:r>
                    <a:rPr lang="en-US" sz="1300" dirty="0">
                      <a:latin typeface="Helvetica" pitchFamily="-84" charset="0"/>
                    </a:rPr>
                    <a:t>P</a:t>
                  </a:r>
                  <a:r>
                    <a:rPr lang="en-US" sz="1300" baseline="-25000" dirty="0">
                      <a:latin typeface="Helvetica" pitchFamily="-84" charset="0"/>
                    </a:rPr>
                    <a:t>2</a:t>
                  </a:r>
                  <a:endParaRPr lang="en-US" sz="1300" dirty="0">
                    <a:latin typeface="Helvetica" pitchFamily="-84" charset="0"/>
                  </a:endParaRPr>
                </a:p>
              </p:txBody>
            </p:sp>
            <p:sp>
              <p:nvSpPr>
                <p:cNvPr id="18" name="Text Box 73">
                  <a:extLst>
                    <a:ext uri="{FF2B5EF4-FFF2-40B4-BE49-F238E27FC236}">
                      <a16:creationId xmlns:a16="http://schemas.microsoft.com/office/drawing/2014/main" id="{802C1E40-6395-C7C4-1C6F-591244DC5FC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 flipH="1">
                  <a:off x="4347" y="2841"/>
                  <a:ext cx="233" cy="1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</a:pPr>
                  <a:r>
                    <a:rPr lang="en-US" sz="1300" dirty="0">
                      <a:latin typeface="Helvetica" pitchFamily="-84" charset="0"/>
                    </a:rPr>
                    <a:t>20</a:t>
                  </a:r>
                </a:p>
              </p:txBody>
            </p:sp>
            <p:sp>
              <p:nvSpPr>
                <p:cNvPr id="19" name="Line 43">
                  <a:extLst>
                    <a:ext uri="{FF2B5EF4-FFF2-40B4-BE49-F238E27FC236}">
                      <a16:creationId xmlns:a16="http://schemas.microsoft.com/office/drawing/2014/main" id="{5B79C52E-9612-56D7-30A9-05CB8745C4F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231" y="2366"/>
                  <a:ext cx="0" cy="38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0" name="Text Box 64">
                  <a:extLst>
                    <a:ext uri="{FF2B5EF4-FFF2-40B4-BE49-F238E27FC236}">
                      <a16:creationId xmlns:a16="http://schemas.microsoft.com/office/drawing/2014/main" id="{61B27F4A-22B8-8981-8C6B-39CCD10DE1D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 flipH="1">
                  <a:off x="2145" y="2838"/>
                  <a:ext cx="175" cy="1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</a:pPr>
                  <a:r>
                    <a:rPr lang="en-US" sz="1300" dirty="0">
                      <a:latin typeface="Helvetica" pitchFamily="-84" charset="0"/>
                    </a:rPr>
                    <a:t>9</a:t>
                  </a:r>
                </a:p>
              </p:txBody>
            </p:sp>
            <p:sp>
              <p:nvSpPr>
                <p:cNvPr id="21" name="Text Box 39">
                  <a:extLst>
                    <a:ext uri="{FF2B5EF4-FFF2-40B4-BE49-F238E27FC236}">
                      <a16:creationId xmlns:a16="http://schemas.microsoft.com/office/drawing/2014/main" id="{EF1F16E7-76D1-55ED-67EC-BC8A6AD3228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 flipH="1">
                  <a:off x="2325" y="2451"/>
                  <a:ext cx="225" cy="1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itchFamily="34" charset="0"/>
                      <a:ea typeface="ＭＳ Ｐゴシック" pitchFamily="-84" charset="-128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</a:pPr>
                  <a:r>
                    <a:rPr lang="en-US" sz="1300" dirty="0">
                      <a:latin typeface="Helvetica" pitchFamily="-84" charset="0"/>
                    </a:rPr>
                    <a:t>P</a:t>
                  </a:r>
                  <a:r>
                    <a:rPr lang="en-US" sz="1300" baseline="-25000" dirty="0">
                      <a:latin typeface="Helvetica" pitchFamily="-84" charset="0"/>
                    </a:rPr>
                    <a:t>3</a:t>
                  </a:r>
                  <a:endParaRPr lang="en-US" sz="1300" dirty="0">
                    <a:latin typeface="Helvetica" pitchFamily="-84" charset="0"/>
                  </a:endParaRPr>
                </a:p>
              </p:txBody>
            </p:sp>
          </p:grpSp>
          <p:sp>
            <p:nvSpPr>
              <p:cNvPr id="22" name="Line 52">
                <a:extLst>
                  <a:ext uri="{FF2B5EF4-FFF2-40B4-BE49-F238E27FC236}">
                    <a16:creationId xmlns:a16="http://schemas.microsoft.com/office/drawing/2014/main" id="{C7C3371D-0CE1-E9F0-94E5-74AC02B4E0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502507" y="4373212"/>
                <a:ext cx="0" cy="6093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" name="Text Box 49">
                <a:extLst>
                  <a:ext uri="{FF2B5EF4-FFF2-40B4-BE49-F238E27FC236}">
                    <a16:creationId xmlns:a16="http://schemas.microsoft.com/office/drawing/2014/main" id="{76EB56A8-1E4A-0A49-18E3-4E8B4AB8C07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H="1">
                <a:off x="7327908" y="5097020"/>
                <a:ext cx="370614" cy="2923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sz="1300" dirty="0">
                    <a:latin typeface="Helvetica" pitchFamily="-84" charset="0"/>
                  </a:rPr>
                  <a:t>16</a:t>
                </a:r>
              </a:p>
            </p:txBody>
          </p:sp>
          <p:sp>
            <p:nvSpPr>
              <p:cNvPr id="24" name="Line 52">
                <a:extLst>
                  <a:ext uri="{FF2B5EF4-FFF2-40B4-BE49-F238E27FC236}">
                    <a16:creationId xmlns:a16="http://schemas.microsoft.com/office/drawing/2014/main" id="{24136457-539A-7700-EC6E-F19B92E4A0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8616932" y="4358992"/>
                <a:ext cx="0" cy="6093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" name="Text Box 73">
                <a:extLst>
                  <a:ext uri="{FF2B5EF4-FFF2-40B4-BE49-F238E27FC236}">
                    <a16:creationId xmlns:a16="http://schemas.microsoft.com/office/drawing/2014/main" id="{4570B119-00A8-0FC3-9BF9-ED758ECC30C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H="1">
                <a:off x="9731001" y="5112569"/>
                <a:ext cx="370614" cy="2923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sz="1300" dirty="0">
                    <a:latin typeface="Helvetica" pitchFamily="-84" charset="0"/>
                  </a:rPr>
                  <a:t>24</a:t>
                </a:r>
              </a:p>
            </p:txBody>
          </p:sp>
          <p:sp>
            <p:nvSpPr>
              <p:cNvPr id="26" name="Text Box 39">
                <a:extLst>
                  <a:ext uri="{FF2B5EF4-FFF2-40B4-BE49-F238E27FC236}">
                    <a16:creationId xmlns:a16="http://schemas.microsoft.com/office/drawing/2014/main" id="{36D2BB4A-B67F-1FED-A00A-D991004A424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H="1">
                <a:off x="7872098" y="4515921"/>
                <a:ext cx="357791" cy="2923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sz="1300" dirty="0">
                    <a:latin typeface="Helvetica" pitchFamily="-84" charset="0"/>
                  </a:rPr>
                  <a:t>P</a:t>
                </a:r>
                <a:r>
                  <a:rPr lang="en-US" sz="1300" baseline="-25000" dirty="0">
                    <a:latin typeface="Helvetica" pitchFamily="-84" charset="0"/>
                  </a:rPr>
                  <a:t>3</a:t>
                </a:r>
                <a:endParaRPr lang="en-US" sz="1300" dirty="0">
                  <a:latin typeface="Helvetica" pitchFamily="-84" charset="0"/>
                </a:endParaRPr>
              </a:p>
            </p:txBody>
          </p:sp>
          <p:sp>
            <p:nvSpPr>
              <p:cNvPr id="27" name="Text Box 70">
                <a:extLst>
                  <a:ext uri="{FF2B5EF4-FFF2-40B4-BE49-F238E27FC236}">
                    <a16:creationId xmlns:a16="http://schemas.microsoft.com/office/drawing/2014/main" id="{1B51DCE2-3175-9341-A965-01C2ED347C2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H="1">
                <a:off x="9382113" y="4506595"/>
                <a:ext cx="357188" cy="29198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ea typeface="ＭＳ Ｐゴシック" pitchFamily="-84" charset="-128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sz="1300" dirty="0">
                    <a:latin typeface="Helvetica" pitchFamily="-84" charset="0"/>
                  </a:rPr>
                  <a:t>P</a:t>
                </a:r>
                <a:r>
                  <a:rPr lang="en-US" sz="1300" baseline="-25000" dirty="0">
                    <a:latin typeface="Helvetica" pitchFamily="-84" charset="0"/>
                  </a:rPr>
                  <a:t>5</a:t>
                </a:r>
                <a:endParaRPr lang="en-US" sz="1300" dirty="0">
                  <a:latin typeface="Helvetica" pitchFamily="-84" charset="0"/>
                </a:endParaRPr>
              </a:p>
            </p:txBody>
          </p:sp>
        </p:grpSp>
        <p:sp>
          <p:nvSpPr>
            <p:cNvPr id="29" name="Text Box 73">
              <a:extLst>
                <a:ext uri="{FF2B5EF4-FFF2-40B4-BE49-F238E27FC236}">
                  <a16:creationId xmlns:a16="http://schemas.microsoft.com/office/drawing/2014/main" id="{395A13ED-011D-2737-C1FF-D16D8F79C4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9546139" y="5541772"/>
              <a:ext cx="370614" cy="292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300" dirty="0">
                  <a:latin typeface="Helvetica" pitchFamily="-84" charset="0"/>
                </a:rPr>
                <a:t>26</a:t>
              </a:r>
            </a:p>
          </p:txBody>
        </p:sp>
        <p:sp>
          <p:nvSpPr>
            <p:cNvPr id="30" name="Line 52">
              <a:extLst>
                <a:ext uri="{FF2B5EF4-FFF2-40B4-BE49-F238E27FC236}">
                  <a16:creationId xmlns:a16="http://schemas.microsoft.com/office/drawing/2014/main" id="{10C17770-FF2B-87BC-636A-FC77ACB549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756044" y="4788195"/>
              <a:ext cx="0" cy="6093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" name="Text Box 73">
              <a:extLst>
                <a:ext uri="{FF2B5EF4-FFF2-40B4-BE49-F238E27FC236}">
                  <a16:creationId xmlns:a16="http://schemas.microsoft.com/office/drawing/2014/main" id="{429269C9-843D-B606-70D3-2E5C49D347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10079539" y="5541772"/>
              <a:ext cx="370614" cy="292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300" dirty="0">
                  <a:latin typeface="Helvetica" pitchFamily="-84" charset="0"/>
                </a:rPr>
                <a:t>27</a:t>
              </a:r>
            </a:p>
          </p:txBody>
        </p:sp>
        <p:sp>
          <p:nvSpPr>
            <p:cNvPr id="52224" name="Text Box 70">
              <a:extLst>
                <a:ext uri="{FF2B5EF4-FFF2-40B4-BE49-F238E27FC236}">
                  <a16:creationId xmlns:a16="http://schemas.microsoft.com/office/drawing/2014/main" id="{549B2C51-8059-DDEA-5E71-C6BA6ECEE1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9816375" y="4935798"/>
              <a:ext cx="357188" cy="2919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300" dirty="0">
                  <a:latin typeface="Helvetica" pitchFamily="-84" charset="0"/>
                </a:rPr>
                <a:t>P</a:t>
              </a:r>
              <a:r>
                <a:rPr lang="en-US" sz="1300" baseline="-25000" dirty="0">
                  <a:latin typeface="Helvetica" pitchFamily="-84" charset="0"/>
                </a:rPr>
                <a:t>5</a:t>
              </a:r>
              <a:endParaRPr lang="en-US" sz="1300" dirty="0">
                <a:latin typeface="Helvetica" pitchFamily="-84" charset="0"/>
              </a:endParaRPr>
            </a:p>
          </p:txBody>
        </p:sp>
        <p:sp>
          <p:nvSpPr>
            <p:cNvPr id="52225" name="Line 52">
              <a:extLst>
                <a:ext uri="{FF2B5EF4-FFF2-40B4-BE49-F238E27FC236}">
                  <a16:creationId xmlns:a16="http://schemas.microsoft.com/office/drawing/2014/main" id="{FC51AEE1-07FB-3D2F-ADC1-B2502D26C2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155969" y="4788195"/>
              <a:ext cx="0" cy="6093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226" name="Text Box 70">
              <a:extLst>
                <a:ext uri="{FF2B5EF4-FFF2-40B4-BE49-F238E27FC236}">
                  <a16:creationId xmlns:a16="http://schemas.microsoft.com/office/drawing/2014/main" id="{4ABE27D0-DF24-87C6-89C9-28DBB0A6CE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9254099" y="4935599"/>
              <a:ext cx="357791" cy="292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300" dirty="0">
                  <a:latin typeface="Helvetica" pitchFamily="-84" charset="0"/>
                </a:rPr>
                <a:t>P</a:t>
              </a:r>
              <a:r>
                <a:rPr lang="en-US" sz="1300" baseline="-25000" dirty="0">
                  <a:latin typeface="Helvetica" pitchFamily="-84" charset="0"/>
                </a:rPr>
                <a:t>1</a:t>
              </a:r>
              <a:endParaRPr lang="en-US" sz="1300" dirty="0">
                <a:latin typeface="Helvetica" pitchFamily="-84" charset="0"/>
              </a:endParaRPr>
            </a:p>
          </p:txBody>
        </p:sp>
        <p:sp>
          <p:nvSpPr>
            <p:cNvPr id="52228" name="Text Box 73">
              <a:extLst>
                <a:ext uri="{FF2B5EF4-FFF2-40B4-BE49-F238E27FC236}">
                  <a16:creationId xmlns:a16="http://schemas.microsoft.com/office/drawing/2014/main" id="{007422AE-0C0A-55A2-5125-44DEA6D93E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8317414" y="5541772"/>
              <a:ext cx="370614" cy="292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300" dirty="0">
                  <a:latin typeface="Helvetica" pitchFamily="-84" charset="0"/>
                </a:rPr>
                <a:t>22</a:t>
              </a:r>
            </a:p>
          </p:txBody>
        </p:sp>
        <p:sp>
          <p:nvSpPr>
            <p:cNvPr id="52229" name="Line 52">
              <a:extLst>
                <a:ext uri="{FF2B5EF4-FFF2-40B4-BE49-F238E27FC236}">
                  <a16:creationId xmlns:a16="http://schemas.microsoft.com/office/drawing/2014/main" id="{0B739F5C-34FB-E5D7-1BB3-9E9AA60C54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527319" y="4788195"/>
              <a:ext cx="0" cy="6093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230" name="Text Box 39">
              <a:extLst>
                <a:ext uri="{FF2B5EF4-FFF2-40B4-BE49-F238E27FC236}">
                  <a16:creationId xmlns:a16="http://schemas.microsoft.com/office/drawing/2014/main" id="{0F7C49E8-AE8F-540D-42FC-626C7E9B26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8020610" y="4935599"/>
              <a:ext cx="357791" cy="292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300" dirty="0">
                  <a:latin typeface="Helvetica" pitchFamily="-84" charset="0"/>
                </a:rPr>
                <a:t>P</a:t>
              </a:r>
              <a:r>
                <a:rPr lang="en-US" sz="1300" baseline="-25000" dirty="0">
                  <a:latin typeface="Helvetica" pitchFamily="-84" charset="0"/>
                </a:rPr>
                <a:t>1</a:t>
              </a:r>
              <a:endParaRPr lang="en-US" sz="1300" dirty="0">
                <a:latin typeface="Helvetica" pitchFamily="-84" charset="0"/>
              </a:endParaRPr>
            </a:p>
          </p:txBody>
        </p:sp>
        <p:sp>
          <p:nvSpPr>
            <p:cNvPr id="52231" name="Line 43">
              <a:extLst>
                <a:ext uri="{FF2B5EF4-FFF2-40B4-BE49-F238E27FC236}">
                  <a16:creationId xmlns:a16="http://schemas.microsoft.com/office/drawing/2014/main" id="{31A04DDB-E77B-FF33-0305-A707DD97AAB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493611" y="4789778"/>
              <a:ext cx="0" cy="6093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232" name="Text Box 64">
              <a:extLst>
                <a:ext uri="{FF2B5EF4-FFF2-40B4-BE49-F238E27FC236}">
                  <a16:creationId xmlns:a16="http://schemas.microsoft.com/office/drawing/2014/main" id="{D93159A6-4FA4-AD2E-8D74-ECEA3A8344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5310686" y="5530660"/>
              <a:ext cx="370614" cy="292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300" dirty="0">
                  <a:latin typeface="Helvetica" pitchFamily="-84" charset="0"/>
                </a:rPr>
                <a:t>13</a:t>
              </a:r>
            </a:p>
          </p:txBody>
        </p:sp>
        <p:sp>
          <p:nvSpPr>
            <p:cNvPr id="52233" name="Text Box 39">
              <a:extLst>
                <a:ext uri="{FF2B5EF4-FFF2-40B4-BE49-F238E27FC236}">
                  <a16:creationId xmlns:a16="http://schemas.microsoft.com/office/drawing/2014/main" id="{455ED316-C923-B6EC-3C0B-0852091477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5001487" y="4926255"/>
              <a:ext cx="357188" cy="2919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300" dirty="0">
                  <a:latin typeface="Helvetica" pitchFamily="-84" charset="0"/>
                </a:rPr>
                <a:t>P</a:t>
              </a:r>
              <a:r>
                <a:rPr lang="en-US" sz="1300" baseline="-25000" dirty="0">
                  <a:latin typeface="Helvetica" pitchFamily="-84" charset="0"/>
                </a:rPr>
                <a:t>2</a:t>
              </a:r>
              <a:endParaRPr lang="en-US" sz="1300" dirty="0">
                <a:latin typeface="Helvetica" pitchFamily="-84" charset="0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720131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0E062-C5BD-ABDB-2D1E-044DDC979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1F748BFF-8158-E1C0-B3AF-EC06D8737E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Combining Algorithms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4F57E37-51FB-6F5E-4735-A3718A71C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50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1C7C66DF-D42D-5729-A45A-06A1E3616F63}"/>
              </a:ext>
            </a:extLst>
          </p:cNvPr>
          <p:cNvSpPr txBox="1">
            <a:spLocks noChangeArrowheads="1"/>
          </p:cNvSpPr>
          <p:nvPr/>
        </p:nvSpPr>
        <p:spPr>
          <a:xfrm>
            <a:off x="632149" y="1453242"/>
            <a:ext cx="10452617" cy="5404758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Different types of jobs have different preferences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Interactive, CPU-bound, batch, system, etc.</a:t>
            </a:r>
          </a:p>
          <a:p>
            <a:pPr algn="just"/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Combining scheduling algorithms to optimize for multiple objectives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Have multiple queues representing different job types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 a different algorithm for each queue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Fix processes to a queue, or move processes among queues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Need scheduling among the queues</a:t>
            </a:r>
          </a:p>
          <a:p>
            <a:pPr lvl="2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e.g., fixed priority preemptive scheduling (high-priority queue trumps other)</a:t>
            </a:r>
          </a:p>
          <a:p>
            <a:pPr lvl="2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e.g., time-slice between queues</a:t>
            </a:r>
          </a:p>
          <a:p>
            <a:pPr lvl="2"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7503276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97FDB-FE97-DD9B-6C2A-7B3B7549D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23B78327-B3E5-789C-37EF-410AA0ACE2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Multilevel Queue Scheduling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3EB4FB5-6B38-3605-0E78-3DE36D802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51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5E278F71-314C-5513-7D87-FEA9F489B7A1}"/>
              </a:ext>
            </a:extLst>
          </p:cNvPr>
          <p:cNvSpPr txBox="1">
            <a:spLocks noChangeArrowheads="1"/>
          </p:cNvSpPr>
          <p:nvPr/>
        </p:nvSpPr>
        <p:spPr>
          <a:xfrm>
            <a:off x="632149" y="1453242"/>
            <a:ext cx="10452617" cy="5404758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With priority scheduling, have separate queues for each priority.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Prioritization based upon process type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Schedule the process in the highest-priority queue!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Jobs on same queue use the same scheduling algorithm, typically RR</a:t>
            </a:r>
          </a:p>
        </p:txBody>
      </p:sp>
      <p:pic>
        <p:nvPicPr>
          <p:cNvPr id="54275" name="Picture 1">
            <a:extLst>
              <a:ext uri="{FF2B5EF4-FFF2-40B4-BE49-F238E27FC236}">
                <a16:creationId xmlns:a16="http://schemas.microsoft.com/office/drawing/2014/main" id="{4CDDD999-B594-2A9C-93B0-EFB4EFEF01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4512" y="3411666"/>
            <a:ext cx="2942425" cy="32524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323" name="Picture 3">
            <a:extLst>
              <a:ext uri="{FF2B5EF4-FFF2-40B4-BE49-F238E27FC236}">
                <a16:creationId xmlns:a16="http://schemas.microsoft.com/office/drawing/2014/main" id="{E45EDF43-47DE-4E7F-B77E-5ED79D91AC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062" y="3367030"/>
            <a:ext cx="5906537" cy="31422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8699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66202-9A74-4D8A-43BC-7C16531AC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8855D868-AACD-0340-424D-E2E73BBB9A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Multilevel Queue Scheduling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D0D2D41-4F1E-E4A5-F1F8-6CF3FEB40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52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8CBB399-4B2F-4A0A-618D-A5A3E40E1D4A}"/>
              </a:ext>
            </a:extLst>
          </p:cNvPr>
          <p:cNvSpPr txBox="1">
            <a:spLocks noChangeArrowheads="1"/>
          </p:cNvSpPr>
          <p:nvPr/>
        </p:nvSpPr>
        <p:spPr>
          <a:xfrm>
            <a:off x="632149" y="1453242"/>
            <a:ext cx="10452617" cy="5404758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Pros: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Low scheduling overhead</a:t>
            </a:r>
          </a:p>
          <a:p>
            <a:pPr lvl="2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Jobs do not move across queues</a:t>
            </a:r>
          </a:p>
          <a:p>
            <a:pPr algn="just"/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Cons: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Processes permanently assigned to one queue – not flexible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Program behavior may change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E.g., can switch between I/O bound and CPU bound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Need some learning/adaptation at runtime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Starvation cannot be easily handled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Need some learning/adaptation at running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9416208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B0FE9-ECAF-4DE9-2FFD-79CFDC672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B1F91951-75E3-0D78-317F-44145A4133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Multilevel Feedback Queue Scheduling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2FA19E-1BBB-E1A0-02FD-DE27438AE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 smtClean="0">
                <a:latin typeface="Calibri"/>
              </a:rPr>
              <a:pPr/>
              <a:t>53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BD80B958-7A19-BE6C-7030-B20803AD271D}"/>
              </a:ext>
            </a:extLst>
          </p:cNvPr>
          <p:cNvSpPr txBox="1">
            <a:spLocks noChangeArrowheads="1"/>
          </p:cNvSpPr>
          <p:nvPr/>
        </p:nvSpPr>
        <p:spPr>
          <a:xfrm>
            <a:off x="632150" y="1453242"/>
            <a:ext cx="10415295" cy="5088236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Goal # 1: Optimize job turnaround time for “batch” jobs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Shorter jobs run first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Why not SJF?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Goal # 2: Minimize response time for “interactive” jobs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Challenge: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 a priori knowledge of what type of job is, what the next burst is, etc.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Let a job tell us its “niceness” (priority)?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Idea: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Change a process’s priority based on how it behaves in the past (history “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feedback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”)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93647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2B67C-D9C3-DD23-4BD1-2DFB2C2C8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07922351-6313-486E-DE51-43AB47486E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>
                <a:latin typeface="Arial" panose="020B0604020202020204" pitchFamily="34" charset="0"/>
                <a:cs typeface="Arial" panose="020B0604020202020204" pitchFamily="34" charset="0"/>
              </a:rPr>
              <a:t>Multilevel Feedback Queue Scheduling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D6CE86E-EC40-5BA9-C9CA-EE1EBD4F6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 smtClean="0">
                <a:latin typeface="Calibri"/>
              </a:rPr>
              <a:pPr/>
              <a:t>54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BBB4BE40-2153-99D2-2827-D2B485D13FA6}"/>
              </a:ext>
            </a:extLst>
          </p:cNvPr>
          <p:cNvSpPr txBox="1">
            <a:spLocks noChangeArrowheads="1"/>
          </p:cNvSpPr>
          <p:nvPr/>
        </p:nvSpPr>
        <p:spPr>
          <a:xfrm>
            <a:off x="632150" y="1453242"/>
            <a:ext cx="10415295" cy="5088236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Job starts at high priority queue and can move between the various queues.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Feedback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If timeout expires, drop one level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If waiting too long, push up one level (aging)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Leave I/O bound and interactive processes in higher-priority queue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980384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A067A-0609-FF7A-CB9E-3D862E1EC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2C927C30-3D60-3E1C-4B42-181E3F45E7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>
                <a:latin typeface="Arial" panose="020B0604020202020204" pitchFamily="34" charset="0"/>
                <a:cs typeface="Arial" panose="020B0604020202020204" pitchFamily="34" charset="0"/>
              </a:rPr>
              <a:t>Multilevel Feedback Queue Scheduling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E60D9A9-57AB-C1AC-2F3D-0A595FFF2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 smtClean="0">
                <a:latin typeface="Calibri"/>
              </a:rPr>
              <a:pPr/>
              <a:t>55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60192A83-5EC5-C44E-C57E-00C1A37FDA12}"/>
              </a:ext>
            </a:extLst>
          </p:cNvPr>
          <p:cNvSpPr txBox="1">
            <a:spLocks noChangeArrowheads="1"/>
          </p:cNvSpPr>
          <p:nvPr/>
        </p:nvSpPr>
        <p:spPr>
          <a:xfrm>
            <a:off x="632150" y="1453242"/>
            <a:ext cx="10415295" cy="5088236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Three queues.</a:t>
            </a:r>
          </a:p>
          <a:p>
            <a:pPr lvl="1" algn="just"/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n-US" i="1" baseline="-25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– RR with time quantum 8 milliseconds</a:t>
            </a:r>
          </a:p>
          <a:p>
            <a:pPr lvl="1" algn="just"/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n-US" i="1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– RR time quantum 16 milliseconds</a:t>
            </a:r>
          </a:p>
          <a:p>
            <a:pPr lvl="1" algn="just"/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n-US" i="1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– FCFS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Scheduling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new process enters queue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n-US" i="1" baseline="-25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which is served in RR</a:t>
            </a:r>
          </a:p>
          <a:p>
            <a:pPr lvl="2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When it gains CPU, the process receives 8 milliseconds</a:t>
            </a:r>
          </a:p>
          <a:p>
            <a:pPr lvl="2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If it does not finish in 8 milliseconds, the process  is moved to queue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n-US" i="1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At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n-US" i="1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job is again served in RR and receives 16 additional milliseconds</a:t>
            </a:r>
          </a:p>
          <a:p>
            <a:pPr lvl="2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If it still does not complete, it is preempted and moved to queue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n-US" i="1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9395" name="Picture 1">
            <a:extLst>
              <a:ext uri="{FF2B5EF4-FFF2-40B4-BE49-F238E27FC236}">
                <a16:creationId xmlns:a16="http://schemas.microsoft.com/office/drawing/2014/main" id="{5537B728-4BCA-7363-8D91-4188C06036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5520" y="1684707"/>
            <a:ext cx="3344406" cy="2031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0823201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6DBEA-2659-C362-E428-E5927B443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28895004-FA8E-C24E-595A-1BE9873357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Multiprocessor Scheduling Issues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895C13C-E2E4-C054-8BEC-82455AC0F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56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4C0FAE94-9395-C805-65DF-66A5DAAB4B24}"/>
              </a:ext>
            </a:extLst>
          </p:cNvPr>
          <p:cNvSpPr txBox="1">
            <a:spLocks noChangeArrowheads="1"/>
          </p:cNvSpPr>
          <p:nvPr/>
        </p:nvSpPr>
        <p:spPr>
          <a:xfrm>
            <a:off x="632149" y="1453242"/>
            <a:ext cx="10340651" cy="5220456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Must decide on more than which processes to run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Must decide on which CPU to run which process</a:t>
            </a:r>
          </a:p>
          <a:p>
            <a:pPr lvl="1" algn="just"/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Moving between CPUs has costs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More cache misses, depending on architecture, more TLB misses too</a:t>
            </a:r>
          </a:p>
          <a:p>
            <a:pPr algn="just"/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Affinity scheduling: Try to keep process/thread on same CPU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But also prevent load imbalances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Do cost-benefit analysis when deciding to migrate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Affinity can also be harmful, particularly when tail latency is critical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21C3D1-E60E-6988-EEE0-0167A9A874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9375" y="5074408"/>
            <a:ext cx="6088223" cy="178359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266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BADDB-1ECC-4852-BF4D-2A650AC2F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8D6DA7EF-9F85-6F20-DFC3-A082DED7FC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Multiprocessor Scheduling Issues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16A91F-9553-D009-87A0-60965A432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57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E844AFD4-32CC-F741-9E27-FD6364A20FC5}"/>
              </a:ext>
            </a:extLst>
          </p:cNvPr>
          <p:cNvSpPr txBox="1">
            <a:spLocks noChangeArrowheads="1"/>
          </p:cNvSpPr>
          <p:nvPr/>
        </p:nvSpPr>
        <p:spPr>
          <a:xfrm>
            <a:off x="632149" y="1453242"/>
            <a:ext cx="10340651" cy="5220456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Want related processes/threads scheduled together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Good if threads access same resources (e.g., cached files)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Even more important if threads communicate often, other must context switch to communicate</a:t>
            </a:r>
          </a:p>
          <a:p>
            <a:pPr lvl="1"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Gang scheduling – schedule all CPUs synchronously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Threads of same process will run together on multiprocessor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Processes of the same application run together on cluster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With synchronized quanta, easier to schedule related processes/threads together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097D15-8E46-C09D-E1A6-0A49089100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4844" y="4746221"/>
            <a:ext cx="5610272" cy="207445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8737223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28363-3AC2-814C-CBB2-4273A508D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1FE867E8-78C4-D4B7-83CB-F298BFACB2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Algorithm Evaluation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944D51F-BF6C-9B6D-97BA-E4D2FFA46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58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856E2582-BE6D-119C-35A8-90A10FD960E2}"/>
              </a:ext>
            </a:extLst>
          </p:cNvPr>
          <p:cNvSpPr txBox="1">
            <a:spLocks noChangeArrowheads="1"/>
          </p:cNvSpPr>
          <p:nvPr/>
        </p:nvSpPr>
        <p:spPr>
          <a:xfrm>
            <a:off x="632149" y="1453242"/>
            <a:ext cx="10452617" cy="5220456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How to select CPU-scheduling algorithm for an OS?</a:t>
            </a:r>
          </a:p>
          <a:p>
            <a:pPr algn="just"/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Determine criteria, then evaluate algorithms</a:t>
            </a:r>
          </a:p>
          <a:p>
            <a:pPr algn="just"/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Deterministic modeling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Type of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analytic evaluation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Takes a particular predetermined workload and defines the performance of each algorithm  for that workload</a:t>
            </a:r>
          </a:p>
          <a:p>
            <a:pPr lvl="1" algn="just"/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Consider 5 processes arriving at time 0:</a:t>
            </a:r>
          </a:p>
        </p:txBody>
      </p:sp>
      <p:pic>
        <p:nvPicPr>
          <p:cNvPr id="130051" name="Picture 1" descr="Screen Shot 2012-12-17 at 9.44.14 PM.png">
            <a:extLst>
              <a:ext uri="{FF2B5EF4-FFF2-40B4-BE49-F238E27FC236}">
                <a16:creationId xmlns:a16="http://schemas.microsoft.com/office/drawing/2014/main" id="{1186B308-DDF2-452D-A47E-6EF7019C0B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3403" y="4761547"/>
            <a:ext cx="2043846" cy="19121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663073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89458-5E28-C8A8-1810-E8048DFD3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B1635A55-1FDF-7AC9-5BC0-1B92A8E314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Deterministic Evaluation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A6A4370-79FB-5887-83CC-4D9648642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59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2B29F2C7-CBC1-8F93-4D6D-7841BB8EAD61}"/>
              </a:ext>
            </a:extLst>
          </p:cNvPr>
          <p:cNvSpPr txBox="1">
            <a:spLocks noChangeArrowheads="1"/>
          </p:cNvSpPr>
          <p:nvPr/>
        </p:nvSpPr>
        <p:spPr>
          <a:xfrm>
            <a:off x="632149" y="1453242"/>
            <a:ext cx="10452617" cy="5220456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For each algorithm, calculate minimum average waiting time</a:t>
            </a:r>
          </a:p>
          <a:p>
            <a:pPr algn="just"/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Simple and fast, but requires exact # for input, applies only to those inputs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FCS is 28ms:</a:t>
            </a:r>
          </a:p>
          <a:p>
            <a:pPr lvl="1"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Non-preemptive SFJ is 13ms:</a:t>
            </a:r>
          </a:p>
          <a:p>
            <a:pPr lvl="1"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RR is 23ms:</a:t>
            </a:r>
          </a:p>
        </p:txBody>
      </p:sp>
      <p:pic>
        <p:nvPicPr>
          <p:cNvPr id="132099" name="Picture 2" descr="Screen Shot 2012-12-17 at 9.47.12 PM.png">
            <a:extLst>
              <a:ext uri="{FF2B5EF4-FFF2-40B4-BE49-F238E27FC236}">
                <a16:creationId xmlns:a16="http://schemas.microsoft.com/office/drawing/2014/main" id="{C2223750-756E-1B99-273C-BADF2C6C6E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9620" y="2996146"/>
            <a:ext cx="4904827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2100" name="Picture 3" descr="Screen Shot 2012-12-17 at 9.47.18 PM.png">
            <a:extLst>
              <a:ext uri="{FF2B5EF4-FFF2-40B4-BE49-F238E27FC236}">
                <a16:creationId xmlns:a16="http://schemas.microsoft.com/office/drawing/2014/main" id="{669130D7-0C1A-BCDE-F4EC-D3C26034DA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9620" y="4458618"/>
            <a:ext cx="4901184" cy="837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2101" name="Picture 4" descr="Screen Shot 2012-12-17 at 9.47.24 PM.png">
            <a:extLst>
              <a:ext uri="{FF2B5EF4-FFF2-40B4-BE49-F238E27FC236}">
                <a16:creationId xmlns:a16="http://schemas.microsoft.com/office/drawing/2014/main" id="{E7D12001-EA72-7D24-BA1D-0D909F11D16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9620" y="5843998"/>
            <a:ext cx="4901184" cy="82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3656270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6D9A6-F343-95D7-C619-E8536E59A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A74EC018-0848-43B1-A183-41DAEF4E1F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Queueing Model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F13248-A6AF-8F5C-27F4-8DCC209B1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60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4E0A0D0A-2A05-313B-0F62-B8C5F66D2BD9}"/>
              </a:ext>
            </a:extLst>
          </p:cNvPr>
          <p:cNvSpPr txBox="1">
            <a:spLocks noChangeArrowheads="1"/>
          </p:cNvSpPr>
          <p:nvPr/>
        </p:nvSpPr>
        <p:spPr>
          <a:xfrm>
            <a:off x="632149" y="1453242"/>
            <a:ext cx="10340651" cy="5220456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Describes the arrival of processes, and CPU and I/O bursts probabilistically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Commonly exponential, and described by mean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Computes average throughput, utilization, waiting time, etc.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Computer system described as network of servers, each with queue of waiting processes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Knowing arrival rates and service rates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Computes utilization, average queue length, average wait time, etc.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2749425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15309-F70E-A1C8-206C-C1245E287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0D7C4927-1A1F-0567-6A97-0F4F3A6E18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Little’s Formula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A9F3B28-EA7A-E6D6-2067-2EDF12D22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61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22C0C63C-9D41-F182-11FD-A6B5EA084A35}"/>
              </a:ext>
            </a:extLst>
          </p:cNvPr>
          <p:cNvSpPr txBox="1">
            <a:spLocks noChangeArrowheads="1"/>
          </p:cNvSpPr>
          <p:nvPr/>
        </p:nvSpPr>
        <p:spPr>
          <a:xfrm>
            <a:off x="632149" y="1453242"/>
            <a:ext cx="10340651" cy="5220456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 = average queue length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 = average waiting time in queue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λ = average arrival rate into queue</a:t>
            </a:r>
          </a:p>
          <a:p>
            <a:pPr algn="just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Little’s law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– in steady state, processes leaving queue must equal processes arriving, thus: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 = </a:t>
            </a:r>
            <a:r>
              <a:rPr lang="el-GR" dirty="0">
                <a:latin typeface="Arial" panose="020B0604020202020204" pitchFamily="34" charset="0"/>
                <a:cs typeface="Arial" panose="020B0604020202020204" pitchFamily="34" charset="0"/>
              </a:rPr>
              <a:t>λ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x W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Valid for any scheduling algorithm and arrival distribution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For example, if on average 7 processes arrive per second, and normally 14 processes in queue, then average wait time per process = 2 seconds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6631385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C5C5E-660D-E55E-826F-20A89BDB0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83B1D4B7-2629-6796-A479-4D394C2EFD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Simulations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551D23D-E78F-1C50-6051-2B632B5EC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62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6FC17FEC-C4DF-5C89-DAFA-5E245ABB85FC}"/>
              </a:ext>
            </a:extLst>
          </p:cNvPr>
          <p:cNvSpPr txBox="1">
            <a:spLocks noChangeArrowheads="1"/>
          </p:cNvSpPr>
          <p:nvPr/>
        </p:nvSpPr>
        <p:spPr>
          <a:xfrm>
            <a:off x="632149" y="1453242"/>
            <a:ext cx="10340651" cy="5220456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Queueing models limited</a:t>
            </a:r>
          </a:p>
          <a:p>
            <a:pPr algn="just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Simulations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more accurate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Programmed model of computer system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Clock is a variable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Gather statistics  indicating algorithm performance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Data to drive simulation gathered via</a:t>
            </a:r>
          </a:p>
          <a:p>
            <a:pPr lvl="2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Random number generator according to probabilities</a:t>
            </a:r>
          </a:p>
          <a:p>
            <a:pPr lvl="2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Distributions defined mathematically or empirically</a:t>
            </a:r>
          </a:p>
          <a:p>
            <a:pPr lvl="2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Trace tapes record sequences of real events in real systems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2690993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827FB-023B-270B-B9D9-0C86BCF85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C8961487-D7B1-4749-EDFE-63AE405A36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Evaluation of CPU Schedulers by Simulations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15EA4DF-E601-2AF7-C98A-82542E7FE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63</a:t>
            </a:fld>
            <a:endParaRPr lang="en-US">
              <a:latin typeface="Calibri"/>
            </a:endParaRPr>
          </a:p>
        </p:txBody>
      </p:sp>
      <p:pic>
        <p:nvPicPr>
          <p:cNvPr id="137218" name="Picture 1">
            <a:extLst>
              <a:ext uri="{FF2B5EF4-FFF2-40B4-BE49-F238E27FC236}">
                <a16:creationId xmlns:a16="http://schemas.microsoft.com/office/drawing/2014/main" id="{AD0A361C-0911-4B85-9766-5E4140F2E0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1082" y="1766758"/>
            <a:ext cx="7028272" cy="43800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9214324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89131-C90B-E8CF-D521-471C5A82C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63B43F82-B789-CCFF-EB16-26E39664E6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Implementation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9B2FD84-D9E1-EAB5-D908-2B9CE0E14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64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2F1DC606-B8FC-980E-754C-9F5D23772CC8}"/>
              </a:ext>
            </a:extLst>
          </p:cNvPr>
          <p:cNvSpPr txBox="1">
            <a:spLocks noChangeArrowheads="1"/>
          </p:cNvSpPr>
          <p:nvPr/>
        </p:nvSpPr>
        <p:spPr>
          <a:xfrm>
            <a:off x="632149" y="1453242"/>
            <a:ext cx="10340651" cy="5220456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Even simulations have limited accuracy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Just implement new scheduler and test in real systems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High cost, high risk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Environments vary</a:t>
            </a:r>
          </a:p>
          <a:p>
            <a:pPr lvl="1"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Most flexible schedulers can be modified per-site or per-system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Or APIs to modify priorities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But again, environments vary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9877809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E7867-9DAD-B209-6CDE-3593F999D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3364AB0F-D293-28B0-CDE5-259BD44DAA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Scheduling Algorithms in OSes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EA7E2BC-B8B6-A8A9-6D3E-4C2BA0B80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65</a:t>
            </a:fld>
            <a:endParaRPr lang="en-US">
              <a:latin typeface="Calibri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924077E-4F76-117B-5394-F34921E54B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9213894"/>
              </p:ext>
            </p:extLst>
          </p:nvPr>
        </p:nvGraphicFramePr>
        <p:xfrm>
          <a:off x="764620" y="1162906"/>
          <a:ext cx="10133535" cy="5684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7845">
                  <a:extLst>
                    <a:ext uri="{9D8B030D-6E8A-4147-A177-3AD203B41FA5}">
                      <a16:colId xmlns:a16="http://schemas.microsoft.com/office/drawing/2014/main" val="2610022510"/>
                    </a:ext>
                  </a:extLst>
                </a:gridCol>
                <a:gridCol w="1474564">
                  <a:extLst>
                    <a:ext uri="{9D8B030D-6E8A-4147-A177-3AD203B41FA5}">
                      <a16:colId xmlns:a16="http://schemas.microsoft.com/office/drawing/2014/main" val="869751630"/>
                    </a:ext>
                  </a:extLst>
                </a:gridCol>
                <a:gridCol w="5281126">
                  <a:extLst>
                    <a:ext uri="{9D8B030D-6E8A-4147-A177-3AD203B41FA5}">
                      <a16:colId xmlns:a16="http://schemas.microsoft.com/office/drawing/2014/main" val="808046865"/>
                    </a:ext>
                  </a:extLst>
                </a:gridCol>
              </a:tblGrid>
              <a:tr h="412963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Operating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Preemption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Algorithm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1945272"/>
                  </a:ext>
                </a:extLst>
              </a:tr>
              <a:tr h="412963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Windows 3.1x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Cooperative Scheduler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1318014"/>
                  </a:ext>
                </a:extLst>
              </a:tr>
              <a:tr h="412963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Windows 95, 98, 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Half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Preemptive for 32-bit processes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Cooperative Scheduler for 16-bit processes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9091898"/>
                  </a:ext>
                </a:extLst>
              </a:tr>
              <a:tr h="412963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Windows NT (2000, XP, Vista, 7, and Server)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Multilevel feedback queue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0185735"/>
                  </a:ext>
                </a:extLst>
              </a:tr>
              <a:tr h="412963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Mac OS pre-9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Cooperative Scheduler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1102905"/>
                  </a:ext>
                </a:extLst>
              </a:tr>
              <a:tr h="412963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Mac OS 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Preemptive for MP tasks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Cooperative Scheduler for processes and threads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959837"/>
                  </a:ext>
                </a:extLst>
              </a:tr>
              <a:tr h="412963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Mac OS 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Multilevel feedback queue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034819"/>
                  </a:ext>
                </a:extLst>
              </a:tr>
              <a:tr h="412963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Linux pre-2.6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F2B2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Yes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Multilevel feedback queue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1826327"/>
                  </a:ext>
                </a:extLst>
              </a:tr>
              <a:tr h="412963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Linux 2.6-2.6.23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F2B2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Yes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O(1) Scheduler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6152252"/>
                  </a:ext>
                </a:extLst>
              </a:tr>
              <a:tr h="412963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Linux post-2.6.23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F2B2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Yes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Completely Fair Scheduler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5014524"/>
                  </a:ext>
                </a:extLst>
              </a:tr>
              <a:tr h="412963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Solaris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F2B2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Yes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Multilevel feedback queue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3266388"/>
                  </a:ext>
                </a:extLst>
              </a:tr>
              <a:tr h="412963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NetBSD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F2B2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Yes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Multilevel feedback queue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3624140"/>
                  </a:ext>
                </a:extLst>
              </a:tr>
              <a:tr h="412963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FreeBSD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F2B2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Yes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Multilevel feedback queue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0016715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84996005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Adjacency">
  <a:themeElements>
    <a:clrScheme name="Adjacency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37917</TotalTime>
  <Words>4442</Words>
  <Application>Microsoft Office PowerPoint</Application>
  <PresentationFormat>Widescreen</PresentationFormat>
  <Paragraphs>1284</Paragraphs>
  <Slides>65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75" baseType="lpstr">
      <vt:lpstr>Arial</vt:lpstr>
      <vt:lpstr>Calibri</vt:lpstr>
      <vt:lpstr>Calibri Light</vt:lpstr>
      <vt:lpstr>Cambria</vt:lpstr>
      <vt:lpstr>Cambria Math</vt:lpstr>
      <vt:lpstr>Helvetica</vt:lpstr>
      <vt:lpstr>Times New Roman</vt:lpstr>
      <vt:lpstr>Office Theme</vt:lpstr>
      <vt:lpstr>Adjacency</vt:lpstr>
      <vt:lpstr>Equation</vt:lpstr>
      <vt:lpstr>CSC 323 – Principles of Operating Systems</vt:lpstr>
      <vt:lpstr>Recap: Processes, Threads</vt:lpstr>
      <vt:lpstr>Scheduling Overview</vt:lpstr>
      <vt:lpstr>Challenges in Policy</vt:lpstr>
      <vt:lpstr>Scheduling Goal</vt:lpstr>
      <vt:lpstr>Scheduling “Non-goal”: Starvation</vt:lpstr>
      <vt:lpstr>Types of Schedulers</vt:lpstr>
      <vt:lpstr>Types of Schedulers</vt:lpstr>
      <vt:lpstr>Scheduling Criteria</vt:lpstr>
      <vt:lpstr>Scheduling Criteria</vt:lpstr>
      <vt:lpstr>What Criteria Should We Use?</vt:lpstr>
      <vt:lpstr>When Do We Schedule CPU?</vt:lpstr>
      <vt:lpstr>Non-preemptive Scheduling</vt:lpstr>
      <vt:lpstr>Preemptive Scheduling</vt:lpstr>
      <vt:lpstr>Preemptive Scheduling</vt:lpstr>
      <vt:lpstr>Scheduling Policies</vt:lpstr>
      <vt:lpstr>Scheduling Algorithms</vt:lpstr>
      <vt:lpstr>FCFS Scheduling Policy</vt:lpstr>
      <vt:lpstr>FCFS Scheduling Policy</vt:lpstr>
      <vt:lpstr>Class Exercise: FCFS with Arrival Time</vt:lpstr>
      <vt:lpstr>Class Exercise: FCFS</vt:lpstr>
      <vt:lpstr>Class Exercise: FCFS with Arrival Time</vt:lpstr>
      <vt:lpstr>Class Exercise: FCFS with IO Burst Time</vt:lpstr>
      <vt:lpstr>Class Exercise: FCFS with IO Burst</vt:lpstr>
      <vt:lpstr>Comments on FCFS</vt:lpstr>
      <vt:lpstr>Shortest Job First (SJF) Scheduling Policy</vt:lpstr>
      <vt:lpstr>SJF Scheduling Policy</vt:lpstr>
      <vt:lpstr>Class Exercise: SJF Scheduling Policy</vt:lpstr>
      <vt:lpstr>Class Exercise: SJF with Arrival Time</vt:lpstr>
      <vt:lpstr>SJF with Predicted Time</vt:lpstr>
      <vt:lpstr>Determining Length of Next CPU Burst</vt:lpstr>
      <vt:lpstr>Predicting Length of the Next CPU Burst</vt:lpstr>
      <vt:lpstr>Priority Scheduling Policy</vt:lpstr>
      <vt:lpstr>Priority Scheduling Policy</vt:lpstr>
      <vt:lpstr>SRTF Scheduling Policy</vt:lpstr>
      <vt:lpstr>SRTF Scheduling Policy</vt:lpstr>
      <vt:lpstr>Class Exercise: SRTF Scheduling Policy</vt:lpstr>
      <vt:lpstr>Preemptive Priority Scheduling</vt:lpstr>
      <vt:lpstr>Priority Scheduling Policy</vt:lpstr>
      <vt:lpstr>Preemptive Priority Scheduling</vt:lpstr>
      <vt:lpstr>Round Robin (RR) Scheduling Policy</vt:lpstr>
      <vt:lpstr>RR Scheduling Policy</vt:lpstr>
      <vt:lpstr>Class Exercise: RR Scheduling Policy</vt:lpstr>
      <vt:lpstr>Class Exercise: RR Scheduling Policy</vt:lpstr>
      <vt:lpstr>RR Scheduling Policy</vt:lpstr>
      <vt:lpstr>RR Scheduling Policy</vt:lpstr>
      <vt:lpstr>RR Scheduling Policy: Important Notes</vt:lpstr>
      <vt:lpstr>Turnaround Time Varies With Time Quantum</vt:lpstr>
      <vt:lpstr>Priority Scheduling Policy with Round Robin</vt:lpstr>
      <vt:lpstr>Combining Algorithms</vt:lpstr>
      <vt:lpstr>Multilevel Queue Scheduling</vt:lpstr>
      <vt:lpstr>Multilevel Queue Scheduling</vt:lpstr>
      <vt:lpstr>Multilevel Feedback Queue Scheduling</vt:lpstr>
      <vt:lpstr>Multilevel Feedback Queue Scheduling</vt:lpstr>
      <vt:lpstr>Multilevel Feedback Queue Scheduling</vt:lpstr>
      <vt:lpstr>Multiprocessor Scheduling Issues</vt:lpstr>
      <vt:lpstr>Multiprocessor Scheduling Issues</vt:lpstr>
      <vt:lpstr>Algorithm Evaluation</vt:lpstr>
      <vt:lpstr>Deterministic Evaluation</vt:lpstr>
      <vt:lpstr>Queueing Model</vt:lpstr>
      <vt:lpstr>Little’s Formula</vt:lpstr>
      <vt:lpstr>Simulations</vt:lpstr>
      <vt:lpstr>Evaluation of CPU Schedulers by Simulations</vt:lpstr>
      <vt:lpstr>Implementation</vt:lpstr>
      <vt:lpstr>Scheduling Algorithms in OSes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 323 – Principles of Operating Systems</dc:title>
  <dc:creator>Mamoona Tasadduq</dc:creator>
  <cp:lastModifiedBy>Mamoona Tasadduq</cp:lastModifiedBy>
  <cp:revision>168</cp:revision>
  <dcterms:created xsi:type="dcterms:W3CDTF">2020-06-08T03:46:58Z</dcterms:created>
  <dcterms:modified xsi:type="dcterms:W3CDTF">2025-09-07T05:32:03Z</dcterms:modified>
</cp:coreProperties>
</file>