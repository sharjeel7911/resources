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67" r:id="rId2"/>
    <p:sldId id="826" r:id="rId3"/>
    <p:sldId id="915" r:id="rId4"/>
    <p:sldId id="938" r:id="rId5"/>
    <p:sldId id="939" r:id="rId6"/>
    <p:sldId id="848" r:id="rId7"/>
    <p:sldId id="931" r:id="rId8"/>
    <p:sldId id="857" r:id="rId9"/>
    <p:sldId id="797" r:id="rId10"/>
    <p:sldId id="932" r:id="rId11"/>
    <p:sldId id="802" r:id="rId12"/>
    <p:sldId id="752" r:id="rId13"/>
    <p:sldId id="940" r:id="rId14"/>
    <p:sldId id="803" r:id="rId15"/>
    <p:sldId id="729" r:id="rId16"/>
    <p:sldId id="941" r:id="rId17"/>
    <p:sldId id="820" r:id="rId18"/>
    <p:sldId id="942" r:id="rId19"/>
    <p:sldId id="944" r:id="rId20"/>
    <p:sldId id="943" r:id="rId21"/>
    <p:sldId id="945" r:id="rId22"/>
    <p:sldId id="880" r:id="rId23"/>
    <p:sldId id="687" r:id="rId24"/>
    <p:sldId id="946" r:id="rId25"/>
    <p:sldId id="787" r:id="rId26"/>
    <p:sldId id="885" r:id="rId27"/>
    <p:sldId id="886" r:id="rId28"/>
    <p:sldId id="930" r:id="rId29"/>
    <p:sldId id="933" r:id="rId30"/>
    <p:sldId id="937" r:id="rId31"/>
    <p:sldId id="947" r:id="rId32"/>
    <p:sldId id="948" r:id="rId33"/>
    <p:sldId id="949" r:id="rId34"/>
    <p:sldId id="888" r:id="rId35"/>
    <p:sldId id="892" r:id="rId36"/>
    <p:sldId id="951" r:id="rId37"/>
    <p:sldId id="950" r:id="rId38"/>
    <p:sldId id="934" r:id="rId39"/>
    <p:sldId id="935" r:id="rId40"/>
    <p:sldId id="952" r:id="rId41"/>
    <p:sldId id="896" r:id="rId42"/>
    <p:sldId id="953" r:id="rId43"/>
    <p:sldId id="898" r:id="rId44"/>
    <p:sldId id="917" r:id="rId45"/>
    <p:sldId id="93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FFCCCC"/>
    <a:srgbClr val="FF00FF"/>
    <a:srgbClr val="FFCC66"/>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EE5B22-5B9F-45C2-BFAD-CB26028821E7}" v="24" dt="2024-12-12T17:45:58.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4" autoAdjust="0"/>
    <p:restoredTop sz="93548" autoAdjust="0"/>
  </p:normalViewPr>
  <p:slideViewPr>
    <p:cSldViewPr snapToGrid="0">
      <p:cViewPr varScale="1">
        <p:scale>
          <a:sx n="65" d="100"/>
          <a:sy n="65" d="100"/>
        </p:scale>
        <p:origin x="53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EEE5B22-5B9F-45C2-BFAD-CB26028821E7}"/>
    <pc:docChg chg="custSel modSld">
      <pc:chgData name="Hasan Jamal" userId="6724a5da2ffd1b8f" providerId="LiveId" clId="{DEEE5B22-5B9F-45C2-BFAD-CB26028821E7}" dt="2024-12-12T17:45:58.912" v="55"/>
      <pc:docMkLst>
        <pc:docMk/>
      </pc:docMkLst>
      <pc:sldChg chg="modAnim">
        <pc:chgData name="Hasan Jamal" userId="6724a5da2ffd1b8f" providerId="LiveId" clId="{DEEE5B22-5B9F-45C2-BFAD-CB26028821E7}" dt="2024-12-12T17:28:29.738" v="27"/>
        <pc:sldMkLst>
          <pc:docMk/>
          <pc:sldMk cId="2321442274" sldId="802"/>
        </pc:sldMkLst>
      </pc:sldChg>
      <pc:sldChg chg="modAnim">
        <pc:chgData name="Hasan Jamal" userId="6724a5da2ffd1b8f" providerId="LiveId" clId="{DEEE5B22-5B9F-45C2-BFAD-CB26028821E7}" dt="2024-12-12T17:25:48.241" v="26"/>
        <pc:sldMkLst>
          <pc:docMk/>
          <pc:sldMk cId="3563319441" sldId="857"/>
        </pc:sldMkLst>
      </pc:sldChg>
      <pc:sldChg chg="modAnim">
        <pc:chgData name="Hasan Jamal" userId="6724a5da2ffd1b8f" providerId="LiveId" clId="{DEEE5B22-5B9F-45C2-BFAD-CB26028821E7}" dt="2024-12-12T17:36:23.708" v="32"/>
        <pc:sldMkLst>
          <pc:docMk/>
          <pc:sldMk cId="1069100069" sldId="886"/>
        </pc:sldMkLst>
      </pc:sldChg>
      <pc:sldChg chg="modAnim">
        <pc:chgData name="Hasan Jamal" userId="6724a5da2ffd1b8f" providerId="LiveId" clId="{DEEE5B22-5B9F-45C2-BFAD-CB26028821E7}" dt="2024-12-12T17:39:56.612" v="39"/>
        <pc:sldMkLst>
          <pc:docMk/>
          <pc:sldMk cId="1070282757" sldId="888"/>
        </pc:sldMkLst>
      </pc:sldChg>
      <pc:sldChg chg="modSp mod">
        <pc:chgData name="Hasan Jamal" userId="6724a5da2ffd1b8f" providerId="LiveId" clId="{DEEE5B22-5B9F-45C2-BFAD-CB26028821E7}" dt="2024-12-12T17:22:05.762" v="25" actId="14100"/>
        <pc:sldMkLst>
          <pc:docMk/>
          <pc:sldMk cId="698778223" sldId="915"/>
        </pc:sldMkLst>
        <pc:spChg chg="mod">
          <ac:chgData name="Hasan Jamal" userId="6724a5da2ffd1b8f" providerId="LiveId" clId="{DEEE5B22-5B9F-45C2-BFAD-CB26028821E7}" dt="2024-12-12T17:21:48.962" v="20" actId="6549"/>
          <ac:spMkLst>
            <pc:docMk/>
            <pc:sldMk cId="698778223" sldId="915"/>
            <ac:spMk id="12" creationId="{8DF92DA3-435A-FB6C-F8E1-22B306AA8664}"/>
          </ac:spMkLst>
        </pc:spChg>
        <pc:picChg chg="mod">
          <ac:chgData name="Hasan Jamal" userId="6724a5da2ffd1b8f" providerId="LiveId" clId="{DEEE5B22-5B9F-45C2-BFAD-CB26028821E7}" dt="2024-12-12T17:22:05.762" v="25" actId="14100"/>
          <ac:picMkLst>
            <pc:docMk/>
            <pc:sldMk cId="698778223" sldId="915"/>
            <ac:picMk id="10243" creationId="{75959D58-FD0D-4362-987B-001456C2BABA}"/>
          </ac:picMkLst>
        </pc:picChg>
      </pc:sldChg>
      <pc:sldChg chg="modSp mod modAnim">
        <pc:chgData name="Hasan Jamal" userId="6724a5da2ffd1b8f" providerId="LiveId" clId="{DEEE5B22-5B9F-45C2-BFAD-CB26028821E7}" dt="2024-12-12T17:45:46.160" v="53" actId="255"/>
        <pc:sldMkLst>
          <pc:docMk/>
          <pc:sldMk cId="2047782325" sldId="917"/>
        </pc:sldMkLst>
        <pc:spChg chg="mod">
          <ac:chgData name="Hasan Jamal" userId="6724a5da2ffd1b8f" providerId="LiveId" clId="{DEEE5B22-5B9F-45C2-BFAD-CB26028821E7}" dt="2024-12-12T17:45:46.160" v="53" actId="255"/>
          <ac:spMkLst>
            <pc:docMk/>
            <pc:sldMk cId="2047782325" sldId="917"/>
            <ac:spMk id="12" creationId="{EA01FA52-BE8E-E5F4-DE8F-0DF3464D7CC1}"/>
          </ac:spMkLst>
        </pc:spChg>
      </pc:sldChg>
      <pc:sldChg chg="modAnim">
        <pc:chgData name="Hasan Jamal" userId="6724a5da2ffd1b8f" providerId="LiveId" clId="{DEEE5B22-5B9F-45C2-BFAD-CB26028821E7}" dt="2024-12-12T17:37:02.429" v="35"/>
        <pc:sldMkLst>
          <pc:docMk/>
          <pc:sldMk cId="3215163416" sldId="933"/>
        </pc:sldMkLst>
      </pc:sldChg>
      <pc:sldChg chg="modSp mod modAnim">
        <pc:chgData name="Hasan Jamal" userId="6724a5da2ffd1b8f" providerId="LiveId" clId="{DEEE5B22-5B9F-45C2-BFAD-CB26028821E7}" dt="2024-12-12T17:45:58.912" v="55"/>
        <pc:sldMkLst>
          <pc:docMk/>
          <pc:sldMk cId="2176008468" sldId="936"/>
        </pc:sldMkLst>
        <pc:spChg chg="mod">
          <ac:chgData name="Hasan Jamal" userId="6724a5da2ffd1b8f" providerId="LiveId" clId="{DEEE5B22-5B9F-45C2-BFAD-CB26028821E7}" dt="2024-12-12T17:45:39.439" v="52" actId="255"/>
          <ac:spMkLst>
            <pc:docMk/>
            <pc:sldMk cId="2176008468" sldId="936"/>
            <ac:spMk id="12" creationId="{ED550128-0349-0CEC-AB1A-43E96F585D1B}"/>
          </ac:spMkLst>
        </pc:spChg>
      </pc:sldChg>
      <pc:sldChg chg="modAnim">
        <pc:chgData name="Hasan Jamal" userId="6724a5da2ffd1b8f" providerId="LiveId" clId="{DEEE5B22-5B9F-45C2-BFAD-CB26028821E7}" dt="2024-12-12T17:37:29.168" v="38"/>
        <pc:sldMkLst>
          <pc:docMk/>
          <pc:sldMk cId="1816205061" sldId="937"/>
        </pc:sldMkLst>
      </pc:sldChg>
      <pc:sldChg chg="modSp mod">
        <pc:chgData name="Hasan Jamal" userId="6724a5da2ffd1b8f" providerId="LiveId" clId="{DEEE5B22-5B9F-45C2-BFAD-CB26028821E7}" dt="2024-12-12T17:21:32.458" v="19" actId="20577"/>
        <pc:sldMkLst>
          <pc:docMk/>
          <pc:sldMk cId="2190545110" sldId="938"/>
        </pc:sldMkLst>
        <pc:spChg chg="mod">
          <ac:chgData name="Hasan Jamal" userId="6724a5da2ffd1b8f" providerId="LiveId" clId="{DEEE5B22-5B9F-45C2-BFAD-CB26028821E7}" dt="2024-12-12T17:21:32.458" v="19" actId="20577"/>
          <ac:spMkLst>
            <pc:docMk/>
            <pc:sldMk cId="2190545110" sldId="938"/>
            <ac:spMk id="12" creationId="{E576BA18-178A-D172-A1B5-C35174D4DC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8/21/2025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323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a:t>
            </a:r>
            <a:r>
              <a:rPr lang="en-US" sz="2800" b="1" spc="-100">
                <a:solidFill>
                  <a:srgbClr val="675E47"/>
                </a:solidFill>
                <a:latin typeface="Cambria"/>
              </a:rPr>
              <a:t>Mamoona Tasadduq</a:t>
            </a:r>
          </a:p>
          <a:p>
            <a:pPr algn="ctr">
              <a:buClr>
                <a:srgbClr val="A9A57C"/>
              </a:buClr>
            </a:pPr>
            <a:r>
              <a:rPr lang="en-US" sz="2800" b="1" spc="-100">
                <a:solidFill>
                  <a:srgbClr val="675E47"/>
                </a:solidFill>
                <a:latin typeface="Cambria"/>
              </a:rPr>
              <a:t>Lecture</a:t>
            </a:r>
            <a:r>
              <a:rPr lang="en-US" sz="2800" b="1" spc="-100" dirty="0">
                <a:solidFill>
                  <a:srgbClr val="675E47"/>
                </a:solidFill>
                <a:latin typeface="Cambria"/>
              </a:rPr>
              <a:t># 10: Virtual Memory</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2F1F-7A40-D006-295B-5A2BE8FD33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23C9BD-1079-6753-22F3-62B0364B396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Recap</a:t>
            </a:r>
          </a:p>
        </p:txBody>
      </p:sp>
      <p:sp>
        <p:nvSpPr>
          <p:cNvPr id="3" name="Slide Number Placeholder 2">
            <a:extLst>
              <a:ext uri="{FF2B5EF4-FFF2-40B4-BE49-F238E27FC236}">
                <a16:creationId xmlns:a16="http://schemas.microsoft.com/office/drawing/2014/main" id="{381F6D8C-EAB4-776E-9A21-BB974D24DC00}"/>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08FFD99-EBCA-DEB5-E371-B821B54A6358}"/>
              </a:ext>
            </a:extLst>
          </p:cNvPr>
          <p:cNvSpPr txBox="1">
            <a:spLocks noChangeArrowheads="1"/>
          </p:cNvSpPr>
          <p:nvPr/>
        </p:nvSpPr>
        <p:spPr>
          <a:xfrm>
            <a:off x="632150" y="1453240"/>
            <a:ext cx="10743567"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Code needs to be in memory to execute, but entire program rarely used</a:t>
            </a:r>
          </a:p>
          <a:p>
            <a:pPr lvl="1" algn="just"/>
            <a:r>
              <a:rPr lang="en-US" dirty="0">
                <a:latin typeface="Arial" panose="020B0604020202020204" pitchFamily="34" charset="0"/>
                <a:cs typeface="Arial" panose="020B0604020202020204" pitchFamily="34" charset="0"/>
              </a:rPr>
              <a:t>Error code, unusual routines, large data structures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Entire program code not needed at same time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Consider ability to execute partially-loaded program</a:t>
            </a:r>
          </a:p>
          <a:p>
            <a:pPr lvl="1" algn="just"/>
            <a:r>
              <a:rPr lang="en-US" dirty="0">
                <a:latin typeface="Arial" panose="020B0604020202020204" pitchFamily="34" charset="0"/>
                <a:cs typeface="Arial" panose="020B0604020202020204" pitchFamily="34" charset="0"/>
              </a:rPr>
              <a:t>Program no longer constrained by limits of physical memory</a:t>
            </a:r>
          </a:p>
          <a:p>
            <a:pPr lvl="1" algn="just"/>
            <a:r>
              <a:rPr lang="en-US" dirty="0">
                <a:latin typeface="Arial" panose="020B0604020202020204" pitchFamily="34" charset="0"/>
                <a:cs typeface="Arial" panose="020B0604020202020204" pitchFamily="34" charset="0"/>
              </a:rPr>
              <a:t>Each program takes less memory while running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more programs run concurrently</a:t>
            </a:r>
          </a:p>
          <a:p>
            <a:pPr lvl="2" algn="just"/>
            <a:r>
              <a:rPr lang="en-US" dirty="0">
                <a:latin typeface="Arial" panose="020B0604020202020204" pitchFamily="34" charset="0"/>
                <a:cs typeface="Arial" panose="020B0604020202020204" pitchFamily="34" charset="0"/>
              </a:rPr>
              <a:t>Increased CPU utilization &amp; throughput with no increase in response time or turnaround time</a:t>
            </a:r>
          </a:p>
          <a:p>
            <a:pPr lvl="1" algn="just"/>
            <a:r>
              <a:rPr lang="en-US" dirty="0">
                <a:latin typeface="Arial" panose="020B0604020202020204" pitchFamily="34" charset="0"/>
                <a:cs typeface="Arial" panose="020B0604020202020204" pitchFamily="34" charset="0"/>
              </a:rPr>
              <a:t>Less I/O needed to load/swap programs into memory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each user program runs faster</a:t>
            </a:r>
            <a:endParaRPr lang="en-US" b="1" dirty="0">
              <a:solidFill>
                <a:srgbClr val="FF0000"/>
              </a:solidFill>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31381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3663-0DC3-4A4B-9132-04A1CCDDC85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253EAFD-2BF9-B784-6FF3-C01F9360D23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 Memory</a:t>
            </a:r>
          </a:p>
        </p:txBody>
      </p:sp>
      <p:sp>
        <p:nvSpPr>
          <p:cNvPr id="3" name="Slide Number Placeholder 2">
            <a:extLst>
              <a:ext uri="{FF2B5EF4-FFF2-40B4-BE49-F238E27FC236}">
                <a16:creationId xmlns:a16="http://schemas.microsoft.com/office/drawing/2014/main" id="{EA31E86D-665C-ACC6-2BDE-16092A89B4FB}"/>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8DF92DA3-435A-FB6C-F8E1-22B306AA8664}"/>
              </a:ext>
            </a:extLst>
          </p:cNvPr>
          <p:cNvSpPr txBox="1">
            <a:spLocks noChangeArrowheads="1"/>
          </p:cNvSpPr>
          <p:nvPr/>
        </p:nvSpPr>
        <p:spPr>
          <a:xfrm>
            <a:off x="632153" y="1453240"/>
            <a:ext cx="10484082"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Separation of logical memory from physical memory</a:t>
            </a:r>
          </a:p>
          <a:p>
            <a:pPr lvl="1" algn="just"/>
            <a:r>
              <a:rPr lang="en-US" dirty="0">
                <a:latin typeface="Arial" panose="020B0604020202020204" pitchFamily="34" charset="0"/>
                <a:cs typeface="Arial" panose="020B0604020202020204" pitchFamily="34" charset="0"/>
              </a:rPr>
              <a:t>Only part of the program needs to be in memory for execution</a:t>
            </a:r>
          </a:p>
          <a:p>
            <a:pPr lvl="1" algn="just"/>
            <a:r>
              <a:rPr lang="en-US" dirty="0">
                <a:latin typeface="Arial" panose="020B0604020202020204" pitchFamily="34" charset="0"/>
                <a:cs typeface="Arial" panose="020B0604020202020204" pitchFamily="34" charset="0"/>
              </a:rPr>
              <a:t>Logical address space can therefore be much larger than physical address space</a:t>
            </a:r>
          </a:p>
          <a:p>
            <a:pPr lvl="1" algn="just"/>
            <a:r>
              <a:rPr lang="en-US" dirty="0">
                <a:latin typeface="Arial" panose="020B0604020202020204" pitchFamily="34" charset="0"/>
                <a:cs typeface="Arial" panose="020B0604020202020204" pitchFamily="34" charset="0"/>
              </a:rPr>
              <a:t>Allows address spaces to be shared by several processes</a:t>
            </a:r>
          </a:p>
          <a:p>
            <a:pPr lvl="1" algn="just"/>
            <a:r>
              <a:rPr lang="en-US" dirty="0">
                <a:latin typeface="Arial" panose="020B0604020202020204" pitchFamily="34" charset="0"/>
                <a:cs typeface="Arial" panose="020B0604020202020204" pitchFamily="34" charset="0"/>
              </a:rPr>
              <a:t>Allows for more efficient process creation</a:t>
            </a:r>
          </a:p>
          <a:p>
            <a:pPr lvl="1" algn="just"/>
            <a:r>
              <a:rPr lang="en-US" dirty="0">
                <a:latin typeface="Arial" panose="020B0604020202020204" pitchFamily="34" charset="0"/>
                <a:cs typeface="Arial" panose="020B0604020202020204" pitchFamily="34" charset="0"/>
              </a:rPr>
              <a:t>More programs running concurrently</a:t>
            </a:r>
          </a:p>
          <a:p>
            <a:pPr lvl="1" algn="just"/>
            <a:r>
              <a:rPr lang="en-US" dirty="0">
                <a:latin typeface="Arial" panose="020B0604020202020204" pitchFamily="34" charset="0"/>
                <a:cs typeface="Arial" panose="020B0604020202020204" pitchFamily="34" charset="0"/>
              </a:rPr>
              <a:t>Less I/O needed to load or swap processes</a:t>
            </a:r>
          </a:p>
          <a:p>
            <a:pPr algn="just"/>
            <a:endParaRPr lang="en-US" sz="1400" dirty="0">
              <a:latin typeface="Arial" panose="020B0604020202020204" pitchFamily="34" charset="0"/>
              <a:cs typeface="Arial" panose="020B0604020202020204" pitchFamily="34" charset="0"/>
            </a:endParaRPr>
          </a:p>
          <a:p>
            <a:pPr algn="just"/>
            <a:endParaRPr lang="en-US" sz="1400" dirty="0">
              <a:latin typeface="Arial" panose="020B0604020202020204" pitchFamily="34" charset="0"/>
              <a:cs typeface="Arial" panose="020B0604020202020204" pitchFamily="34" charset="0"/>
            </a:endParaRPr>
          </a:p>
          <a:p>
            <a:pPr algn="just"/>
            <a:endParaRPr lang="en-US" sz="1400" dirty="0">
              <a:latin typeface="Arial" panose="020B0604020202020204" pitchFamily="34" charset="0"/>
              <a:cs typeface="Arial" panose="020B0604020202020204" pitchFamily="34" charset="0"/>
            </a:endParaRPr>
          </a:p>
        </p:txBody>
      </p:sp>
      <p:pic>
        <p:nvPicPr>
          <p:cNvPr id="10243" name="Picture 4" descr="B:\os-book\os10-dir\Slides-WORK-area\Figures-dir\ch10\JPG-dir\10_01.jpg">
            <a:extLst>
              <a:ext uri="{FF2B5EF4-FFF2-40B4-BE49-F238E27FC236}">
                <a16:creationId xmlns:a16="http://schemas.microsoft.com/office/drawing/2014/main" id="{75959D58-FD0D-4362-987B-001456C2B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309" y="4202504"/>
            <a:ext cx="3223766" cy="2556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698778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5A2A-4332-BB4A-0E05-6C482E4387C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312FEF6-3F38-BDC4-5EB5-59BFD4A80F0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Virtual-Address Space</a:t>
            </a:r>
          </a:p>
        </p:txBody>
      </p:sp>
      <p:sp>
        <p:nvSpPr>
          <p:cNvPr id="3" name="Slide Number Placeholder 2">
            <a:extLst>
              <a:ext uri="{FF2B5EF4-FFF2-40B4-BE49-F238E27FC236}">
                <a16:creationId xmlns:a16="http://schemas.microsoft.com/office/drawing/2014/main" id="{57F12D39-3330-6D40-9621-1C337F1E0156}"/>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E576BA18-178A-D172-A1B5-C35174D4DC91}"/>
              </a:ext>
            </a:extLst>
          </p:cNvPr>
          <p:cNvSpPr txBox="1">
            <a:spLocks noChangeArrowheads="1"/>
          </p:cNvSpPr>
          <p:nvPr/>
        </p:nvSpPr>
        <p:spPr>
          <a:xfrm>
            <a:off x="632153" y="1453240"/>
            <a:ext cx="9067659"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sz="2100" dirty="0">
                <a:latin typeface="Arial" panose="020B0604020202020204" pitchFamily="34" charset="0"/>
                <a:cs typeface="Arial" panose="020B0604020202020204" pitchFamily="34" charset="0"/>
              </a:rPr>
              <a:t>Virtual address space – logical view of how process is stored in memory</a:t>
            </a:r>
          </a:p>
          <a:p>
            <a:pPr lvl="1" algn="just">
              <a:spcBef>
                <a:spcPts val="500"/>
              </a:spcBef>
            </a:pPr>
            <a:r>
              <a:rPr lang="en-US" sz="1900" dirty="0">
                <a:latin typeface="Arial" panose="020B0604020202020204" pitchFamily="34" charset="0"/>
                <a:cs typeface="Arial" panose="020B0604020202020204" pitchFamily="34" charset="0"/>
              </a:rPr>
              <a:t>Usually start at address 0, contiguous addresses until end of space</a:t>
            </a:r>
          </a:p>
          <a:p>
            <a:pPr lvl="1" algn="just">
              <a:spcBef>
                <a:spcPts val="500"/>
              </a:spcBef>
            </a:pPr>
            <a:r>
              <a:rPr lang="en-US" sz="1900" dirty="0">
                <a:latin typeface="Arial" panose="020B0604020202020204" pitchFamily="34" charset="0"/>
                <a:cs typeface="Arial" panose="020B0604020202020204" pitchFamily="34" charset="0"/>
              </a:rPr>
              <a:t>Meanwhile, physical memory organized in frames</a:t>
            </a:r>
          </a:p>
          <a:p>
            <a:pPr lvl="1" algn="just">
              <a:spcBef>
                <a:spcPts val="500"/>
              </a:spcBef>
            </a:pPr>
            <a:r>
              <a:rPr lang="en-US" sz="1900" dirty="0">
                <a:latin typeface="Arial" panose="020B0604020202020204" pitchFamily="34" charset="0"/>
                <a:cs typeface="Arial" panose="020B0604020202020204" pitchFamily="34" charset="0"/>
              </a:rPr>
              <a:t>MMU must map logical to physical addresses</a:t>
            </a:r>
          </a:p>
          <a:p>
            <a:pPr algn="just">
              <a:spcBef>
                <a:spcPts val="1200"/>
              </a:spcBef>
            </a:pPr>
            <a:r>
              <a:rPr lang="en-US" sz="2100" dirty="0">
                <a:latin typeface="Arial" panose="020B0604020202020204" pitchFamily="34" charset="0"/>
                <a:cs typeface="Arial" panose="020B0604020202020204" pitchFamily="34" charset="0"/>
              </a:rPr>
              <a:t>Usually design logical address space for stack to start at Max logical address and grow “down” while heap grows “up” to maximize address space use. Unused address space between the two is hole, and no physical memory needed until heap or stack grows to a given new page.</a:t>
            </a:r>
          </a:p>
          <a:p>
            <a:pPr algn="just">
              <a:spcBef>
                <a:spcPts val="1200"/>
              </a:spcBef>
            </a:pPr>
            <a:r>
              <a:rPr lang="en-US" sz="2100" dirty="0">
                <a:latin typeface="Arial" panose="020B0604020202020204" pitchFamily="34" charset="0"/>
                <a:cs typeface="Arial" panose="020B0604020202020204" pitchFamily="34" charset="0"/>
              </a:rPr>
              <a:t>Enables sparse address spaces with holes left for growth, dynamically linked libraries, etc.</a:t>
            </a:r>
          </a:p>
          <a:p>
            <a:pPr algn="just">
              <a:spcBef>
                <a:spcPts val="1200"/>
              </a:spcBef>
            </a:pPr>
            <a:r>
              <a:rPr lang="en-US" sz="2100" dirty="0">
                <a:latin typeface="Arial" panose="020B0604020202020204" pitchFamily="34" charset="0"/>
                <a:cs typeface="Arial" panose="020B0604020202020204" pitchFamily="34" charset="0"/>
              </a:rPr>
              <a:t>System libraries shared via mapping into virtual address space</a:t>
            </a:r>
          </a:p>
          <a:p>
            <a:pPr algn="just">
              <a:spcBef>
                <a:spcPts val="1200"/>
              </a:spcBef>
            </a:pPr>
            <a:r>
              <a:rPr lang="en-US" sz="2100" dirty="0">
                <a:latin typeface="Arial" panose="020B0604020202020204" pitchFamily="34" charset="0"/>
                <a:cs typeface="Arial" panose="020B0604020202020204" pitchFamily="34" charset="0"/>
              </a:rPr>
              <a:t>Shared memory by mapping pages read-write into virtual address space</a:t>
            </a:r>
          </a:p>
          <a:p>
            <a:pPr algn="just">
              <a:spcBef>
                <a:spcPts val="1200"/>
              </a:spcBef>
            </a:pPr>
            <a:r>
              <a:rPr lang="en-US" sz="2100" dirty="0">
                <a:latin typeface="Arial" panose="020B0604020202020204" pitchFamily="34" charset="0"/>
                <a:cs typeface="Arial" panose="020B0604020202020204" pitchFamily="34" charset="0"/>
              </a:rPr>
              <a:t>Pages can be shared during fork(), speeding process creation</a:t>
            </a:r>
          </a:p>
          <a:p>
            <a:pPr algn="just"/>
            <a:endParaRPr lang="en-US" dirty="0">
              <a:latin typeface="Arial" panose="020B0604020202020204" pitchFamily="34" charset="0"/>
              <a:cs typeface="Arial" panose="020B0604020202020204" pitchFamily="34" charset="0"/>
            </a:endParaRPr>
          </a:p>
        </p:txBody>
      </p:sp>
      <p:pic>
        <p:nvPicPr>
          <p:cNvPr id="2" name="Picture 5">
            <a:extLst>
              <a:ext uri="{FF2B5EF4-FFF2-40B4-BE49-F238E27FC236}">
                <a16:creationId xmlns:a16="http://schemas.microsoft.com/office/drawing/2014/main" id="{ABA010E3-DE12-F8B0-054A-A92A04240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7386" y="2430693"/>
            <a:ext cx="1323008"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19054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78F4-6E60-5C9D-8DDB-4E32FE89D6A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8EF9658-7989-A171-4B93-AB687E87EDD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Shared Library Using Virtual Memory</a:t>
            </a:r>
          </a:p>
        </p:txBody>
      </p:sp>
      <p:sp>
        <p:nvSpPr>
          <p:cNvPr id="3" name="Slide Number Placeholder 2">
            <a:extLst>
              <a:ext uri="{FF2B5EF4-FFF2-40B4-BE49-F238E27FC236}">
                <a16:creationId xmlns:a16="http://schemas.microsoft.com/office/drawing/2014/main" id="{3F6B4448-36C0-C5A0-8792-3476D41A449F}"/>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pic>
        <p:nvPicPr>
          <p:cNvPr id="4" name="Picture 6">
            <a:extLst>
              <a:ext uri="{FF2B5EF4-FFF2-40B4-BE49-F238E27FC236}">
                <a16:creationId xmlns:a16="http://schemas.microsoft.com/office/drawing/2014/main" id="{C513F0E0-9020-4F02-8008-BA6516EC2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881" y="1834028"/>
            <a:ext cx="6823822" cy="4505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84369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C164-2939-5FCE-8EC1-32E14C8A352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EBE2308-D8CB-D713-ABCD-BAAB564AC58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a:t>
            </a:r>
          </a:p>
        </p:txBody>
      </p:sp>
      <p:sp>
        <p:nvSpPr>
          <p:cNvPr id="3" name="Slide Number Placeholder 2">
            <a:extLst>
              <a:ext uri="{FF2B5EF4-FFF2-40B4-BE49-F238E27FC236}">
                <a16:creationId xmlns:a16="http://schemas.microsoft.com/office/drawing/2014/main" id="{FAA4AF25-8F2D-8AC2-A1A3-529FEFA6067D}"/>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9B2EFA9A-C1C7-039F-7C2E-C53CA04C12EE}"/>
              </a:ext>
            </a:extLst>
          </p:cNvPr>
          <p:cNvSpPr txBox="1">
            <a:spLocks noChangeArrowheads="1"/>
          </p:cNvSpPr>
          <p:nvPr/>
        </p:nvSpPr>
        <p:spPr>
          <a:xfrm>
            <a:off x="632151" y="1453241"/>
            <a:ext cx="1028686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Virtual memory can be implemented via </a:t>
            </a:r>
            <a:r>
              <a:rPr lang="en-US" b="1" dirty="0">
                <a:solidFill>
                  <a:srgbClr val="FF0000"/>
                </a:solidFill>
                <a:latin typeface="Arial" panose="020B0604020202020204" pitchFamily="34" charset="0"/>
                <a:cs typeface="Arial" panose="020B0604020202020204" pitchFamily="34" charset="0"/>
              </a:rPr>
              <a:t>demand paging</a:t>
            </a:r>
          </a:p>
          <a:p>
            <a:pPr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Bring entire process into memory at load time or bring a page into memory only when it is needed</a:t>
            </a:r>
          </a:p>
          <a:p>
            <a:pPr lvl="1" algn="just"/>
            <a:r>
              <a:rPr lang="en-US" dirty="0">
                <a:latin typeface="Arial" panose="020B0604020202020204" pitchFamily="34" charset="0"/>
                <a:cs typeface="Arial" panose="020B0604020202020204" pitchFamily="34" charset="0"/>
              </a:rPr>
              <a:t>Less I/O needed, no unnecessary I/O</a:t>
            </a:r>
          </a:p>
          <a:p>
            <a:pPr lvl="1" algn="just"/>
            <a:r>
              <a:rPr lang="en-US" dirty="0">
                <a:latin typeface="Arial" panose="020B0604020202020204" pitchFamily="34" charset="0"/>
                <a:cs typeface="Arial" panose="020B0604020202020204" pitchFamily="34" charset="0"/>
              </a:rPr>
              <a:t>Less memory needed </a:t>
            </a:r>
          </a:p>
          <a:p>
            <a:pPr lvl="1" algn="just"/>
            <a:r>
              <a:rPr lang="en-US" dirty="0">
                <a:latin typeface="Arial" panose="020B0604020202020204" pitchFamily="34" charset="0"/>
                <a:cs typeface="Arial" panose="020B0604020202020204" pitchFamily="34" charset="0"/>
              </a:rPr>
              <a:t>Faster response</a:t>
            </a:r>
          </a:p>
          <a:p>
            <a:pPr lvl="1" algn="just"/>
            <a:r>
              <a:rPr lang="en-US" dirty="0">
                <a:latin typeface="Arial" panose="020B0604020202020204" pitchFamily="34" charset="0"/>
                <a:cs typeface="Arial" panose="020B0604020202020204" pitchFamily="34" charset="0"/>
              </a:rPr>
              <a:t>More users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Similar to paging system with swapping. Page is needed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reference to it</a:t>
            </a:r>
          </a:p>
          <a:p>
            <a:pPr lvl="1" algn="just"/>
            <a:r>
              <a:rPr lang="en-US" dirty="0">
                <a:latin typeface="Arial" panose="020B0604020202020204" pitchFamily="34" charset="0"/>
                <a:cs typeface="Arial" panose="020B0604020202020204" pitchFamily="34" charset="0"/>
              </a:rPr>
              <a:t>Invalid reference </a:t>
            </a:r>
            <a:r>
              <a:rPr lang="en-US" dirty="0">
                <a:latin typeface="Arial" panose="020B0604020202020204" pitchFamily="34" charset="0"/>
                <a:cs typeface="Arial" panose="020B0604020202020204" pitchFamily="34" charset="0"/>
                <a:sym typeface="Wingdings" panose="05000000000000000000" pitchFamily="2" charset="2"/>
              </a:rPr>
              <a:t> abort</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Not-in-memory </a:t>
            </a:r>
            <a:r>
              <a:rPr lang="en-US" dirty="0">
                <a:latin typeface="Arial" panose="020B0604020202020204" pitchFamily="34" charset="0"/>
                <a:cs typeface="Arial" panose="020B0604020202020204" pitchFamily="34" charset="0"/>
                <a:sym typeface="Wingdings" panose="05000000000000000000" pitchFamily="2" charset="2"/>
              </a:rPr>
              <a:t> (page fault) bring it to memory</a:t>
            </a:r>
          </a:p>
          <a:p>
            <a:pPr lvl="1" algn="just"/>
            <a:endParaRPr lang="en-US" sz="1200" dirty="0">
              <a:latin typeface="Arial" panose="020B0604020202020204" pitchFamily="34" charset="0"/>
              <a:cs typeface="Arial" panose="020B0604020202020204" pitchFamily="34" charset="0"/>
              <a:sym typeface="Wingdings" panose="05000000000000000000" pitchFamily="2" charset="2"/>
            </a:endParaRPr>
          </a:p>
          <a:p>
            <a:pPr algn="just"/>
            <a:r>
              <a:rPr lang="en-US" b="1" dirty="0">
                <a:solidFill>
                  <a:srgbClr val="FF0000"/>
                </a:solidFill>
                <a:latin typeface="Arial" panose="020B0604020202020204" pitchFamily="34" charset="0"/>
                <a:cs typeface="Arial" panose="020B0604020202020204" pitchFamily="34" charset="0"/>
              </a:rPr>
              <a:t>Lazy swapper </a:t>
            </a:r>
            <a:r>
              <a:rPr lang="en-US" dirty="0">
                <a:latin typeface="Arial" panose="020B0604020202020204" pitchFamily="34" charset="0"/>
                <a:cs typeface="Arial" panose="020B0604020202020204" pitchFamily="34" charset="0"/>
              </a:rPr>
              <a:t>– never swaps a page into memory unless page will be needed</a:t>
            </a:r>
          </a:p>
          <a:p>
            <a:pPr lvl="1" algn="just"/>
            <a:r>
              <a:rPr lang="en-US" dirty="0">
                <a:latin typeface="Arial" panose="020B0604020202020204" pitchFamily="34" charset="0"/>
                <a:cs typeface="Arial" panose="020B0604020202020204" pitchFamily="34" charset="0"/>
              </a:rPr>
              <a:t>Swapper that deals with pages is a </a:t>
            </a:r>
            <a:r>
              <a:rPr lang="en-US" b="1" dirty="0">
                <a:solidFill>
                  <a:srgbClr val="FF0000"/>
                </a:solidFill>
                <a:latin typeface="Arial" panose="020B0604020202020204" pitchFamily="34" charset="0"/>
                <a:cs typeface="Arial" panose="020B0604020202020204" pitchFamily="34" charset="0"/>
              </a:rPr>
              <a:t>pager</a:t>
            </a:r>
          </a:p>
        </p:txBody>
      </p:sp>
      <p:pic>
        <p:nvPicPr>
          <p:cNvPr id="21507" name="Picture 4" descr="9">
            <a:extLst>
              <a:ext uri="{FF2B5EF4-FFF2-40B4-BE49-F238E27FC236}">
                <a16:creationId xmlns:a16="http://schemas.microsoft.com/office/drawing/2014/main" id="{C56A9E13-726E-317C-EEAF-08C54367C5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4529" y="2501397"/>
            <a:ext cx="2627682" cy="2107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737903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79E4-26EF-DCBC-B7FE-135B4C00465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C35E208-69D2-C710-A7BB-E543289300B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a:t>
            </a:r>
          </a:p>
        </p:txBody>
      </p:sp>
      <p:sp>
        <p:nvSpPr>
          <p:cNvPr id="3" name="Slide Number Placeholder 2">
            <a:extLst>
              <a:ext uri="{FF2B5EF4-FFF2-40B4-BE49-F238E27FC236}">
                <a16:creationId xmlns:a16="http://schemas.microsoft.com/office/drawing/2014/main" id="{F94AAD9D-9C77-EBC5-6DD3-5097CA83A488}"/>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D8DA0355-CFA1-170C-0F78-97FDCCC272A2}"/>
              </a:ext>
            </a:extLst>
          </p:cNvPr>
          <p:cNvSpPr txBox="1">
            <a:spLocks noChangeArrowheads="1"/>
          </p:cNvSpPr>
          <p:nvPr/>
        </p:nvSpPr>
        <p:spPr>
          <a:xfrm>
            <a:off x="632151" y="1453241"/>
            <a:ext cx="1028686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With swapping, pager guesses which pages will be used before swapping out again and brings only those pages into memory</a:t>
            </a:r>
            <a:endParaRPr lang="en-US" b="1" dirty="0">
              <a:solidFill>
                <a:srgbClr val="FF0000"/>
              </a:solidFill>
              <a:latin typeface="Arial" panose="020B0604020202020204" pitchFamily="34" charset="0"/>
              <a:cs typeface="Arial" panose="020B0604020202020204" pitchFamily="34" charset="0"/>
            </a:endParaRP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How to determine that set of pages?</a:t>
            </a:r>
          </a:p>
          <a:p>
            <a:pPr lvl="1" algn="just"/>
            <a:r>
              <a:rPr lang="en-US" dirty="0">
                <a:latin typeface="Arial" panose="020B0604020202020204" pitchFamily="34" charset="0"/>
                <a:cs typeface="Arial" panose="020B0604020202020204" pitchFamily="34" charset="0"/>
              </a:rPr>
              <a:t>Need new MMU functionality to implement demand paging</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No difference from simple paging if pages needed are already in memory</a:t>
            </a:r>
          </a:p>
          <a:p>
            <a:pPr lvl="1" algn="just"/>
            <a:endParaRPr lang="en-US" sz="1400" dirty="0">
              <a:latin typeface="Arial" panose="020B0604020202020204" pitchFamily="34" charset="0"/>
              <a:cs typeface="Arial" panose="020B0604020202020204" pitchFamily="34" charset="0"/>
              <a:sym typeface="Wingdings" panose="05000000000000000000" pitchFamily="2" charset="2"/>
            </a:endParaRPr>
          </a:p>
          <a:p>
            <a:pPr algn="just"/>
            <a:r>
              <a:rPr lang="en-US" dirty="0">
                <a:latin typeface="Arial" panose="020B0604020202020204" pitchFamily="34" charset="0"/>
                <a:cs typeface="Arial" panose="020B0604020202020204" pitchFamily="34" charset="0"/>
              </a:rPr>
              <a:t>If page needed is not memory resident, need to detect and load the page into memory from storage</a:t>
            </a:r>
          </a:p>
          <a:p>
            <a:pPr lvl="1" algn="just"/>
            <a:r>
              <a:rPr lang="en-US" dirty="0">
                <a:latin typeface="Arial" panose="020B0604020202020204" pitchFamily="34" charset="0"/>
                <a:cs typeface="Arial" panose="020B0604020202020204" pitchFamily="34" charset="0"/>
              </a:rPr>
              <a:t>Without changing program behavior</a:t>
            </a:r>
          </a:p>
          <a:p>
            <a:pPr lvl="1" algn="just"/>
            <a:r>
              <a:rPr lang="en-US" dirty="0">
                <a:latin typeface="Arial" panose="020B0604020202020204" pitchFamily="34" charset="0"/>
                <a:cs typeface="Arial" panose="020B0604020202020204" pitchFamily="34" charset="0"/>
              </a:rPr>
              <a:t>Without programmer needing to change code</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75859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E90F8-54C3-AC51-5ECF-9343FA4E047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5A2BB69-1DBF-F4DD-5A09-8BA0309A41A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Valid-Invalid Bit</a:t>
            </a:r>
          </a:p>
        </p:txBody>
      </p:sp>
      <p:sp>
        <p:nvSpPr>
          <p:cNvPr id="3" name="Slide Number Placeholder 2">
            <a:extLst>
              <a:ext uri="{FF2B5EF4-FFF2-40B4-BE49-F238E27FC236}">
                <a16:creationId xmlns:a16="http://schemas.microsoft.com/office/drawing/2014/main" id="{DD8F2B3A-F6E9-3083-8960-87D5746FB644}"/>
              </a:ext>
            </a:extLst>
          </p:cNvPr>
          <p:cNvSpPr>
            <a:spLocks noGrp="1"/>
          </p:cNvSpPr>
          <p:nvPr>
            <p:ph type="sldNum" sz="quarter" idx="12"/>
          </p:nvPr>
        </p:nvSpPr>
        <p:spPr/>
        <p:txBody>
          <a:bodyPr/>
          <a:lstStyle/>
          <a:p>
            <a:fld id="{3485D9CA-6DAA-4C3C-A3E2-EDEA918D5F89}" type="slidenum">
              <a:rPr lang="en-US" smtClean="0">
                <a:latin typeface="Calibri"/>
              </a:rPr>
              <a:pPr/>
              <a:t>8</a:t>
            </a:fld>
            <a:endParaRPr lang="en-US">
              <a:latin typeface="Calibri"/>
            </a:endParaRPr>
          </a:p>
        </p:txBody>
      </p:sp>
      <p:sp>
        <p:nvSpPr>
          <p:cNvPr id="12" name="Rectangle 3">
            <a:extLst>
              <a:ext uri="{FF2B5EF4-FFF2-40B4-BE49-F238E27FC236}">
                <a16:creationId xmlns:a16="http://schemas.microsoft.com/office/drawing/2014/main" id="{B2BC2AD5-EDD2-DD41-AFEB-E85A2BB5B842}"/>
              </a:ext>
            </a:extLst>
          </p:cNvPr>
          <p:cNvSpPr txBox="1">
            <a:spLocks noChangeArrowheads="1"/>
          </p:cNvSpPr>
          <p:nvPr/>
        </p:nvSpPr>
        <p:spPr>
          <a:xfrm>
            <a:off x="632152" y="1453242"/>
            <a:ext cx="10573730"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With each page table entry, a valid–invalid bit is associated</a:t>
            </a:r>
          </a:p>
          <a:p>
            <a:pPr lvl="1" algn="just"/>
            <a:r>
              <a:rPr lang="en-US" b="1" dirty="0">
                <a:solidFill>
                  <a:srgbClr val="FF0000"/>
                </a:solidFill>
                <a:latin typeface="Arial" panose="020B0604020202020204" pitchFamily="34" charset="0"/>
                <a:cs typeface="Arial" panose="020B0604020202020204" pitchFamily="34" charset="0"/>
              </a:rPr>
              <a:t>(</a:t>
            </a:r>
            <a:r>
              <a:rPr lang="en-US" b="1" i="1" dirty="0">
                <a:solidFill>
                  <a:srgbClr val="FF0000"/>
                </a:solidFill>
                <a:latin typeface="Arial" panose="020B0604020202020204" pitchFamily="34" charset="0"/>
                <a:cs typeface="Arial" panose="020B0604020202020204" pitchFamily="34" charset="0"/>
              </a:rPr>
              <a:t>v</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in-memory, </a:t>
            </a:r>
            <a:r>
              <a:rPr lang="en-US" b="1" i="1" dirty="0" err="1">
                <a:solidFill>
                  <a:srgbClr val="FF0000"/>
                </a:solidFill>
                <a:latin typeface="Arial" panose="020B0604020202020204" pitchFamily="34" charset="0"/>
                <a:cs typeface="Arial" panose="020B0604020202020204" pitchFamily="34" charset="0"/>
              </a:rPr>
              <a:t>i</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not-in-memory)</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Initially valid–invalid bit is set to </a:t>
            </a:r>
            <a:r>
              <a:rPr lang="en-US" b="1" i="1" dirty="0" err="1">
                <a:solidFill>
                  <a:srgbClr val="FF0000"/>
                </a:solidFill>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on all entries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During address translation, if valid–invalid bit in page table entry is </a:t>
            </a:r>
            <a:r>
              <a:rPr lang="en-US" b="1" i="1" dirty="0" err="1">
                <a:solidFill>
                  <a:srgbClr val="FF0000"/>
                </a:solidFill>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page fault</a:t>
            </a:r>
          </a:p>
          <a:p>
            <a:pPr marL="411480" lvl="1" indent="0" algn="just">
              <a:buNone/>
            </a:pPr>
            <a:endParaRPr lang="en-US" dirty="0">
              <a:latin typeface="Arial" panose="020B0604020202020204" pitchFamily="34" charset="0"/>
              <a:cs typeface="Arial" panose="020B0604020202020204" pitchFamily="34" charset="0"/>
            </a:endParaRPr>
          </a:p>
        </p:txBody>
      </p:sp>
      <p:pic>
        <p:nvPicPr>
          <p:cNvPr id="17411" name="Picture 2" descr="B:\os-book\os10-dir\Slides-WORK-area\Figures-dir\ch10\JPG-dir\10_04.jpg">
            <a:extLst>
              <a:ext uri="{FF2B5EF4-FFF2-40B4-BE49-F238E27FC236}">
                <a16:creationId xmlns:a16="http://schemas.microsoft.com/office/drawing/2014/main" id="{EE8B21A0-27D4-48EC-AA1E-673C6BCAF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5578" y="3691140"/>
            <a:ext cx="2731706" cy="264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22C8DDA-B770-04CB-A652-B92F89B4C534}"/>
              </a:ext>
            </a:extLst>
          </p:cNvPr>
          <p:cNvSpPr txBox="1"/>
          <p:nvPr/>
        </p:nvSpPr>
        <p:spPr>
          <a:xfrm>
            <a:off x="2563904" y="6423726"/>
            <a:ext cx="5755341" cy="338554"/>
          </a:xfrm>
          <a:prstGeom prst="rect">
            <a:avLst/>
          </a:prstGeom>
          <a:noFill/>
        </p:spPr>
        <p:txBody>
          <a:bodyPr wrap="square">
            <a:spAutoFit/>
          </a:bodyPr>
          <a:lstStyle/>
          <a:p>
            <a:r>
              <a:rPr lang="en-US" altLang="en-US" sz="1600" b="1" i="1" dirty="0">
                <a:latin typeface="Arial" panose="020B0604020202020204" pitchFamily="34" charset="0"/>
                <a:cs typeface="Arial" panose="020B0604020202020204" pitchFamily="34" charset="0"/>
              </a:rPr>
              <a:t>Page Table When Some Pages Are Not in Main Memory</a:t>
            </a:r>
            <a:endParaRPr lang="en-US" sz="1600" b="1" i="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563319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F12C0-C4AD-25FD-5813-FFECC527971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39DAEA-BA01-F701-B01C-227C27F1A09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Handling a Page Fault</a:t>
            </a:r>
          </a:p>
        </p:txBody>
      </p:sp>
      <p:sp>
        <p:nvSpPr>
          <p:cNvPr id="3" name="Slide Number Placeholder 2">
            <a:extLst>
              <a:ext uri="{FF2B5EF4-FFF2-40B4-BE49-F238E27FC236}">
                <a16:creationId xmlns:a16="http://schemas.microsoft.com/office/drawing/2014/main" id="{341CB83C-A622-087A-63C8-1AC163E05FC9}"/>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F6A59142-37FA-8761-0A36-197D45C18F0F}"/>
              </a:ext>
            </a:extLst>
          </p:cNvPr>
          <p:cNvSpPr txBox="1">
            <a:spLocks noChangeArrowheads="1"/>
          </p:cNvSpPr>
          <p:nvPr/>
        </p:nvSpPr>
        <p:spPr>
          <a:xfrm>
            <a:off x="632151" y="1453241"/>
            <a:ext cx="10428572" cy="507065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there is a reference to a page, first reference to that page will trap to OS </a:t>
            </a:r>
          </a:p>
          <a:p>
            <a:pPr lvl="1" algn="just"/>
            <a:r>
              <a:rPr lang="en-US" b="1" dirty="0">
                <a:solidFill>
                  <a:srgbClr val="FF0000"/>
                </a:solidFill>
                <a:latin typeface="Arial" panose="020B0604020202020204" pitchFamily="34" charset="0"/>
                <a:cs typeface="Arial" panose="020B0604020202020204" pitchFamily="34" charset="0"/>
              </a:rPr>
              <a:t>page fault</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Upon reference to a page, the OS checks if it is an invalid reference or the page is just not in memory. If invalid reference, abort the process, otherwise just page it into the memory.</a:t>
            </a:r>
          </a:p>
          <a:p>
            <a:pPr algn="just"/>
            <a:endParaRPr lang="en-US" sz="11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Find free frame or swap the page into frame via scheduled disk operation</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Reset tables to indicate page now in memory (set validation bit = </a:t>
            </a:r>
            <a:r>
              <a:rPr lang="en-US" b="1" i="1" dirty="0">
                <a:solidFill>
                  <a:srgbClr val="FF0000"/>
                </a:solidFill>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and restart the instruction that caused the page fault</a:t>
            </a:r>
          </a:p>
          <a:p>
            <a:pPr algn="just"/>
            <a:endParaRPr lang="en-US" sz="11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3564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7B7E-0244-DC1F-B03E-A8FC3796ECF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989A76D-6B90-8C99-CB34-5FFDE166AE5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Handling a Page Fault</a:t>
            </a:r>
          </a:p>
        </p:txBody>
      </p:sp>
      <p:sp>
        <p:nvSpPr>
          <p:cNvPr id="3" name="Slide Number Placeholder 2">
            <a:extLst>
              <a:ext uri="{FF2B5EF4-FFF2-40B4-BE49-F238E27FC236}">
                <a16:creationId xmlns:a16="http://schemas.microsoft.com/office/drawing/2014/main" id="{69C077CF-9808-DC1E-07FB-0086B9A5B24A}"/>
              </a:ext>
            </a:extLst>
          </p:cNvPr>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pic>
        <p:nvPicPr>
          <p:cNvPr id="19459" name="Picture 4" descr="9">
            <a:extLst>
              <a:ext uri="{FF2B5EF4-FFF2-40B4-BE49-F238E27FC236}">
                <a16:creationId xmlns:a16="http://schemas.microsoft.com/office/drawing/2014/main" id="{4C87B603-A2E7-4FAE-A0CB-D034C6085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0" y="1463675"/>
            <a:ext cx="6113182" cy="510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334940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781D-ECDD-92D7-58FC-A55C020ABA1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3EB48DE-C9F9-8AC1-5496-B8E7CD60F32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Aspects of Demand Paging</a:t>
            </a:r>
          </a:p>
        </p:txBody>
      </p:sp>
      <p:sp>
        <p:nvSpPr>
          <p:cNvPr id="3" name="Slide Number Placeholder 2">
            <a:extLst>
              <a:ext uri="{FF2B5EF4-FFF2-40B4-BE49-F238E27FC236}">
                <a16:creationId xmlns:a16="http://schemas.microsoft.com/office/drawing/2014/main" id="{EFC39B5F-6075-60CC-7261-6B7F54A05EA2}"/>
              </a:ext>
            </a:extLst>
          </p:cNvPr>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3A7FEC1F-8021-DC6B-469F-B772039B1C5F}"/>
              </a:ext>
            </a:extLst>
          </p:cNvPr>
          <p:cNvSpPr txBox="1">
            <a:spLocks noChangeArrowheads="1"/>
          </p:cNvSpPr>
          <p:nvPr/>
        </p:nvSpPr>
        <p:spPr>
          <a:xfrm>
            <a:off x="632152" y="1453241"/>
            <a:ext cx="10430296" cy="557508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Extreme case – start process with </a:t>
            </a:r>
            <a:r>
              <a:rPr lang="en-US" b="1" i="1" dirty="0">
                <a:latin typeface="Arial" panose="020B0604020202020204" pitchFamily="34" charset="0"/>
                <a:cs typeface="Arial" panose="020B0604020202020204" pitchFamily="34" charset="0"/>
              </a:rPr>
              <a:t>no</a:t>
            </a:r>
            <a:r>
              <a:rPr lang="en-US" dirty="0">
                <a:latin typeface="Arial" panose="020B0604020202020204" pitchFamily="34" charset="0"/>
                <a:cs typeface="Arial" panose="020B0604020202020204" pitchFamily="34" charset="0"/>
              </a:rPr>
              <a:t> pages in memory</a:t>
            </a:r>
          </a:p>
          <a:p>
            <a:pPr lvl="1" algn="just"/>
            <a:r>
              <a:rPr lang="en-US" dirty="0">
                <a:latin typeface="Arial" panose="020B0604020202020204" pitchFamily="34" charset="0"/>
                <a:cs typeface="Arial" panose="020B0604020202020204" pitchFamily="34" charset="0"/>
              </a:rPr>
              <a:t>OS sets instruction pointer to first instruction of process, which is non-memory-resident (Page fault). Page is brought into the memory</a:t>
            </a:r>
          </a:p>
          <a:p>
            <a:pPr lvl="1" algn="just"/>
            <a:r>
              <a:rPr lang="en-US" dirty="0">
                <a:latin typeface="Arial" panose="020B0604020202020204" pitchFamily="34" charset="0"/>
                <a:cs typeface="Arial" panose="020B0604020202020204" pitchFamily="34" charset="0"/>
              </a:rPr>
              <a:t>Process continue to execute, faulting as necessary until every page that it needs is in memory after which it can execute with no more faults.</a:t>
            </a:r>
          </a:p>
          <a:p>
            <a:pPr lvl="1" algn="just"/>
            <a:r>
              <a:rPr lang="en-US" b="1" dirty="0">
                <a:solidFill>
                  <a:srgbClr val="FF0000"/>
                </a:solidFill>
                <a:latin typeface="Arial" panose="020B0604020202020204" pitchFamily="34" charset="0"/>
                <a:cs typeface="Arial" panose="020B0604020202020204" pitchFamily="34" charset="0"/>
              </a:rPr>
              <a:t>Pure demand paging</a:t>
            </a:r>
          </a:p>
          <a:p>
            <a:pPr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Actually, a given instruction could access multiple pages (multiple page faults)</a:t>
            </a:r>
          </a:p>
          <a:p>
            <a:pPr lvl="1" algn="just"/>
            <a:r>
              <a:rPr lang="en-US" dirty="0">
                <a:latin typeface="Arial" panose="020B0604020202020204" pitchFamily="34" charset="0"/>
                <a:cs typeface="Arial" panose="020B0604020202020204" pitchFamily="34" charset="0"/>
              </a:rPr>
              <a:t>Consider fetch and decode of instruction which adds 2 numbers from memory and stores result back to memory</a:t>
            </a:r>
          </a:p>
          <a:p>
            <a:pPr lvl="1" algn="just"/>
            <a:r>
              <a:rPr lang="en-US" dirty="0">
                <a:latin typeface="Arial" panose="020B0604020202020204" pitchFamily="34" charset="0"/>
                <a:cs typeface="Arial" panose="020B0604020202020204" pitchFamily="34" charset="0"/>
              </a:rPr>
              <a:t>Pain decreased because of </a:t>
            </a:r>
            <a:r>
              <a:rPr lang="en-US" b="1" dirty="0">
                <a:solidFill>
                  <a:srgbClr val="FF0000"/>
                </a:solidFill>
                <a:latin typeface="Arial" panose="020B0604020202020204" pitchFamily="34" charset="0"/>
                <a:cs typeface="Arial" panose="020B0604020202020204" pitchFamily="34" charset="0"/>
              </a:rPr>
              <a:t>locality of reference</a:t>
            </a:r>
          </a:p>
          <a:p>
            <a:pPr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Hardware support needed for demand paging</a:t>
            </a:r>
          </a:p>
          <a:p>
            <a:pPr lvl="1" algn="just"/>
            <a:r>
              <a:rPr lang="en-US" dirty="0">
                <a:latin typeface="Arial" panose="020B0604020202020204" pitchFamily="34" charset="0"/>
                <a:cs typeface="Arial" panose="020B0604020202020204" pitchFamily="34" charset="0"/>
              </a:rPr>
              <a:t>Page table with valid / invalid bit</a:t>
            </a:r>
          </a:p>
          <a:p>
            <a:pPr lvl="1" algn="just"/>
            <a:r>
              <a:rPr lang="en-US" dirty="0">
                <a:latin typeface="Arial" panose="020B0604020202020204" pitchFamily="34" charset="0"/>
                <a:cs typeface="Arial" panose="020B0604020202020204" pitchFamily="34" charset="0"/>
              </a:rPr>
              <a:t>Secondary memory (swap device with </a:t>
            </a:r>
            <a:r>
              <a:rPr lang="en-US" b="1" dirty="0">
                <a:solidFill>
                  <a:srgbClr val="FF0000"/>
                </a:solidFill>
                <a:latin typeface="Arial" panose="020B0604020202020204" pitchFamily="34" charset="0"/>
                <a:cs typeface="Arial" panose="020B0604020202020204" pitchFamily="34" charset="0"/>
              </a:rPr>
              <a:t>swap space</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Instruction restart</a:t>
            </a:r>
          </a:p>
          <a:p>
            <a:pPr algn="just"/>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321442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BDBD5-2502-4E29-8AE7-E55EE94130B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B27053C-248C-C3C1-64C3-C4A144256E2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Restart</a:t>
            </a:r>
          </a:p>
        </p:txBody>
      </p:sp>
      <p:sp>
        <p:nvSpPr>
          <p:cNvPr id="3" name="Slide Number Placeholder 2">
            <a:extLst>
              <a:ext uri="{FF2B5EF4-FFF2-40B4-BE49-F238E27FC236}">
                <a16:creationId xmlns:a16="http://schemas.microsoft.com/office/drawing/2014/main" id="{1610784E-742F-3B31-C72D-FA1D0374B4F3}"/>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09F1CB03-18D3-96C9-272B-38A27EBFC999}"/>
              </a:ext>
            </a:extLst>
          </p:cNvPr>
          <p:cNvSpPr txBox="1">
            <a:spLocks noChangeArrowheads="1"/>
          </p:cNvSpPr>
          <p:nvPr/>
        </p:nvSpPr>
        <p:spPr>
          <a:xfrm>
            <a:off x="632150" y="1453242"/>
            <a:ext cx="10502015" cy="5404758"/>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Consider an instruction that could access several different locations and source, and destination overlap.</a:t>
            </a:r>
          </a:p>
          <a:p>
            <a:pPr lvl="1" algn="just"/>
            <a:r>
              <a:rPr lang="en-US" dirty="0">
                <a:latin typeface="Arial" panose="020B0604020202020204" pitchFamily="34" charset="0"/>
                <a:cs typeface="Arial" panose="020B0604020202020204" pitchFamily="34" charset="0"/>
              </a:rPr>
              <a:t>Block move</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problem can be solved in two different ways.</a:t>
            </a:r>
          </a:p>
          <a:p>
            <a:pPr lvl="1" algn="just"/>
            <a:r>
              <a:rPr lang="en-US" dirty="0">
                <a:latin typeface="Arial" panose="020B0604020202020204" pitchFamily="34" charset="0"/>
                <a:cs typeface="Arial" panose="020B0604020202020204" pitchFamily="34" charset="0"/>
              </a:rPr>
              <a:t>The microcode computes and attempt to access both ends of both blocks. If page fault is going to occur. It will be identified at this step before anything is modified. </a:t>
            </a:r>
          </a:p>
          <a:p>
            <a:pPr lvl="1" algn="just"/>
            <a:r>
              <a:rPr lang="en-US" dirty="0">
                <a:latin typeface="Arial" panose="020B0604020202020204" pitchFamily="34" charset="0"/>
                <a:cs typeface="Arial" panose="020B0604020202020204" pitchFamily="34" charset="0"/>
              </a:rPr>
              <a:t> Use the temporary registers to hold the values of overwritten locations</a:t>
            </a:r>
          </a:p>
          <a:p>
            <a:pPr algn="just"/>
            <a:endParaRPr lang="en-US" sz="2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page fault, all the old values are written back into the memory before the trap occur. Restore the memory to its state before instruction was started so that the instruction can be repeated.</a:t>
            </a:r>
          </a:p>
          <a:p>
            <a:pPr algn="just"/>
            <a:endParaRPr lang="en-US" dirty="0">
              <a:latin typeface="Arial" panose="020B0604020202020204" pitchFamily="34" charset="0"/>
              <a:cs typeface="Arial" panose="020B0604020202020204" pitchFamily="34" charset="0"/>
            </a:endParaRPr>
          </a:p>
        </p:txBody>
      </p:sp>
      <p:pic>
        <p:nvPicPr>
          <p:cNvPr id="21508" name="Picture 2">
            <a:extLst>
              <a:ext uri="{FF2B5EF4-FFF2-40B4-BE49-F238E27FC236}">
                <a16:creationId xmlns:a16="http://schemas.microsoft.com/office/drawing/2014/main" id="{8E395989-C37C-4C8C-8157-9861CCB887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29613" y="2125102"/>
            <a:ext cx="1698991" cy="178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610718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85202-91AB-6E9C-13F8-856F0B3FC0C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894C121-FEF2-939F-55A6-BF5E3D08A78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Free-Frame List</a:t>
            </a:r>
          </a:p>
        </p:txBody>
      </p:sp>
      <p:sp>
        <p:nvSpPr>
          <p:cNvPr id="3" name="Slide Number Placeholder 2">
            <a:extLst>
              <a:ext uri="{FF2B5EF4-FFF2-40B4-BE49-F238E27FC236}">
                <a16:creationId xmlns:a16="http://schemas.microsoft.com/office/drawing/2014/main" id="{9B4F14BA-A613-D26F-8DB8-E06502B92254}"/>
              </a:ext>
            </a:extLst>
          </p:cNvPr>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7F76BF78-7455-632E-B27B-7CE0EB5D5488}"/>
              </a:ext>
            </a:extLst>
          </p:cNvPr>
          <p:cNvSpPr txBox="1">
            <a:spLocks noChangeArrowheads="1"/>
          </p:cNvSpPr>
          <p:nvPr/>
        </p:nvSpPr>
        <p:spPr>
          <a:xfrm>
            <a:off x="632151" y="1453242"/>
            <a:ext cx="10286862"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When a page fault occurs, the operating system must bring the desired page from secondary storage into main memory. </a:t>
            </a:r>
          </a:p>
          <a:p>
            <a:pPr algn="just"/>
            <a:r>
              <a:rPr lang="en-US" dirty="0">
                <a:latin typeface="Arial" panose="020B0604020202020204" pitchFamily="34" charset="0"/>
                <a:cs typeface="Arial" panose="020B0604020202020204" pitchFamily="34" charset="0"/>
              </a:rPr>
              <a:t>Most operating systems maintain a </a:t>
            </a:r>
            <a:r>
              <a:rPr lang="en-US" b="1" dirty="0">
                <a:solidFill>
                  <a:srgbClr val="FF0000"/>
                </a:solidFill>
                <a:latin typeface="Arial" panose="020B0604020202020204" pitchFamily="34" charset="0"/>
                <a:cs typeface="Arial" panose="020B0604020202020204" pitchFamily="34" charset="0"/>
              </a:rPr>
              <a:t>free-frame list</a:t>
            </a:r>
            <a:r>
              <a:rPr lang="en-US" dirty="0">
                <a:latin typeface="Arial" panose="020B0604020202020204" pitchFamily="34" charset="0"/>
                <a:cs typeface="Arial" panose="020B0604020202020204" pitchFamily="34" charset="0"/>
              </a:rPr>
              <a:t> – a pool of free frames for satisfying such requests.</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Operating system typically allocate free frames using a technique known as </a:t>
            </a:r>
            <a:r>
              <a:rPr lang="en-US" b="1" dirty="0">
                <a:solidFill>
                  <a:srgbClr val="FF0000"/>
                </a:solidFill>
                <a:latin typeface="Arial" panose="020B0604020202020204" pitchFamily="34" charset="0"/>
                <a:cs typeface="Arial" panose="020B0604020202020204" pitchFamily="34" charset="0"/>
              </a:rPr>
              <a:t>zero-fill-on-demand</a:t>
            </a:r>
            <a:r>
              <a:rPr lang="en-US" dirty="0">
                <a:latin typeface="Arial" panose="020B0604020202020204" pitchFamily="34" charset="0"/>
                <a:cs typeface="Arial" panose="020B0604020202020204" pitchFamily="34" charset="0"/>
              </a:rPr>
              <a:t> – the content of the frames zeroed-out before being allocated.</a:t>
            </a:r>
          </a:p>
          <a:p>
            <a:pPr algn="just"/>
            <a:r>
              <a:rPr lang="en-US" dirty="0">
                <a:latin typeface="Arial" panose="020B0604020202020204" pitchFamily="34" charset="0"/>
                <a:cs typeface="Arial" panose="020B0604020202020204" pitchFamily="34" charset="0"/>
              </a:rPr>
              <a:t>When a system starts up, all available memory is placed on the free-frame list. </a:t>
            </a:r>
          </a:p>
        </p:txBody>
      </p:sp>
      <p:pic>
        <p:nvPicPr>
          <p:cNvPr id="22532" name="Picture 2" descr="B:\os-book\os10-dir\Slides-WORK-area\Figures-dir\ch10\JPG-dir\10_06.jpg">
            <a:extLst>
              <a:ext uri="{FF2B5EF4-FFF2-40B4-BE49-F238E27FC236}">
                <a16:creationId xmlns:a16="http://schemas.microsoft.com/office/drawing/2014/main" id="{74C1D426-4DEE-495E-BFD2-9DDD43D14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532" y="3171498"/>
            <a:ext cx="7265866" cy="51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992247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820F-A7F7-C523-7A88-A46E8E79E43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8D2E5AA-1DFD-EBC1-1D8E-80A85E7E4E9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Stages in Demand Paging – Worst Case</a:t>
            </a:r>
          </a:p>
        </p:txBody>
      </p:sp>
      <p:sp>
        <p:nvSpPr>
          <p:cNvPr id="3" name="Slide Number Placeholder 2">
            <a:extLst>
              <a:ext uri="{FF2B5EF4-FFF2-40B4-BE49-F238E27FC236}">
                <a16:creationId xmlns:a16="http://schemas.microsoft.com/office/drawing/2014/main" id="{455C0444-2B5D-7CE3-4BC8-34AFB8377E09}"/>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814FE0E4-5D96-EA17-3D0B-DB9601BAA923}"/>
              </a:ext>
            </a:extLst>
          </p:cNvPr>
          <p:cNvSpPr txBox="1">
            <a:spLocks noChangeArrowheads="1"/>
          </p:cNvSpPr>
          <p:nvPr/>
        </p:nvSpPr>
        <p:spPr>
          <a:xfrm>
            <a:off x="632150" y="1453241"/>
            <a:ext cx="10376509" cy="5404759"/>
          </a:xfrm>
          <a:prstGeom prst="rect">
            <a:avLst/>
          </a:prstGeom>
          <a:ln w="15875">
            <a:noFill/>
          </a:ln>
        </p:spPr>
        <p:txBody>
          <a:bodyPr vert="horz" lIns="91440" tIns="45720" rIns="91440" bIns="45720" rtlCol="0">
            <a:normAutofit fontScale="92500"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571500" indent="-457200" algn="just">
              <a:buClrTx/>
              <a:buFont typeface="+mj-lt"/>
              <a:buAutoNum type="arabicPeriod"/>
            </a:pPr>
            <a:r>
              <a:rPr lang="en-US" dirty="0">
                <a:latin typeface="Arial" panose="020B0604020202020204" pitchFamily="34" charset="0"/>
                <a:cs typeface="Arial" panose="020B0604020202020204" pitchFamily="34" charset="0"/>
              </a:rPr>
              <a:t>Trap to the operating system</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Save the user registers and process state</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Determine that the interrupt was a page fault</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Check that page reference was legal and determine location of the page on the disk</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Issue a read from the disk to a free frame:</a:t>
            </a:r>
          </a:p>
          <a:p>
            <a:pPr lvl="1" algn="just"/>
            <a:r>
              <a:rPr lang="en-US" dirty="0">
                <a:latin typeface="Arial" panose="020B0604020202020204" pitchFamily="34" charset="0"/>
                <a:cs typeface="Arial" panose="020B0604020202020204" pitchFamily="34" charset="0"/>
              </a:rPr>
              <a:t>Wait in a queue for this device until the read request is serviced</a:t>
            </a:r>
          </a:p>
          <a:p>
            <a:pPr lvl="1" algn="just"/>
            <a:r>
              <a:rPr lang="en-US" dirty="0">
                <a:latin typeface="Arial" panose="020B0604020202020204" pitchFamily="34" charset="0"/>
                <a:cs typeface="Arial" panose="020B0604020202020204" pitchFamily="34" charset="0"/>
              </a:rPr>
              <a:t>Wait for the device seek and/or latency time</a:t>
            </a:r>
          </a:p>
          <a:p>
            <a:pPr lvl="1" algn="just"/>
            <a:r>
              <a:rPr lang="en-US" dirty="0">
                <a:latin typeface="Arial" panose="020B0604020202020204" pitchFamily="34" charset="0"/>
                <a:cs typeface="Arial" panose="020B0604020202020204" pitchFamily="34" charset="0"/>
              </a:rPr>
              <a:t>Begin the transfer of the page to a free frame</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While waiting, allocate the CPU to some other user </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Receive an interrupt from the disk I/O subsystem (I/O completed)</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Save the registers and process state for the other user</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Determine that the interrupt was from the disk</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Correct the page table and other tables to show that desired page is now in memory</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Wait for the CPU to be allocated to this process again</a:t>
            </a:r>
          </a:p>
          <a:p>
            <a:pPr marL="571500" indent="-457200" algn="just">
              <a:buClrTx/>
              <a:buFont typeface="+mj-lt"/>
              <a:buAutoNum type="arabicPeriod"/>
            </a:pPr>
            <a:r>
              <a:rPr lang="en-US" dirty="0">
                <a:latin typeface="Arial" panose="020B0604020202020204" pitchFamily="34" charset="0"/>
                <a:cs typeface="Arial" panose="020B0604020202020204" pitchFamily="34" charset="0"/>
              </a:rPr>
              <a:t>Restore the user registers, process state, and new page table, and then resume the interrupted instruction</a:t>
            </a:r>
          </a:p>
        </p:txBody>
      </p:sp>
    </p:spTree>
    <p:custDataLst>
      <p:tags r:id="rId1"/>
    </p:custDataLst>
    <p:extLst>
      <p:ext uri="{BB962C8B-B14F-4D97-AF65-F5344CB8AC3E}">
        <p14:creationId xmlns:p14="http://schemas.microsoft.com/office/powerpoint/2010/main" val="525096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Performance of Demand Paging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19943"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Three major activities</a:t>
                </a:r>
              </a:p>
              <a:p>
                <a:pPr lvl="1" algn="just"/>
                <a:r>
                  <a:rPr lang="en-US" dirty="0">
                    <a:latin typeface="Arial" panose="020B0604020202020204" pitchFamily="34" charset="0"/>
                    <a:cs typeface="Arial" panose="020B0604020202020204" pitchFamily="34" charset="0"/>
                  </a:rPr>
                  <a:t>Service the interrupt – careful coding means just several hundred instructions needed</a:t>
                </a:r>
              </a:p>
              <a:p>
                <a:pPr lvl="1" algn="just"/>
                <a:r>
                  <a:rPr lang="en-US" dirty="0">
                    <a:latin typeface="Arial" panose="020B0604020202020204" pitchFamily="34" charset="0"/>
                    <a:cs typeface="Arial" panose="020B0604020202020204" pitchFamily="34" charset="0"/>
                  </a:rPr>
                  <a:t>Read the page – lots of time</a:t>
                </a:r>
              </a:p>
              <a:p>
                <a:pPr lvl="1" algn="just"/>
                <a:r>
                  <a:rPr lang="en-US" dirty="0">
                    <a:latin typeface="Arial" panose="020B0604020202020204" pitchFamily="34" charset="0"/>
                    <a:cs typeface="Arial" panose="020B0604020202020204" pitchFamily="34" charset="0"/>
                  </a:rPr>
                  <a:t>Restart the process – again just a small amount of time</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Page Fault Rate 0</a:t>
                </a:r>
                <a14:m>
                  <m:oMath xmlns:m="http://schemas.openxmlformats.org/officeDocument/2006/math">
                    <m:r>
                      <a:rPr lang="en-US" b="0" i="0" dirty="0" smtClean="0">
                        <a:latin typeface="Cambria Math" panose="02040503050406030204" pitchFamily="18" charset="0"/>
                        <a:ea typeface="Cambria Math" panose="02040503050406030204" pitchFamily="18" charset="0"/>
                        <a:cs typeface="Arial" panose="020B0604020202020204" pitchFamily="34" charset="0"/>
                      </a:rPr>
                      <m:t> </m:t>
                    </m:r>
                    <m:r>
                      <a:rPr lang="en-US" i="1" dirty="0" smtClean="0">
                        <a:latin typeface="Cambria Math" panose="02040503050406030204" pitchFamily="18" charset="0"/>
                        <a:ea typeface="Cambria Math" panose="02040503050406030204" pitchFamily="18" charset="0"/>
                        <a:cs typeface="Arial" panose="020B0604020202020204" pitchFamily="34" charset="0"/>
                      </a:rPr>
                      <m:t>≤</m:t>
                    </m:r>
                  </m:oMath>
                </a14:m>
                <a:r>
                  <a:rPr lang="en-US" i="1" dirty="0">
                    <a:latin typeface="Arial" panose="020B0604020202020204" pitchFamily="34" charset="0"/>
                    <a:cs typeface="Arial" panose="020B0604020202020204" pitchFamily="34" charset="0"/>
                  </a:rPr>
                  <a:t> p</a:t>
                </a:r>
                <a14:m>
                  <m:oMath xmlns:m="http://schemas.openxmlformats.org/officeDocument/2006/math">
                    <m:r>
                      <a:rPr lang="en-US" b="0" i="1" dirty="0" smtClean="0">
                        <a:latin typeface="Cambria Math" panose="02040503050406030204" pitchFamily="18" charset="0"/>
                        <a:ea typeface="Cambria Math" panose="02040503050406030204" pitchFamily="18" charset="0"/>
                        <a:cs typeface="Arial" panose="020B0604020202020204" pitchFamily="34" charset="0"/>
                      </a:rPr>
                      <m:t> </m:t>
                    </m:r>
                    <m:r>
                      <a:rPr lang="en-US" i="1" dirty="0">
                        <a:latin typeface="Cambria Math" panose="02040503050406030204" pitchFamily="18" charset="0"/>
                        <a:ea typeface="Cambria Math" panose="02040503050406030204" pitchFamily="18" charset="0"/>
                        <a:cs typeface="Arial" panose="020B0604020202020204" pitchFamily="34" charset="0"/>
                      </a:rPr>
                      <m:t>≤</m:t>
                    </m:r>
                  </m:oMath>
                </a14:m>
                <a:r>
                  <a:rPr lang="en-US" dirty="0">
                    <a:latin typeface="Arial" panose="020B0604020202020204" pitchFamily="34" charset="0"/>
                    <a:cs typeface="Arial" panose="020B0604020202020204" pitchFamily="34" charset="0"/>
                  </a:rPr>
                  <a:t> 1 </a:t>
                </a:r>
              </a:p>
              <a:p>
                <a:pPr lvl="1" algn="just"/>
                <a:r>
                  <a:rPr lang="en-US" dirty="0">
                    <a:latin typeface="Arial" panose="020B0604020202020204" pitchFamily="34" charset="0"/>
                    <a:cs typeface="Arial" panose="020B0604020202020204" pitchFamily="34" charset="0"/>
                  </a:rPr>
                  <a:t>If </a:t>
                </a:r>
                <a:r>
                  <a:rPr lang="en-US" i="1" dirty="0">
                    <a:latin typeface="Arial" panose="020B0604020202020204" pitchFamily="34" charset="0"/>
                    <a:cs typeface="Arial" panose="020B0604020202020204" pitchFamily="34" charset="0"/>
                  </a:rPr>
                  <a:t>p </a:t>
                </a:r>
                <a:r>
                  <a:rPr lang="en-US" dirty="0">
                    <a:latin typeface="Arial" panose="020B0604020202020204" pitchFamily="34" charset="0"/>
                    <a:cs typeface="Arial" panose="020B0604020202020204" pitchFamily="34" charset="0"/>
                  </a:rPr>
                  <a:t>= 0 no page faults</a:t>
                </a:r>
              </a:p>
              <a:p>
                <a:pPr lvl="1" algn="just"/>
                <a:r>
                  <a:rPr lang="en-US" dirty="0">
                    <a:latin typeface="Arial" panose="020B0604020202020204" pitchFamily="34" charset="0"/>
                    <a:cs typeface="Arial" panose="020B0604020202020204" pitchFamily="34" charset="0"/>
                  </a:rPr>
                  <a:t>If </a:t>
                </a:r>
                <a:r>
                  <a:rPr lang="en-US" i="1" dirty="0">
                    <a:latin typeface="Arial" panose="020B0604020202020204" pitchFamily="34" charset="0"/>
                    <a:cs typeface="Arial" panose="020B0604020202020204" pitchFamily="34" charset="0"/>
                  </a:rPr>
                  <a:t>p </a:t>
                </a:r>
                <a:r>
                  <a:rPr lang="en-US" dirty="0">
                    <a:latin typeface="Arial" panose="020B0604020202020204" pitchFamily="34" charset="0"/>
                    <a:cs typeface="Arial" panose="020B0604020202020204" pitchFamily="34" charset="0"/>
                  </a:rPr>
                  <a:t>= 1, every reference is a fault</a:t>
                </a:r>
              </a:p>
              <a:p>
                <a:pPr algn="just"/>
                <a:endParaRPr lang="en-US" sz="1400" b="1" dirty="0">
                  <a:solidFill>
                    <a:srgbClr val="FF0000"/>
                  </a:solidFill>
                  <a:latin typeface="Arial" panose="020B0604020202020204" pitchFamily="34" charset="0"/>
                  <a:ea typeface="ＭＳ Ｐゴシック" pitchFamily="-84" charset="-128"/>
                  <a:cs typeface="Arial" panose="020B0604020202020204" pitchFamily="34" charset="0"/>
                  <a:sym typeface="Symbol" pitchFamily="18" charset="2"/>
                </a:endParaRPr>
              </a:p>
              <a:p>
                <a:pPr algn="just"/>
                <a:r>
                  <a:rPr lang="en-US" b="1" dirty="0">
                    <a:solidFill>
                      <a:srgbClr val="FF0000"/>
                    </a:solidFill>
                    <a:latin typeface="Arial" panose="020B0604020202020204" pitchFamily="34" charset="0"/>
                    <a:ea typeface="ＭＳ Ｐゴシック" pitchFamily="-84" charset="-128"/>
                    <a:cs typeface="Arial" panose="020B0604020202020204" pitchFamily="34" charset="0"/>
                    <a:sym typeface="Symbol" pitchFamily="18" charset="2"/>
                  </a:rPr>
                  <a:t>Effective Access Time</a:t>
                </a:r>
                <a:r>
                  <a:rPr lang="en-US" dirty="0">
                    <a:solidFill>
                      <a:srgbClr val="FF0000"/>
                    </a:solidFill>
                    <a:latin typeface="Arial" panose="020B0604020202020204" pitchFamily="34" charset="0"/>
                    <a:ea typeface="ＭＳ Ｐゴシック" pitchFamily="-84" charset="-128"/>
                    <a:cs typeface="Arial" panose="020B0604020202020204" pitchFamily="34" charset="0"/>
                    <a:sym typeface="Symbol" pitchFamily="18" charset="2"/>
                  </a:rPr>
                  <a:t> (</a:t>
                </a:r>
                <a:r>
                  <a:rPr lang="en-US" b="1" dirty="0">
                    <a:solidFill>
                      <a:srgbClr val="FF0000"/>
                    </a:solidFill>
                    <a:latin typeface="Arial" panose="020B0604020202020204" pitchFamily="34" charset="0"/>
                    <a:ea typeface="ＭＳ Ｐゴシック" pitchFamily="-84" charset="-128"/>
                    <a:cs typeface="Arial" panose="020B0604020202020204" pitchFamily="34" charset="0"/>
                    <a:sym typeface="Symbol" pitchFamily="18" charset="2"/>
                  </a:rPr>
                  <a:t>EAT</a:t>
                </a:r>
                <a:r>
                  <a:rPr lang="en-US" dirty="0">
                    <a:solidFill>
                      <a:srgbClr val="FF0000"/>
                    </a:solidFill>
                    <a:latin typeface="Arial" panose="020B0604020202020204" pitchFamily="34" charset="0"/>
                    <a:ea typeface="ＭＳ Ｐゴシック" pitchFamily="-84" charset="-128"/>
                    <a:cs typeface="Arial" panose="020B0604020202020204" pitchFamily="34" charset="0"/>
                    <a:sym typeface="Symbol" pitchFamily="18" charset="2"/>
                  </a:rPr>
                  <a:t>)</a:t>
                </a:r>
              </a:p>
              <a:p>
                <a:pPr lvl="1">
                  <a:lnSpc>
                    <a:spcPct val="90000"/>
                  </a:lnSpc>
                  <a:tabLst>
                    <a:tab pos="2063592" algn="l"/>
                    <a:tab pos="2568099" algn="l"/>
                  </a:tabLst>
                </a:pPr>
                <a:r>
                  <a:rPr lang="en-US" dirty="0">
                    <a:latin typeface="Arial" panose="020B0604020202020204" pitchFamily="34" charset="0"/>
                    <a:cs typeface="Arial" panose="020B0604020202020204" pitchFamily="34" charset="0"/>
                  </a:rPr>
                  <a:t>EAT = (1 – p)(memory access) </a:t>
                </a:r>
              </a:p>
              <a:p>
                <a:pPr marL="411480" lvl="1" indent="0">
                  <a:lnSpc>
                    <a:spcPct val="90000"/>
                  </a:lnSpc>
                  <a:buNone/>
                  <a:tabLst>
                    <a:tab pos="2063592" algn="l"/>
                    <a:tab pos="2568099" algn="l"/>
                  </a:tabLst>
                </a:pPr>
                <a:r>
                  <a:rPr lang="en-US" dirty="0">
                    <a:latin typeface="Arial" panose="020B0604020202020204" pitchFamily="34" charset="0"/>
                    <a:cs typeface="Arial" panose="020B0604020202020204" pitchFamily="34" charset="0"/>
                  </a:rPr>
                  <a:t>               + p (page fault overhead </a:t>
                </a:r>
              </a:p>
              <a:p>
                <a:pPr marL="411480" lvl="1" indent="0">
                  <a:lnSpc>
                    <a:spcPct val="90000"/>
                  </a:lnSpc>
                  <a:buNone/>
                  <a:tabLst>
                    <a:tab pos="2063592" algn="l"/>
                    <a:tab pos="2568099" algn="l"/>
                  </a:tabLst>
                </a:pPr>
                <a:r>
                  <a:rPr lang="en-US" dirty="0">
                    <a:latin typeface="Arial" panose="020B0604020202020204" pitchFamily="34" charset="0"/>
                    <a:cs typeface="Arial" panose="020B0604020202020204" pitchFamily="34" charset="0"/>
                  </a:rPr>
                  <a:t>               + swap page out </a:t>
                </a:r>
              </a:p>
              <a:p>
                <a:pPr marL="411480" lvl="1" indent="0">
                  <a:lnSpc>
                    <a:spcPct val="90000"/>
                  </a:lnSpc>
                  <a:buNone/>
                  <a:tabLst>
                    <a:tab pos="2063592" algn="l"/>
                    <a:tab pos="2568099" algn="l"/>
                  </a:tabLst>
                </a:pPr>
                <a:r>
                  <a:rPr lang="en-US" dirty="0">
                    <a:latin typeface="Arial" panose="020B0604020202020204" pitchFamily="34" charset="0"/>
                    <a:cs typeface="Arial" panose="020B0604020202020204" pitchFamily="34" charset="0"/>
                  </a:rPr>
                  <a:t>               + swap page in)</a:t>
                </a:r>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p:txBody>
          </p:sp>
        </mc:Choice>
        <mc:Fallback xmlns="">
          <p:sp>
            <p:nvSpPr>
              <p:cNvPr id="12" name="Rectangle 3">
                <a:extLst>
                  <a:ext uri="{FF2B5EF4-FFF2-40B4-BE49-F238E27FC236}">
                    <a16:creationId xmlns:a16="http://schemas.microsoft.com/office/drawing/2014/main" id="{A773B303-CEA4-39FE-8190-A77ECCC638B8}"/>
                  </a:ext>
                </a:extLst>
              </p:cNvPr>
              <p:cNvSpPr txBox="1">
                <a:spLocks noRot="1" noChangeAspect="1" noMove="1" noResize="1" noEditPoints="1" noAdjustHandles="1" noChangeArrowheads="1" noChangeShapeType="1" noTextEdit="1"/>
              </p:cNvSpPr>
              <p:nvPr/>
            </p:nvSpPr>
            <p:spPr>
              <a:xfrm>
                <a:off x="632150" y="1453242"/>
                <a:ext cx="10519943" cy="5404758"/>
              </a:xfrm>
              <a:prstGeom prst="rect">
                <a:avLst/>
              </a:prstGeom>
              <a:blipFill>
                <a:blip r:embed="rId3"/>
                <a:stretch>
                  <a:fillRect t="-564"/>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325734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2062-E981-9BF0-B7BE-BFC7273E2BF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3F9C99D-D9DA-72CE-968A-D137F13A2CE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 Example</a:t>
            </a:r>
          </a:p>
        </p:txBody>
      </p:sp>
      <p:sp>
        <p:nvSpPr>
          <p:cNvPr id="3" name="Slide Number Placeholder 2">
            <a:extLst>
              <a:ext uri="{FF2B5EF4-FFF2-40B4-BE49-F238E27FC236}">
                <a16:creationId xmlns:a16="http://schemas.microsoft.com/office/drawing/2014/main" id="{2A466741-2CEB-7BF4-C903-3B62F7D2C73E}"/>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ECD3AB43-8CE7-6215-B602-302A74C4E66B}"/>
              </a:ext>
            </a:extLst>
          </p:cNvPr>
          <p:cNvSpPr txBox="1">
            <a:spLocks noChangeArrowheads="1"/>
          </p:cNvSpPr>
          <p:nvPr/>
        </p:nvSpPr>
        <p:spPr>
          <a:xfrm>
            <a:off x="632150" y="1453242"/>
            <a:ext cx="10519943"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Memory access time = 200 nanoseconds</a:t>
            </a:r>
          </a:p>
          <a:p>
            <a:pPr algn="just"/>
            <a:r>
              <a:rPr lang="en-US" dirty="0">
                <a:latin typeface="Arial" panose="020B0604020202020204" pitchFamily="34" charset="0"/>
                <a:cs typeface="Arial" panose="020B0604020202020204" pitchFamily="34" charset="0"/>
              </a:rPr>
              <a:t>Average page-fault service time = 8 milliseconds</a:t>
            </a:r>
          </a:p>
          <a:p>
            <a:pPr>
              <a:lnSpc>
                <a:spcPct val="90000"/>
              </a:lnSpc>
              <a:tabLst>
                <a:tab pos="2063592" algn="l"/>
                <a:tab pos="2568099" algn="l"/>
              </a:tabLst>
            </a:pPr>
            <a:r>
              <a:rPr lang="en-US" dirty="0">
                <a:latin typeface="Arial" panose="020B0604020202020204" pitchFamily="34" charset="0"/>
                <a:cs typeface="Arial" panose="020B0604020202020204" pitchFamily="34" charset="0"/>
              </a:rPr>
              <a:t>EAT = (1 – p) (200) + (p)(8 milliseconds)</a:t>
            </a:r>
          </a:p>
          <a:p>
            <a:pPr marL="114300" indent="0">
              <a:lnSpc>
                <a:spcPct val="90000"/>
              </a:lnSpc>
              <a:buNone/>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           </a:t>
            </a:r>
            <a:r>
              <a:rPr lang="en-US" dirty="0">
                <a:latin typeface="Arial" panose="020B0604020202020204" pitchFamily="34" charset="0"/>
                <a:cs typeface="Arial" panose="020B0604020202020204" pitchFamily="34" charset="0"/>
              </a:rPr>
              <a:t>= (1 – p) (200) + (p)(8,000,000)</a:t>
            </a:r>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a:p>
            <a:pPr marL="114300" indent="0">
              <a:lnSpc>
                <a:spcPct val="90000"/>
              </a:lnSpc>
              <a:buNone/>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           </a:t>
            </a:r>
            <a:r>
              <a:rPr lang="en-US" dirty="0">
                <a:latin typeface="Arial" panose="020B0604020202020204" pitchFamily="34" charset="0"/>
                <a:cs typeface="Arial" panose="020B0604020202020204" pitchFamily="34" charset="0"/>
              </a:rPr>
              <a:t>= 200 + (p)(7,999,800)</a:t>
            </a:r>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a:p>
            <a:pPr algn="just"/>
            <a:endParaRPr lang="en-US" sz="1200" dirty="0">
              <a:latin typeface="Arial" panose="020B0604020202020204" pitchFamily="34" charset="0"/>
              <a:cs typeface="Arial" panose="020B0604020202020204" pitchFamily="34" charset="0"/>
              <a:sym typeface="Symbol" pitchFamily="18" charset="2"/>
            </a:endParaRPr>
          </a:p>
          <a:p>
            <a:pPr algn="just"/>
            <a:r>
              <a:rPr lang="en-US" dirty="0">
                <a:latin typeface="Arial" panose="020B0604020202020204" pitchFamily="34" charset="0"/>
                <a:cs typeface="Arial" panose="020B0604020202020204" pitchFamily="34" charset="0"/>
                <a:sym typeface="Symbol" pitchFamily="18" charset="2"/>
              </a:rPr>
              <a:t>If one access out of 1,000 causes a page fault, then EAT = 8.2 microseconds.</a:t>
            </a:r>
          </a:p>
          <a:p>
            <a:pPr algn="just"/>
            <a:r>
              <a:rPr lang="en-US" dirty="0">
                <a:latin typeface="Arial" panose="020B0604020202020204" pitchFamily="34" charset="0"/>
                <a:cs typeface="Arial" panose="020B0604020202020204" pitchFamily="34" charset="0"/>
              </a:rPr>
              <a:t>This is a slowdown by a factor of 40!!</a:t>
            </a:r>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a:p>
            <a:pPr algn="just"/>
            <a:endParaRPr lang="en-US" sz="1200" dirty="0">
              <a:latin typeface="Arial" panose="020B0604020202020204" pitchFamily="34" charset="0"/>
              <a:ea typeface="ＭＳ Ｐゴシック" pitchFamily="-84" charset="-128"/>
              <a:cs typeface="Arial" panose="020B0604020202020204" pitchFamily="34" charset="0"/>
              <a:sym typeface="Symbol" pitchFamily="18" charset="2"/>
            </a:endParaRPr>
          </a:p>
          <a:p>
            <a:pPr algn="just"/>
            <a:r>
              <a:rPr lang="en-US" dirty="0">
                <a:latin typeface="Arial" panose="020B0604020202020204" pitchFamily="34" charset="0"/>
                <a:cs typeface="Arial" panose="020B0604020202020204" pitchFamily="34" charset="0"/>
              </a:rPr>
              <a:t>If want performance degradation &lt; 10 percent</a:t>
            </a:r>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a:p>
            <a:pPr lvl="1" algn="just"/>
            <a:r>
              <a:rPr lang="en-US" dirty="0">
                <a:latin typeface="Arial" panose="020B0604020202020204" pitchFamily="34" charset="0"/>
                <a:cs typeface="Arial" panose="020B0604020202020204" pitchFamily="34" charset="0"/>
              </a:rPr>
              <a:t>220 &gt; 200 + 7,999,800 x p</a:t>
            </a:r>
          </a:p>
          <a:p>
            <a:pPr marL="411480" lvl="1" indent="0" algn="just">
              <a:buNone/>
            </a:pPr>
            <a:r>
              <a:rPr lang="en-US" dirty="0">
                <a:latin typeface="Arial" panose="020B0604020202020204" pitchFamily="34" charset="0"/>
                <a:ea typeface="ＭＳ Ｐゴシック" pitchFamily="-84" charset="-128"/>
                <a:cs typeface="Arial" panose="020B0604020202020204" pitchFamily="34" charset="0"/>
                <a:sym typeface="Symbol" pitchFamily="18" charset="2"/>
              </a:rPr>
              <a:t>   20 &gt; 7,999,800 x p</a:t>
            </a:r>
          </a:p>
          <a:p>
            <a:pPr marL="411480" lvl="1" indent="0" algn="just">
              <a:buNone/>
            </a:pPr>
            <a:r>
              <a:rPr lang="en-US" dirty="0">
                <a:latin typeface="Arial" panose="020B0604020202020204" pitchFamily="34" charset="0"/>
                <a:cs typeface="Arial" panose="020B0604020202020204" pitchFamily="34" charset="0"/>
              </a:rPr>
              <a:t>   p &lt; .0000025</a:t>
            </a:r>
          </a:p>
          <a:p>
            <a:pPr lvl="1" algn="just"/>
            <a:r>
              <a:rPr lang="en-US" dirty="0">
                <a:latin typeface="Arial" panose="020B0604020202020204" pitchFamily="34" charset="0"/>
                <a:ea typeface="ＭＳ Ｐゴシック" pitchFamily="-84" charset="-128"/>
                <a:cs typeface="Arial" panose="020B0604020202020204" pitchFamily="34" charset="0"/>
                <a:sym typeface="Symbol" pitchFamily="18" charset="2"/>
              </a:rPr>
              <a:t>&lt; one page fault in every 400,000 memory accesses</a:t>
            </a:r>
          </a:p>
        </p:txBody>
      </p:sp>
    </p:spTree>
    <p:custDataLst>
      <p:tags r:id="rId1"/>
    </p:custDataLst>
    <p:extLst>
      <p:ext uri="{BB962C8B-B14F-4D97-AF65-F5344CB8AC3E}">
        <p14:creationId xmlns:p14="http://schemas.microsoft.com/office/powerpoint/2010/main" val="3430705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F118-F8F1-F9BF-66DF-BA7B1367618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50198D1-5A7C-3DD7-8CC4-DD63F94705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 Optimizations</a:t>
            </a:r>
          </a:p>
        </p:txBody>
      </p:sp>
      <p:sp>
        <p:nvSpPr>
          <p:cNvPr id="3" name="Slide Number Placeholder 2">
            <a:extLst>
              <a:ext uri="{FF2B5EF4-FFF2-40B4-BE49-F238E27FC236}">
                <a16:creationId xmlns:a16="http://schemas.microsoft.com/office/drawing/2014/main" id="{D13578B0-6548-5F09-BF6E-AD75CA5B1DB5}"/>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E287095D-D859-B733-50F8-1BE1F3CC39B4}"/>
              </a:ext>
            </a:extLst>
          </p:cNvPr>
          <p:cNvSpPr txBox="1">
            <a:spLocks noChangeArrowheads="1"/>
          </p:cNvSpPr>
          <p:nvPr/>
        </p:nvSpPr>
        <p:spPr>
          <a:xfrm>
            <a:off x="632151" y="1453240"/>
            <a:ext cx="104339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Swap space I/O faster than file system I/O even if on the same device</a:t>
            </a:r>
          </a:p>
          <a:p>
            <a:pPr lvl="1" algn="just"/>
            <a:r>
              <a:rPr lang="en-US" dirty="0">
                <a:latin typeface="Arial" panose="020B0604020202020204" pitchFamily="34" charset="0"/>
                <a:cs typeface="Arial" panose="020B0604020202020204" pitchFamily="34" charset="0"/>
              </a:rPr>
              <a:t>Swap allocated in larger chunks; less management needed than file system</a:t>
            </a:r>
          </a:p>
          <a:p>
            <a:pPr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Copy entire process image to swap space at process load time</a:t>
            </a:r>
          </a:p>
          <a:p>
            <a:pPr lvl="1" algn="just"/>
            <a:r>
              <a:rPr lang="en-US" dirty="0">
                <a:latin typeface="Arial" panose="020B0604020202020204" pitchFamily="34" charset="0"/>
                <a:cs typeface="Arial" panose="020B0604020202020204" pitchFamily="34" charset="0"/>
              </a:rPr>
              <a:t>Then page in and out of swap space (used in older BSD Unix)</a:t>
            </a:r>
          </a:p>
          <a:p>
            <a:pPr lvl="1"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Demand page in from program binary on disk, but discard rather than paging out when freeing frame</a:t>
            </a:r>
          </a:p>
          <a:p>
            <a:pPr lvl="1" algn="just"/>
            <a:r>
              <a:rPr lang="en-US" dirty="0">
                <a:latin typeface="Arial" panose="020B0604020202020204" pitchFamily="34" charset="0"/>
                <a:cs typeface="Arial" panose="020B0604020202020204" pitchFamily="34" charset="0"/>
              </a:rPr>
              <a:t>Used in Solaris and current BSD</a:t>
            </a:r>
          </a:p>
          <a:p>
            <a:pPr lvl="1" algn="just"/>
            <a:r>
              <a:rPr lang="en-US" dirty="0">
                <a:latin typeface="Arial" panose="020B0604020202020204" pitchFamily="34" charset="0"/>
                <a:cs typeface="Arial" panose="020B0604020202020204" pitchFamily="34" charset="0"/>
              </a:rPr>
              <a:t>Still need to write to swap space</a:t>
            </a:r>
          </a:p>
          <a:p>
            <a:pPr lvl="2" algn="just"/>
            <a:r>
              <a:rPr lang="en-US" dirty="0">
                <a:latin typeface="Arial" panose="020B0604020202020204" pitchFamily="34" charset="0"/>
                <a:cs typeface="Arial" panose="020B0604020202020204" pitchFamily="34" charset="0"/>
              </a:rPr>
              <a:t>Pages not associated with a file (like stack and heap) – </a:t>
            </a:r>
            <a:r>
              <a:rPr lang="en-US" b="1" dirty="0">
                <a:solidFill>
                  <a:srgbClr val="00B050"/>
                </a:solidFill>
                <a:latin typeface="Arial" panose="020B0604020202020204" pitchFamily="34" charset="0"/>
                <a:cs typeface="Arial" panose="020B0604020202020204" pitchFamily="34" charset="0"/>
              </a:rPr>
              <a:t>anonymous memory</a:t>
            </a:r>
          </a:p>
          <a:p>
            <a:pPr lvl="2" algn="just"/>
            <a:r>
              <a:rPr lang="en-US" dirty="0">
                <a:latin typeface="Arial" panose="020B0604020202020204" pitchFamily="34" charset="0"/>
                <a:cs typeface="Arial" panose="020B0604020202020204" pitchFamily="34" charset="0"/>
              </a:rPr>
              <a:t>Pages modified in memory but not yet written back to the file system</a:t>
            </a:r>
          </a:p>
          <a:p>
            <a:pPr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Mobile systems</a:t>
            </a:r>
          </a:p>
          <a:p>
            <a:pPr lvl="1" algn="just"/>
            <a:r>
              <a:rPr lang="en-US" dirty="0">
                <a:latin typeface="Arial" panose="020B0604020202020204" pitchFamily="34" charset="0"/>
                <a:cs typeface="Arial" panose="020B0604020202020204" pitchFamily="34" charset="0"/>
              </a:rPr>
              <a:t>Typically, don’t support swapping</a:t>
            </a:r>
          </a:p>
          <a:p>
            <a:pPr lvl="1" algn="just"/>
            <a:r>
              <a:rPr lang="en-US" dirty="0">
                <a:latin typeface="Arial" panose="020B0604020202020204" pitchFamily="34" charset="0"/>
                <a:cs typeface="Arial" panose="020B0604020202020204" pitchFamily="34" charset="0"/>
              </a:rPr>
              <a:t>Instead, demand page from file system and reclaim read-only pages (such as code)</a:t>
            </a:r>
          </a:p>
        </p:txBody>
      </p:sp>
    </p:spTree>
    <p:custDataLst>
      <p:tags r:id="rId1"/>
    </p:custDataLst>
    <p:extLst>
      <p:ext uri="{BB962C8B-B14F-4D97-AF65-F5344CB8AC3E}">
        <p14:creationId xmlns:p14="http://schemas.microsoft.com/office/powerpoint/2010/main" val="4045099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DC586-D17B-7B0A-1CCB-71CB70A81F5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A114E9B-FE1A-01F4-A472-0777F2C4D69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Copy-on-Write</a:t>
            </a:r>
          </a:p>
        </p:txBody>
      </p:sp>
      <p:sp>
        <p:nvSpPr>
          <p:cNvPr id="3" name="Slide Number Placeholder 2">
            <a:extLst>
              <a:ext uri="{FF2B5EF4-FFF2-40B4-BE49-F238E27FC236}">
                <a16:creationId xmlns:a16="http://schemas.microsoft.com/office/drawing/2014/main" id="{1C2DC91E-D4A1-E19D-B8C9-1AB08F7D51B7}"/>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0FC7E82D-CC89-C787-A202-6E26752F8D54}"/>
              </a:ext>
            </a:extLst>
          </p:cNvPr>
          <p:cNvSpPr txBox="1">
            <a:spLocks noChangeArrowheads="1"/>
          </p:cNvSpPr>
          <p:nvPr/>
        </p:nvSpPr>
        <p:spPr>
          <a:xfrm>
            <a:off x="632151" y="1453240"/>
            <a:ext cx="104339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Copy-on-Write</a:t>
            </a:r>
            <a:r>
              <a:rPr lang="en-US" dirty="0">
                <a:latin typeface="Arial" panose="020B0604020202020204" pitchFamily="34" charset="0"/>
                <a:cs typeface="Arial" panose="020B0604020202020204" pitchFamily="34" charset="0"/>
              </a:rPr>
              <a:t> (COW) allows both parent and child processes to initially share the same pages in memory</a:t>
            </a:r>
          </a:p>
          <a:p>
            <a:pPr lvl="1" algn="just"/>
            <a:r>
              <a:rPr lang="en-US" dirty="0">
                <a:latin typeface="Arial" panose="020B0604020202020204" pitchFamily="34" charset="0"/>
                <a:cs typeface="Arial" panose="020B0604020202020204" pitchFamily="34" charset="0"/>
              </a:rPr>
              <a:t>If either process modifies a shared page, only then is the page copied</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COW allows more efficient process creation as only modified pages are copied</a:t>
            </a:r>
          </a:p>
          <a:p>
            <a:pPr algn="just"/>
            <a:r>
              <a:rPr lang="en-US" dirty="0">
                <a:latin typeface="Arial" panose="020B0604020202020204" pitchFamily="34" charset="0"/>
                <a:cs typeface="Arial" panose="020B0604020202020204" pitchFamily="34" charset="0"/>
              </a:rPr>
              <a:t>In general, free pages are allocated from a </a:t>
            </a:r>
            <a:r>
              <a:rPr lang="en-US" b="1" dirty="0">
                <a:solidFill>
                  <a:srgbClr val="FF0000"/>
                </a:solidFill>
                <a:latin typeface="Arial" panose="020B0604020202020204" pitchFamily="34" charset="0"/>
                <a:cs typeface="Arial" panose="020B0604020202020204" pitchFamily="34" charset="0"/>
              </a:rPr>
              <a:t>pool</a:t>
            </a:r>
            <a:r>
              <a:rPr lang="en-US" dirty="0">
                <a:latin typeface="Arial" panose="020B0604020202020204" pitchFamily="34" charset="0"/>
                <a:cs typeface="Arial" panose="020B0604020202020204" pitchFamily="34" charset="0"/>
              </a:rPr>
              <a:t> of </a:t>
            </a:r>
            <a:r>
              <a:rPr lang="en-US" b="1" dirty="0">
                <a:solidFill>
                  <a:srgbClr val="FF0000"/>
                </a:solidFill>
                <a:latin typeface="Arial" panose="020B0604020202020204" pitchFamily="34" charset="0"/>
                <a:cs typeface="Arial" panose="020B0604020202020204" pitchFamily="34" charset="0"/>
              </a:rPr>
              <a:t>zero-fill-on-demand</a:t>
            </a:r>
            <a:r>
              <a:rPr lang="en-US" dirty="0">
                <a:latin typeface="Arial" panose="020B0604020202020204" pitchFamily="34" charset="0"/>
                <a:cs typeface="Arial" panose="020B0604020202020204" pitchFamily="34" charset="0"/>
              </a:rPr>
              <a:t> pages</a:t>
            </a:r>
          </a:p>
          <a:p>
            <a:pPr lvl="1" algn="just"/>
            <a:r>
              <a:rPr lang="en-US" dirty="0">
                <a:latin typeface="Arial" panose="020B0604020202020204" pitchFamily="34" charset="0"/>
                <a:cs typeface="Arial" panose="020B0604020202020204" pitchFamily="34" charset="0"/>
              </a:rPr>
              <a:t>Pool should always have free frames for fast demand page execution</a:t>
            </a:r>
          </a:p>
          <a:p>
            <a:pPr lvl="2" algn="just"/>
            <a:r>
              <a:rPr lang="en-US" dirty="0">
                <a:latin typeface="Arial" panose="020B0604020202020204" pitchFamily="34" charset="0"/>
                <a:cs typeface="Arial" panose="020B0604020202020204" pitchFamily="34" charset="0"/>
              </a:rPr>
              <a:t>Don’t want to have to free a frame as well as other processing on page fault</a:t>
            </a:r>
          </a:p>
          <a:p>
            <a:pPr lvl="1" algn="just"/>
            <a:r>
              <a:rPr lang="en-US" dirty="0">
                <a:latin typeface="Arial" panose="020B0604020202020204" pitchFamily="34" charset="0"/>
                <a:cs typeface="Arial" panose="020B0604020202020204" pitchFamily="34" charset="0"/>
              </a:rPr>
              <a:t>Why zero-out a page before allocating it?</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err="1">
                <a:latin typeface="Courier New" panose="02070309020205020404" pitchFamily="49" charset="0"/>
                <a:cs typeface="Courier New" panose="02070309020205020404" pitchFamily="49" charset="0"/>
              </a:rPr>
              <a:t>vfork</a:t>
            </a:r>
            <a:r>
              <a:rPr lang="en-US" b="1" dirty="0">
                <a:latin typeface="Courier New" panose="02070309020205020404" pitchFamily="49" charset="0"/>
                <a:cs typeface="Courier New" panose="02070309020205020404" pitchFamily="49" charset="0"/>
              </a:rPr>
              <a:t>()</a:t>
            </a:r>
            <a:r>
              <a:rPr lang="en-US" dirty="0">
                <a:latin typeface="Arial" panose="020B0604020202020204" pitchFamily="34" charset="0"/>
                <a:cs typeface="Arial" panose="020B0604020202020204" pitchFamily="34" charset="0"/>
              </a:rPr>
              <a:t> variation on </a:t>
            </a:r>
            <a:r>
              <a:rPr lang="en-US" b="1" dirty="0">
                <a:latin typeface="Courier New" panose="02070309020205020404" pitchFamily="49" charset="0"/>
                <a:cs typeface="Courier New" panose="02070309020205020404" pitchFamily="49" charset="0"/>
              </a:rPr>
              <a:t>fork() </a:t>
            </a:r>
            <a:r>
              <a:rPr lang="en-US" dirty="0">
                <a:latin typeface="Arial" panose="020B0604020202020204" pitchFamily="34" charset="0"/>
                <a:cs typeface="Arial" panose="020B0604020202020204" pitchFamily="34" charset="0"/>
              </a:rPr>
              <a:t>system call has parent suspend and child using copy-on-write address space of parent</a:t>
            </a:r>
          </a:p>
          <a:p>
            <a:pPr lvl="1" algn="just"/>
            <a:r>
              <a:rPr lang="en-US" dirty="0">
                <a:latin typeface="Arial" panose="020B0604020202020204" pitchFamily="34" charset="0"/>
                <a:cs typeface="Arial" panose="020B0604020202020204" pitchFamily="34" charset="0"/>
              </a:rPr>
              <a:t>Designed to have child call exec()</a:t>
            </a:r>
          </a:p>
          <a:p>
            <a:pPr lvl="1" algn="just"/>
            <a:r>
              <a:rPr lang="en-US" dirty="0">
                <a:latin typeface="Arial" panose="020B0604020202020204" pitchFamily="34" charset="0"/>
                <a:cs typeface="Arial" panose="020B0604020202020204" pitchFamily="34" charset="0"/>
              </a:rPr>
              <a:t>Very efficient</a:t>
            </a:r>
          </a:p>
        </p:txBody>
      </p:sp>
    </p:spTree>
    <p:custDataLst>
      <p:tags r:id="rId1"/>
    </p:custDataLst>
    <p:extLst>
      <p:ext uri="{BB962C8B-B14F-4D97-AF65-F5344CB8AC3E}">
        <p14:creationId xmlns:p14="http://schemas.microsoft.com/office/powerpoint/2010/main" val="1543102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16CCE-8BFA-D55E-5D4F-39230B32858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F559FF1-8E17-7BF1-D804-77E1AC8DCB7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Copy-on-Write</a:t>
            </a:r>
          </a:p>
        </p:txBody>
      </p:sp>
      <p:sp>
        <p:nvSpPr>
          <p:cNvPr id="3" name="Slide Number Placeholder 2">
            <a:extLst>
              <a:ext uri="{FF2B5EF4-FFF2-40B4-BE49-F238E27FC236}">
                <a16:creationId xmlns:a16="http://schemas.microsoft.com/office/drawing/2014/main" id="{8D164274-7C8C-E133-997E-1B4728967E09}"/>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pic>
        <p:nvPicPr>
          <p:cNvPr id="29699" name="Picture 4" descr="9">
            <a:extLst>
              <a:ext uri="{FF2B5EF4-FFF2-40B4-BE49-F238E27FC236}">
                <a16:creationId xmlns:a16="http://schemas.microsoft.com/office/drawing/2014/main" id="{BC34FA32-F8B2-44C4-BE2E-AA1E08212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5995" y="1273921"/>
            <a:ext cx="4937760" cy="198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DB2F075-C4CA-8098-6A0C-5936B8B1F3F6}"/>
              </a:ext>
            </a:extLst>
          </p:cNvPr>
          <p:cNvSpPr txBox="1"/>
          <p:nvPr/>
        </p:nvSpPr>
        <p:spPr>
          <a:xfrm>
            <a:off x="3792073" y="3391412"/>
            <a:ext cx="4392706" cy="338554"/>
          </a:xfrm>
          <a:prstGeom prst="rect">
            <a:avLst/>
          </a:prstGeom>
          <a:noFill/>
        </p:spPr>
        <p:txBody>
          <a:bodyPr wrap="square">
            <a:spAutoFit/>
          </a:bodyPr>
          <a:lstStyle/>
          <a:p>
            <a:r>
              <a:rPr lang="en-US" altLang="en-US" sz="1600" b="1" i="1" dirty="0">
                <a:latin typeface="Arial" panose="020B0604020202020204" pitchFamily="34" charset="0"/>
                <a:cs typeface="Arial" panose="020B0604020202020204" pitchFamily="34" charset="0"/>
              </a:rPr>
              <a:t>Before Process 1 Modifies Page C</a:t>
            </a:r>
            <a:endParaRPr lang="en-US" sz="1600" b="1" i="1" dirty="0">
              <a:latin typeface="Arial" panose="020B0604020202020204" pitchFamily="34" charset="0"/>
              <a:cs typeface="Arial" panose="020B0604020202020204" pitchFamily="34" charset="0"/>
            </a:endParaRPr>
          </a:p>
        </p:txBody>
      </p:sp>
      <p:pic>
        <p:nvPicPr>
          <p:cNvPr id="30723" name="Picture 4" descr="9">
            <a:extLst>
              <a:ext uri="{FF2B5EF4-FFF2-40B4-BE49-F238E27FC236}">
                <a16:creationId xmlns:a16="http://schemas.microsoft.com/office/drawing/2014/main" id="{C5BC398E-0436-4102-B16B-52CDFD1D60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5995" y="3811107"/>
            <a:ext cx="4937760" cy="2281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3BF2265-5BE1-C9F6-E874-4F748392C61A}"/>
              </a:ext>
            </a:extLst>
          </p:cNvPr>
          <p:cNvSpPr txBox="1"/>
          <p:nvPr/>
        </p:nvSpPr>
        <p:spPr>
          <a:xfrm>
            <a:off x="3899647" y="6223688"/>
            <a:ext cx="4392706" cy="338554"/>
          </a:xfrm>
          <a:prstGeom prst="rect">
            <a:avLst/>
          </a:prstGeom>
          <a:noFill/>
        </p:spPr>
        <p:txBody>
          <a:bodyPr wrap="square">
            <a:spAutoFit/>
          </a:bodyPr>
          <a:lstStyle/>
          <a:p>
            <a:r>
              <a:rPr lang="en-US" altLang="en-US" sz="1600" b="1" i="1" dirty="0">
                <a:latin typeface="Arial" panose="020B0604020202020204" pitchFamily="34" charset="0"/>
                <a:cs typeface="Arial" panose="020B0604020202020204" pitchFamily="34" charset="0"/>
              </a:rPr>
              <a:t>After Process 1 Modifies Page C</a:t>
            </a:r>
            <a:endParaRPr lang="en-US" sz="1600" b="1" i="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777188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472E-76FD-EB5B-E7DF-F53B2750CDF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3A5F893-C5B1-3A13-27AA-3575A232F82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a:t>
            </a:r>
          </a:p>
        </p:txBody>
      </p:sp>
      <p:sp>
        <p:nvSpPr>
          <p:cNvPr id="3" name="Slide Number Placeholder 2">
            <a:extLst>
              <a:ext uri="{FF2B5EF4-FFF2-40B4-BE49-F238E27FC236}">
                <a16:creationId xmlns:a16="http://schemas.microsoft.com/office/drawing/2014/main" id="{1E726295-0EE0-4472-4117-5FACE2075D9B}"/>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B0B4712E-6BE5-3E06-2C5A-519D04269A41}"/>
              </a:ext>
            </a:extLst>
          </p:cNvPr>
          <p:cNvSpPr txBox="1">
            <a:spLocks noChangeArrowheads="1"/>
          </p:cNvSpPr>
          <p:nvPr/>
        </p:nvSpPr>
        <p:spPr>
          <a:xfrm>
            <a:off x="632151" y="1453240"/>
            <a:ext cx="104339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What Happens if There is no Free Frame on the free-frame list?</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Used up by process pages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Also in demand from the kernel, I/O buffers, </a:t>
            </a:r>
            <a:r>
              <a:rPr lang="en-US" dirty="0" err="1">
                <a:latin typeface="Arial" panose="020B0604020202020204" pitchFamily="34" charset="0"/>
                <a:cs typeface="Arial" panose="020B0604020202020204" pitchFamily="34" charset="0"/>
              </a:rPr>
              <a:t>etc</a:t>
            </a:r>
            <a:endParaRPr lang="en-US"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How much to allocate to each?</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Page replacement – find some page in memory, but not really in use, page it out</a:t>
            </a:r>
          </a:p>
          <a:p>
            <a:pPr lvl="1" algn="just"/>
            <a:r>
              <a:rPr lang="en-US" dirty="0">
                <a:latin typeface="Arial" panose="020B0604020202020204" pitchFamily="34" charset="0"/>
                <a:cs typeface="Arial" panose="020B0604020202020204" pitchFamily="34" charset="0"/>
              </a:rPr>
              <a:t>Algorithm – terminate? swap out? replace the page?</a:t>
            </a:r>
          </a:p>
          <a:p>
            <a:pPr lvl="1" algn="just"/>
            <a:r>
              <a:rPr lang="en-US" dirty="0">
                <a:latin typeface="Arial" panose="020B0604020202020204" pitchFamily="34" charset="0"/>
                <a:cs typeface="Arial" panose="020B0604020202020204" pitchFamily="34" charset="0"/>
              </a:rPr>
              <a:t>Performance – want an algorithm which will result in minimum number of page faults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Same page may be brought into memory several times</a:t>
            </a:r>
          </a:p>
        </p:txBody>
      </p:sp>
    </p:spTree>
    <p:custDataLst>
      <p:tags r:id="rId1"/>
    </p:custDataLst>
    <p:extLst>
      <p:ext uri="{BB962C8B-B14F-4D97-AF65-F5344CB8AC3E}">
        <p14:creationId xmlns:p14="http://schemas.microsoft.com/office/powerpoint/2010/main" val="109361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B1D72-4A32-E90E-9825-C8F5640EC40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C4539EB-9490-ADB7-8B6C-8D71BFBB761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Page Replacement</a:t>
            </a:r>
          </a:p>
        </p:txBody>
      </p:sp>
      <p:sp>
        <p:nvSpPr>
          <p:cNvPr id="3" name="Slide Number Placeholder 2">
            <a:extLst>
              <a:ext uri="{FF2B5EF4-FFF2-40B4-BE49-F238E27FC236}">
                <a16:creationId xmlns:a16="http://schemas.microsoft.com/office/drawing/2014/main" id="{53EE0B3D-EB33-8D98-7FAA-8D784D3B367F}"/>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6175FA8A-5DD8-10E2-5955-C1AE3D0EB12E}"/>
              </a:ext>
            </a:extLst>
          </p:cNvPr>
          <p:cNvSpPr txBox="1">
            <a:spLocks noChangeArrowheads="1"/>
          </p:cNvSpPr>
          <p:nvPr/>
        </p:nvSpPr>
        <p:spPr>
          <a:xfrm>
            <a:off x="632151" y="1453240"/>
            <a:ext cx="104339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Prevent </a:t>
            </a:r>
            <a:r>
              <a:rPr lang="en-US" b="1" dirty="0">
                <a:solidFill>
                  <a:srgbClr val="FF0000"/>
                </a:solidFill>
                <a:latin typeface="Arial" panose="020B0604020202020204" pitchFamily="34" charset="0"/>
                <a:cs typeface="Arial" panose="020B0604020202020204" pitchFamily="34" charset="0"/>
              </a:rPr>
              <a:t>over-allocation</a:t>
            </a:r>
            <a:r>
              <a:rPr lang="en-US" dirty="0">
                <a:latin typeface="Arial" panose="020B0604020202020204" pitchFamily="34" charset="0"/>
                <a:cs typeface="Arial" panose="020B0604020202020204" pitchFamily="34" charset="0"/>
              </a:rPr>
              <a:t> of memory by modifying page-fault service routine to include page replacement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 </a:t>
            </a:r>
            <a:r>
              <a:rPr lang="en-US" b="1" dirty="0">
                <a:solidFill>
                  <a:srgbClr val="FF0000"/>
                </a:solidFill>
                <a:latin typeface="Arial" panose="020B0604020202020204" pitchFamily="34" charset="0"/>
                <a:cs typeface="Arial" panose="020B0604020202020204" pitchFamily="34" charset="0"/>
              </a:rPr>
              <a:t>modify (dirty) bit </a:t>
            </a:r>
            <a:r>
              <a:rPr lang="en-US" dirty="0">
                <a:latin typeface="Arial" panose="020B0604020202020204" pitchFamily="34" charset="0"/>
                <a:cs typeface="Arial" panose="020B0604020202020204" pitchFamily="34" charset="0"/>
              </a:rPr>
              <a:t>to reduce overhead of page transfers – only modified pages are written to disk</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Page replacement completes separation between logical memory and physical memory – large virtual memory can be provided on a smaller physical memory</a:t>
            </a:r>
          </a:p>
        </p:txBody>
      </p:sp>
    </p:spTree>
    <p:custDataLst>
      <p:tags r:id="rId1"/>
    </p:custDataLst>
    <p:extLst>
      <p:ext uri="{BB962C8B-B14F-4D97-AF65-F5344CB8AC3E}">
        <p14:creationId xmlns:p14="http://schemas.microsoft.com/office/powerpoint/2010/main" val="1679977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2898-5ECA-D605-AE10-7BEA1F1DBE0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95D0CE3-3EEA-7AD0-4252-5446CCD35F9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Need For Page Replacement</a:t>
            </a:r>
          </a:p>
        </p:txBody>
      </p:sp>
      <p:sp>
        <p:nvSpPr>
          <p:cNvPr id="3" name="Slide Number Placeholder 2">
            <a:extLst>
              <a:ext uri="{FF2B5EF4-FFF2-40B4-BE49-F238E27FC236}">
                <a16:creationId xmlns:a16="http://schemas.microsoft.com/office/drawing/2014/main" id="{A15DD8C5-68B3-7C22-BAF0-DFBDA44D63C1}"/>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pic>
        <p:nvPicPr>
          <p:cNvPr id="33795" name="Picture 4" descr="B:\os-book\os10-dir\Slides-WORK-area\Figures-dir\ch10\JPG-dir\10_09.jpg">
            <a:extLst>
              <a:ext uri="{FF2B5EF4-FFF2-40B4-BE49-F238E27FC236}">
                <a16:creationId xmlns:a16="http://schemas.microsoft.com/office/drawing/2014/main" id="{74BEFCE0-4636-4163-8B0B-DF7F5FF02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963" y="1274381"/>
            <a:ext cx="8088779" cy="526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543437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Basic Page Replacement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3116425"/>
            <a:ext cx="10463741" cy="358917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69BE06D-A220-AA0B-AC32-235D90D3A7FE}"/>
              </a:ext>
            </a:extLst>
          </p:cNvPr>
          <p:cNvSpPr txBox="1">
            <a:spLocks noChangeArrowheads="1"/>
          </p:cNvSpPr>
          <p:nvPr/>
        </p:nvSpPr>
        <p:spPr>
          <a:xfrm>
            <a:off x="632151" y="1453241"/>
            <a:ext cx="10463741" cy="571852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571500" indent="-457200" algn="just">
              <a:buClrTx/>
              <a:buFont typeface="+mj-lt"/>
              <a:buAutoNum type="arabicPeriod"/>
            </a:pPr>
            <a:r>
              <a:rPr lang="en-US" dirty="0">
                <a:latin typeface="Arial" panose="020B0604020202020204" pitchFamily="34" charset="0"/>
                <a:ea typeface="ＭＳ Ｐゴシック" pitchFamily="-84" charset="-128"/>
                <a:cs typeface="Arial" panose="020B0604020202020204" pitchFamily="34" charset="0"/>
              </a:rPr>
              <a:t>Find the location of the desired page on disk</a:t>
            </a:r>
          </a:p>
          <a:p>
            <a:pPr marL="571500" indent="-457200" algn="just">
              <a:buClrTx/>
              <a:buFont typeface="+mj-lt"/>
              <a:buAutoNum type="arabicPeriod"/>
            </a:pPr>
            <a:r>
              <a:rPr lang="en-US" dirty="0">
                <a:latin typeface="Arial" panose="020B0604020202020204" pitchFamily="34" charset="0"/>
                <a:ea typeface="ＭＳ Ｐゴシック" pitchFamily="-84" charset="-128"/>
                <a:cs typeface="Arial" panose="020B0604020202020204" pitchFamily="34" charset="0"/>
              </a:rPr>
              <a:t>Find a free frame</a:t>
            </a:r>
          </a:p>
          <a:p>
            <a:pPr lvl="1" algn="just"/>
            <a:r>
              <a:rPr lang="en-US" dirty="0">
                <a:latin typeface="Arial" panose="020B0604020202020204" pitchFamily="34" charset="0"/>
                <a:ea typeface="ＭＳ Ｐゴシック" pitchFamily="-84" charset="-128"/>
                <a:cs typeface="Arial" panose="020B0604020202020204" pitchFamily="34" charset="0"/>
              </a:rPr>
              <a:t>If there is a free frame, use it</a:t>
            </a:r>
          </a:p>
          <a:p>
            <a:pPr lvl="1" algn="just"/>
            <a:r>
              <a:rPr lang="en-US" dirty="0">
                <a:latin typeface="Arial" panose="020B0604020202020204" pitchFamily="34" charset="0"/>
                <a:ea typeface="ＭＳ Ｐゴシック" pitchFamily="-84" charset="-128"/>
                <a:cs typeface="Arial" panose="020B0604020202020204" pitchFamily="34" charset="0"/>
              </a:rPr>
              <a:t>If there is no free frame, use a page replacement algorithm to select a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victim frame</a:t>
            </a:r>
          </a:p>
          <a:p>
            <a:pPr lvl="1" algn="just"/>
            <a:r>
              <a:rPr lang="en-US" dirty="0">
                <a:latin typeface="Arial" panose="020B0604020202020204" pitchFamily="34" charset="0"/>
                <a:ea typeface="ＭＳ Ｐゴシック" pitchFamily="-84" charset="-128"/>
                <a:cs typeface="Arial" panose="020B0604020202020204" pitchFamily="34" charset="0"/>
              </a:rPr>
              <a:t>Write the victim frame to the disk if dirty</a:t>
            </a:r>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marL="571500" indent="-457200" algn="just">
              <a:buClrTx/>
              <a:buFont typeface="+mj-lt"/>
              <a:buAutoNum type="arabicPeriod"/>
            </a:pPr>
            <a:r>
              <a:rPr lang="en-US" dirty="0">
                <a:latin typeface="Arial" panose="020B0604020202020204" pitchFamily="34" charset="0"/>
                <a:ea typeface="ＭＳ Ｐゴシック" pitchFamily="-84" charset="-128"/>
                <a:cs typeface="Arial" panose="020B0604020202020204" pitchFamily="34" charset="0"/>
              </a:rPr>
              <a:t>Bring desired page into (newly) free frame; update the page and frame tables</a:t>
            </a:r>
          </a:p>
          <a:p>
            <a:pPr marL="571500" indent="-457200" algn="just">
              <a:buClrTx/>
              <a:buFont typeface="+mj-lt"/>
              <a:buAutoNum type="arabicPeriod"/>
            </a:pPr>
            <a:r>
              <a:rPr lang="en-US" dirty="0">
                <a:latin typeface="Arial" panose="020B0604020202020204" pitchFamily="34" charset="0"/>
                <a:ea typeface="ＭＳ Ｐゴシック" pitchFamily="-84" charset="-128"/>
                <a:cs typeface="Arial" panose="020B0604020202020204" pitchFamily="34" charset="0"/>
              </a:rPr>
              <a:t>Continue the process by restarting the instruction that caused the trap</a:t>
            </a:r>
          </a:p>
          <a:p>
            <a:pPr algn="just"/>
            <a:endParaRPr lang="en-US" dirty="0">
              <a:latin typeface="Arial" panose="020B0604020202020204" pitchFamily="34" charset="0"/>
              <a:ea typeface="ＭＳ Ｐゴシック" pitchFamily="-84" charset="-128"/>
              <a:cs typeface="Arial" panose="020B0604020202020204" pitchFamily="34" charset="0"/>
            </a:endParaRPr>
          </a:p>
          <a:p>
            <a:pPr marL="114300" indent="0" algn="just">
              <a:buNone/>
            </a:pPr>
            <a:endParaRPr lang="en-US" dirty="0">
              <a:latin typeface="Arial" panose="020B0604020202020204" pitchFamily="34" charset="0"/>
              <a:ea typeface="ＭＳ Ｐゴシック" pitchFamily="-84" charset="-128"/>
              <a:cs typeface="Arial" panose="020B0604020202020204" pitchFamily="34" charset="0"/>
            </a:endParaRPr>
          </a:p>
          <a:p>
            <a:pPr marL="114300" indent="0" algn="just">
              <a:buNone/>
            </a:pPr>
            <a:endParaRPr lang="en-US" sz="1200" dirty="0">
              <a:latin typeface="Arial" panose="020B0604020202020204" pitchFamily="34" charset="0"/>
              <a:ea typeface="ＭＳ Ｐゴシック" pitchFamily="-84" charset="-128"/>
              <a:cs typeface="Arial" panose="020B0604020202020204" pitchFamily="34" charset="0"/>
            </a:endParaRPr>
          </a:p>
          <a:p>
            <a:pPr marL="114300" indent="0" algn="just">
              <a:buNone/>
            </a:pPr>
            <a:r>
              <a:rPr lang="en-US" sz="2000" dirty="0">
                <a:latin typeface="Arial" panose="020B0604020202020204" pitchFamily="34" charset="0"/>
                <a:ea typeface="ＭＳ Ｐゴシック" pitchFamily="-84" charset="-128"/>
                <a:cs typeface="Arial" panose="020B0604020202020204" pitchFamily="34" charset="0"/>
              </a:rPr>
              <a:t>Note: Now there are two page-transfers for a page fault – increasing EAT</a:t>
            </a:r>
          </a:p>
        </p:txBody>
      </p:sp>
    </p:spTree>
    <p:custDataLst>
      <p:tags r:id="rId1"/>
    </p:custDataLst>
    <p:extLst>
      <p:ext uri="{BB962C8B-B14F-4D97-AF65-F5344CB8AC3E}">
        <p14:creationId xmlns:p14="http://schemas.microsoft.com/office/powerpoint/2010/main" val="2875525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D01C-6C91-4B5D-7DBC-04A24F272F8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33B7861-ACEB-ABE6-4C91-9092DEDC5A9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Page Replacement</a:t>
            </a:r>
          </a:p>
        </p:txBody>
      </p:sp>
      <p:sp>
        <p:nvSpPr>
          <p:cNvPr id="3" name="Slide Number Placeholder 2">
            <a:extLst>
              <a:ext uri="{FF2B5EF4-FFF2-40B4-BE49-F238E27FC236}">
                <a16:creationId xmlns:a16="http://schemas.microsoft.com/office/drawing/2014/main" id="{3C849B29-42D6-1199-C3AB-A660285C621E}"/>
              </a:ext>
            </a:extLst>
          </p:cNvPr>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3E488094-FC75-A847-73A5-59B69E990958}"/>
              </a:ext>
            </a:extLst>
          </p:cNvPr>
          <p:cNvSpPr txBox="1">
            <a:spLocks noChangeArrowheads="1"/>
          </p:cNvSpPr>
          <p:nvPr/>
        </p:nvSpPr>
        <p:spPr>
          <a:xfrm>
            <a:off x="632151" y="3116425"/>
            <a:ext cx="10463741" cy="358917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pic>
        <p:nvPicPr>
          <p:cNvPr id="35843" name="Picture 4" descr="9">
            <a:extLst>
              <a:ext uri="{FF2B5EF4-FFF2-40B4-BE49-F238E27FC236}">
                <a16:creationId xmlns:a16="http://schemas.microsoft.com/office/drawing/2014/main" id="{632D2467-D729-4E96-ABE0-D5CF1AD39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585" y="1501775"/>
            <a:ext cx="6515132"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035218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E0ED2-E2AD-BC25-3F98-8FEDC2ED233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453EDA6-2CB9-4130-4661-1DC9DECFE66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Page and Frame Replacement Algorithms</a:t>
            </a:r>
          </a:p>
        </p:txBody>
      </p:sp>
      <p:sp>
        <p:nvSpPr>
          <p:cNvPr id="3" name="Slide Number Placeholder 2">
            <a:extLst>
              <a:ext uri="{FF2B5EF4-FFF2-40B4-BE49-F238E27FC236}">
                <a16:creationId xmlns:a16="http://schemas.microsoft.com/office/drawing/2014/main" id="{49D23491-C228-516E-B488-D16C6BD2E2AA}"/>
              </a:ext>
            </a:extLst>
          </p:cNvPr>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sp>
        <p:nvSpPr>
          <p:cNvPr id="12" name="Rectangle 3">
            <a:extLst>
              <a:ext uri="{FF2B5EF4-FFF2-40B4-BE49-F238E27FC236}">
                <a16:creationId xmlns:a16="http://schemas.microsoft.com/office/drawing/2014/main" id="{B7CAE453-E4EB-BAA8-087A-AFB19AE4B98C}"/>
              </a:ext>
            </a:extLst>
          </p:cNvPr>
          <p:cNvSpPr txBox="1">
            <a:spLocks noChangeArrowheads="1"/>
          </p:cNvSpPr>
          <p:nvPr/>
        </p:nvSpPr>
        <p:spPr>
          <a:xfrm>
            <a:off x="632151" y="1453241"/>
            <a:ext cx="10233073"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b="1" dirty="0">
                <a:solidFill>
                  <a:srgbClr val="FF0000"/>
                </a:solidFill>
                <a:latin typeface="Arial" panose="020B0604020202020204" pitchFamily="34" charset="0"/>
                <a:cs typeface="Arial" panose="020B0604020202020204" pitchFamily="34" charset="0"/>
              </a:rPr>
              <a:t>Frame-allocation algorithm</a:t>
            </a:r>
            <a:r>
              <a:rPr lang="en-US" dirty="0">
                <a:latin typeface="Arial" panose="020B0604020202020204" pitchFamily="34" charset="0"/>
                <a:cs typeface="Arial" panose="020B0604020202020204" pitchFamily="34" charset="0"/>
              </a:rPr>
              <a:t> determines how many frames to give each process and which frames to replace</a:t>
            </a:r>
          </a:p>
          <a:p>
            <a:pPr algn="just">
              <a:spcBef>
                <a:spcPts val="500"/>
              </a:spcBef>
            </a:pPr>
            <a:endParaRPr lang="en-US" sz="1200" b="1" dirty="0">
              <a:solidFill>
                <a:srgbClr val="FF0000"/>
              </a:solidFill>
              <a:latin typeface="Arial" panose="020B0604020202020204" pitchFamily="34" charset="0"/>
              <a:cs typeface="Arial" panose="020B0604020202020204" pitchFamily="34" charset="0"/>
            </a:endParaRPr>
          </a:p>
          <a:p>
            <a:pPr algn="just">
              <a:spcBef>
                <a:spcPts val="500"/>
              </a:spcBef>
            </a:pPr>
            <a:r>
              <a:rPr lang="en-US" b="1" dirty="0">
                <a:solidFill>
                  <a:srgbClr val="FF0000"/>
                </a:solidFill>
                <a:latin typeface="Arial" panose="020B0604020202020204" pitchFamily="34" charset="0"/>
                <a:cs typeface="Arial" panose="020B0604020202020204" pitchFamily="34" charset="0"/>
              </a:rPr>
              <a:t>Page-allocation algorithm </a:t>
            </a:r>
            <a:r>
              <a:rPr lang="en-US" dirty="0">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Want lowest page-fault rate on both first access and re-access</a:t>
            </a:r>
          </a:p>
          <a:p>
            <a:pPr algn="just">
              <a:spcBef>
                <a:spcPts val="500"/>
              </a:spcBef>
            </a:pPr>
            <a:endParaRPr lang="en-US" sz="1200"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Evaluate algorithm by running it on a particular string of memory references (reference string) and computing the number of page faults on that string</a:t>
            </a:r>
          </a:p>
          <a:p>
            <a:pPr lvl="1" algn="just">
              <a:spcBef>
                <a:spcPts val="500"/>
              </a:spcBef>
            </a:pPr>
            <a:r>
              <a:rPr lang="en-US" dirty="0">
                <a:latin typeface="Arial" panose="020B0604020202020204" pitchFamily="34" charset="0"/>
                <a:ea typeface="ＭＳ Ｐゴシック" pitchFamily="-84" charset="-128"/>
                <a:cs typeface="Arial" panose="020B0604020202020204" pitchFamily="34" charset="0"/>
              </a:rPr>
              <a:t>String is just page numbers, not full addresses</a:t>
            </a:r>
          </a:p>
          <a:p>
            <a:pPr lvl="1" algn="just">
              <a:spcBef>
                <a:spcPts val="500"/>
              </a:spcBef>
            </a:pPr>
            <a:r>
              <a:rPr lang="en-US" dirty="0">
                <a:latin typeface="Arial" panose="020B0604020202020204" pitchFamily="34" charset="0"/>
                <a:ea typeface="ＭＳ Ｐゴシック" pitchFamily="-84" charset="-128"/>
                <a:cs typeface="Arial" panose="020B0604020202020204" pitchFamily="34" charset="0"/>
              </a:rPr>
              <a:t>Repeated access to the same page does not cause a page fault</a:t>
            </a:r>
          </a:p>
          <a:p>
            <a:pPr lvl="1" algn="just">
              <a:spcBef>
                <a:spcPts val="500"/>
              </a:spcBef>
            </a:pPr>
            <a:r>
              <a:rPr lang="en-US" dirty="0">
                <a:latin typeface="Arial" panose="020B0604020202020204" pitchFamily="34" charset="0"/>
                <a:ea typeface="ＭＳ Ｐゴシック" pitchFamily="-84" charset="-128"/>
                <a:cs typeface="Arial" panose="020B0604020202020204" pitchFamily="34" charset="0"/>
              </a:rPr>
              <a:t>Results depend on number of frames available</a:t>
            </a:r>
          </a:p>
          <a:p>
            <a:pPr algn="just">
              <a:spcBef>
                <a:spcPts val="500"/>
              </a:spcBef>
            </a:pPr>
            <a:endParaRPr lang="en-US" sz="1200"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In all our further examples, the </a:t>
            </a:r>
            <a:r>
              <a:rPr lang="en-US" b="1" dirty="0">
                <a:solidFill>
                  <a:srgbClr val="FF0000"/>
                </a:solidFill>
                <a:latin typeface="Arial" panose="020B0604020202020204" pitchFamily="34" charset="0"/>
                <a:cs typeface="Arial" panose="020B0604020202020204" pitchFamily="34" charset="0"/>
              </a:rPr>
              <a:t>reference string</a:t>
            </a:r>
            <a:r>
              <a:rPr lang="en-US" dirty="0">
                <a:latin typeface="Arial" panose="020B0604020202020204" pitchFamily="34" charset="0"/>
                <a:cs typeface="Arial" panose="020B0604020202020204" pitchFamily="34" charset="0"/>
              </a:rPr>
              <a:t> will be as follow :</a:t>
            </a:r>
          </a:p>
          <a:p>
            <a:pPr marL="114300" indent="0" algn="ctr">
              <a:spcBef>
                <a:spcPts val="1200"/>
              </a:spcBef>
              <a:buNone/>
            </a:pPr>
            <a:r>
              <a:rPr lang="en-US" b="1" dirty="0">
                <a:solidFill>
                  <a:srgbClr val="FF0000"/>
                </a:solidFill>
                <a:latin typeface="Arial" panose="020B0604020202020204" pitchFamily="34" charset="0"/>
                <a:cs typeface="Arial" panose="020B0604020202020204" pitchFamily="34" charset="0"/>
              </a:rPr>
              <a:t>7,0,1,2,0,3,0,4,2,3,0,3,0,3,2,1,2,0,1,7,0,1</a:t>
            </a:r>
          </a:p>
        </p:txBody>
      </p:sp>
    </p:spTree>
    <p:custDataLst>
      <p:tags r:id="rId1"/>
    </p:custDataLst>
    <p:extLst>
      <p:ext uri="{BB962C8B-B14F-4D97-AF65-F5344CB8AC3E}">
        <p14:creationId xmlns:p14="http://schemas.microsoft.com/office/powerpoint/2010/main" val="3638753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BA2BE-DD7D-5DAA-1448-69BBE6BBDA7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271515D-4A68-46E5-7699-307722E02C0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Number of Frames vs. Page Faults</a:t>
            </a:r>
          </a:p>
        </p:txBody>
      </p:sp>
      <p:sp>
        <p:nvSpPr>
          <p:cNvPr id="3" name="Slide Number Placeholder 2">
            <a:extLst>
              <a:ext uri="{FF2B5EF4-FFF2-40B4-BE49-F238E27FC236}">
                <a16:creationId xmlns:a16="http://schemas.microsoft.com/office/drawing/2014/main" id="{02D93C2A-D81C-DB52-5514-76243D38610D}"/>
              </a:ext>
            </a:extLst>
          </p:cNvPr>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pic>
        <p:nvPicPr>
          <p:cNvPr id="6144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483" y="1498652"/>
            <a:ext cx="8077200" cy="5072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179737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138B2-F649-A76E-7C04-33F48D9CEE5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52F3A62-A60A-363F-CB71-0810832001B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First-In-First-Out (FIFO) Algorithm</a:t>
            </a:r>
          </a:p>
        </p:txBody>
      </p:sp>
      <p:sp>
        <p:nvSpPr>
          <p:cNvPr id="3" name="Slide Number Placeholder 2">
            <a:extLst>
              <a:ext uri="{FF2B5EF4-FFF2-40B4-BE49-F238E27FC236}">
                <a16:creationId xmlns:a16="http://schemas.microsoft.com/office/drawing/2014/main" id="{4F83005F-6834-6833-CB2D-D92B201A5A79}"/>
              </a:ext>
            </a:extLst>
          </p:cNvPr>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0740F981-2E46-0718-414A-6FE7BC2F5459}"/>
              </a:ext>
            </a:extLst>
          </p:cNvPr>
          <p:cNvSpPr txBox="1">
            <a:spLocks noChangeArrowheads="1"/>
          </p:cNvSpPr>
          <p:nvPr/>
        </p:nvSpPr>
        <p:spPr>
          <a:xfrm>
            <a:off x="632151" y="1453240"/>
            <a:ext cx="10394437" cy="5404760"/>
          </a:xfrm>
          <a:prstGeom prst="rect">
            <a:avLst/>
          </a:prstGeom>
          <a:ln w="15875">
            <a:noFill/>
          </a:ln>
        </p:spPr>
        <p:txBody>
          <a:bodyPr vert="horz" lIns="91440" tIns="45720" rIns="91440" bIns="45720" rtlCol="0">
            <a:normAutofit fontScale="92500" lnSpcReduction="2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Reference string: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7,0,1,2,0,3,0,4,2,3,0,3,0,3,2,1,2,0,1,7,0,1</a:t>
            </a:r>
          </a:p>
          <a:p>
            <a:pPr algn="just"/>
            <a:endParaRPr lang="en-US" sz="1200" dirty="0">
              <a:latin typeface="Arial" panose="020B0604020202020204" pitchFamily="34" charset="0"/>
              <a:ea typeface="ＭＳ Ｐゴシック" pitchFamily="-84" charset="-128"/>
              <a:cs typeface="Arial" panose="020B0604020202020204" pitchFamily="34" charset="0"/>
            </a:endParaRPr>
          </a:p>
          <a:p>
            <a:pPr algn="just"/>
            <a:r>
              <a:rPr lang="en-US" dirty="0">
                <a:latin typeface="Arial" panose="020B0604020202020204" pitchFamily="34" charset="0"/>
                <a:ea typeface="ＭＳ Ｐゴシック" pitchFamily="-84" charset="-128"/>
                <a:cs typeface="Arial" panose="020B0604020202020204" pitchFamily="34" charset="0"/>
              </a:rPr>
              <a:t>3 frames (3 pages can be in memory at a time per process)</a:t>
            </a:r>
            <a:endParaRPr lang="en-US" sz="800" dirty="0">
              <a:latin typeface="Arial" panose="020B0604020202020204" pitchFamily="34" charset="0"/>
              <a:ea typeface="ＭＳ Ｐゴシック" pitchFamily="-84" charset="-128"/>
              <a:cs typeface="Arial" panose="020B0604020202020204" pitchFamily="34" charset="0"/>
            </a:endParaRPr>
          </a:p>
          <a:p>
            <a:pPr algn="just"/>
            <a:endParaRPr lang="en-US" sz="1000" b="1" dirty="0">
              <a:solidFill>
                <a:srgbClr val="3366FF"/>
              </a:solidFill>
              <a:latin typeface="Arial" panose="020B0604020202020204" pitchFamily="34" charset="0"/>
              <a:ea typeface="ＭＳ Ｐゴシック" pitchFamily="-84" charset="-128"/>
              <a:cs typeface="Arial" panose="020B0604020202020204" pitchFamily="34" charset="0"/>
            </a:endParaRPr>
          </a:p>
          <a:p>
            <a:pPr algn="just"/>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r>
              <a:rPr lang="en-US" dirty="0">
                <a:latin typeface="Arial" panose="020B0604020202020204" pitchFamily="34" charset="0"/>
                <a:cs typeface="Arial" panose="020B0604020202020204" pitchFamily="34" charset="0"/>
              </a:rPr>
              <a:t>Can vary by reference string: consider 1,2,3,4,1,2,5,1,2,3,4,5</a:t>
            </a:r>
          </a:p>
          <a:p>
            <a:pPr lvl="1" algn="just">
              <a:spcBef>
                <a:spcPts val="600"/>
              </a:spcBef>
            </a:pPr>
            <a:r>
              <a:rPr lang="en-US" dirty="0">
                <a:latin typeface="Arial" panose="020B0604020202020204" pitchFamily="34" charset="0"/>
                <a:cs typeface="Arial" panose="020B0604020202020204" pitchFamily="34" charset="0"/>
              </a:rPr>
              <a:t>Adding more frames can cause more page faults!</a:t>
            </a:r>
          </a:p>
          <a:p>
            <a:pPr lvl="2" algn="just">
              <a:spcBef>
                <a:spcPts val="600"/>
              </a:spcBef>
            </a:pPr>
            <a:r>
              <a:rPr lang="en-US" b="1" dirty="0" err="1">
                <a:solidFill>
                  <a:srgbClr val="FF0000"/>
                </a:solidFill>
                <a:latin typeface="Arial" panose="020B0604020202020204" pitchFamily="34" charset="0"/>
                <a:cs typeface="Arial" panose="020B0604020202020204" pitchFamily="34" charset="0"/>
              </a:rPr>
              <a:t>Belady’s</a:t>
            </a:r>
            <a:r>
              <a:rPr lang="en-US" b="1" dirty="0">
                <a:solidFill>
                  <a:srgbClr val="FF0000"/>
                </a:solidFill>
                <a:latin typeface="Arial" panose="020B0604020202020204" pitchFamily="34" charset="0"/>
                <a:cs typeface="Arial" panose="020B0604020202020204" pitchFamily="34" charset="0"/>
              </a:rPr>
              <a:t> Anomaly</a:t>
            </a:r>
          </a:p>
          <a:p>
            <a:pPr algn="just">
              <a:spcBef>
                <a:spcPts val="1200"/>
              </a:spcBef>
            </a:pPr>
            <a:r>
              <a:rPr lang="en-US" dirty="0">
                <a:latin typeface="Arial" panose="020B0604020202020204" pitchFamily="34" charset="0"/>
                <a:cs typeface="Arial" panose="020B0604020202020204" pitchFamily="34" charset="0"/>
              </a:rPr>
              <a:t>How to track ages of pages? </a:t>
            </a:r>
          </a:p>
          <a:p>
            <a:pPr lvl="1" algn="just">
              <a:spcBef>
                <a:spcPts val="600"/>
              </a:spcBef>
            </a:pPr>
            <a:r>
              <a:rPr lang="en-US" dirty="0">
                <a:latin typeface="Arial" panose="020B0604020202020204" pitchFamily="34" charset="0"/>
                <a:cs typeface="Arial" panose="020B0604020202020204" pitchFamily="34" charset="0"/>
              </a:rPr>
              <a:t>Just use a FIFO queue</a:t>
            </a:r>
          </a:p>
        </p:txBody>
      </p:sp>
      <p:pic>
        <p:nvPicPr>
          <p:cNvPr id="63492" name="Picture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1928" y="2359822"/>
            <a:ext cx="7298221" cy="242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20E3AB9-6C13-1030-B770-89434A891BC1}"/>
              </a:ext>
            </a:extLst>
          </p:cNvPr>
          <p:cNvSpPr txBox="1"/>
          <p:nvPr/>
        </p:nvSpPr>
        <p:spPr>
          <a:xfrm>
            <a:off x="7274613" y="5404760"/>
            <a:ext cx="3926540" cy="1015663"/>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Page Hit = 5</a:t>
            </a:r>
          </a:p>
          <a:p>
            <a:pPr algn="ctr"/>
            <a:r>
              <a:rPr lang="en-US" sz="2000" b="1" dirty="0">
                <a:solidFill>
                  <a:srgbClr val="FF0000"/>
                </a:solidFill>
                <a:latin typeface="Arial" panose="020B0604020202020204" pitchFamily="34" charset="0"/>
                <a:cs typeface="Arial" panose="020B0604020202020204" pitchFamily="34" charset="0"/>
              </a:rPr>
              <a:t>Page Miss = Page Fault = 15</a:t>
            </a:r>
          </a:p>
          <a:p>
            <a:pPr algn="ctr"/>
            <a:r>
              <a:rPr lang="en-US" sz="2000" b="1" dirty="0">
                <a:solidFill>
                  <a:srgbClr val="FF0000"/>
                </a:solidFill>
                <a:latin typeface="Arial" panose="020B0604020202020204" pitchFamily="34" charset="0"/>
                <a:cs typeface="Arial" panose="020B0604020202020204" pitchFamily="34" charset="0"/>
              </a:rPr>
              <a:t>Page Fault Ratio = 75%</a:t>
            </a:r>
          </a:p>
        </p:txBody>
      </p:sp>
    </p:spTree>
    <p:custDataLst>
      <p:tags r:id="rId1"/>
    </p:custDataLst>
    <p:extLst>
      <p:ext uri="{BB962C8B-B14F-4D97-AF65-F5344CB8AC3E}">
        <p14:creationId xmlns:p14="http://schemas.microsoft.com/office/powerpoint/2010/main" val="106910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4" end="1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5" end="1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6" end="1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267FC-4686-E7FD-1B90-31CAD90BB07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FBB4CEA-050F-FBAD-DEB4-33F59FCFE2A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FIFO Illustrating </a:t>
            </a:r>
            <a:r>
              <a:rPr lang="en-US" sz="4000" dirty="0" err="1">
                <a:latin typeface="Arial" panose="020B0604020202020204" pitchFamily="34" charset="0"/>
                <a:cs typeface="Arial" panose="020B0604020202020204" pitchFamily="34" charset="0"/>
              </a:rPr>
              <a:t>Belady’s</a:t>
            </a:r>
            <a:r>
              <a:rPr lang="en-US" sz="4000" dirty="0">
                <a:latin typeface="Arial" panose="020B0604020202020204" pitchFamily="34" charset="0"/>
                <a:cs typeface="Arial" panose="020B0604020202020204" pitchFamily="34" charset="0"/>
              </a:rPr>
              <a:t> Anomaly</a:t>
            </a:r>
          </a:p>
        </p:txBody>
      </p:sp>
      <p:sp>
        <p:nvSpPr>
          <p:cNvPr id="3" name="Slide Number Placeholder 2">
            <a:extLst>
              <a:ext uri="{FF2B5EF4-FFF2-40B4-BE49-F238E27FC236}">
                <a16:creationId xmlns:a16="http://schemas.microsoft.com/office/drawing/2014/main" id="{8779ABEE-E2BC-8942-40DD-F40407B99374}"/>
              </a:ext>
            </a:extLst>
          </p:cNvPr>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pic>
        <p:nvPicPr>
          <p:cNvPr id="39939" name="Picture 1" descr="9_13.pdf">
            <a:extLst>
              <a:ext uri="{FF2B5EF4-FFF2-40B4-BE49-F238E27FC236}">
                <a16:creationId xmlns:a16="http://schemas.microsoft.com/office/drawing/2014/main" id="{EE4A1B7A-865F-4B41-AE5D-E878A1F8D5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1416" y="1771294"/>
            <a:ext cx="6488487" cy="4643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051747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7CC6-06E3-5923-CBC5-A33AF6C500B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EFB97CA-65CE-34C9-8197-232108AA86EA}"/>
              </a:ext>
            </a:extLst>
          </p:cNvPr>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Optimal Algorithm</a:t>
            </a:r>
            <a:endParaRPr lang="en-US" sz="4000" dirty="0">
              <a:latin typeface="Arial" panose="020B0604020202020204" pitchFamily="34" charset="0"/>
              <a:cs typeface="Arial" panose="020B0604020202020204" pitchFamily="34" charset="0"/>
            </a:endParaRPr>
          </a:p>
        </p:txBody>
      </p:sp>
      <p:sp>
        <p:nvSpPr>
          <p:cNvPr id="12" name="Rectangle 3">
            <a:extLst>
              <a:ext uri="{FF2B5EF4-FFF2-40B4-BE49-F238E27FC236}">
                <a16:creationId xmlns:a16="http://schemas.microsoft.com/office/drawing/2014/main" id="{CDAF2088-0BF4-4F5D-3896-366B76E41DE1}"/>
              </a:ext>
            </a:extLst>
          </p:cNvPr>
          <p:cNvSpPr txBox="1">
            <a:spLocks noChangeArrowheads="1"/>
          </p:cNvSpPr>
          <p:nvPr/>
        </p:nvSpPr>
        <p:spPr>
          <a:xfrm>
            <a:off x="632151" y="1453240"/>
            <a:ext cx="10569002"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Reference string: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7,0,1,2,0,3,0,4,2,3,0,3,0,3,2,1,2,0,1,7,0,1</a:t>
            </a:r>
          </a:p>
          <a:p>
            <a:pPr algn="just"/>
            <a:r>
              <a:rPr lang="en-US" dirty="0">
                <a:latin typeface="Arial" panose="020B0604020202020204" pitchFamily="34" charset="0"/>
                <a:ea typeface="ＭＳ Ｐゴシック" pitchFamily="-84" charset="-128"/>
                <a:cs typeface="Arial" panose="020B0604020202020204" pitchFamily="34" charset="0"/>
              </a:rPr>
              <a:t>Replace page that will not be used for longest duration </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spcBef>
                <a:spcPts val="1200"/>
              </a:spcBef>
            </a:pPr>
            <a:r>
              <a:rPr lang="en-US" dirty="0">
                <a:latin typeface="Arial" panose="020B0604020202020204" pitchFamily="34" charset="0"/>
                <a:ea typeface="ＭＳ Ｐゴシック" pitchFamily="-84" charset="-128"/>
                <a:cs typeface="Arial" panose="020B0604020202020204" pitchFamily="34" charset="0"/>
              </a:rPr>
              <a:t>9 is optimal for the example</a:t>
            </a:r>
          </a:p>
          <a:p>
            <a:pPr algn="just">
              <a:spcBef>
                <a:spcPts val="1200"/>
              </a:spcBef>
            </a:pPr>
            <a:r>
              <a:rPr lang="en-US" dirty="0">
                <a:latin typeface="Arial" panose="020B0604020202020204" pitchFamily="34" charset="0"/>
                <a:ea typeface="ＭＳ Ｐゴシック" pitchFamily="-84" charset="-128"/>
                <a:cs typeface="Arial" panose="020B0604020202020204" pitchFamily="34" charset="0"/>
              </a:rPr>
              <a:t>How do you know this?</a:t>
            </a:r>
          </a:p>
          <a:p>
            <a:pPr lvl="1" algn="just">
              <a:spcBef>
                <a:spcPts val="600"/>
              </a:spcBef>
            </a:pPr>
            <a:r>
              <a:rPr lang="en-US" dirty="0">
                <a:latin typeface="Arial" panose="020B0604020202020204" pitchFamily="34" charset="0"/>
                <a:ea typeface="ＭＳ Ｐゴシック" pitchFamily="-84" charset="-128"/>
                <a:cs typeface="Arial" panose="020B0604020202020204" pitchFamily="34" charset="0"/>
              </a:rPr>
              <a:t>Can’t read the future</a:t>
            </a:r>
          </a:p>
          <a:p>
            <a:pPr algn="just">
              <a:spcBef>
                <a:spcPts val="1200"/>
              </a:spcBef>
            </a:pPr>
            <a:r>
              <a:rPr lang="en-US" dirty="0">
                <a:latin typeface="Arial" panose="020B0604020202020204" pitchFamily="34" charset="0"/>
                <a:ea typeface="ＭＳ Ｐゴシック" pitchFamily="-84" charset="-128"/>
                <a:cs typeface="Arial" panose="020B0604020202020204" pitchFamily="34" charset="0"/>
              </a:rPr>
              <a:t>Used for measuring how well your algorithm performs</a:t>
            </a:r>
          </a:p>
        </p:txBody>
      </p:sp>
      <p:sp>
        <p:nvSpPr>
          <p:cNvPr id="3" name="Slide Number Placeholder 2">
            <a:extLst>
              <a:ext uri="{FF2B5EF4-FFF2-40B4-BE49-F238E27FC236}">
                <a16:creationId xmlns:a16="http://schemas.microsoft.com/office/drawing/2014/main" id="{1FA3D3F9-B5E6-5DF0-2252-CA739C2CDA1B}"/>
              </a:ext>
            </a:extLst>
          </p:cNvPr>
          <p:cNvSpPr>
            <a:spLocks noGrp="1"/>
          </p:cNvSpPr>
          <p:nvPr>
            <p:ph type="sldNum" sz="quarter" idx="12"/>
          </p:nvPr>
        </p:nvSpPr>
        <p:spPr/>
        <p:txBody>
          <a:bodyPr/>
          <a:lstStyle/>
          <a:p>
            <a:fld id="{3485D9CA-6DAA-4C3C-A3E2-EDEA918D5F89}" type="slidenum">
              <a:rPr lang="en-US" smtClean="0">
                <a:latin typeface="Calibri"/>
              </a:rPr>
              <a:pPr/>
              <a:t>29</a:t>
            </a:fld>
            <a:endParaRPr lang="en-US">
              <a:latin typeface="Calibri"/>
            </a:endParaRPr>
          </a:p>
        </p:txBody>
      </p:sp>
      <p:sp>
        <p:nvSpPr>
          <p:cNvPr id="2" name="TextBox 1">
            <a:extLst>
              <a:ext uri="{FF2B5EF4-FFF2-40B4-BE49-F238E27FC236}">
                <a16:creationId xmlns:a16="http://schemas.microsoft.com/office/drawing/2014/main" id="{CCC159A1-844E-64E8-1E4D-E55D28F819B9}"/>
              </a:ext>
            </a:extLst>
          </p:cNvPr>
          <p:cNvSpPr txBox="1"/>
          <p:nvPr/>
        </p:nvSpPr>
        <p:spPr>
          <a:xfrm>
            <a:off x="7274613" y="4681289"/>
            <a:ext cx="3926540" cy="1015663"/>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Page Hit = 11</a:t>
            </a:r>
          </a:p>
          <a:p>
            <a:pPr algn="ctr"/>
            <a:r>
              <a:rPr lang="en-US" sz="2000" b="1" dirty="0">
                <a:solidFill>
                  <a:srgbClr val="FF0000"/>
                </a:solidFill>
                <a:latin typeface="Arial" panose="020B0604020202020204" pitchFamily="34" charset="0"/>
                <a:cs typeface="Arial" panose="020B0604020202020204" pitchFamily="34" charset="0"/>
              </a:rPr>
              <a:t>Page Miss = Page Fault = 9</a:t>
            </a:r>
          </a:p>
          <a:p>
            <a:pPr algn="ctr"/>
            <a:r>
              <a:rPr lang="en-US" sz="2000" b="1" dirty="0">
                <a:solidFill>
                  <a:srgbClr val="FF0000"/>
                </a:solidFill>
                <a:latin typeface="Arial" panose="020B0604020202020204" pitchFamily="34" charset="0"/>
                <a:cs typeface="Arial" panose="020B0604020202020204" pitchFamily="34" charset="0"/>
              </a:rPr>
              <a:t>Page Fault Ratio = 45%</a:t>
            </a:r>
          </a:p>
        </p:txBody>
      </p:sp>
      <p:pic>
        <p:nvPicPr>
          <p:cNvPr id="40964" name="Picture 3">
            <a:extLst>
              <a:ext uri="{FF2B5EF4-FFF2-40B4-BE49-F238E27FC236}">
                <a16:creationId xmlns:a16="http://schemas.microsoft.com/office/drawing/2014/main" id="{0C2DEEDF-7F2E-4341-B388-D272598501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0782" y="2406092"/>
            <a:ext cx="6760447" cy="2273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21516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3CF0D-8AC9-4DAD-000B-7A0029D83BB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0F7ED22-6A29-0334-87B3-62EB8BEE983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Least Recently Used (LRU) Algorithm</a:t>
            </a:r>
          </a:p>
        </p:txBody>
      </p:sp>
      <p:sp>
        <p:nvSpPr>
          <p:cNvPr id="12" name="Rectangle 3">
            <a:extLst>
              <a:ext uri="{FF2B5EF4-FFF2-40B4-BE49-F238E27FC236}">
                <a16:creationId xmlns:a16="http://schemas.microsoft.com/office/drawing/2014/main" id="{6C2DE015-F535-C4A5-1B24-ECE4ABC8DC84}"/>
              </a:ext>
            </a:extLst>
          </p:cNvPr>
          <p:cNvSpPr txBox="1">
            <a:spLocks noChangeArrowheads="1"/>
          </p:cNvSpPr>
          <p:nvPr/>
        </p:nvSpPr>
        <p:spPr>
          <a:xfrm>
            <a:off x="632151" y="1453240"/>
            <a:ext cx="10394437" cy="5216501"/>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Reference string: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7,0,1,2,0,3,0,4,2,3,0,3,0,3,2,1,2,0,1,7,0,1</a:t>
            </a:r>
          </a:p>
          <a:p>
            <a:pPr algn="just"/>
            <a:r>
              <a:rPr lang="en-US" dirty="0">
                <a:latin typeface="Arial" panose="020B0604020202020204" pitchFamily="34" charset="0"/>
                <a:ea typeface="ＭＳ Ｐゴシック" pitchFamily="-84" charset="-128"/>
                <a:cs typeface="Arial" panose="020B0604020202020204" pitchFamily="34" charset="0"/>
              </a:rPr>
              <a:t>Use past knowledge rather than future</a:t>
            </a:r>
          </a:p>
          <a:p>
            <a:pPr algn="just"/>
            <a:r>
              <a:rPr lang="en-US" dirty="0">
                <a:latin typeface="Arial" panose="020B0604020202020204" pitchFamily="34" charset="0"/>
                <a:ea typeface="ＭＳ Ｐゴシック" pitchFamily="-84" charset="-128"/>
                <a:cs typeface="Arial" panose="020B0604020202020204" pitchFamily="34" charset="0"/>
              </a:rPr>
              <a:t>Replace page that has not been used in the most amount of time</a:t>
            </a:r>
          </a:p>
          <a:p>
            <a:pPr algn="just"/>
            <a:r>
              <a:rPr lang="en-US" dirty="0">
                <a:latin typeface="Arial" panose="020B0604020202020204" pitchFamily="34" charset="0"/>
                <a:ea typeface="ＭＳ Ｐゴシック" pitchFamily="-84" charset="-128"/>
                <a:cs typeface="Arial" panose="020B0604020202020204" pitchFamily="34" charset="0"/>
              </a:rPr>
              <a:t>Associate time of last use with each page</a:t>
            </a: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1200"/>
              </a:spcBef>
            </a:pPr>
            <a:endParaRPr lang="en-US" sz="1000" dirty="0">
              <a:latin typeface="Arial" panose="020B0604020202020204" pitchFamily="34" charset="0"/>
              <a:cs typeface="Arial" panose="020B0604020202020204" pitchFamily="34" charset="0"/>
            </a:endParaRPr>
          </a:p>
          <a:p>
            <a:pPr algn="just">
              <a:spcBef>
                <a:spcPts val="600"/>
              </a:spcBef>
            </a:pPr>
            <a:r>
              <a:rPr lang="en-US" dirty="0">
                <a:latin typeface="Arial" panose="020B0604020202020204" pitchFamily="34" charset="0"/>
                <a:cs typeface="Arial" panose="020B0604020202020204" pitchFamily="34" charset="0"/>
              </a:rPr>
              <a:t>12 faults – better than FIFO but worse than OPT</a:t>
            </a:r>
          </a:p>
          <a:p>
            <a:pPr algn="just">
              <a:spcBef>
                <a:spcPts val="600"/>
              </a:spcBef>
            </a:pPr>
            <a:r>
              <a:rPr lang="en-US" dirty="0">
                <a:latin typeface="Arial" panose="020B0604020202020204" pitchFamily="34" charset="0"/>
                <a:cs typeface="Arial" panose="020B0604020202020204" pitchFamily="34" charset="0"/>
              </a:rPr>
              <a:t>Generally good algorithm and frequently used</a:t>
            </a:r>
          </a:p>
          <a:p>
            <a:pPr algn="just">
              <a:spcBef>
                <a:spcPts val="600"/>
              </a:spcBef>
            </a:pPr>
            <a:r>
              <a:rPr lang="en-US" dirty="0">
                <a:latin typeface="Arial" panose="020B0604020202020204" pitchFamily="34" charset="0"/>
                <a:cs typeface="Arial" panose="020B0604020202020204" pitchFamily="34" charset="0"/>
              </a:rPr>
              <a:t>But how to implement?</a:t>
            </a:r>
          </a:p>
        </p:txBody>
      </p:sp>
      <p:sp>
        <p:nvSpPr>
          <p:cNvPr id="3" name="Slide Number Placeholder 2">
            <a:extLst>
              <a:ext uri="{FF2B5EF4-FFF2-40B4-BE49-F238E27FC236}">
                <a16:creationId xmlns:a16="http://schemas.microsoft.com/office/drawing/2014/main" id="{673A2EDC-A271-599C-6381-795E0669CE27}"/>
              </a:ext>
            </a:extLst>
          </p:cNvPr>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2" name="TextBox 1">
            <a:extLst>
              <a:ext uri="{FF2B5EF4-FFF2-40B4-BE49-F238E27FC236}">
                <a16:creationId xmlns:a16="http://schemas.microsoft.com/office/drawing/2014/main" id="{B59AD7CC-8C03-F3E9-7B6C-69EE569DCC39}"/>
              </a:ext>
            </a:extLst>
          </p:cNvPr>
          <p:cNvSpPr txBox="1"/>
          <p:nvPr/>
        </p:nvSpPr>
        <p:spPr>
          <a:xfrm>
            <a:off x="7274613" y="5404760"/>
            <a:ext cx="3926540" cy="1015663"/>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Page Hit = 8</a:t>
            </a:r>
          </a:p>
          <a:p>
            <a:pPr algn="ctr"/>
            <a:r>
              <a:rPr lang="en-US" sz="2000" b="1" dirty="0">
                <a:solidFill>
                  <a:srgbClr val="FF0000"/>
                </a:solidFill>
                <a:latin typeface="Arial" panose="020B0604020202020204" pitchFamily="34" charset="0"/>
                <a:cs typeface="Arial" panose="020B0604020202020204" pitchFamily="34" charset="0"/>
              </a:rPr>
              <a:t>Page Miss = Page Fault = 12</a:t>
            </a:r>
          </a:p>
          <a:p>
            <a:pPr algn="ctr"/>
            <a:r>
              <a:rPr lang="en-US" sz="2000" b="1" dirty="0">
                <a:solidFill>
                  <a:srgbClr val="FF0000"/>
                </a:solidFill>
                <a:latin typeface="Arial" panose="020B0604020202020204" pitchFamily="34" charset="0"/>
                <a:cs typeface="Arial" panose="020B0604020202020204" pitchFamily="34" charset="0"/>
              </a:rPr>
              <a:t>Page Fault Ratio = 60%</a:t>
            </a:r>
          </a:p>
        </p:txBody>
      </p:sp>
      <p:pic>
        <p:nvPicPr>
          <p:cNvPr id="41988" name="Picture 4" descr="9">
            <a:extLst>
              <a:ext uri="{FF2B5EF4-FFF2-40B4-BE49-F238E27FC236}">
                <a16:creationId xmlns:a16="http://schemas.microsoft.com/office/drawing/2014/main" id="{1C494269-8B4A-4BA9-9CC1-ED6087AC3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952" y="3065849"/>
            <a:ext cx="6568871" cy="179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81620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CB104-699A-9D37-7492-E35106EB3A9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1997EFE-E857-C765-48A5-8510925F2E1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Least Recently Used (LRU) Algorithm</a:t>
            </a:r>
          </a:p>
        </p:txBody>
      </p:sp>
      <p:sp>
        <p:nvSpPr>
          <p:cNvPr id="12" name="Rectangle 3">
            <a:extLst>
              <a:ext uri="{FF2B5EF4-FFF2-40B4-BE49-F238E27FC236}">
                <a16:creationId xmlns:a16="http://schemas.microsoft.com/office/drawing/2014/main" id="{CC4435DC-3E67-1D6F-4FA4-4BAAED6B068A}"/>
              </a:ext>
            </a:extLst>
          </p:cNvPr>
          <p:cNvSpPr txBox="1">
            <a:spLocks noChangeArrowheads="1"/>
          </p:cNvSpPr>
          <p:nvPr/>
        </p:nvSpPr>
        <p:spPr>
          <a:xfrm>
            <a:off x="632151" y="1453240"/>
            <a:ext cx="10394437" cy="521650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Counter implementation</a:t>
            </a:r>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lvl="1" algn="just"/>
            <a:r>
              <a:rPr lang="en-US" dirty="0">
                <a:latin typeface="Arial" panose="020B0604020202020204" pitchFamily="34" charset="0"/>
                <a:ea typeface="ＭＳ Ｐゴシック" pitchFamily="-84" charset="-128"/>
                <a:cs typeface="Arial" panose="020B0604020202020204" pitchFamily="34" charset="0"/>
              </a:rPr>
              <a:t>Every page entry has a counter; every time page is referenced through this entry, copy the clock into the counter</a:t>
            </a:r>
          </a:p>
          <a:p>
            <a:pPr lvl="1" algn="just"/>
            <a:r>
              <a:rPr lang="en-US" dirty="0">
                <a:latin typeface="Arial" panose="020B0604020202020204" pitchFamily="34" charset="0"/>
                <a:ea typeface="ＭＳ Ｐゴシック" pitchFamily="-84" charset="-128"/>
                <a:cs typeface="Arial" panose="020B0604020202020204" pitchFamily="34" charset="0"/>
              </a:rPr>
              <a:t>When a page needs to be changed, look at the counters to find smallest value</a:t>
            </a:r>
          </a:p>
          <a:p>
            <a:pPr lvl="2" algn="just"/>
            <a:r>
              <a:rPr lang="en-US" dirty="0">
                <a:latin typeface="Arial" panose="020B0604020202020204" pitchFamily="34" charset="0"/>
                <a:ea typeface="ＭＳ Ｐゴシック" pitchFamily="-84" charset="-128"/>
                <a:cs typeface="Arial" panose="020B0604020202020204" pitchFamily="34" charset="0"/>
              </a:rPr>
              <a:t>Search through table needed</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r>
              <a:rPr lang="en-US" dirty="0">
                <a:latin typeface="Arial" panose="020B0604020202020204" pitchFamily="34" charset="0"/>
                <a:ea typeface="ＭＳ Ｐゴシック" pitchFamily="-84" charset="-128"/>
                <a:cs typeface="Arial" panose="020B0604020202020204" pitchFamily="34" charset="0"/>
              </a:rPr>
              <a:t>Stack implementation</a:t>
            </a:r>
          </a:p>
          <a:p>
            <a:pPr lvl="1" algn="just"/>
            <a:r>
              <a:rPr lang="en-US" dirty="0">
                <a:latin typeface="Arial" panose="020B0604020202020204" pitchFamily="34" charset="0"/>
                <a:ea typeface="ＭＳ Ｐゴシック" pitchFamily="-84" charset="-128"/>
                <a:cs typeface="Arial" panose="020B0604020202020204" pitchFamily="34" charset="0"/>
              </a:rPr>
              <a:t>Keep a stack of page numbers in a double link form:</a:t>
            </a:r>
          </a:p>
          <a:p>
            <a:pPr lvl="1" algn="just"/>
            <a:r>
              <a:rPr lang="en-US" dirty="0">
                <a:latin typeface="Arial" panose="020B0604020202020204" pitchFamily="34" charset="0"/>
                <a:ea typeface="ＭＳ Ｐゴシック" pitchFamily="-84" charset="-128"/>
                <a:cs typeface="Arial" panose="020B0604020202020204" pitchFamily="34" charset="0"/>
              </a:rPr>
              <a:t>Page referenced:</a:t>
            </a:r>
          </a:p>
          <a:p>
            <a:pPr lvl="2" algn="just"/>
            <a:r>
              <a:rPr lang="en-US" dirty="0">
                <a:latin typeface="Arial" panose="020B0604020202020204" pitchFamily="34" charset="0"/>
                <a:ea typeface="ＭＳ Ｐゴシック" pitchFamily="-84" charset="-128"/>
                <a:cs typeface="Arial" panose="020B0604020202020204" pitchFamily="34" charset="0"/>
              </a:rPr>
              <a:t>move it to the top</a:t>
            </a:r>
          </a:p>
          <a:p>
            <a:pPr lvl="2" algn="just"/>
            <a:r>
              <a:rPr lang="en-US" dirty="0">
                <a:latin typeface="Arial" panose="020B0604020202020204" pitchFamily="34" charset="0"/>
                <a:ea typeface="ＭＳ Ｐゴシック" pitchFamily="-84" charset="-128"/>
                <a:cs typeface="Arial" panose="020B0604020202020204" pitchFamily="34" charset="0"/>
              </a:rPr>
              <a:t>requires 6 pointers to be changed</a:t>
            </a:r>
          </a:p>
          <a:p>
            <a:pPr lvl="1" algn="just"/>
            <a:r>
              <a:rPr lang="en-US" dirty="0">
                <a:latin typeface="Arial" panose="020B0604020202020204" pitchFamily="34" charset="0"/>
                <a:ea typeface="ＭＳ Ｐゴシック" pitchFamily="-84" charset="-128"/>
                <a:cs typeface="Arial" panose="020B0604020202020204" pitchFamily="34" charset="0"/>
              </a:rPr>
              <a:t>But each update more expensive</a:t>
            </a:r>
          </a:p>
          <a:p>
            <a:pPr lvl="1" algn="just"/>
            <a:r>
              <a:rPr lang="en-US" dirty="0">
                <a:latin typeface="Arial" panose="020B0604020202020204" pitchFamily="34" charset="0"/>
                <a:ea typeface="ＭＳ Ｐゴシック" pitchFamily="-84" charset="-128"/>
                <a:cs typeface="Arial" panose="020B0604020202020204" pitchFamily="34" charset="0"/>
              </a:rPr>
              <a:t>No search for replacement</a:t>
            </a:r>
          </a:p>
        </p:txBody>
      </p:sp>
      <p:sp>
        <p:nvSpPr>
          <p:cNvPr id="3" name="Slide Number Placeholder 2">
            <a:extLst>
              <a:ext uri="{FF2B5EF4-FFF2-40B4-BE49-F238E27FC236}">
                <a16:creationId xmlns:a16="http://schemas.microsoft.com/office/drawing/2014/main" id="{6B6F9B67-D3B5-D4D8-A51E-84FBC3CD9E7B}"/>
              </a:ext>
            </a:extLst>
          </p:cNvPr>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Tree>
    <p:custDataLst>
      <p:tags r:id="rId1"/>
    </p:custDataLst>
    <p:extLst>
      <p:ext uri="{BB962C8B-B14F-4D97-AF65-F5344CB8AC3E}">
        <p14:creationId xmlns:p14="http://schemas.microsoft.com/office/powerpoint/2010/main" val="3025904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208E-53A3-7BDE-57B8-9C3A316FB2E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526B71D-3B3F-B4B6-9FA1-F09FF3E8338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Global vs. Local Allocation</a:t>
            </a:r>
          </a:p>
        </p:txBody>
      </p:sp>
      <p:sp>
        <p:nvSpPr>
          <p:cNvPr id="12" name="Rectangle 3">
            <a:extLst>
              <a:ext uri="{FF2B5EF4-FFF2-40B4-BE49-F238E27FC236}">
                <a16:creationId xmlns:a16="http://schemas.microsoft.com/office/drawing/2014/main" id="{AD5DF5A4-0C0E-78EE-95BB-83F953211914}"/>
              </a:ext>
            </a:extLst>
          </p:cNvPr>
          <p:cNvSpPr txBox="1">
            <a:spLocks noChangeArrowheads="1"/>
          </p:cNvSpPr>
          <p:nvPr/>
        </p:nvSpPr>
        <p:spPr>
          <a:xfrm>
            <a:off x="632151" y="1453240"/>
            <a:ext cx="10609590" cy="521650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ea typeface="ＭＳ Ｐゴシック" pitchFamily="-84" charset="-128"/>
                <a:cs typeface="Arial" panose="020B0604020202020204" pitchFamily="34" charset="0"/>
              </a:rPr>
              <a:t>Global replacement</a:t>
            </a:r>
            <a:r>
              <a:rPr lang="en-US" dirty="0">
                <a:latin typeface="Arial" panose="020B0604020202020204" pitchFamily="34" charset="0"/>
                <a:ea typeface="ＭＳ Ｐゴシック" pitchFamily="-84" charset="-128"/>
                <a:cs typeface="Arial" panose="020B0604020202020204" pitchFamily="34" charset="0"/>
              </a:rPr>
              <a:t> – process selects a replacement frame from the set of all frames; one process can take a frame from another</a:t>
            </a:r>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lvl="1" algn="just"/>
            <a:r>
              <a:rPr lang="en-US" dirty="0">
                <a:latin typeface="Arial" panose="020B0604020202020204" pitchFamily="34" charset="0"/>
                <a:ea typeface="ＭＳ Ｐゴシック" pitchFamily="-84" charset="-128"/>
                <a:cs typeface="Arial" panose="020B0604020202020204" pitchFamily="34" charset="0"/>
              </a:rPr>
              <a:t>But then process execution time can vary greatly</a:t>
            </a:r>
          </a:p>
          <a:p>
            <a:pPr lvl="1" algn="just"/>
            <a:r>
              <a:rPr lang="en-US" dirty="0">
                <a:latin typeface="Arial" panose="020B0604020202020204" pitchFamily="34" charset="0"/>
                <a:ea typeface="ＭＳ Ｐゴシック" pitchFamily="-84" charset="-128"/>
                <a:cs typeface="Arial" panose="020B0604020202020204" pitchFamily="34" charset="0"/>
              </a:rPr>
              <a:t>But greater throughput so more common</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r>
              <a:rPr lang="en-US" b="1" dirty="0">
                <a:solidFill>
                  <a:srgbClr val="FF0000"/>
                </a:solidFill>
                <a:latin typeface="Arial" panose="020B0604020202020204" pitchFamily="34" charset="0"/>
                <a:ea typeface="ＭＳ Ｐゴシック" pitchFamily="-84" charset="-128"/>
                <a:cs typeface="Arial" panose="020B0604020202020204" pitchFamily="34" charset="0"/>
              </a:rPr>
              <a:t>Local replacement</a:t>
            </a:r>
            <a:r>
              <a:rPr lang="en-US" dirty="0">
                <a:latin typeface="Arial" panose="020B0604020202020204" pitchFamily="34" charset="0"/>
                <a:ea typeface="ＭＳ Ｐゴシック" pitchFamily="-84" charset="-128"/>
                <a:cs typeface="Arial" panose="020B0604020202020204" pitchFamily="34" charset="0"/>
              </a:rPr>
              <a:t> – </a:t>
            </a:r>
            <a:r>
              <a:rPr lang="en-US" sz="2100" dirty="0">
                <a:latin typeface="Arial" panose="020B0604020202020204" pitchFamily="34" charset="0"/>
                <a:ea typeface="ＭＳ Ｐゴシック" pitchFamily="-84" charset="-128"/>
                <a:cs typeface="Arial" panose="020B0604020202020204" pitchFamily="34" charset="0"/>
              </a:rPr>
              <a:t>each process selects from only its own set of allocated frames</a:t>
            </a:r>
            <a:endParaRPr lang="en-US" sz="2100" b="1" dirty="0">
              <a:solidFill>
                <a:srgbClr val="FF0000"/>
              </a:solidFill>
              <a:latin typeface="Arial" panose="020B0604020202020204" pitchFamily="34" charset="0"/>
              <a:ea typeface="ＭＳ Ｐゴシック" pitchFamily="-84" charset="-128"/>
              <a:cs typeface="Arial" panose="020B0604020202020204" pitchFamily="34" charset="0"/>
            </a:endParaRPr>
          </a:p>
          <a:p>
            <a:pPr lvl="1" algn="just"/>
            <a:r>
              <a:rPr lang="en-US" dirty="0">
                <a:latin typeface="Arial" panose="020B0604020202020204" pitchFamily="34" charset="0"/>
                <a:ea typeface="ＭＳ Ｐゴシック" pitchFamily="-84" charset="-128"/>
                <a:cs typeface="Arial" panose="020B0604020202020204" pitchFamily="34" charset="0"/>
              </a:rPr>
              <a:t>More consistent per-process performance</a:t>
            </a:r>
          </a:p>
          <a:p>
            <a:pPr lvl="1" algn="just"/>
            <a:r>
              <a:rPr lang="en-US" dirty="0">
                <a:latin typeface="Arial" panose="020B0604020202020204" pitchFamily="34" charset="0"/>
                <a:ea typeface="ＭＳ Ｐゴシック" pitchFamily="-84" charset="-128"/>
                <a:cs typeface="Arial" panose="020B0604020202020204" pitchFamily="34" charset="0"/>
              </a:rPr>
              <a:t>But possibly underutilized memory</a:t>
            </a:r>
          </a:p>
          <a:p>
            <a:pPr lvl="1" algn="just"/>
            <a:endParaRPr lang="en-US" dirty="0">
              <a:latin typeface="Arial" panose="020B0604020202020204" pitchFamily="34" charset="0"/>
              <a:ea typeface="ＭＳ Ｐゴシック" pitchFamily="-84" charset="-128"/>
              <a:cs typeface="Arial" panose="020B0604020202020204" pitchFamily="34" charset="0"/>
            </a:endParaRPr>
          </a:p>
        </p:txBody>
      </p:sp>
      <p:sp>
        <p:nvSpPr>
          <p:cNvPr id="3" name="Slide Number Placeholder 2">
            <a:extLst>
              <a:ext uri="{FF2B5EF4-FFF2-40B4-BE49-F238E27FC236}">
                <a16:creationId xmlns:a16="http://schemas.microsoft.com/office/drawing/2014/main" id="{F1BDABD0-2DCA-92BA-6A5A-23205E882D2E}"/>
              </a:ext>
            </a:extLst>
          </p:cNvPr>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Tree>
    <p:custDataLst>
      <p:tags r:id="rId1"/>
    </p:custDataLst>
    <p:extLst>
      <p:ext uri="{BB962C8B-B14F-4D97-AF65-F5344CB8AC3E}">
        <p14:creationId xmlns:p14="http://schemas.microsoft.com/office/powerpoint/2010/main" val="2692623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73650-8A14-F4AA-1AD4-5B430ED0A93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B420BC9-951C-54DC-07B0-A0BC7031CF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Reclaiming Pages</a:t>
            </a:r>
          </a:p>
        </p:txBody>
      </p:sp>
      <p:sp>
        <p:nvSpPr>
          <p:cNvPr id="12" name="Rectangle 3">
            <a:extLst>
              <a:ext uri="{FF2B5EF4-FFF2-40B4-BE49-F238E27FC236}">
                <a16:creationId xmlns:a16="http://schemas.microsoft.com/office/drawing/2014/main" id="{B4B76645-0911-067A-32D7-4AA3E1B51F83}"/>
              </a:ext>
            </a:extLst>
          </p:cNvPr>
          <p:cNvSpPr txBox="1">
            <a:spLocks noChangeArrowheads="1"/>
          </p:cNvSpPr>
          <p:nvPr/>
        </p:nvSpPr>
        <p:spPr>
          <a:xfrm>
            <a:off x="632151" y="1453240"/>
            <a:ext cx="5463849" cy="521650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A strategy to implement global page-replacement policy </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r>
              <a:rPr lang="en-US" dirty="0">
                <a:latin typeface="Arial" panose="020B0604020202020204" pitchFamily="34" charset="0"/>
                <a:ea typeface="ＭＳ Ｐゴシック" pitchFamily="-84" charset="-128"/>
                <a:cs typeface="Arial" panose="020B0604020202020204" pitchFamily="34" charset="0"/>
              </a:rPr>
              <a:t>All memory requests  are satisfied from the free-frame list,  rather than waiting for the list to drop to zero before we begin selecting pages for replacement, </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r>
              <a:rPr lang="en-US" dirty="0">
                <a:latin typeface="Arial" panose="020B0604020202020204" pitchFamily="34" charset="0"/>
                <a:ea typeface="ＭＳ Ｐゴシック" pitchFamily="-84" charset="-128"/>
                <a:cs typeface="Arial" panose="020B0604020202020204" pitchFamily="34" charset="0"/>
              </a:rPr>
              <a:t>Page replacement  is triggered when the list falls below a certain threshold. </a:t>
            </a:r>
          </a:p>
          <a:p>
            <a:pPr algn="just"/>
            <a:endParaRPr lang="en-US" dirty="0">
              <a:latin typeface="Arial" panose="020B0604020202020204" pitchFamily="34" charset="0"/>
              <a:ea typeface="ＭＳ Ｐゴシック" pitchFamily="-84" charset="-128"/>
              <a:cs typeface="Arial" panose="020B0604020202020204" pitchFamily="34" charset="0"/>
            </a:endParaRPr>
          </a:p>
          <a:p>
            <a:pPr algn="just"/>
            <a:r>
              <a:rPr lang="en-US" dirty="0">
                <a:latin typeface="Arial" panose="020B0604020202020204" pitchFamily="34" charset="0"/>
                <a:ea typeface="ＭＳ Ｐゴシック" pitchFamily="-84" charset="-128"/>
                <a:cs typeface="Arial" panose="020B0604020202020204" pitchFamily="34" charset="0"/>
              </a:rPr>
              <a:t>This strategy attempts to ensure there is always sufficient free memory to satisfy new requests.</a:t>
            </a:r>
          </a:p>
        </p:txBody>
      </p:sp>
      <p:sp>
        <p:nvSpPr>
          <p:cNvPr id="3" name="Slide Number Placeholder 2">
            <a:extLst>
              <a:ext uri="{FF2B5EF4-FFF2-40B4-BE49-F238E27FC236}">
                <a16:creationId xmlns:a16="http://schemas.microsoft.com/office/drawing/2014/main" id="{29D4EB0E-8AD2-6423-8A94-0E50B7A845BB}"/>
              </a:ext>
            </a:extLst>
          </p:cNvPr>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pic>
        <p:nvPicPr>
          <p:cNvPr id="54275" name="Picture 2" descr="B:\os-book\os10-dir\Slides-WORK-area\Figures-dir\ch10\JPG-dir\10_18.jpg">
            <a:extLst>
              <a:ext uri="{FF2B5EF4-FFF2-40B4-BE49-F238E27FC236}">
                <a16:creationId xmlns:a16="http://schemas.microsoft.com/office/drawing/2014/main" id="{1CBDD818-7B1C-4DDD-AAB3-4D84028FE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2870" y="1704636"/>
            <a:ext cx="4499656" cy="47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634605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6B984-9C5E-5934-4CAF-B7133B0D88F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8DE4517-88CC-314F-4EBE-C7C27E7C3F5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Thrashing</a:t>
            </a:r>
          </a:p>
        </p:txBody>
      </p:sp>
      <p:sp>
        <p:nvSpPr>
          <p:cNvPr id="3" name="Slide Number Placeholder 2">
            <a:extLst>
              <a:ext uri="{FF2B5EF4-FFF2-40B4-BE49-F238E27FC236}">
                <a16:creationId xmlns:a16="http://schemas.microsoft.com/office/drawing/2014/main" id="{119F1863-083B-E26C-2BD2-01C051DA03E4}"/>
              </a:ext>
            </a:extLst>
          </p:cNvPr>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B0C3F414-41C3-9E50-4B2C-DB581073D817}"/>
              </a:ext>
            </a:extLst>
          </p:cNvPr>
          <p:cNvSpPr txBox="1">
            <a:spLocks noChangeArrowheads="1"/>
          </p:cNvSpPr>
          <p:nvPr/>
        </p:nvSpPr>
        <p:spPr>
          <a:xfrm>
            <a:off x="632152" y="1453240"/>
            <a:ext cx="6306530"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tabLst>
                <a:tab pos="1828800" algn="l"/>
                <a:tab pos="2855913" algn="ctr"/>
              </a:tabLst>
            </a:pPr>
            <a:r>
              <a:rPr lang="en-US" altLang="en-US" dirty="0">
                <a:latin typeface="Arial" panose="020B0604020202020204" pitchFamily="34" charset="0"/>
                <a:cs typeface="Arial" panose="020B0604020202020204" pitchFamily="34" charset="0"/>
              </a:rPr>
              <a:t>If a process does not have “enough” pages, the page-fault rate is very high	</a:t>
            </a:r>
          </a:p>
          <a:p>
            <a:pPr lvl="1">
              <a:tabLst>
                <a:tab pos="1828800" algn="l"/>
                <a:tab pos="2855913" algn="ctr"/>
              </a:tabLst>
            </a:pPr>
            <a:r>
              <a:rPr lang="en-US" altLang="en-US" dirty="0">
                <a:latin typeface="Arial" panose="020B0604020202020204" pitchFamily="34" charset="0"/>
                <a:cs typeface="Arial" panose="020B0604020202020204" pitchFamily="34" charset="0"/>
              </a:rPr>
              <a:t>Page fault to get page</a:t>
            </a:r>
          </a:p>
          <a:p>
            <a:pPr lvl="1">
              <a:tabLst>
                <a:tab pos="1828800" algn="l"/>
                <a:tab pos="2855913" algn="ctr"/>
              </a:tabLst>
            </a:pPr>
            <a:r>
              <a:rPr lang="en-US" altLang="en-US" dirty="0">
                <a:latin typeface="Arial" panose="020B0604020202020204" pitchFamily="34" charset="0"/>
                <a:cs typeface="Arial" panose="020B0604020202020204" pitchFamily="34" charset="0"/>
              </a:rPr>
              <a:t>Replace existing frame</a:t>
            </a:r>
          </a:p>
          <a:p>
            <a:pPr lvl="1">
              <a:tabLst>
                <a:tab pos="1828800" algn="l"/>
                <a:tab pos="2855913" algn="ctr"/>
              </a:tabLst>
            </a:pPr>
            <a:r>
              <a:rPr lang="en-US" altLang="en-US" dirty="0">
                <a:latin typeface="Arial" panose="020B0604020202020204" pitchFamily="34" charset="0"/>
                <a:cs typeface="Arial" panose="020B0604020202020204" pitchFamily="34" charset="0"/>
              </a:rPr>
              <a:t>But quickly need replaced frame back</a:t>
            </a:r>
          </a:p>
          <a:p>
            <a:pPr lvl="1">
              <a:tabLst>
                <a:tab pos="1828800" algn="l"/>
                <a:tab pos="2855913" algn="ctr"/>
              </a:tabLst>
            </a:pPr>
            <a:r>
              <a:rPr lang="en-US" altLang="en-US" dirty="0">
                <a:latin typeface="Arial" panose="020B0604020202020204" pitchFamily="34" charset="0"/>
                <a:cs typeface="Arial" panose="020B0604020202020204" pitchFamily="34" charset="0"/>
              </a:rPr>
              <a:t>This leads to:</a:t>
            </a:r>
          </a:p>
          <a:p>
            <a:pPr lvl="2">
              <a:tabLst>
                <a:tab pos="1828800" algn="l"/>
                <a:tab pos="2855913" algn="ctr"/>
              </a:tabLst>
            </a:pPr>
            <a:r>
              <a:rPr lang="en-US" altLang="en-US" dirty="0">
                <a:latin typeface="Arial" panose="020B0604020202020204" pitchFamily="34" charset="0"/>
                <a:cs typeface="Arial" panose="020B0604020202020204" pitchFamily="34" charset="0"/>
              </a:rPr>
              <a:t>Low CPU utilization</a:t>
            </a:r>
          </a:p>
          <a:p>
            <a:pPr lvl="2">
              <a:tabLst>
                <a:tab pos="1828800" algn="l"/>
                <a:tab pos="2855913" algn="ctr"/>
              </a:tabLst>
            </a:pPr>
            <a:r>
              <a:rPr lang="en-US" altLang="en-US" dirty="0">
                <a:latin typeface="Arial" panose="020B0604020202020204" pitchFamily="34" charset="0"/>
                <a:cs typeface="Arial" panose="020B0604020202020204" pitchFamily="34" charset="0"/>
              </a:rPr>
              <a:t>Operating system thinking that it needs to increase the degree of multiprogramming</a:t>
            </a:r>
          </a:p>
          <a:p>
            <a:pPr lvl="2">
              <a:tabLst>
                <a:tab pos="1828800" algn="l"/>
                <a:tab pos="2855913" algn="ctr"/>
              </a:tabLst>
            </a:pPr>
            <a:r>
              <a:rPr lang="en-US" altLang="en-US" dirty="0">
                <a:latin typeface="Arial" panose="020B0604020202020204" pitchFamily="34" charset="0"/>
                <a:cs typeface="Arial" panose="020B0604020202020204" pitchFamily="34" charset="0"/>
              </a:rPr>
              <a:t>Another process added to the system</a:t>
            </a:r>
          </a:p>
        </p:txBody>
      </p:sp>
      <p:pic>
        <p:nvPicPr>
          <p:cNvPr id="58372" name="Picture 4" descr="B:\os-book\os10-dir\Slides-WORK-area\Figures-dir\ch10\JPG-dir\10_20.jpg">
            <a:extLst>
              <a:ext uri="{FF2B5EF4-FFF2-40B4-BE49-F238E27FC236}">
                <a16:creationId xmlns:a16="http://schemas.microsoft.com/office/drawing/2014/main" id="{94F4115B-BBC6-4F1B-BBD0-84201898A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646" y="2171108"/>
            <a:ext cx="4868863"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6D7FAC08-150C-D138-FA09-2D1FD5A0A19A}"/>
              </a:ext>
            </a:extLst>
          </p:cNvPr>
          <p:cNvSpPr txBox="1">
            <a:spLocks noChangeArrowheads="1"/>
          </p:cNvSpPr>
          <p:nvPr/>
        </p:nvSpPr>
        <p:spPr>
          <a:xfrm>
            <a:off x="632152" y="5337768"/>
            <a:ext cx="10538712" cy="55868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tabLst>
                <a:tab pos="1828800" algn="l"/>
                <a:tab pos="2855913" algn="ctr"/>
              </a:tabLst>
            </a:pPr>
            <a:r>
              <a:rPr lang="en-US" altLang="en-US" b="1" dirty="0">
                <a:solidFill>
                  <a:srgbClr val="FF0000"/>
                </a:solidFill>
                <a:latin typeface="Arial" panose="020B0604020202020204" pitchFamily="34" charset="0"/>
                <a:cs typeface="Arial" panose="020B0604020202020204" pitchFamily="34" charset="0"/>
              </a:rPr>
              <a:t>Thrashing </a:t>
            </a:r>
            <a:r>
              <a:rPr lang="en-US" dirty="0">
                <a:latin typeface="Arial" panose="020B0604020202020204" pitchFamily="34" charset="0"/>
                <a:ea typeface="ＭＳ Ｐゴシック" pitchFamily="-84" charset="-128"/>
                <a:cs typeface="Arial" panose="020B0604020202020204" pitchFamily="34" charset="0"/>
              </a:rPr>
              <a:t>– </a:t>
            </a:r>
            <a:r>
              <a:rPr lang="en-US" altLang="en-US" dirty="0">
                <a:latin typeface="Arial" panose="020B0604020202020204" pitchFamily="34" charset="0"/>
                <a:cs typeface="Arial" panose="020B0604020202020204" pitchFamily="34" charset="0"/>
              </a:rPr>
              <a:t>A process is busy swapping pages in and out rather than executing</a:t>
            </a:r>
          </a:p>
          <a:p>
            <a:pPr marL="114300" indent="0">
              <a:buNone/>
              <a:tabLst>
                <a:tab pos="1828800" algn="l"/>
                <a:tab pos="2855913" algn="ctr"/>
              </a:tabLst>
            </a:pPr>
            <a:endParaRPr lang="en-US" alt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07028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CE2C5-F3F2-F2D9-2696-154EE4FDF90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4058EE2-6914-5731-03AC-3673194B1FA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Demand Paging and Thrashing </a:t>
            </a:r>
          </a:p>
        </p:txBody>
      </p:sp>
      <p:sp>
        <p:nvSpPr>
          <p:cNvPr id="3" name="Slide Number Placeholder 2">
            <a:extLst>
              <a:ext uri="{FF2B5EF4-FFF2-40B4-BE49-F238E27FC236}">
                <a16:creationId xmlns:a16="http://schemas.microsoft.com/office/drawing/2014/main" id="{E6680263-7E5D-886C-A1AC-220DE3CF7169}"/>
              </a:ext>
            </a:extLst>
          </p:cNvPr>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8590BA23-4345-B504-BA76-67F7C253462B}"/>
                  </a:ext>
                </a:extLst>
              </p:cNvPr>
              <p:cNvSpPr txBox="1">
                <a:spLocks noChangeArrowheads="1"/>
              </p:cNvSpPr>
              <p:nvPr/>
            </p:nvSpPr>
            <p:spPr>
              <a:xfrm>
                <a:off x="632151" y="1453240"/>
                <a:ext cx="10573731"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a:latin typeface="Arial" panose="020B0604020202020204" pitchFamily="34" charset="0"/>
                    <a:cs typeface="Arial" panose="020B0604020202020204" pitchFamily="34" charset="0"/>
                  </a:rPr>
                  <a:t>Why does demand paging work?</a:t>
                </a:r>
              </a:p>
              <a:p>
                <a:pPr>
                  <a:spcBef>
                    <a:spcPts val="600"/>
                  </a:spcBef>
                </a:pPr>
                <a:r>
                  <a:rPr lang="en-US" b="1" dirty="0">
                    <a:solidFill>
                      <a:srgbClr val="FF0000"/>
                    </a:solidFill>
                    <a:latin typeface="Arial" panose="020B0604020202020204" pitchFamily="34" charset="0"/>
                    <a:ea typeface="ＭＳ Ｐゴシック" pitchFamily="-84" charset="-128"/>
                    <a:cs typeface="Arial" panose="020B0604020202020204" pitchFamily="34" charset="0"/>
                  </a:rPr>
                  <a:t>Locality Model</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Process migrates from one locality to another</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Localities may overlap</a:t>
                </a:r>
              </a:p>
              <a:p>
                <a:pPr lvl="1">
                  <a:spcBef>
                    <a:spcPts val="600"/>
                  </a:spcBef>
                </a:pP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Why does thrashing occur?</a:t>
                </a:r>
              </a:p>
              <a:p>
                <a:pPr lvl="1">
                  <a:spcBef>
                    <a:spcPts val="600"/>
                  </a:spcBef>
                </a:pPr>
                <a14:m>
                  <m:oMath xmlns:m="http://schemas.openxmlformats.org/officeDocument/2006/math">
                    <m:nary>
                      <m:naryPr>
                        <m:chr m:val="∑"/>
                        <m:subHide m:val="on"/>
                        <m:supHide m:val="on"/>
                        <m:ctrlPr>
                          <a:rPr lang="en-US" i="1" smtClean="0">
                            <a:latin typeface="Cambria Math" panose="02040503050406030204" pitchFamily="18" charset="0"/>
                            <a:ea typeface="ＭＳ Ｐゴシック" pitchFamily="-84" charset="-128"/>
                            <a:cs typeface="Arial" panose="020B0604020202020204" pitchFamily="34" charset="0"/>
                          </a:rPr>
                        </m:ctrlPr>
                      </m:naryPr>
                      <m:sub/>
                      <m:sup/>
                      <m:e>
                        <m:r>
                          <m:rPr>
                            <m:nor/>
                          </m:rPr>
                          <a:rPr lang="en-US" dirty="0">
                            <a:latin typeface="Arial" panose="020B0604020202020204" pitchFamily="34" charset="0"/>
                            <a:ea typeface="ＭＳ Ｐゴシック" pitchFamily="-84" charset="-128"/>
                            <a:cs typeface="Arial" panose="020B0604020202020204" pitchFamily="34" charset="0"/>
                          </a:rPr>
                          <m:t>size</m:t>
                        </m:r>
                        <m:r>
                          <m:rPr>
                            <m:nor/>
                          </m:rPr>
                          <a:rPr lang="en-US" dirty="0">
                            <a:latin typeface="Arial" panose="020B0604020202020204" pitchFamily="34" charset="0"/>
                            <a:ea typeface="ＭＳ Ｐゴシック" pitchFamily="-84" charset="-128"/>
                            <a:cs typeface="Arial" panose="020B0604020202020204" pitchFamily="34" charset="0"/>
                          </a:rPr>
                          <m:t> </m:t>
                        </m:r>
                        <m:r>
                          <m:rPr>
                            <m:nor/>
                          </m:rPr>
                          <a:rPr lang="en-US" dirty="0">
                            <a:latin typeface="Arial" panose="020B0604020202020204" pitchFamily="34" charset="0"/>
                            <a:ea typeface="ＭＳ Ｐゴシック" pitchFamily="-84" charset="-128"/>
                            <a:cs typeface="Arial" panose="020B0604020202020204" pitchFamily="34" charset="0"/>
                          </a:rPr>
                          <m:t>of</m:t>
                        </m:r>
                        <m:r>
                          <m:rPr>
                            <m:nor/>
                          </m:rPr>
                          <a:rPr lang="en-US" dirty="0">
                            <a:latin typeface="Arial" panose="020B0604020202020204" pitchFamily="34" charset="0"/>
                            <a:ea typeface="ＭＳ Ｐゴシック" pitchFamily="-84" charset="-128"/>
                            <a:cs typeface="Arial" panose="020B0604020202020204" pitchFamily="34" charset="0"/>
                          </a:rPr>
                          <m:t> </m:t>
                        </m:r>
                        <m:r>
                          <m:rPr>
                            <m:nor/>
                          </m:rPr>
                          <a:rPr lang="en-US" dirty="0">
                            <a:latin typeface="Arial" panose="020B0604020202020204" pitchFamily="34" charset="0"/>
                            <a:ea typeface="ＭＳ Ｐゴシック" pitchFamily="-84" charset="-128"/>
                            <a:cs typeface="Arial" panose="020B0604020202020204" pitchFamily="34" charset="0"/>
                          </a:rPr>
                          <m:t>locality</m:t>
                        </m:r>
                      </m:e>
                    </m:nary>
                  </m:oMath>
                </a14:m>
                <a:r>
                  <a:rPr lang="en-US" dirty="0">
                    <a:latin typeface="Arial" panose="020B0604020202020204" pitchFamily="34" charset="0"/>
                    <a:ea typeface="ＭＳ Ｐゴシック" pitchFamily="-84" charset="-128"/>
                    <a:cs typeface="Arial" panose="020B0604020202020204" pitchFamily="34" charset="0"/>
                  </a:rPr>
                  <a:t> &gt; total memory size</a:t>
                </a:r>
              </a:p>
              <a:p>
                <a:pPr>
                  <a:spcBef>
                    <a:spcPts val="600"/>
                  </a:spcBef>
                </a:pP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Limit effects by using local or priority page replacement</a:t>
                </a:r>
                <a:endParaRPr lang="en-US" sz="800" b="1" dirty="0">
                  <a:solidFill>
                    <a:srgbClr val="FF0000"/>
                  </a:solidFill>
                  <a:latin typeface="Arial" panose="020B0604020202020204" pitchFamily="34" charset="0"/>
                  <a:ea typeface="ＭＳ Ｐゴシック" pitchFamily="-84" charset="-128"/>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8590BA23-4345-B504-BA76-67F7C253462B}"/>
                  </a:ext>
                </a:extLst>
              </p:cNvPr>
              <p:cNvSpPr txBox="1">
                <a:spLocks noRot="1" noChangeAspect="1" noMove="1" noResize="1" noEditPoints="1" noAdjustHandles="1" noChangeArrowheads="1" noChangeShapeType="1" noTextEdit="1"/>
              </p:cNvSpPr>
              <p:nvPr/>
            </p:nvSpPr>
            <p:spPr>
              <a:xfrm>
                <a:off x="632151" y="1453240"/>
                <a:ext cx="10573731" cy="5404760"/>
              </a:xfrm>
              <a:prstGeom prst="rect">
                <a:avLst/>
              </a:prstGeom>
              <a:blipFill>
                <a:blip r:embed="rId3"/>
                <a:stretch>
                  <a:fillRect t="-564"/>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095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B281-1F84-FF12-C505-18B1D52C5D4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D796E39-3F79-07E1-4675-5671A34BD95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Locality In A Memory-Reference Pattern</a:t>
            </a:r>
          </a:p>
        </p:txBody>
      </p:sp>
      <p:sp>
        <p:nvSpPr>
          <p:cNvPr id="3" name="Slide Number Placeholder 2">
            <a:extLst>
              <a:ext uri="{FF2B5EF4-FFF2-40B4-BE49-F238E27FC236}">
                <a16:creationId xmlns:a16="http://schemas.microsoft.com/office/drawing/2014/main" id="{C9BADFA3-1994-5B44-9568-4DACAAD4FDD4}"/>
              </a:ext>
            </a:extLst>
          </p:cNvPr>
          <p:cNvSpPr>
            <a:spLocks noGrp="1"/>
          </p:cNvSpPr>
          <p:nvPr>
            <p:ph type="sldNum" sz="quarter" idx="12"/>
          </p:nvPr>
        </p:nvSpPr>
        <p:spPr/>
        <p:txBody>
          <a:bodyPr/>
          <a:lstStyle/>
          <a:p>
            <a:fld id="{3485D9CA-6DAA-4C3C-A3E2-EDEA918D5F89}" type="slidenum">
              <a:rPr lang="en-US">
                <a:latin typeface="Calibri"/>
              </a:rPr>
              <a:pPr/>
              <a:t>36</a:t>
            </a:fld>
            <a:endParaRPr lang="en-US">
              <a:latin typeface="Calibri"/>
            </a:endParaRPr>
          </a:p>
        </p:txBody>
      </p:sp>
      <p:pic>
        <p:nvPicPr>
          <p:cNvPr id="60419" name="Picture 1" descr="9_19.pdf">
            <a:extLst>
              <a:ext uri="{FF2B5EF4-FFF2-40B4-BE49-F238E27FC236}">
                <a16:creationId xmlns:a16="http://schemas.microsoft.com/office/drawing/2014/main" id="{7B3592D0-BC1D-4BDC-A24F-03A5C21C35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3804" y="1268600"/>
            <a:ext cx="3770312" cy="540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602966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400B8-7123-87EC-0C88-0173CC7DA8A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074F34-D311-1B0F-4610-9FCB26EE172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Locality Model</a:t>
            </a:r>
          </a:p>
        </p:txBody>
      </p:sp>
      <p:sp>
        <p:nvSpPr>
          <p:cNvPr id="3" name="Slide Number Placeholder 2">
            <a:extLst>
              <a:ext uri="{FF2B5EF4-FFF2-40B4-BE49-F238E27FC236}">
                <a16:creationId xmlns:a16="http://schemas.microsoft.com/office/drawing/2014/main" id="{05D35256-F47B-F5BE-9FBA-734CEEBE1022}"/>
              </a:ext>
            </a:extLst>
          </p:cNvPr>
          <p:cNvSpPr>
            <a:spLocks noGrp="1"/>
          </p:cNvSpPr>
          <p:nvPr>
            <p:ph type="sldNum" sz="quarter" idx="12"/>
          </p:nvPr>
        </p:nvSpPr>
        <p:spPr/>
        <p:txBody>
          <a:bodyPr/>
          <a:lstStyle/>
          <a:p>
            <a:fld id="{3485D9CA-6DAA-4C3C-A3E2-EDEA918D5F89}" type="slidenum">
              <a:rPr lang="en-US">
                <a:latin typeface="Calibri"/>
              </a:rPr>
              <a:pPr/>
              <a:t>37</a:t>
            </a:fld>
            <a:endParaRPr lang="en-US">
              <a:latin typeface="Calibri"/>
            </a:endParaRPr>
          </a:p>
        </p:txBody>
      </p:sp>
      <p:sp>
        <p:nvSpPr>
          <p:cNvPr id="12" name="Rectangle 3">
            <a:extLst>
              <a:ext uri="{FF2B5EF4-FFF2-40B4-BE49-F238E27FC236}">
                <a16:creationId xmlns:a16="http://schemas.microsoft.com/office/drawing/2014/main" id="{2BED9CAE-AA60-A86D-574F-1AD0BB6244C9}"/>
              </a:ext>
            </a:extLst>
          </p:cNvPr>
          <p:cNvSpPr txBox="1">
            <a:spLocks noChangeArrowheads="1"/>
          </p:cNvSpPr>
          <p:nvPr/>
        </p:nvSpPr>
        <p:spPr>
          <a:xfrm>
            <a:off x="632151" y="1453240"/>
            <a:ext cx="10573731"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a:latin typeface="Arial" panose="020B0604020202020204" pitchFamily="34" charset="0"/>
                <a:cs typeface="Arial" panose="020B0604020202020204" pitchFamily="34" charset="0"/>
              </a:rPr>
              <a:t>To prevent thrashing, we must provide a process as many frames as it needs. But how do we know how many frames it "needs"? There are several techniques.</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The working-set strategy starts by looking at how many frames a process is actually using. This approach defines the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locality model of process execution</a:t>
            </a:r>
            <a:r>
              <a:rPr lang="en-US" dirty="0">
                <a:latin typeface="Arial" panose="020B0604020202020204" pitchFamily="34" charset="0"/>
                <a:ea typeface="ＭＳ Ｐゴシック" pitchFamily="-84" charset="-128"/>
                <a:cs typeface="Arial" panose="020B0604020202020204" pitchFamily="34" charset="0"/>
              </a:rPr>
              <a:t>.</a:t>
            </a:r>
            <a:endParaRPr lang="en-US" sz="800" dirty="0">
              <a:latin typeface="Arial" panose="020B0604020202020204" pitchFamily="34" charset="0"/>
              <a:ea typeface="ＭＳ Ｐゴシック" pitchFamily="-84" charset="-128"/>
              <a:cs typeface="Arial" panose="020B0604020202020204" pitchFamily="34" charset="0"/>
            </a:endParaRPr>
          </a:p>
          <a:p>
            <a:pPr>
              <a:spcBef>
                <a:spcPts val="600"/>
              </a:spcBef>
            </a:pP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Locality model states that, as process executes, it moves from locality to locality.</a:t>
            </a:r>
          </a:p>
          <a:p>
            <a:pPr>
              <a:spcBef>
                <a:spcPts val="600"/>
              </a:spcBef>
            </a:pP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A locality is a set of pages that are actively used together. A program is generally composed of several different localities, which may overlap.</a:t>
            </a:r>
            <a:endParaRPr lang="en-US" sz="800" b="1" dirty="0">
              <a:solidFill>
                <a:srgbClr val="FF0000"/>
              </a:solidFill>
              <a:latin typeface="Arial" panose="020B0604020202020204" pitchFamily="34" charset="0"/>
              <a:ea typeface="ＭＳ Ｐゴシック" pitchFamily="-84" charset="-128"/>
              <a:cs typeface="Arial" panose="020B0604020202020204" pitchFamily="34" charset="0"/>
            </a:endParaRPr>
          </a:p>
        </p:txBody>
      </p:sp>
    </p:spTree>
    <p:custDataLst>
      <p:tags r:id="rId1"/>
    </p:custDataLst>
    <p:extLst>
      <p:ext uri="{BB962C8B-B14F-4D97-AF65-F5344CB8AC3E}">
        <p14:creationId xmlns:p14="http://schemas.microsoft.com/office/powerpoint/2010/main" val="378368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4696-117C-04ED-6266-E5151BA53DB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0FDA855-9BBF-0DC4-CDBF-FF6340E4374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Working-Set Model</a:t>
            </a:r>
          </a:p>
        </p:txBody>
      </p:sp>
      <p:sp>
        <p:nvSpPr>
          <p:cNvPr id="3" name="Slide Number Placeholder 2">
            <a:extLst>
              <a:ext uri="{FF2B5EF4-FFF2-40B4-BE49-F238E27FC236}">
                <a16:creationId xmlns:a16="http://schemas.microsoft.com/office/drawing/2014/main" id="{38C18806-6AED-652A-A6B5-D2F72259D159}"/>
              </a:ext>
            </a:extLst>
          </p:cNvPr>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12" name="Rectangle 3">
            <a:extLst>
              <a:ext uri="{FF2B5EF4-FFF2-40B4-BE49-F238E27FC236}">
                <a16:creationId xmlns:a16="http://schemas.microsoft.com/office/drawing/2014/main" id="{39CDC8E5-CB46-BFBD-51FC-3963BF170827}"/>
              </a:ext>
            </a:extLst>
          </p:cNvPr>
          <p:cNvSpPr txBox="1">
            <a:spLocks noChangeArrowheads="1"/>
          </p:cNvSpPr>
          <p:nvPr/>
        </p:nvSpPr>
        <p:spPr>
          <a:xfrm>
            <a:off x="632151" y="1453240"/>
            <a:ext cx="10743566"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a:latin typeface="Arial" panose="020B0604020202020204" pitchFamily="34" charset="0"/>
                <a:cs typeface="Arial" panose="020B0604020202020204" pitchFamily="34" charset="0"/>
              </a:rPr>
              <a:t>The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working set model </a:t>
            </a:r>
            <a:r>
              <a:rPr lang="en-US" dirty="0">
                <a:latin typeface="Arial" panose="020B0604020202020204" pitchFamily="34" charset="0"/>
                <a:cs typeface="Arial" panose="020B0604020202020204" pitchFamily="34" charset="0"/>
              </a:rPr>
              <a:t>is based on the assumption of locality.</a:t>
            </a:r>
          </a:p>
          <a:p>
            <a:pPr>
              <a:spcBef>
                <a:spcPts val="600"/>
              </a:spcBef>
            </a:pPr>
            <a:endParaRPr lang="en-US" sz="700"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Δ ≡ </a:t>
            </a:r>
            <a:r>
              <a:rPr lang="en-US" b="1" dirty="0">
                <a:solidFill>
                  <a:srgbClr val="FF0000"/>
                </a:solidFill>
                <a:latin typeface="Arial" panose="020B0604020202020204" pitchFamily="34" charset="0"/>
                <a:ea typeface="ＭＳ Ｐゴシック" pitchFamily="-84" charset="-128"/>
                <a:cs typeface="Arial" panose="020B0604020202020204" pitchFamily="34" charset="0"/>
              </a:rPr>
              <a:t>working-set window </a:t>
            </a:r>
            <a:r>
              <a:rPr lang="en-US" dirty="0">
                <a:latin typeface="Arial" panose="020B0604020202020204" pitchFamily="34" charset="0"/>
                <a:ea typeface="ＭＳ Ｐゴシック" pitchFamily="-84" charset="-128"/>
                <a:cs typeface="Arial" panose="020B0604020202020204" pitchFamily="34" charset="0"/>
              </a:rPr>
              <a:t>≡ a fixed # of page references (</a:t>
            </a:r>
            <a:r>
              <a:rPr lang="en-US" sz="2100" dirty="0">
                <a:latin typeface="Arial" panose="020B0604020202020204" pitchFamily="34" charset="0"/>
                <a:ea typeface="ＭＳ Ｐゴシック" pitchFamily="-84" charset="-128"/>
                <a:cs typeface="Arial" panose="020B0604020202020204" pitchFamily="34" charset="0"/>
              </a:rPr>
              <a:t>e.g. 10,000 instructions</a:t>
            </a:r>
            <a:r>
              <a:rPr lang="en-US" dirty="0">
                <a:latin typeface="Arial" panose="020B0604020202020204" pitchFamily="34" charset="0"/>
                <a:ea typeface="ＭＳ Ｐゴシック" pitchFamily="-84" charset="-128"/>
                <a:cs typeface="Arial" panose="020B0604020202020204" pitchFamily="34" charset="0"/>
              </a:rPr>
              <a:t>). </a:t>
            </a:r>
          </a:p>
          <a:p>
            <a:pPr>
              <a:spcBef>
                <a:spcPts val="600"/>
              </a:spcBef>
            </a:pPr>
            <a:endParaRPr lang="en-US" sz="700"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Idea is to examine the most recent Δ page references. The set of pages in the most recent Δ page references is the working set.</a:t>
            </a:r>
          </a:p>
          <a:p>
            <a:pPr>
              <a:spcBef>
                <a:spcPts val="600"/>
              </a:spcBef>
            </a:pPr>
            <a:r>
              <a:rPr lang="en-US" sz="700" dirty="0">
                <a:latin typeface="Arial" panose="020B0604020202020204" pitchFamily="34" charset="0"/>
                <a:ea typeface="ＭＳ Ｐゴシック" pitchFamily="-84" charset="-128"/>
                <a:cs typeface="Arial" panose="020B0604020202020204" pitchFamily="34" charset="0"/>
              </a:rPr>
              <a:t> </a:t>
            </a:r>
          </a:p>
          <a:p>
            <a:pPr>
              <a:spcBef>
                <a:spcPts val="600"/>
              </a:spcBef>
            </a:pPr>
            <a:r>
              <a:rPr lang="en-US" dirty="0">
                <a:latin typeface="Arial" panose="020B0604020202020204" pitchFamily="34" charset="0"/>
                <a:ea typeface="ＭＳ Ｐゴシック" pitchFamily="-84" charset="-128"/>
                <a:cs typeface="Arial" panose="020B0604020202020204" pitchFamily="34" charset="0"/>
              </a:rPr>
              <a:t>If a page is in active use, it will be in the working set. Otherwise, it will drop from the working set Δ time units after its last reference. Thus, the working set is an approximation of the program's locality.</a:t>
            </a:r>
            <a:endParaRPr lang="en-US" sz="800" b="1" dirty="0">
              <a:solidFill>
                <a:srgbClr val="FF0000"/>
              </a:solidFill>
              <a:latin typeface="Arial" panose="020B0604020202020204" pitchFamily="34" charset="0"/>
              <a:ea typeface="ＭＳ Ｐゴシック" pitchFamily="-84" charset="-128"/>
              <a:cs typeface="Arial" panose="020B0604020202020204" pitchFamily="34" charset="0"/>
            </a:endParaRPr>
          </a:p>
        </p:txBody>
      </p:sp>
      <p:pic>
        <p:nvPicPr>
          <p:cNvPr id="62468" name="Picture 5">
            <a:extLst>
              <a:ext uri="{FF2B5EF4-FFF2-40B4-BE49-F238E27FC236}">
                <a16:creationId xmlns:a16="http://schemas.microsoft.com/office/drawing/2014/main" id="{D78CC71D-4523-4A34-A452-9A1A6004C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738" y="4875438"/>
            <a:ext cx="6348413"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195604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9F2B-5247-9D15-D602-7EB6DFB7AEA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8AE662-8393-C23F-A069-73FC27893B1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Working-Set Model</a:t>
            </a:r>
          </a:p>
        </p:txBody>
      </p:sp>
      <p:sp>
        <p:nvSpPr>
          <p:cNvPr id="3" name="Slide Number Placeholder 2">
            <a:extLst>
              <a:ext uri="{FF2B5EF4-FFF2-40B4-BE49-F238E27FC236}">
                <a16:creationId xmlns:a16="http://schemas.microsoft.com/office/drawing/2014/main" id="{E1C4482D-CC57-9D70-4AF4-D8E4CAC71E3C}"/>
              </a:ext>
            </a:extLst>
          </p:cNvPr>
          <p:cNvSpPr>
            <a:spLocks noGrp="1"/>
          </p:cNvSpPr>
          <p:nvPr>
            <p:ph type="sldNum" sz="quarter" idx="12"/>
          </p:nvPr>
        </p:nvSpPr>
        <p:spPr/>
        <p:txBody>
          <a:bodyPr/>
          <a:lstStyle/>
          <a:p>
            <a:fld id="{3485D9CA-6DAA-4C3C-A3E2-EDEA918D5F89}" type="slidenum">
              <a:rPr lang="en-US">
                <a:latin typeface="Calibri"/>
              </a:rPr>
              <a:pPr/>
              <a:t>39</a:t>
            </a:fld>
            <a:endParaRPr lang="en-US">
              <a:latin typeface="Calibri"/>
            </a:endParaRPr>
          </a:p>
        </p:txBody>
      </p:sp>
      <p:sp>
        <p:nvSpPr>
          <p:cNvPr id="12" name="Rectangle 3">
            <a:extLst>
              <a:ext uri="{FF2B5EF4-FFF2-40B4-BE49-F238E27FC236}">
                <a16:creationId xmlns:a16="http://schemas.microsoft.com/office/drawing/2014/main" id="{7459924C-0503-5AEA-961C-FA1A4E5046B4}"/>
              </a:ext>
            </a:extLst>
          </p:cNvPr>
          <p:cNvSpPr txBox="1">
            <a:spLocks noChangeArrowheads="1"/>
          </p:cNvSpPr>
          <p:nvPr/>
        </p:nvSpPr>
        <p:spPr>
          <a:xfrm>
            <a:off x="632151" y="1453240"/>
            <a:ext cx="10573731"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err="1">
                <a:latin typeface="Arial" panose="020B0604020202020204" pitchFamily="34" charset="0"/>
                <a:cs typeface="Arial" panose="020B0604020202020204" pitchFamily="34" charset="0"/>
              </a:rPr>
              <a:t>WSSi</a:t>
            </a:r>
            <a:r>
              <a:rPr lang="en-US" dirty="0">
                <a:latin typeface="Arial" panose="020B0604020202020204" pitchFamily="34" charset="0"/>
                <a:cs typeface="Arial" panose="020B0604020202020204" pitchFamily="34" charset="0"/>
              </a:rPr>
              <a:t> (working set size of Process Pi) = total number of pages referenced in the most recent Δ (varies in time)</a:t>
            </a:r>
          </a:p>
          <a:p>
            <a:pPr lvl="1" algn="just">
              <a:spcBef>
                <a:spcPts val="600"/>
              </a:spcBef>
            </a:pPr>
            <a:r>
              <a:rPr lang="en-US" dirty="0">
                <a:latin typeface="Arial" panose="020B0604020202020204" pitchFamily="34" charset="0"/>
                <a:cs typeface="Arial" panose="020B0604020202020204" pitchFamily="34" charset="0"/>
              </a:rPr>
              <a:t>If Δ is too small, it will not encompass entire locality</a:t>
            </a:r>
          </a:p>
          <a:p>
            <a:pPr lvl="1" algn="just">
              <a:spcBef>
                <a:spcPts val="600"/>
              </a:spcBef>
            </a:pPr>
            <a:r>
              <a:rPr lang="en-US" dirty="0">
                <a:latin typeface="Arial" panose="020B0604020202020204" pitchFamily="34" charset="0"/>
                <a:cs typeface="Arial" panose="020B0604020202020204" pitchFamily="34" charset="0"/>
              </a:rPr>
              <a:t>If Δ is too large, it will encompass several localities</a:t>
            </a:r>
          </a:p>
          <a:p>
            <a:pPr lvl="1" algn="just">
              <a:spcBef>
                <a:spcPts val="600"/>
              </a:spcBef>
            </a:pPr>
            <a:r>
              <a:rPr lang="en-US" dirty="0">
                <a:latin typeface="Arial" panose="020B0604020202020204" pitchFamily="34" charset="0"/>
                <a:cs typeface="Arial" panose="020B0604020202020204" pitchFamily="34" charset="0"/>
              </a:rPr>
              <a:t>If Δ= ∞⇒ it will encompass entire program</a:t>
            </a:r>
          </a:p>
          <a:p>
            <a:pPr algn="just">
              <a:spcBef>
                <a:spcPts val="600"/>
              </a:spcBef>
            </a:pPr>
            <a:endParaRPr lang="en-US" dirty="0">
              <a:latin typeface="Arial" panose="020B0604020202020204" pitchFamily="34" charset="0"/>
              <a:cs typeface="Arial" panose="020B0604020202020204" pitchFamily="34" charset="0"/>
            </a:endParaRPr>
          </a:p>
          <a:p>
            <a:pPr algn="just">
              <a:spcBef>
                <a:spcPts val="600"/>
              </a:spcBef>
            </a:pPr>
            <a:r>
              <a:rPr lang="en-US" dirty="0">
                <a:latin typeface="Arial" panose="020B0604020202020204" pitchFamily="34" charset="0"/>
                <a:cs typeface="Arial" panose="020B0604020202020204" pitchFamily="34" charset="0"/>
              </a:rPr>
              <a:t>D= </a:t>
            </a:r>
            <a:r>
              <a:rPr lang="el-GR" dirty="0">
                <a:latin typeface="Arial" panose="020B0604020202020204" pitchFamily="34" charset="0"/>
                <a:cs typeface="Arial" panose="020B0604020202020204" pitchFamily="34" charset="0"/>
              </a:rPr>
              <a:t>Σ</a:t>
            </a:r>
            <a:r>
              <a:rPr lang="en-US" dirty="0" err="1">
                <a:latin typeface="Arial" panose="020B0604020202020204" pitchFamily="34" charset="0"/>
                <a:cs typeface="Arial" panose="020B0604020202020204" pitchFamily="34" charset="0"/>
              </a:rPr>
              <a:t>WSS</a:t>
            </a:r>
            <a:r>
              <a:rPr lang="en-US" baseline="-25000"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total demand frames </a:t>
            </a:r>
          </a:p>
          <a:p>
            <a:pPr lvl="1" algn="just">
              <a:spcBef>
                <a:spcPts val="600"/>
              </a:spcBef>
            </a:pPr>
            <a:r>
              <a:rPr lang="en-US" dirty="0">
                <a:latin typeface="Arial" panose="020B0604020202020204" pitchFamily="34" charset="0"/>
                <a:cs typeface="Arial" panose="020B0604020202020204" pitchFamily="34" charset="0"/>
              </a:rPr>
              <a:t>Approximation of locality</a:t>
            </a:r>
          </a:p>
          <a:p>
            <a:pPr algn="just">
              <a:spcBef>
                <a:spcPts val="600"/>
              </a:spcBef>
            </a:pPr>
            <a:endParaRPr lang="en-US" dirty="0">
              <a:latin typeface="Arial" panose="020B0604020202020204" pitchFamily="34" charset="0"/>
              <a:cs typeface="Arial" panose="020B0604020202020204" pitchFamily="34" charset="0"/>
            </a:endParaRPr>
          </a:p>
          <a:p>
            <a:pPr algn="just">
              <a:spcBef>
                <a:spcPts val="600"/>
              </a:spcBef>
            </a:pPr>
            <a:r>
              <a:rPr lang="en-US" dirty="0">
                <a:latin typeface="Arial" panose="020B0604020202020204" pitchFamily="34" charset="0"/>
                <a:cs typeface="Arial" panose="020B0604020202020204" pitchFamily="34" charset="0"/>
              </a:rPr>
              <a:t>If D &gt;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total number of available frames</a:t>
            </a:r>
            <a:r>
              <a:rPr lang="en-US" dirty="0">
                <a:latin typeface="Arial" panose="020B0604020202020204" pitchFamily="34" charset="0"/>
                <a:cs typeface="Arial" panose="020B0604020202020204" pitchFamily="34" charset="0"/>
              </a:rPr>
              <a:t>)⇒Thrashing will occur. In this case, suspend or swap out one of the processes</a:t>
            </a:r>
          </a:p>
        </p:txBody>
      </p:sp>
    </p:spTree>
    <p:custDataLst>
      <p:tags r:id="rId1"/>
    </p:custDataLst>
    <p:extLst>
      <p:ext uri="{BB962C8B-B14F-4D97-AF65-F5344CB8AC3E}">
        <p14:creationId xmlns:p14="http://schemas.microsoft.com/office/powerpoint/2010/main" val="2037363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90F63-08D4-4769-296B-EE6DB019761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85F9B51-1884-E699-BC2A-8CC85F05B0C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Working Sets and Page Fault Rates</a:t>
            </a:r>
          </a:p>
        </p:txBody>
      </p:sp>
      <p:sp>
        <p:nvSpPr>
          <p:cNvPr id="3" name="Slide Number Placeholder 2">
            <a:extLst>
              <a:ext uri="{FF2B5EF4-FFF2-40B4-BE49-F238E27FC236}">
                <a16:creationId xmlns:a16="http://schemas.microsoft.com/office/drawing/2014/main" id="{99EB4681-D010-38ED-6A33-D2C073CC8D80}"/>
              </a:ext>
            </a:extLst>
          </p:cNvPr>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12" name="Rectangle 3">
            <a:extLst>
              <a:ext uri="{FF2B5EF4-FFF2-40B4-BE49-F238E27FC236}">
                <a16:creationId xmlns:a16="http://schemas.microsoft.com/office/drawing/2014/main" id="{5B8952C9-834E-AF14-C541-6FA1E59E6E30}"/>
              </a:ext>
            </a:extLst>
          </p:cNvPr>
          <p:cNvSpPr txBox="1">
            <a:spLocks noChangeArrowheads="1"/>
          </p:cNvSpPr>
          <p:nvPr/>
        </p:nvSpPr>
        <p:spPr>
          <a:xfrm>
            <a:off x="632151" y="1453240"/>
            <a:ext cx="10573731"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a:latin typeface="Arial" panose="020B0604020202020204" pitchFamily="34" charset="0"/>
                <a:cs typeface="Arial" panose="020B0604020202020204" pitchFamily="34" charset="0"/>
              </a:rPr>
              <a:t>Direct relationship between working set of a process and its page-fault rate</a:t>
            </a:r>
          </a:p>
          <a:p>
            <a:pPr algn="just">
              <a:spcBef>
                <a:spcPts val="1800"/>
              </a:spcBef>
            </a:pPr>
            <a:r>
              <a:rPr lang="en-US" dirty="0">
                <a:latin typeface="Arial" panose="020B0604020202020204" pitchFamily="34" charset="0"/>
                <a:cs typeface="Arial" panose="020B0604020202020204" pitchFamily="34" charset="0"/>
              </a:rPr>
              <a:t>Working set changes over time</a:t>
            </a:r>
          </a:p>
          <a:p>
            <a:pPr algn="just">
              <a:spcBef>
                <a:spcPts val="1800"/>
              </a:spcBef>
            </a:pPr>
            <a:r>
              <a:rPr lang="en-US" dirty="0">
                <a:latin typeface="Arial" panose="020B0604020202020204" pitchFamily="34" charset="0"/>
                <a:cs typeface="Arial" panose="020B0604020202020204" pitchFamily="34" charset="0"/>
              </a:rPr>
              <a:t>Peaks and valleys over time</a:t>
            </a:r>
          </a:p>
        </p:txBody>
      </p:sp>
      <p:pic>
        <p:nvPicPr>
          <p:cNvPr id="65539" name="Picture 4" descr="9">
            <a:extLst>
              <a:ext uri="{FF2B5EF4-FFF2-40B4-BE49-F238E27FC236}">
                <a16:creationId xmlns:a16="http://schemas.microsoft.com/office/drawing/2014/main" id="{3A803122-91F8-4F9C-A75C-06F0F91ED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816" y="3339354"/>
            <a:ext cx="6952451" cy="3169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248944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0F17-65FA-6489-D87B-BF003E905D9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2F057C9-04C5-7B43-C7CD-DC5C5E78550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Other Considerations</a:t>
            </a:r>
          </a:p>
        </p:txBody>
      </p:sp>
      <p:sp>
        <p:nvSpPr>
          <p:cNvPr id="3" name="Slide Number Placeholder 2">
            <a:extLst>
              <a:ext uri="{FF2B5EF4-FFF2-40B4-BE49-F238E27FC236}">
                <a16:creationId xmlns:a16="http://schemas.microsoft.com/office/drawing/2014/main" id="{5DE56D64-DDEF-92C1-0A70-32E8A9721107}"/>
              </a:ext>
            </a:extLst>
          </p:cNvPr>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2" name="Rectangle 3">
            <a:extLst>
              <a:ext uri="{FF2B5EF4-FFF2-40B4-BE49-F238E27FC236}">
                <a16:creationId xmlns:a16="http://schemas.microsoft.com/office/drawing/2014/main" id="{FCD7194E-1938-D488-92B7-A4699153D95D}"/>
              </a:ext>
            </a:extLst>
          </p:cNvPr>
          <p:cNvSpPr txBox="1">
            <a:spLocks noChangeArrowheads="1"/>
          </p:cNvSpPr>
          <p:nvPr/>
        </p:nvSpPr>
        <p:spPr>
          <a:xfrm>
            <a:off x="632152" y="1453240"/>
            <a:ext cx="10376507"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2400"/>
              </a:spcBef>
            </a:pPr>
            <a:r>
              <a:rPr lang="en-US" dirty="0">
                <a:latin typeface="Arial" panose="020B0604020202020204" pitchFamily="34" charset="0"/>
                <a:ea typeface="ＭＳ Ｐゴシック" pitchFamily="-84" charset="-128"/>
                <a:cs typeface="Arial" panose="020B0604020202020204" pitchFamily="34" charset="0"/>
              </a:rPr>
              <a:t>The selection of page replacement algorithm and allocation policy are the major decisions that we make for a paging system. There are many other considerations as well. </a:t>
            </a:r>
          </a:p>
          <a:p>
            <a:pPr>
              <a:spcBef>
                <a:spcPts val="600"/>
              </a:spcBef>
            </a:pP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err="1">
                <a:latin typeface="Arial" panose="020B0604020202020204" pitchFamily="34" charset="0"/>
                <a:ea typeface="ＭＳ Ｐゴシック" pitchFamily="-84" charset="-128"/>
                <a:cs typeface="Arial" panose="020B0604020202020204" pitchFamily="34" charset="0"/>
              </a:rPr>
              <a:t>Prepaging</a:t>
            </a:r>
            <a:endParaRPr lang="en-US"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Program structure</a:t>
            </a:r>
          </a:p>
          <a:p>
            <a:pPr>
              <a:spcBef>
                <a:spcPts val="600"/>
              </a:spcBef>
            </a:pPr>
            <a:r>
              <a:rPr lang="en-US" dirty="0">
                <a:latin typeface="Arial" panose="020B0604020202020204" pitchFamily="34" charset="0"/>
                <a:ea typeface="ＭＳ Ｐゴシック" pitchFamily="-84" charset="-128"/>
                <a:cs typeface="Arial" panose="020B0604020202020204" pitchFamily="34" charset="0"/>
              </a:rPr>
              <a:t>Page size</a:t>
            </a:r>
          </a:p>
        </p:txBody>
      </p:sp>
    </p:spTree>
    <p:custDataLst>
      <p:tags r:id="rId1"/>
    </p:custDataLst>
    <p:extLst>
      <p:ext uri="{BB962C8B-B14F-4D97-AF65-F5344CB8AC3E}">
        <p14:creationId xmlns:p14="http://schemas.microsoft.com/office/powerpoint/2010/main" val="2727984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1954-D18C-1384-6B31-ED61530D388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EC86318-3F84-EA3A-A28C-9F382503BE09}"/>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Prepaging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F6423338-D2C4-8AEA-4A0A-B7A805DED027}"/>
              </a:ext>
            </a:extLst>
          </p:cNvPr>
          <p:cNvSpPr>
            <a:spLocks noGrp="1"/>
          </p:cNvSpPr>
          <p:nvPr>
            <p:ph type="sldNum" sz="quarter" idx="12"/>
          </p:nvPr>
        </p:nvSpPr>
        <p:spPr/>
        <p:txBody>
          <a:bodyPr/>
          <a:lstStyle/>
          <a:p>
            <a:fld id="{3485D9CA-6DAA-4C3C-A3E2-EDEA918D5F89}" type="slidenum">
              <a:rPr lang="en-US">
                <a:latin typeface="Calibri"/>
              </a:rPr>
              <a:pPr/>
              <a:t>42</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6A8987CE-0003-ED26-71BE-F919D08DF181}"/>
                  </a:ext>
                </a:extLst>
              </p:cNvPr>
              <p:cNvSpPr txBox="1">
                <a:spLocks noChangeArrowheads="1"/>
              </p:cNvSpPr>
              <p:nvPr/>
            </p:nvSpPr>
            <p:spPr>
              <a:xfrm>
                <a:off x="632152" y="1453240"/>
                <a:ext cx="10591660"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spcBef>
                    <a:spcPts val="600"/>
                  </a:spcBef>
                </a:pPr>
                <a:r>
                  <a:rPr lang="en-US" dirty="0">
                    <a:latin typeface="Arial" panose="020B0604020202020204" pitchFamily="34" charset="0"/>
                    <a:ea typeface="ＭＳ Ｐゴシック" pitchFamily="-84" charset="-128"/>
                    <a:cs typeface="Arial" panose="020B0604020202020204" pitchFamily="34" charset="0"/>
                  </a:rPr>
                  <a:t>To reduce the large number of page faults that occurs at process startup</a:t>
                </a:r>
              </a:p>
              <a:p>
                <a:pPr>
                  <a:spcBef>
                    <a:spcPts val="600"/>
                  </a:spcBef>
                </a:pPr>
                <a:endParaRPr lang="en-US" sz="1200"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err="1">
                    <a:latin typeface="Arial" panose="020B0604020202020204" pitchFamily="34" charset="0"/>
                    <a:ea typeface="ＭＳ Ｐゴシック" pitchFamily="-84" charset="-128"/>
                    <a:cs typeface="Arial" panose="020B0604020202020204" pitchFamily="34" charset="0"/>
                  </a:rPr>
                  <a:t>Prepage</a:t>
                </a:r>
                <a:r>
                  <a:rPr lang="en-US" dirty="0">
                    <a:latin typeface="Arial" panose="020B0604020202020204" pitchFamily="34" charset="0"/>
                    <a:ea typeface="ＭＳ Ｐゴシック" pitchFamily="-84" charset="-128"/>
                    <a:cs typeface="Arial" panose="020B0604020202020204" pitchFamily="34" charset="0"/>
                  </a:rPr>
                  <a:t> all or some of the pages a process will need, before they are referenced</a:t>
                </a:r>
              </a:p>
              <a:p>
                <a:pPr>
                  <a:spcBef>
                    <a:spcPts val="600"/>
                  </a:spcBef>
                </a:pPr>
                <a:endParaRPr lang="en-US" sz="1200"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But if </a:t>
                </a:r>
                <a:r>
                  <a:rPr lang="en-US" dirty="0" err="1">
                    <a:latin typeface="Arial" panose="020B0604020202020204" pitchFamily="34" charset="0"/>
                    <a:ea typeface="ＭＳ Ｐゴシック" pitchFamily="-84" charset="-128"/>
                    <a:cs typeface="Arial" panose="020B0604020202020204" pitchFamily="34" charset="0"/>
                  </a:rPr>
                  <a:t>prepaged</a:t>
                </a:r>
                <a:r>
                  <a:rPr lang="en-US" dirty="0">
                    <a:latin typeface="Arial" panose="020B0604020202020204" pitchFamily="34" charset="0"/>
                    <a:ea typeface="ＭＳ Ｐゴシック" pitchFamily="-84" charset="-128"/>
                    <a:cs typeface="Arial" panose="020B0604020202020204" pitchFamily="34" charset="0"/>
                  </a:rPr>
                  <a:t> pages are unused, I/O and memory was wasted</a:t>
                </a:r>
              </a:p>
              <a:p>
                <a:pPr>
                  <a:spcBef>
                    <a:spcPts val="600"/>
                  </a:spcBef>
                </a:pPr>
                <a:endParaRPr lang="en-US" sz="1200" dirty="0">
                  <a:latin typeface="Arial" panose="020B0604020202020204" pitchFamily="34" charset="0"/>
                  <a:ea typeface="ＭＳ Ｐゴシック" pitchFamily="-84" charset="-128"/>
                  <a:cs typeface="Arial" panose="020B0604020202020204" pitchFamily="34" charset="0"/>
                </a:endParaRPr>
              </a:p>
              <a:p>
                <a:pPr>
                  <a:spcBef>
                    <a:spcPts val="600"/>
                  </a:spcBef>
                </a:pPr>
                <a:r>
                  <a:rPr lang="en-US" dirty="0">
                    <a:latin typeface="Arial" panose="020B0604020202020204" pitchFamily="34" charset="0"/>
                    <a:ea typeface="ＭＳ Ｐゴシック" pitchFamily="-84" charset="-128"/>
                    <a:cs typeface="Arial" panose="020B0604020202020204" pitchFamily="34" charset="0"/>
                  </a:rPr>
                  <a:t>Assume </a:t>
                </a:r>
                <a:r>
                  <a:rPr lang="en-US" b="1" i="1" dirty="0">
                    <a:latin typeface="Arial" panose="020B0604020202020204" pitchFamily="34" charset="0"/>
                    <a:ea typeface="ＭＳ Ｐゴシック" pitchFamily="-84" charset="-128"/>
                    <a:cs typeface="Arial" panose="020B0604020202020204" pitchFamily="34" charset="0"/>
                  </a:rPr>
                  <a:t>s</a:t>
                </a:r>
                <a:r>
                  <a:rPr lang="en-US" dirty="0">
                    <a:latin typeface="Arial" panose="020B0604020202020204" pitchFamily="34" charset="0"/>
                    <a:ea typeface="ＭＳ Ｐゴシック" pitchFamily="-84" charset="-128"/>
                    <a:cs typeface="Arial" panose="020B0604020202020204" pitchFamily="34" charset="0"/>
                  </a:rPr>
                  <a:t> pages are </a:t>
                </a:r>
                <a:r>
                  <a:rPr lang="en-US" dirty="0" err="1">
                    <a:latin typeface="Arial" panose="020B0604020202020204" pitchFamily="34" charset="0"/>
                    <a:ea typeface="ＭＳ Ｐゴシック" pitchFamily="-84" charset="-128"/>
                    <a:cs typeface="Arial" panose="020B0604020202020204" pitchFamily="34" charset="0"/>
                  </a:rPr>
                  <a:t>prepaged</a:t>
                </a:r>
                <a:r>
                  <a:rPr lang="en-US" dirty="0">
                    <a:latin typeface="Arial" panose="020B0604020202020204" pitchFamily="34" charset="0"/>
                    <a:ea typeface="ＭＳ Ｐゴシック" pitchFamily="-84" charset="-128"/>
                    <a:cs typeface="Arial" panose="020B0604020202020204" pitchFamily="34" charset="0"/>
                  </a:rPr>
                  <a:t> and a fraction </a:t>
                </a:r>
                <a14:m>
                  <m:oMath xmlns:m="http://schemas.openxmlformats.org/officeDocument/2006/math">
                    <m:r>
                      <a:rPr lang="en-US" b="1" i="1" dirty="0" smtClean="0">
                        <a:latin typeface="Cambria Math" panose="02040503050406030204" pitchFamily="18" charset="0"/>
                        <a:ea typeface="Cambria Math" panose="02040503050406030204" pitchFamily="18" charset="0"/>
                        <a:cs typeface="Arial" panose="020B0604020202020204" pitchFamily="34" charset="0"/>
                      </a:rPr>
                      <m:t>𝜶</m:t>
                    </m:r>
                  </m:oMath>
                </a14:m>
                <a:r>
                  <a:rPr lang="en-US" dirty="0">
                    <a:latin typeface="Arial" panose="020B0604020202020204" pitchFamily="34" charset="0"/>
                    <a:ea typeface="ＭＳ Ｐゴシック" pitchFamily="-84" charset="-128"/>
                    <a:cs typeface="Arial" panose="020B0604020202020204" pitchFamily="34" charset="0"/>
                  </a:rPr>
                  <a:t> of the pages is used</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Is cost of </a:t>
                </a:r>
                <a:r>
                  <a:rPr lang="en-US" b="1" i="1" dirty="0">
                    <a:latin typeface="Arial" panose="020B0604020202020204" pitchFamily="34" charset="0"/>
                    <a:ea typeface="ＭＳ Ｐゴシック" pitchFamily="-84" charset="-128"/>
                    <a:cs typeface="Arial" panose="020B0604020202020204" pitchFamily="34" charset="0"/>
                  </a:rPr>
                  <a:t>s</a:t>
                </a:r>
                <a:r>
                  <a:rPr lang="en-US" dirty="0">
                    <a:latin typeface="Arial" panose="020B0604020202020204" pitchFamily="34" charset="0"/>
                    <a:ea typeface="ＭＳ Ｐゴシック" pitchFamily="-84" charset="-128"/>
                    <a:cs typeface="Arial" panose="020B0604020202020204" pitchFamily="34" charset="0"/>
                  </a:rPr>
                  <a:t> * </a:t>
                </a:r>
                <a14:m>
                  <m:oMath xmlns:m="http://schemas.openxmlformats.org/officeDocument/2006/math">
                    <m:r>
                      <a:rPr lang="en-US" b="1" i="1" dirty="0" smtClean="0">
                        <a:latin typeface="Cambria Math" panose="02040503050406030204" pitchFamily="18" charset="0"/>
                        <a:ea typeface="Cambria Math" panose="02040503050406030204" pitchFamily="18" charset="0"/>
                        <a:cs typeface="Arial" panose="020B0604020202020204" pitchFamily="34" charset="0"/>
                      </a:rPr>
                      <m:t>𝜶</m:t>
                    </m:r>
                  </m:oMath>
                </a14:m>
                <a:r>
                  <a:rPr lang="en-US" dirty="0">
                    <a:latin typeface="Arial" panose="020B0604020202020204" pitchFamily="34" charset="0"/>
                    <a:ea typeface="ＭＳ Ｐゴシック" pitchFamily="-84" charset="-128"/>
                    <a:cs typeface="Arial" panose="020B0604020202020204" pitchFamily="34" charset="0"/>
                  </a:rPr>
                  <a:t> save pages faults greater or less than the cost of  </a:t>
                </a:r>
                <a:r>
                  <a:rPr lang="en-US" dirty="0" err="1">
                    <a:latin typeface="Arial" panose="020B0604020202020204" pitchFamily="34" charset="0"/>
                    <a:ea typeface="ＭＳ Ｐゴシック" pitchFamily="-84" charset="-128"/>
                    <a:cs typeface="Arial" panose="020B0604020202020204" pitchFamily="34" charset="0"/>
                  </a:rPr>
                  <a:t>prepaging</a:t>
                </a:r>
                <a:r>
                  <a:rPr lang="en-US" dirty="0">
                    <a:latin typeface="Arial" panose="020B0604020202020204" pitchFamily="34" charset="0"/>
                    <a:ea typeface="ＭＳ Ｐゴシック" pitchFamily="-84" charset="-128"/>
                    <a:cs typeface="Arial" panose="020B0604020202020204" pitchFamily="34" charset="0"/>
                  </a:rPr>
                  <a:t> s * (1-α) unnecessary pages?</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If </a:t>
                </a:r>
                <a14:m>
                  <m:oMath xmlns:m="http://schemas.openxmlformats.org/officeDocument/2006/math">
                    <m:r>
                      <a:rPr lang="en-US" b="1" i="1" dirty="0" smtClean="0">
                        <a:latin typeface="Cambria Math" panose="02040503050406030204" pitchFamily="18" charset="0"/>
                        <a:ea typeface="Cambria Math" panose="02040503050406030204" pitchFamily="18" charset="0"/>
                        <a:cs typeface="Arial" panose="020B0604020202020204" pitchFamily="34" charset="0"/>
                      </a:rPr>
                      <m:t>𝜶</m:t>
                    </m:r>
                  </m:oMath>
                </a14:m>
                <a:r>
                  <a:rPr lang="en-US" dirty="0">
                    <a:latin typeface="Arial" panose="020B0604020202020204" pitchFamily="34" charset="0"/>
                    <a:ea typeface="ＭＳ Ｐゴシック" pitchFamily="-84" charset="-128"/>
                    <a:cs typeface="Arial" panose="020B0604020202020204" pitchFamily="34" charset="0"/>
                  </a:rPr>
                  <a:t>  is close to 0 ⇒</a:t>
                </a:r>
                <a:r>
                  <a:rPr lang="en-US" dirty="0" err="1">
                    <a:latin typeface="Arial" panose="020B0604020202020204" pitchFamily="34" charset="0"/>
                    <a:ea typeface="ＭＳ Ｐゴシック" pitchFamily="-84" charset="-128"/>
                    <a:cs typeface="Arial" panose="020B0604020202020204" pitchFamily="34" charset="0"/>
                  </a:rPr>
                  <a:t>prepaging</a:t>
                </a:r>
                <a:r>
                  <a:rPr lang="en-US" dirty="0">
                    <a:latin typeface="Arial" panose="020B0604020202020204" pitchFamily="34" charset="0"/>
                    <a:ea typeface="ＭＳ Ｐゴシック" pitchFamily="-84" charset="-128"/>
                    <a:cs typeface="Arial" panose="020B0604020202020204" pitchFamily="34" charset="0"/>
                  </a:rPr>
                  <a:t> loses</a:t>
                </a:r>
              </a:p>
              <a:p>
                <a:pPr lvl="1">
                  <a:spcBef>
                    <a:spcPts val="600"/>
                  </a:spcBef>
                </a:pPr>
                <a:r>
                  <a:rPr lang="en-US" dirty="0">
                    <a:latin typeface="Arial" panose="020B0604020202020204" pitchFamily="34" charset="0"/>
                    <a:ea typeface="ＭＳ Ｐゴシック" pitchFamily="-84" charset="-128"/>
                    <a:cs typeface="Arial" panose="020B0604020202020204" pitchFamily="34" charset="0"/>
                  </a:rPr>
                  <a:t>If </a:t>
                </a:r>
                <a14:m>
                  <m:oMath xmlns:m="http://schemas.openxmlformats.org/officeDocument/2006/math">
                    <m:r>
                      <a:rPr lang="en-US" b="1" i="1" dirty="0" smtClean="0">
                        <a:latin typeface="Cambria Math" panose="02040503050406030204" pitchFamily="18" charset="0"/>
                        <a:ea typeface="Cambria Math" panose="02040503050406030204" pitchFamily="18" charset="0"/>
                        <a:cs typeface="Arial" panose="020B0604020202020204" pitchFamily="34" charset="0"/>
                      </a:rPr>
                      <m:t>𝜶</m:t>
                    </m:r>
                  </m:oMath>
                </a14:m>
                <a:r>
                  <a:rPr lang="en-US" dirty="0">
                    <a:latin typeface="Arial" panose="020B0604020202020204" pitchFamily="34" charset="0"/>
                    <a:ea typeface="ＭＳ Ｐゴシック" pitchFamily="-84" charset="-128"/>
                    <a:cs typeface="Arial" panose="020B0604020202020204" pitchFamily="34" charset="0"/>
                  </a:rPr>
                  <a:t>  is close to 1 ⇒</a:t>
                </a:r>
                <a:r>
                  <a:rPr lang="en-US" dirty="0" err="1">
                    <a:latin typeface="Arial" panose="020B0604020202020204" pitchFamily="34" charset="0"/>
                    <a:ea typeface="ＭＳ Ｐゴシック" pitchFamily="-84" charset="-128"/>
                    <a:cs typeface="Arial" panose="020B0604020202020204" pitchFamily="34" charset="0"/>
                  </a:rPr>
                  <a:t>prepaging</a:t>
                </a:r>
                <a:r>
                  <a:rPr lang="en-US" dirty="0">
                    <a:latin typeface="Arial" panose="020B0604020202020204" pitchFamily="34" charset="0"/>
                    <a:ea typeface="ＭＳ Ｐゴシック" pitchFamily="-84" charset="-128"/>
                    <a:cs typeface="Arial" panose="020B0604020202020204" pitchFamily="34" charset="0"/>
                  </a:rPr>
                  <a:t> wins</a:t>
                </a:r>
              </a:p>
            </p:txBody>
          </p:sp>
        </mc:Choice>
        <mc:Fallback xmlns="">
          <p:sp>
            <p:nvSpPr>
              <p:cNvPr id="12" name="Rectangle 3">
                <a:extLst>
                  <a:ext uri="{FF2B5EF4-FFF2-40B4-BE49-F238E27FC236}">
                    <a16:creationId xmlns:a16="http://schemas.microsoft.com/office/drawing/2014/main" id="{6A8987CE-0003-ED26-71BE-F919D08DF181}"/>
                  </a:ext>
                </a:extLst>
              </p:cNvPr>
              <p:cNvSpPr txBox="1">
                <a:spLocks noRot="1" noChangeAspect="1" noMove="1" noResize="1" noEditPoints="1" noAdjustHandles="1" noChangeArrowheads="1" noChangeShapeType="1" noTextEdit="1"/>
              </p:cNvSpPr>
              <p:nvPr/>
            </p:nvSpPr>
            <p:spPr>
              <a:xfrm>
                <a:off x="632152" y="1453240"/>
                <a:ext cx="10591660" cy="5144783"/>
              </a:xfrm>
              <a:prstGeom prst="rect">
                <a:avLst/>
              </a:prstGeom>
              <a:blipFill>
                <a:blip r:embed="rId3"/>
                <a:stretch>
                  <a:fillRect t="-592" r="-633"/>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7995315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6604-B9E0-0046-631F-37AE1A7120F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AD036C8-49D1-D438-BDAF-94BACEE3B4F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Program Structure</a:t>
            </a:r>
          </a:p>
        </p:txBody>
      </p:sp>
      <p:sp>
        <p:nvSpPr>
          <p:cNvPr id="3" name="Slide Number Placeholder 2">
            <a:extLst>
              <a:ext uri="{FF2B5EF4-FFF2-40B4-BE49-F238E27FC236}">
                <a16:creationId xmlns:a16="http://schemas.microsoft.com/office/drawing/2014/main" id="{1878F76C-F0ED-C3C9-EC88-2608CD9F4F56}"/>
              </a:ext>
            </a:extLst>
          </p:cNvPr>
          <p:cNvSpPr>
            <a:spLocks noGrp="1"/>
          </p:cNvSpPr>
          <p:nvPr>
            <p:ph type="sldNum" sz="quarter" idx="12"/>
          </p:nvPr>
        </p:nvSpPr>
        <p:spPr/>
        <p:txBody>
          <a:bodyPr/>
          <a:lstStyle/>
          <a:p>
            <a:fld id="{3485D9CA-6DAA-4C3C-A3E2-EDEA918D5F89}" type="slidenum">
              <a:rPr lang="en-US">
                <a:latin typeface="Calibri"/>
              </a:rPr>
              <a:pPr/>
              <a:t>43</a:t>
            </a:fld>
            <a:endParaRPr lang="en-US">
              <a:latin typeface="Calibri"/>
            </a:endParaRPr>
          </a:p>
        </p:txBody>
      </p:sp>
      <p:sp>
        <p:nvSpPr>
          <p:cNvPr id="12" name="Rectangle 3">
            <a:extLst>
              <a:ext uri="{FF2B5EF4-FFF2-40B4-BE49-F238E27FC236}">
                <a16:creationId xmlns:a16="http://schemas.microsoft.com/office/drawing/2014/main" id="{7D1B538E-5CC4-3407-6E73-A06F337C3484}"/>
              </a:ext>
            </a:extLst>
          </p:cNvPr>
          <p:cNvSpPr txBox="1">
            <a:spLocks noChangeArrowheads="1"/>
          </p:cNvSpPr>
          <p:nvPr/>
        </p:nvSpPr>
        <p:spPr>
          <a:xfrm>
            <a:off x="632152" y="1453240"/>
            <a:ext cx="10304789"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Program structure</a:t>
            </a:r>
          </a:p>
          <a:p>
            <a:pPr lvl="1" algn="just"/>
            <a:r>
              <a:rPr lang="en-US" dirty="0">
                <a:latin typeface="Arial" panose="020B0604020202020204" pitchFamily="34" charset="0"/>
                <a:ea typeface="ＭＳ Ｐゴシック" pitchFamily="-84" charset="-128"/>
                <a:cs typeface="Arial" panose="020B0604020202020204" pitchFamily="34" charset="0"/>
              </a:rPr>
              <a:t>Int data[128][128];</a:t>
            </a:r>
          </a:p>
          <a:p>
            <a:pPr lvl="1" algn="just"/>
            <a:r>
              <a:rPr lang="en-US" dirty="0">
                <a:latin typeface="Arial" panose="020B0604020202020204" pitchFamily="34" charset="0"/>
                <a:ea typeface="ＭＳ Ｐゴシック" pitchFamily="-84" charset="-128"/>
                <a:cs typeface="Arial" panose="020B0604020202020204" pitchFamily="34" charset="0"/>
              </a:rPr>
              <a:t>Each row is stored in one page </a:t>
            </a:r>
          </a:p>
          <a:p>
            <a:pPr lvl="1" algn="just"/>
            <a:endParaRPr lang="en-US" dirty="0">
              <a:latin typeface="Arial" panose="020B0604020202020204" pitchFamily="34" charset="0"/>
              <a:ea typeface="ＭＳ Ｐゴシック" pitchFamily="-84" charset="-128"/>
              <a:cs typeface="Arial" panose="020B0604020202020204" pitchFamily="34" charset="0"/>
            </a:endParaRPr>
          </a:p>
          <a:p>
            <a:pPr lvl="1" algn="just"/>
            <a:r>
              <a:rPr lang="en-US" dirty="0">
                <a:latin typeface="Arial" panose="020B0604020202020204" pitchFamily="34" charset="0"/>
                <a:ea typeface="ＭＳ Ｐゴシック" pitchFamily="-84" charset="-128"/>
                <a:cs typeface="Arial" panose="020B0604020202020204" pitchFamily="34" charset="0"/>
              </a:rPr>
              <a:t>Program 1</a:t>
            </a:r>
          </a:p>
          <a:p>
            <a:pPr algn="just"/>
            <a:endParaRPr lang="en-US" sz="800" dirty="0">
              <a:latin typeface="Arial" panose="020B0604020202020204" pitchFamily="34" charset="0"/>
              <a:ea typeface="ＭＳ Ｐゴシック" pitchFamily="-84" charset="-128"/>
              <a:cs typeface="Arial" panose="020B0604020202020204" pitchFamily="34" charset="0"/>
            </a:endParaRPr>
          </a:p>
          <a:p>
            <a:pPr marL="114300" indent="0" algn="just">
              <a:spcBef>
                <a:spcPts val="0"/>
              </a:spcBef>
              <a:buNone/>
            </a:pPr>
            <a:r>
              <a:rPr lang="en-US" dirty="0">
                <a:latin typeface="Courier New" pitchFamily="49" charset="0"/>
                <a:ea typeface="ＭＳ Ｐゴシック" pitchFamily="-84" charset="-128"/>
              </a:rPr>
              <a:t>	for (j = 0; j &lt;128; </a:t>
            </a:r>
            <a:r>
              <a:rPr lang="en-US" dirty="0" err="1">
                <a:latin typeface="Courier New" pitchFamily="49" charset="0"/>
                <a:ea typeface="ＭＳ Ｐゴシック" pitchFamily="-84" charset="-128"/>
              </a:rPr>
              <a:t>j++</a:t>
            </a:r>
            <a:r>
              <a:rPr lang="en-US" dirty="0">
                <a:latin typeface="Courier New" pitchFamily="49" charset="0"/>
                <a:ea typeface="ＭＳ Ｐゴシック" pitchFamily="-84" charset="-128"/>
              </a:rPr>
              <a:t>)</a:t>
            </a:r>
          </a:p>
          <a:p>
            <a:pPr marL="114300" indent="0" algn="just">
              <a:spcBef>
                <a:spcPts val="0"/>
              </a:spcBef>
              <a:buNone/>
            </a:pPr>
            <a:r>
              <a:rPr lang="en-US" dirty="0">
                <a:latin typeface="Courier New" pitchFamily="49" charset="0"/>
                <a:ea typeface="ＭＳ Ｐゴシック" pitchFamily="-84" charset="-128"/>
              </a:rPr>
              <a:t>		for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 = 0;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 &lt; 128;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a:t>
            </a:r>
          </a:p>
          <a:p>
            <a:pPr marL="114300" indent="0" algn="just">
              <a:spcBef>
                <a:spcPts val="0"/>
              </a:spcBef>
              <a:buNone/>
            </a:pPr>
            <a:r>
              <a:rPr lang="en-US" dirty="0">
                <a:latin typeface="Courier New" pitchFamily="49" charset="0"/>
                <a:ea typeface="ＭＳ Ｐゴシック" pitchFamily="-84" charset="-128"/>
              </a:rPr>
              <a:t>			data[</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][j] = 0;</a:t>
            </a:r>
          </a:p>
          <a:p>
            <a:pPr algn="just"/>
            <a:endParaRPr lang="en-US" sz="800" b="1" dirty="0">
              <a:solidFill>
                <a:srgbClr val="3366FF"/>
              </a:solidFill>
              <a:latin typeface="Arial" panose="020B0604020202020204" pitchFamily="34" charset="0"/>
              <a:ea typeface="ＭＳ Ｐゴシック" pitchFamily="-84" charset="-128"/>
              <a:cs typeface="Arial" panose="020B0604020202020204" pitchFamily="34" charset="0"/>
            </a:endParaRPr>
          </a:p>
          <a:p>
            <a:pPr lvl="1" algn="just"/>
            <a:r>
              <a:rPr lang="en-US" dirty="0">
                <a:latin typeface="Arial" panose="020B0604020202020204" pitchFamily="34" charset="0"/>
                <a:ea typeface="ＭＳ Ｐゴシック" pitchFamily="-84" charset="-128"/>
                <a:cs typeface="Arial" panose="020B0604020202020204" pitchFamily="34" charset="0"/>
              </a:rPr>
              <a:t>Program 2</a:t>
            </a:r>
          </a:p>
          <a:p>
            <a:pPr algn="just"/>
            <a:endParaRPr lang="en-US" sz="800" dirty="0">
              <a:latin typeface="Arial" panose="020B0604020202020204" pitchFamily="34" charset="0"/>
              <a:ea typeface="ＭＳ Ｐゴシック" pitchFamily="-84" charset="-128"/>
              <a:cs typeface="Arial" panose="020B0604020202020204" pitchFamily="34" charset="0"/>
            </a:endParaRPr>
          </a:p>
          <a:p>
            <a:pPr marL="114300" indent="0" algn="just">
              <a:spcBef>
                <a:spcPts val="0"/>
              </a:spcBef>
              <a:buNone/>
            </a:pPr>
            <a:r>
              <a:rPr lang="en-US" dirty="0">
                <a:latin typeface="Courier New" pitchFamily="49" charset="0"/>
                <a:ea typeface="ＭＳ Ｐゴシック" pitchFamily="-84" charset="-128"/>
              </a:rPr>
              <a:t>	for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 = 0;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 &lt;128; </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a:t>
            </a:r>
          </a:p>
          <a:p>
            <a:pPr marL="114300" indent="0" algn="just">
              <a:spcBef>
                <a:spcPts val="0"/>
              </a:spcBef>
              <a:buNone/>
            </a:pPr>
            <a:r>
              <a:rPr lang="en-US" dirty="0">
                <a:latin typeface="Courier New" pitchFamily="49" charset="0"/>
                <a:ea typeface="ＭＳ Ｐゴシック" pitchFamily="-84" charset="-128"/>
              </a:rPr>
              <a:t>		for (j = 0; j &lt; 128; </a:t>
            </a:r>
            <a:r>
              <a:rPr lang="en-US" dirty="0" err="1">
                <a:latin typeface="Courier New" pitchFamily="49" charset="0"/>
                <a:ea typeface="ＭＳ Ｐゴシック" pitchFamily="-84" charset="-128"/>
              </a:rPr>
              <a:t>j++</a:t>
            </a:r>
            <a:r>
              <a:rPr lang="en-US" dirty="0">
                <a:latin typeface="Courier New" pitchFamily="49" charset="0"/>
                <a:ea typeface="ＭＳ Ｐゴシック" pitchFamily="-84" charset="-128"/>
              </a:rPr>
              <a:t>)</a:t>
            </a:r>
          </a:p>
          <a:p>
            <a:pPr marL="114300" indent="0" algn="just">
              <a:spcBef>
                <a:spcPts val="0"/>
              </a:spcBef>
              <a:buNone/>
            </a:pPr>
            <a:r>
              <a:rPr lang="en-US" dirty="0">
                <a:latin typeface="Courier New" pitchFamily="49" charset="0"/>
                <a:ea typeface="ＭＳ Ｐゴシック" pitchFamily="-84" charset="-128"/>
              </a:rPr>
              <a:t>			data[</a:t>
            </a:r>
            <a:r>
              <a:rPr lang="en-US" dirty="0" err="1">
                <a:latin typeface="Courier New" pitchFamily="49" charset="0"/>
                <a:ea typeface="ＭＳ Ｐゴシック" pitchFamily="-84" charset="-128"/>
              </a:rPr>
              <a:t>i</a:t>
            </a:r>
            <a:r>
              <a:rPr lang="en-US" dirty="0">
                <a:latin typeface="Courier New" pitchFamily="49" charset="0"/>
                <a:ea typeface="ＭＳ Ｐゴシック" pitchFamily="-84" charset="-128"/>
              </a:rPr>
              <a:t>][j] = 0;</a:t>
            </a:r>
          </a:p>
        </p:txBody>
      </p:sp>
      <p:sp>
        <p:nvSpPr>
          <p:cNvPr id="2" name="TextBox 1">
            <a:extLst>
              <a:ext uri="{FF2B5EF4-FFF2-40B4-BE49-F238E27FC236}">
                <a16:creationId xmlns:a16="http://schemas.microsoft.com/office/drawing/2014/main" id="{6BCB8551-A10F-34C8-43F0-4B8F5206BE2C}"/>
              </a:ext>
            </a:extLst>
          </p:cNvPr>
          <p:cNvSpPr txBox="1"/>
          <p:nvPr/>
        </p:nvSpPr>
        <p:spPr>
          <a:xfrm>
            <a:off x="6938688" y="3733095"/>
            <a:ext cx="3926540"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128 x 128 = 16,384 page faults</a:t>
            </a:r>
          </a:p>
        </p:txBody>
      </p:sp>
      <p:sp>
        <p:nvSpPr>
          <p:cNvPr id="4" name="TextBox 3">
            <a:extLst>
              <a:ext uri="{FF2B5EF4-FFF2-40B4-BE49-F238E27FC236}">
                <a16:creationId xmlns:a16="http://schemas.microsoft.com/office/drawing/2014/main" id="{33EC7B1A-7237-4544-0026-C69B74066E55}"/>
              </a:ext>
            </a:extLst>
          </p:cNvPr>
          <p:cNvSpPr txBox="1"/>
          <p:nvPr/>
        </p:nvSpPr>
        <p:spPr>
          <a:xfrm>
            <a:off x="7315200" y="5413047"/>
            <a:ext cx="3334870"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128 page faults</a:t>
            </a:r>
          </a:p>
        </p:txBody>
      </p:sp>
    </p:spTree>
    <p:custDataLst>
      <p:tags r:id="rId1"/>
    </p:custDataLst>
    <p:extLst>
      <p:ext uri="{BB962C8B-B14F-4D97-AF65-F5344CB8AC3E}">
        <p14:creationId xmlns:p14="http://schemas.microsoft.com/office/powerpoint/2010/main" val="259440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DFEAA-47C2-3AF0-C95F-845371685C4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A9AF98C-4596-4576-85D3-2227AEC2FEA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Page Size</a:t>
            </a:r>
          </a:p>
        </p:txBody>
      </p:sp>
      <p:sp>
        <p:nvSpPr>
          <p:cNvPr id="3" name="Slide Number Placeholder 2">
            <a:extLst>
              <a:ext uri="{FF2B5EF4-FFF2-40B4-BE49-F238E27FC236}">
                <a16:creationId xmlns:a16="http://schemas.microsoft.com/office/drawing/2014/main" id="{8AE657C6-5631-1731-5FC9-73A4C19BED38}"/>
              </a:ext>
            </a:extLst>
          </p:cNvPr>
          <p:cNvSpPr>
            <a:spLocks noGrp="1"/>
          </p:cNvSpPr>
          <p:nvPr>
            <p:ph type="sldNum" sz="quarter" idx="12"/>
          </p:nvPr>
        </p:nvSpPr>
        <p:spPr/>
        <p:txBody>
          <a:bodyPr/>
          <a:lstStyle/>
          <a:p>
            <a:fld id="{3485D9CA-6DAA-4C3C-A3E2-EDEA918D5F89}" type="slidenum">
              <a:rPr lang="en-US">
                <a:latin typeface="Calibri"/>
              </a:rPr>
              <a:pPr/>
              <a:t>44</a:t>
            </a:fld>
            <a:endParaRPr lang="en-US">
              <a:latin typeface="Calibri"/>
            </a:endParaRPr>
          </a:p>
        </p:txBody>
      </p:sp>
      <p:sp>
        <p:nvSpPr>
          <p:cNvPr id="12" name="Rectangle 3">
            <a:extLst>
              <a:ext uri="{FF2B5EF4-FFF2-40B4-BE49-F238E27FC236}">
                <a16:creationId xmlns:a16="http://schemas.microsoft.com/office/drawing/2014/main" id="{EA01FA52-BE8E-E5F4-DE8F-0DF3464D7CC1}"/>
              </a:ext>
            </a:extLst>
          </p:cNvPr>
          <p:cNvSpPr txBox="1">
            <a:spLocks noChangeArrowheads="1"/>
          </p:cNvSpPr>
          <p:nvPr/>
        </p:nvSpPr>
        <p:spPr>
          <a:xfrm>
            <a:off x="632152" y="1453240"/>
            <a:ext cx="10412366"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Page size selection must take into consideration:</a:t>
            </a:r>
          </a:p>
          <a:p>
            <a:pPr algn="just"/>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algn="just"/>
            <a:r>
              <a:rPr lang="en-US" b="1" dirty="0">
                <a:solidFill>
                  <a:srgbClr val="FF0000"/>
                </a:solidFill>
                <a:latin typeface="Arial" panose="020B0604020202020204" pitchFamily="34" charset="0"/>
                <a:ea typeface="ＭＳ Ｐゴシック" pitchFamily="-84" charset="-128"/>
                <a:cs typeface="Arial" panose="020B0604020202020204" pitchFamily="34" charset="0"/>
              </a:rPr>
              <a:t>Fragmentation:</a:t>
            </a:r>
            <a:r>
              <a:rPr lang="en-US" b="1" dirty="0">
                <a:solidFill>
                  <a:srgbClr val="3366FF"/>
                </a:solidFill>
                <a:latin typeface="Arial" panose="020B0604020202020204" pitchFamily="34" charset="0"/>
                <a:ea typeface="ＭＳ Ｐゴシック" pitchFamily="-84" charset="-128"/>
                <a:cs typeface="Arial" panose="020B0604020202020204" pitchFamily="34" charset="0"/>
              </a:rPr>
              <a:t> </a:t>
            </a:r>
          </a:p>
          <a:p>
            <a:pPr lvl="1" algn="just"/>
            <a:r>
              <a:rPr lang="en-US" dirty="0">
                <a:latin typeface="Arial" panose="020B0604020202020204" pitchFamily="34" charset="0"/>
                <a:ea typeface="ＭＳ Ｐゴシック" pitchFamily="-84" charset="-128"/>
                <a:cs typeface="Arial" panose="020B0604020202020204" pitchFamily="34" charset="0"/>
              </a:rPr>
              <a:t>The bigger the page size the more internal fragmentation it will have. On average each segment will have half a page of internal fragmentation. So, if we have a page of 2K then 1K will be wasted in each segment. This means that from fragmentation point of view smaller page is better.</a:t>
            </a:r>
          </a:p>
          <a:p>
            <a:pPr algn="just"/>
            <a:endParaRPr lang="en-US" altLang="ja-JP" sz="1200" dirty="0">
              <a:latin typeface="Arial" panose="020B0604020202020204" pitchFamily="34" charset="0"/>
              <a:cs typeface="Arial" panose="020B0604020202020204" pitchFamily="34" charset="0"/>
            </a:endParaRPr>
          </a:p>
          <a:p>
            <a:pPr algn="just"/>
            <a:r>
              <a:rPr lang="en-US" altLang="ja-JP" b="1" dirty="0">
                <a:solidFill>
                  <a:srgbClr val="FF0000"/>
                </a:solidFill>
                <a:latin typeface="Arial" panose="020B0604020202020204" pitchFamily="34" charset="0"/>
                <a:ea typeface="ＭＳ Ｐゴシック" pitchFamily="-84" charset="-128"/>
                <a:cs typeface="Arial" panose="020B0604020202020204" pitchFamily="34" charset="0"/>
              </a:rPr>
              <a:t>Page Table Size</a:t>
            </a:r>
            <a:r>
              <a:rPr lang="en-US" altLang="ja-JP" dirty="0">
                <a:latin typeface="Arial" panose="020B0604020202020204" pitchFamily="34" charset="0"/>
                <a:cs typeface="Arial" panose="020B0604020202020204" pitchFamily="34" charset="0"/>
              </a:rPr>
              <a:t>: </a:t>
            </a:r>
          </a:p>
          <a:p>
            <a:pPr lvl="1" algn="just"/>
            <a:r>
              <a:rPr lang="en-US" altLang="ja-JP" dirty="0">
                <a:latin typeface="Arial" panose="020B0604020202020204" pitchFamily="34" charset="0"/>
                <a:cs typeface="Arial" panose="020B0604020202020204" pitchFamily="34" charset="0"/>
              </a:rPr>
              <a:t>Page table contains frame numbers for each page. If there are more pages, then there will be more entries meaning page table will be big. If we increase page size, then there will be lesser entries in the page table resulting in smaller page table. A smaller page table will require less memory. So, from page table point of view bigger page size is desirable.</a:t>
            </a:r>
          </a:p>
        </p:txBody>
      </p:sp>
    </p:spTree>
    <p:custDataLst>
      <p:tags r:id="rId1"/>
    </p:custDataLst>
    <p:extLst>
      <p:ext uri="{BB962C8B-B14F-4D97-AF65-F5344CB8AC3E}">
        <p14:creationId xmlns:p14="http://schemas.microsoft.com/office/powerpoint/2010/main" val="204778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C942A-D4AF-8331-1764-25B1F9F4D43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E407F54-138E-0A5D-2188-DC185C609F6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Page Size</a:t>
            </a:r>
          </a:p>
        </p:txBody>
      </p:sp>
      <p:sp>
        <p:nvSpPr>
          <p:cNvPr id="3" name="Slide Number Placeholder 2">
            <a:extLst>
              <a:ext uri="{FF2B5EF4-FFF2-40B4-BE49-F238E27FC236}">
                <a16:creationId xmlns:a16="http://schemas.microsoft.com/office/drawing/2014/main" id="{B2813DA8-46B6-3546-F2E0-8298B896C7FD}"/>
              </a:ext>
            </a:extLst>
          </p:cNvPr>
          <p:cNvSpPr>
            <a:spLocks noGrp="1"/>
          </p:cNvSpPr>
          <p:nvPr>
            <p:ph type="sldNum" sz="quarter" idx="12"/>
          </p:nvPr>
        </p:nvSpPr>
        <p:spPr/>
        <p:txBody>
          <a:bodyPr/>
          <a:lstStyle/>
          <a:p>
            <a:fld id="{3485D9CA-6DAA-4C3C-A3E2-EDEA918D5F89}" type="slidenum">
              <a:rPr lang="en-US">
                <a:latin typeface="Calibri"/>
              </a:rPr>
              <a:pPr/>
              <a:t>45</a:t>
            </a:fld>
            <a:endParaRPr lang="en-US">
              <a:latin typeface="Calibri"/>
            </a:endParaRPr>
          </a:p>
        </p:txBody>
      </p:sp>
      <p:sp>
        <p:nvSpPr>
          <p:cNvPr id="12" name="Rectangle 3">
            <a:extLst>
              <a:ext uri="{FF2B5EF4-FFF2-40B4-BE49-F238E27FC236}">
                <a16:creationId xmlns:a16="http://schemas.microsoft.com/office/drawing/2014/main" id="{ED550128-0349-0CEC-AB1A-43E96F585D1B}"/>
              </a:ext>
            </a:extLst>
          </p:cNvPr>
          <p:cNvSpPr txBox="1">
            <a:spLocks noChangeArrowheads="1"/>
          </p:cNvSpPr>
          <p:nvPr/>
        </p:nvSpPr>
        <p:spPr>
          <a:xfrm>
            <a:off x="632152" y="1453240"/>
            <a:ext cx="10412366" cy="514478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84" charset="-128"/>
                <a:cs typeface="Arial" panose="020B0604020202020204" pitchFamily="34" charset="0"/>
              </a:rPr>
              <a:t>Page size selection must take into consideration:</a:t>
            </a:r>
          </a:p>
          <a:p>
            <a:pPr algn="just"/>
            <a:endParaRPr lang="en-US" b="1" dirty="0">
              <a:solidFill>
                <a:srgbClr val="FF0000"/>
              </a:solidFill>
              <a:latin typeface="Arial" panose="020B0604020202020204" pitchFamily="34" charset="0"/>
              <a:ea typeface="ＭＳ Ｐゴシック" pitchFamily="-84" charset="-128"/>
              <a:cs typeface="Arial" panose="020B0604020202020204" pitchFamily="34" charset="0"/>
            </a:endParaRPr>
          </a:p>
          <a:p>
            <a:pPr algn="just"/>
            <a:r>
              <a:rPr lang="en-US" b="1" dirty="0">
                <a:solidFill>
                  <a:srgbClr val="FF0000"/>
                </a:solidFill>
                <a:latin typeface="Arial" panose="020B0604020202020204" pitchFamily="34" charset="0"/>
                <a:ea typeface="ＭＳ Ｐゴシック" pitchFamily="-84" charset="-128"/>
                <a:cs typeface="Arial" panose="020B0604020202020204" pitchFamily="34" charset="0"/>
              </a:rPr>
              <a:t>I/O Overhead:</a:t>
            </a:r>
            <a:r>
              <a:rPr lang="en-US" b="1" dirty="0">
                <a:solidFill>
                  <a:srgbClr val="3366FF"/>
                </a:solidFill>
                <a:latin typeface="Arial" panose="020B0604020202020204" pitchFamily="34" charset="0"/>
                <a:ea typeface="ＭＳ Ｐゴシック" pitchFamily="-84" charset="-128"/>
                <a:cs typeface="Arial" panose="020B0604020202020204" pitchFamily="34" charset="0"/>
              </a:rPr>
              <a:t> </a:t>
            </a:r>
          </a:p>
          <a:p>
            <a:pPr lvl="1" algn="just"/>
            <a:r>
              <a:rPr lang="en-US" dirty="0">
                <a:latin typeface="Arial" panose="020B0604020202020204" pitchFamily="34" charset="0"/>
                <a:ea typeface="ＭＳ Ｐゴシック" pitchFamily="-84" charset="-128"/>
                <a:cs typeface="Arial" panose="020B0604020202020204" pitchFamily="34" charset="0"/>
              </a:rPr>
              <a:t>In I/O operation to hard disk the biggest penalty is the seek time. Once the correct sector is reached then reading or writing data is not that time consuming. Reading or writing 2K fractionally consumes more time than 1K. This means that from an I/O overhead bigger page size is better.</a:t>
            </a:r>
          </a:p>
          <a:p>
            <a:pPr algn="just"/>
            <a:endParaRPr lang="en-US" altLang="ja-JP" sz="1200" dirty="0">
              <a:latin typeface="Arial" panose="020B0604020202020204" pitchFamily="34" charset="0"/>
              <a:cs typeface="Arial" panose="020B0604020202020204" pitchFamily="34" charset="0"/>
            </a:endParaRPr>
          </a:p>
          <a:p>
            <a:pPr algn="just"/>
            <a:r>
              <a:rPr lang="en-US" altLang="ja-JP" b="1" dirty="0">
                <a:solidFill>
                  <a:srgbClr val="FF0000"/>
                </a:solidFill>
                <a:latin typeface="Arial" panose="020B0604020202020204" pitchFamily="34" charset="0"/>
                <a:ea typeface="ＭＳ Ｐゴシック" pitchFamily="-84" charset="-128"/>
                <a:cs typeface="Arial" panose="020B0604020202020204" pitchFamily="34" charset="0"/>
              </a:rPr>
              <a:t>Locality</a:t>
            </a:r>
            <a:r>
              <a:rPr lang="en-US" altLang="ja-JP" dirty="0">
                <a:latin typeface="Arial" panose="020B0604020202020204" pitchFamily="34" charset="0"/>
                <a:cs typeface="Arial" panose="020B0604020202020204" pitchFamily="34" charset="0"/>
              </a:rPr>
              <a:t>: </a:t>
            </a:r>
          </a:p>
          <a:p>
            <a:pPr lvl="1" algn="just"/>
            <a:r>
              <a:rPr lang="en-US" altLang="ja-JP" dirty="0">
                <a:latin typeface="Arial" panose="020B0604020202020204" pitchFamily="34" charset="0"/>
                <a:cs typeface="Arial" panose="020B0604020202020204" pitchFamily="34" charset="0"/>
              </a:rPr>
              <a:t>Locality is the set of logical addresses that a process generates in some delta time. It changes as the process continues its execution. Smaller page size can give a fine grain control over the locality by bringing into RAM only those areas of address space that are needed. A bigger page will bring in more than what is needed resulting in wasted space. So, from locality consideration a smaller page is better.</a:t>
            </a:r>
          </a:p>
        </p:txBody>
      </p:sp>
    </p:spTree>
    <p:custDataLst>
      <p:tags r:id="rId1"/>
    </p:custDataLst>
    <p:extLst>
      <p:ext uri="{BB962C8B-B14F-4D97-AF65-F5344CB8AC3E}">
        <p14:creationId xmlns:p14="http://schemas.microsoft.com/office/powerpoint/2010/main" val="217600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ags/tag43.xml><?xml version="1.0" encoding="utf-8"?>
<p:tagLst xmlns:a="http://schemas.openxmlformats.org/drawingml/2006/main" xmlns:r="http://schemas.openxmlformats.org/officeDocument/2006/relationships" xmlns:p="http://schemas.openxmlformats.org/presentationml/2006/main">
  <p:tag name="TIMING" val="|38.5"/>
</p:tagLst>
</file>

<file path=ppt/tags/tag44.xml><?xml version="1.0" encoding="utf-8"?>
<p:tagLst xmlns:a="http://schemas.openxmlformats.org/drawingml/2006/main" xmlns:r="http://schemas.openxmlformats.org/officeDocument/2006/relationships" xmlns:p="http://schemas.openxmlformats.org/presentationml/2006/main">
  <p:tag name="TIMING" val="|38.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39589</TotalTime>
  <Words>3483</Words>
  <Application>Microsoft Office PowerPoint</Application>
  <PresentationFormat>Widescreen</PresentationFormat>
  <Paragraphs>475</Paragraphs>
  <Slides>45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Cambria</vt:lpstr>
      <vt:lpstr>Cambria Math</vt:lpstr>
      <vt:lpstr>Courier New</vt:lpstr>
      <vt:lpstr>Adjacency</vt:lpstr>
      <vt:lpstr>CSC 323 – Principles of Operating Systems</vt:lpstr>
      <vt:lpstr>Recap</vt:lpstr>
      <vt:lpstr>Virtual Memory</vt:lpstr>
      <vt:lpstr>Virtual-Address Space</vt:lpstr>
      <vt:lpstr>Shared Library Using Virtual Memory</vt:lpstr>
      <vt:lpstr>Demand Paging</vt:lpstr>
      <vt:lpstr>Demand Paging</vt:lpstr>
      <vt:lpstr>Valid-Invalid Bit</vt:lpstr>
      <vt:lpstr>Handling a Page Fault</vt:lpstr>
      <vt:lpstr>Handling a Page Fault</vt:lpstr>
      <vt:lpstr>Aspects of Demand Paging</vt:lpstr>
      <vt:lpstr>Instruction Restart</vt:lpstr>
      <vt:lpstr>Free-Frame List</vt:lpstr>
      <vt:lpstr>Stages in Demand Paging – Worst Case</vt:lpstr>
      <vt:lpstr>Performance of Demand Paging</vt:lpstr>
      <vt:lpstr>Demand Paging Example</vt:lpstr>
      <vt:lpstr>Demand Paging Optimizations</vt:lpstr>
      <vt:lpstr>Copy-on-Write</vt:lpstr>
      <vt:lpstr>Copy-on-Write</vt:lpstr>
      <vt:lpstr>Demand Paging</vt:lpstr>
      <vt:lpstr>Page Replacement</vt:lpstr>
      <vt:lpstr>Need For Page Replacement</vt:lpstr>
      <vt:lpstr>Basic Page Replacement</vt:lpstr>
      <vt:lpstr>Page Replacement</vt:lpstr>
      <vt:lpstr>Page and Frame Replacement Algorithms</vt:lpstr>
      <vt:lpstr>Number of Frames vs. Page Faults</vt:lpstr>
      <vt:lpstr>First-In-First-Out (FIFO) Algorithm</vt:lpstr>
      <vt:lpstr>FIFO Illustrating Belady’s Anomaly</vt:lpstr>
      <vt:lpstr>Optimal Algorithm</vt:lpstr>
      <vt:lpstr>Least Recently Used (LRU) Algorithm</vt:lpstr>
      <vt:lpstr>Least Recently Used (LRU) Algorithm</vt:lpstr>
      <vt:lpstr>Global vs. Local Allocation</vt:lpstr>
      <vt:lpstr>Reclaiming Pages</vt:lpstr>
      <vt:lpstr>Thrashing</vt:lpstr>
      <vt:lpstr>Demand Paging and Thrashing </vt:lpstr>
      <vt:lpstr>Locality In A Memory-Reference Pattern</vt:lpstr>
      <vt:lpstr>Locality Model</vt:lpstr>
      <vt:lpstr>Working-Set Model</vt:lpstr>
      <vt:lpstr>Working-Set Model</vt:lpstr>
      <vt:lpstr>Working Sets and Page Fault Rates</vt:lpstr>
      <vt:lpstr>Other Considerations</vt:lpstr>
      <vt:lpstr>Prepaging</vt:lpstr>
      <vt:lpstr>Program Structure</vt:lpstr>
      <vt:lpstr>Page Size</vt:lpstr>
      <vt:lpstr>Page Size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Hasan Jamal</dc:creator>
  <cp:lastModifiedBy>Mamoona Tasadduq</cp:lastModifiedBy>
  <cp:revision>179</cp:revision>
  <dcterms:created xsi:type="dcterms:W3CDTF">2020-06-08T03:46:58Z</dcterms:created>
  <dcterms:modified xsi:type="dcterms:W3CDTF">2025-08-21T07:49:06Z</dcterms:modified>
</cp:coreProperties>
</file>