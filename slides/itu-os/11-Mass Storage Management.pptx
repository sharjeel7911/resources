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67" r:id="rId2"/>
    <p:sldId id="826" r:id="rId3"/>
    <p:sldId id="915" r:id="rId4"/>
    <p:sldId id="938" r:id="rId5"/>
    <p:sldId id="848" r:id="rId6"/>
    <p:sldId id="931" r:id="rId7"/>
    <p:sldId id="962" r:id="rId8"/>
    <p:sldId id="963" r:id="rId9"/>
    <p:sldId id="964" r:id="rId10"/>
    <p:sldId id="857" r:id="rId11"/>
    <p:sldId id="802" r:id="rId12"/>
    <p:sldId id="965" r:id="rId13"/>
    <p:sldId id="729" r:id="rId14"/>
    <p:sldId id="966" r:id="rId15"/>
    <p:sldId id="955" r:id="rId16"/>
    <p:sldId id="967" r:id="rId17"/>
    <p:sldId id="956" r:id="rId18"/>
    <p:sldId id="969" r:id="rId19"/>
    <p:sldId id="970" r:id="rId20"/>
    <p:sldId id="971" r:id="rId21"/>
    <p:sldId id="958" r:id="rId22"/>
    <p:sldId id="941" r:id="rId23"/>
    <p:sldId id="97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FF33"/>
    <a:srgbClr val="FFCCCC"/>
    <a:srgbClr val="FF00FF"/>
    <a:srgbClr val="FFCC66"/>
    <a:srgbClr val="5CD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3548" autoAdjust="0"/>
  </p:normalViewPr>
  <p:slideViewPr>
    <p:cSldViewPr snapToGrid="0">
      <p:cViewPr varScale="1">
        <p:scale>
          <a:sx n="64" d="100"/>
          <a:sy n="64" d="100"/>
        </p:scale>
        <p:origin x="63"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734546-FD7D-47BB-AA1E-00BBFD21EEC5}" type="datetimeFigureOut">
              <a:rPr lang="en-US" smtClean="0"/>
              <a:t>11/14/2025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2D3D20-B80A-47F2-90D8-E85AAC9E3F34}" type="slidenum">
              <a:rPr lang="en-US" smtClean="0"/>
              <a:t>‹#›</a:t>
            </a:fld>
            <a:endParaRPr lang="en-US"/>
          </a:p>
        </p:txBody>
      </p:sp>
    </p:spTree>
    <p:extLst>
      <p:ext uri="{BB962C8B-B14F-4D97-AF65-F5344CB8AC3E}">
        <p14:creationId xmlns:p14="http://schemas.microsoft.com/office/powerpoint/2010/main" val="2438035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2D3D20-B80A-47F2-90D8-E85AAC9E3F34}" type="slidenum">
              <a:rPr lang="en-US" smtClean="0"/>
              <a:t>1</a:t>
            </a:fld>
            <a:endParaRPr lang="en-US"/>
          </a:p>
        </p:txBody>
      </p:sp>
    </p:spTree>
    <p:extLst>
      <p:ext uri="{BB962C8B-B14F-4D97-AF65-F5344CB8AC3E}">
        <p14:creationId xmlns:p14="http://schemas.microsoft.com/office/powerpoint/2010/main" val="929304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905001"/>
            <a:ext cx="100584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914400" y="4572000"/>
            <a:ext cx="861568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5978831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25518225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5" y="5486400"/>
            <a:ext cx="10212916"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963085" y="3852863"/>
            <a:ext cx="8180916"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39488603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928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Design and Anaysis of Algorihms, Spring 2008 </a:t>
            </a:r>
          </a:p>
        </p:txBody>
      </p:sp>
      <p:sp>
        <p:nvSpPr>
          <p:cNvPr id="6" name="Footer Placeholder 5"/>
          <p:cNvSpPr>
            <a:spLocks noGrp="1"/>
          </p:cNvSpPr>
          <p:nvPr>
            <p:ph type="ftr" sz="quarter" idx="11"/>
          </p:nvPr>
        </p:nvSpPr>
        <p:spPr/>
        <p:txBody>
          <a:bodyPr/>
          <a:lstStyle/>
          <a:p>
            <a:r>
              <a:rPr lang="en-US"/>
              <a:t>Design &amp; Analysis of Algorithms</a:t>
            </a:r>
          </a:p>
        </p:txBody>
      </p:sp>
      <p:sp>
        <p:nvSpPr>
          <p:cNvPr id="7" name="Slide Number Placeholder 6"/>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122796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928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928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Design and Anaysis of Algorihms, Spring 2008 </a:t>
            </a:r>
          </a:p>
        </p:txBody>
      </p:sp>
      <p:sp>
        <p:nvSpPr>
          <p:cNvPr id="8" name="Footer Placeholder 7"/>
          <p:cNvSpPr>
            <a:spLocks noGrp="1"/>
          </p:cNvSpPr>
          <p:nvPr>
            <p:ph type="ftr" sz="quarter" idx="11"/>
          </p:nvPr>
        </p:nvSpPr>
        <p:spPr/>
        <p:txBody>
          <a:bodyPr/>
          <a:lstStyle/>
          <a:p>
            <a:r>
              <a:rPr lang="en-US"/>
              <a:t>Design &amp; Analysis of Algorithms</a:t>
            </a:r>
          </a:p>
        </p:txBody>
      </p:sp>
      <p:sp>
        <p:nvSpPr>
          <p:cNvPr id="9" name="Slide Number Placeholder 8"/>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3677120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Design and Anaysis of Algorihms, Spring 2008 </a:t>
            </a:r>
          </a:p>
        </p:txBody>
      </p:sp>
      <p:sp>
        <p:nvSpPr>
          <p:cNvPr id="4" name="Footer Placeholder 3"/>
          <p:cNvSpPr>
            <a:spLocks noGrp="1"/>
          </p:cNvSpPr>
          <p:nvPr>
            <p:ph type="ftr" sz="quarter" idx="11"/>
          </p:nvPr>
        </p:nvSpPr>
        <p:spPr/>
        <p:txBody>
          <a:bodyPr/>
          <a:lstStyle/>
          <a:p>
            <a:r>
              <a:rPr lang="en-US"/>
              <a:t>Design &amp; Analysis of Algorithms</a:t>
            </a:r>
          </a:p>
        </p:txBody>
      </p:sp>
      <p:sp>
        <p:nvSpPr>
          <p:cNvPr id="5" name="Slide Number Placeholder 4"/>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18227330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Design and Anaysis of Algorihms, Spring 2008 </a:t>
            </a:r>
          </a:p>
        </p:txBody>
      </p:sp>
      <p:sp>
        <p:nvSpPr>
          <p:cNvPr id="3" name="Footer Placeholder 2"/>
          <p:cNvSpPr>
            <a:spLocks noGrp="1"/>
          </p:cNvSpPr>
          <p:nvPr>
            <p:ph type="ftr" sz="quarter" idx="11"/>
          </p:nvPr>
        </p:nvSpPr>
        <p:spPr/>
        <p:txBody>
          <a:bodyPr/>
          <a:lstStyle/>
          <a:p>
            <a:r>
              <a:rPr lang="en-US"/>
              <a:t>Design &amp; Analysis of Algorithms</a:t>
            </a:r>
          </a:p>
        </p:txBody>
      </p:sp>
      <p:sp>
        <p:nvSpPr>
          <p:cNvPr id="4" name="Slide Number Placeholder 3"/>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3295678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6401" y="5495544"/>
            <a:ext cx="103632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406400" y="6096000"/>
            <a:ext cx="103632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Design and Anaysis of Algorihms, Spring 2008 </a:t>
            </a:r>
          </a:p>
        </p:txBody>
      </p:sp>
      <p:sp>
        <p:nvSpPr>
          <p:cNvPr id="6" name="Footer Placeholder 5"/>
          <p:cNvSpPr>
            <a:spLocks noGrp="1"/>
          </p:cNvSpPr>
          <p:nvPr>
            <p:ph type="ftr" sz="quarter" idx="11"/>
          </p:nvPr>
        </p:nvSpPr>
        <p:spPr/>
        <p:txBody>
          <a:bodyPr/>
          <a:lstStyle/>
          <a:p>
            <a:r>
              <a:rPr lang="en-US"/>
              <a:t>Design &amp; Analysis of Algorithms</a:t>
            </a:r>
          </a:p>
        </p:txBody>
      </p:sp>
      <p:sp>
        <p:nvSpPr>
          <p:cNvPr id="7" name="Slide Number Placeholder 6"/>
          <p:cNvSpPr>
            <a:spLocks noGrp="1"/>
          </p:cNvSpPr>
          <p:nvPr>
            <p:ph type="sldNum" sz="quarter" idx="12"/>
          </p:nvPr>
        </p:nvSpPr>
        <p:spPr/>
        <p:txBody>
          <a:bodyPr/>
          <a:lstStyle/>
          <a:p>
            <a:fld id="{3485D9CA-6DAA-4C3C-A3E2-EDEA918D5F89}" type="slidenum">
              <a:rPr lang="en-US" smtClean="0"/>
              <a:pPr/>
              <a:t>‹#›</a:t>
            </a:fld>
            <a:endParaRPr lang="en-US"/>
          </a:p>
        </p:txBody>
      </p:sp>
      <p:sp>
        <p:nvSpPr>
          <p:cNvPr id="9" name="Content Placeholder 8"/>
          <p:cNvSpPr>
            <a:spLocks noGrp="1"/>
          </p:cNvSpPr>
          <p:nvPr>
            <p:ph sz="quarter" idx="13"/>
          </p:nvPr>
        </p:nvSpPr>
        <p:spPr>
          <a:xfrm>
            <a:off x="406400" y="381000"/>
            <a:ext cx="103632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5440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2336" y="5495278"/>
            <a:ext cx="103632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112776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02336" y="6096000"/>
            <a:ext cx="103632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r>
              <a:rPr lang="en-US"/>
              <a:t>Design and Anaysis of Algorihms, Spring 2008 </a:t>
            </a:r>
          </a:p>
        </p:txBody>
      </p:sp>
      <p:sp>
        <p:nvSpPr>
          <p:cNvPr id="9" name="Slide Number Placeholder 8"/>
          <p:cNvSpPr>
            <a:spLocks noGrp="1"/>
          </p:cNvSpPr>
          <p:nvPr>
            <p:ph type="sldNum" sz="quarter" idx="11"/>
          </p:nvPr>
        </p:nvSpPr>
        <p:spPr/>
        <p:txBody>
          <a:bodyPr/>
          <a:lstStyle/>
          <a:p>
            <a:fld id="{3485D9CA-6DAA-4C3C-A3E2-EDEA918D5F89}" type="slidenum">
              <a:rPr lang="en-US" smtClean="0"/>
              <a:pPr/>
              <a:t>‹#›</a:t>
            </a:fld>
            <a:endParaRPr lang="en-US"/>
          </a:p>
        </p:txBody>
      </p:sp>
      <p:sp>
        <p:nvSpPr>
          <p:cNvPr id="10" name="Footer Placeholder 9"/>
          <p:cNvSpPr>
            <a:spLocks noGrp="1"/>
          </p:cNvSpPr>
          <p:nvPr>
            <p:ph type="ftr" sz="quarter" idx="12"/>
          </p:nvPr>
        </p:nvSpPr>
        <p:spPr/>
        <p:txBody>
          <a:bodyPr/>
          <a:lstStyle/>
          <a:p>
            <a:r>
              <a:rPr lang="en-US"/>
              <a:t>Design &amp; Analysis of Algorithms</a:t>
            </a:r>
          </a:p>
        </p:txBody>
      </p:sp>
    </p:spTree>
    <p:extLst>
      <p:ext uri="{BB962C8B-B14F-4D97-AF65-F5344CB8AC3E}">
        <p14:creationId xmlns:p14="http://schemas.microsoft.com/office/powerpoint/2010/main" val="802086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26712371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3368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11555936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r>
              <a:rPr lang="en-US"/>
              <a:t>Design and Anaysis of Algorihms, Spring 2008 </a:t>
            </a:r>
            <a:endParaRPr lang="en-GB"/>
          </a:p>
        </p:txBody>
      </p:sp>
      <p:sp>
        <p:nvSpPr>
          <p:cNvPr id="7" name="Rectangle 5"/>
          <p:cNvSpPr>
            <a:spLocks noGrp="1" noChangeArrowheads="1"/>
          </p:cNvSpPr>
          <p:nvPr>
            <p:ph type="ftr" sz="quarter" idx="11"/>
          </p:nvPr>
        </p:nvSpPr>
        <p:spPr>
          <a:ln/>
        </p:spPr>
        <p:txBody>
          <a:bodyPr/>
          <a:lstStyle>
            <a:lvl1pPr>
              <a:defRPr/>
            </a:lvl1pPr>
          </a:lstStyle>
          <a:p>
            <a:pPr>
              <a:defRPr/>
            </a:pPr>
            <a:r>
              <a:rPr lang="en-GB"/>
              <a:t>Design &amp; Analysis of Algorithms</a:t>
            </a:r>
          </a:p>
        </p:txBody>
      </p:sp>
      <p:sp>
        <p:nvSpPr>
          <p:cNvPr id="8" name="Rectangle 6"/>
          <p:cNvSpPr>
            <a:spLocks noGrp="1" noChangeArrowheads="1"/>
          </p:cNvSpPr>
          <p:nvPr>
            <p:ph type="sldNum" sz="quarter" idx="12"/>
          </p:nvPr>
        </p:nvSpPr>
        <p:spPr>
          <a:ln/>
        </p:spPr>
        <p:txBody>
          <a:bodyPr/>
          <a:lstStyle>
            <a:lvl1pPr>
              <a:defRPr/>
            </a:lvl1pPr>
          </a:lstStyle>
          <a:p>
            <a:fld id="{1CAA143B-99B6-4B27-B043-E574855ABF90}" type="slidenum">
              <a:rPr lang="en-GB"/>
              <a:pPr/>
              <a:t>‹#›</a:t>
            </a:fld>
            <a:endParaRPr lang="en-GB"/>
          </a:p>
        </p:txBody>
      </p:sp>
    </p:spTree>
    <p:extLst>
      <p:ext uri="{BB962C8B-B14F-4D97-AF65-F5344CB8AC3E}">
        <p14:creationId xmlns:p14="http://schemas.microsoft.com/office/powerpoint/2010/main" val="25507592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r>
              <a:rPr lang="en-US"/>
              <a:t>Design and Anaysis of Algorihms, Spring 2008 </a:t>
            </a:r>
            <a:endParaRPr lang="en-GB"/>
          </a:p>
        </p:txBody>
      </p:sp>
      <p:sp>
        <p:nvSpPr>
          <p:cNvPr id="6" name="Rectangle 5"/>
          <p:cNvSpPr>
            <a:spLocks noGrp="1" noChangeArrowheads="1"/>
          </p:cNvSpPr>
          <p:nvPr>
            <p:ph type="ftr" sz="quarter" idx="11"/>
          </p:nvPr>
        </p:nvSpPr>
        <p:spPr>
          <a:ln/>
        </p:spPr>
        <p:txBody>
          <a:bodyPr/>
          <a:lstStyle>
            <a:lvl1pPr>
              <a:defRPr/>
            </a:lvl1pPr>
          </a:lstStyle>
          <a:p>
            <a:pPr>
              <a:defRPr/>
            </a:pPr>
            <a:r>
              <a:rPr lang="en-GB"/>
              <a:t>Design &amp; Analysis of Algorithms</a:t>
            </a:r>
          </a:p>
        </p:txBody>
      </p:sp>
      <p:sp>
        <p:nvSpPr>
          <p:cNvPr id="7" name="Rectangle 6"/>
          <p:cNvSpPr>
            <a:spLocks noGrp="1" noChangeArrowheads="1"/>
          </p:cNvSpPr>
          <p:nvPr>
            <p:ph type="sldNum" sz="quarter" idx="12"/>
          </p:nvPr>
        </p:nvSpPr>
        <p:spPr>
          <a:ln/>
        </p:spPr>
        <p:txBody>
          <a:bodyPr/>
          <a:lstStyle>
            <a:lvl1pPr>
              <a:defRPr/>
            </a:lvl1pPr>
          </a:lstStyle>
          <a:p>
            <a:fld id="{15718971-3FDC-4323-BE22-69C0E5D57951}" type="slidenum">
              <a:rPr lang="en-GB"/>
              <a:pPr/>
              <a:t>‹#›</a:t>
            </a:fld>
            <a:endParaRPr lang="en-GB"/>
          </a:p>
        </p:txBody>
      </p:sp>
    </p:spTree>
    <p:extLst>
      <p:ext uri="{BB962C8B-B14F-4D97-AF65-F5344CB8AC3E}">
        <p14:creationId xmlns:p14="http://schemas.microsoft.com/office/powerpoint/2010/main" val="27258714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09600" y="274638"/>
            <a:ext cx="10972800" cy="1143000"/>
          </a:xfrm>
        </p:spPr>
        <p:txBody>
          <a:bodyPr/>
          <a:lstStyle/>
          <a:p>
            <a:r>
              <a:rPr lang="en-US"/>
              <a:t>Click to edit Master title style</a:t>
            </a:r>
          </a:p>
        </p:txBody>
      </p:sp>
      <p:sp>
        <p:nvSpPr>
          <p:cNvPr id="3" name="Content Placeholder 2"/>
          <p:cNvSpPr>
            <a:spLocks noGrp="1"/>
          </p:cNvSpPr>
          <p:nvPr>
            <p:ph sz="quarter" idx="1"/>
          </p:nvPr>
        </p:nvSpPr>
        <p:spPr>
          <a:xfrm>
            <a:off x="609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09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r>
              <a:rPr lang="en-US"/>
              <a:t>Design and Anaysis of Algorihms, Spring 2008 </a:t>
            </a:r>
            <a:endParaRPr lang="en-GB"/>
          </a:p>
        </p:txBody>
      </p:sp>
      <p:sp>
        <p:nvSpPr>
          <p:cNvPr id="8" name="Rectangle 5"/>
          <p:cNvSpPr>
            <a:spLocks noGrp="1" noChangeArrowheads="1"/>
          </p:cNvSpPr>
          <p:nvPr>
            <p:ph type="ftr" sz="quarter" idx="11"/>
          </p:nvPr>
        </p:nvSpPr>
        <p:spPr>
          <a:ln/>
        </p:spPr>
        <p:txBody>
          <a:bodyPr/>
          <a:lstStyle>
            <a:lvl1pPr>
              <a:defRPr/>
            </a:lvl1pPr>
          </a:lstStyle>
          <a:p>
            <a:pPr>
              <a:defRPr/>
            </a:pPr>
            <a:r>
              <a:rPr lang="en-GB"/>
              <a:t>Design &amp; Analysis of Algorithms</a:t>
            </a:r>
          </a:p>
        </p:txBody>
      </p:sp>
      <p:sp>
        <p:nvSpPr>
          <p:cNvPr id="9" name="Rectangle 6"/>
          <p:cNvSpPr>
            <a:spLocks noGrp="1" noChangeArrowheads="1"/>
          </p:cNvSpPr>
          <p:nvPr>
            <p:ph type="sldNum" sz="quarter" idx="12"/>
          </p:nvPr>
        </p:nvSpPr>
        <p:spPr>
          <a:ln/>
        </p:spPr>
        <p:txBody>
          <a:bodyPr/>
          <a:lstStyle>
            <a:lvl1pPr>
              <a:defRPr/>
            </a:lvl1pPr>
          </a:lstStyle>
          <a:p>
            <a:fld id="{51BCAC09-0EE0-4829-9090-1F0BC639B9B6}" type="slidenum">
              <a:rPr lang="en-GB"/>
              <a:pPr/>
              <a:t>‹#›</a:t>
            </a:fld>
            <a:endParaRPr lang="en-GB"/>
          </a:p>
        </p:txBody>
      </p:sp>
    </p:spTree>
    <p:extLst>
      <p:ext uri="{BB962C8B-B14F-4D97-AF65-F5344CB8AC3E}">
        <p14:creationId xmlns:p14="http://schemas.microsoft.com/office/powerpoint/2010/main" val="733955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16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1016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11277600" y="0"/>
            <a:ext cx="91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p:nvSpPr>
        <p:spPr>
          <a:xfrm>
            <a:off x="11277600" y="5486400"/>
            <a:ext cx="9144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4"/>
          </p:nvPr>
        </p:nvSpPr>
        <p:spPr>
          <a:xfrm>
            <a:off x="11375717" y="5648960"/>
            <a:ext cx="73152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3485D9CA-6DAA-4C3C-A3E2-EDEA918D5F89}" type="slidenum">
              <a:rPr lang="en-US" smtClean="0"/>
              <a:pPr/>
              <a:t>‹#›</a:t>
            </a:fld>
            <a:endParaRPr lang="en-US"/>
          </a:p>
        </p:txBody>
      </p:sp>
      <p:sp>
        <p:nvSpPr>
          <p:cNvPr id="5" name="Footer Placeholder 4"/>
          <p:cNvSpPr>
            <a:spLocks noGrp="1"/>
          </p:cNvSpPr>
          <p:nvPr>
            <p:ph type="ftr" sz="quarter" idx="3"/>
          </p:nvPr>
        </p:nvSpPr>
        <p:spPr>
          <a:xfrm rot="16200000">
            <a:off x="10510428" y="3987800"/>
            <a:ext cx="2367281" cy="487680"/>
          </a:xfrm>
          <a:prstGeom prst="rect">
            <a:avLst/>
          </a:prstGeom>
        </p:spPr>
        <p:txBody>
          <a:bodyPr vert="horz" lIns="91440" tIns="45720" rIns="91440" bIns="45720" rtlCol="0" anchor="ctr"/>
          <a:lstStyle>
            <a:lvl1pPr algn="r">
              <a:defRPr sz="1200">
                <a:solidFill>
                  <a:schemeClr val="bg2"/>
                </a:solidFill>
              </a:defRPr>
            </a:lvl1pPr>
          </a:lstStyle>
          <a:p>
            <a:r>
              <a:rPr lang="en-US"/>
              <a:t>Design &amp; Analysis of Algorithms</a:t>
            </a:r>
          </a:p>
        </p:txBody>
      </p:sp>
      <p:sp>
        <p:nvSpPr>
          <p:cNvPr id="4" name="Date Placeholder 3"/>
          <p:cNvSpPr>
            <a:spLocks noGrp="1"/>
          </p:cNvSpPr>
          <p:nvPr>
            <p:ph type="dt" sz="half" idx="2"/>
          </p:nvPr>
        </p:nvSpPr>
        <p:spPr>
          <a:xfrm rot="16200000">
            <a:off x="10474869" y="1584960"/>
            <a:ext cx="2438399" cy="487680"/>
          </a:xfrm>
          <a:prstGeom prst="rect">
            <a:avLst/>
          </a:prstGeom>
        </p:spPr>
        <p:txBody>
          <a:bodyPr vert="horz" lIns="91440" tIns="45720" rIns="91440" bIns="45720" rtlCol="0" anchor="ctr"/>
          <a:lstStyle>
            <a:lvl1pPr algn="l">
              <a:defRPr sz="1200">
                <a:solidFill>
                  <a:schemeClr val="bg2"/>
                </a:solidFill>
              </a:defRPr>
            </a:lvl1pPr>
          </a:lstStyle>
          <a:p>
            <a:r>
              <a:rPr lang="en-US"/>
              <a:t>Design and Anaysis of Algorihms, Spring 2008 </a:t>
            </a:r>
          </a:p>
        </p:txBody>
      </p:sp>
    </p:spTree>
    <p:extLst>
      <p:ext uri="{BB962C8B-B14F-4D97-AF65-F5344CB8AC3E}">
        <p14:creationId xmlns:p14="http://schemas.microsoft.com/office/powerpoint/2010/main" val="23899172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dt="0"/>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485D9CA-6DAA-4C3C-A3E2-EDEA918D5F89}" type="slidenum">
              <a:rPr lang="en-US">
                <a:latin typeface="Calibri"/>
              </a:rPr>
              <a:pPr/>
              <a:t>1</a:t>
            </a:fld>
            <a:endParaRPr lang="en-US">
              <a:latin typeface="Calibri"/>
            </a:endParaRPr>
          </a:p>
        </p:txBody>
      </p:sp>
      <p:sp>
        <p:nvSpPr>
          <p:cNvPr id="7" name="Title 1"/>
          <p:cNvSpPr>
            <a:spLocks noGrp="1"/>
          </p:cNvSpPr>
          <p:nvPr>
            <p:ph type="ctrTitle"/>
          </p:nvPr>
        </p:nvSpPr>
        <p:spPr>
          <a:xfrm>
            <a:off x="1524000" y="1654176"/>
            <a:ext cx="8458200" cy="1470025"/>
          </a:xfrm>
        </p:spPr>
        <p:txBody>
          <a:bodyPr/>
          <a:lstStyle/>
          <a:p>
            <a:pPr algn="ctr"/>
            <a:r>
              <a:rPr lang="en-US" sz="3200" b="1" dirty="0"/>
              <a:t>CSC 323 – Principles of Operating Systems</a:t>
            </a:r>
          </a:p>
        </p:txBody>
      </p:sp>
      <p:sp>
        <p:nvSpPr>
          <p:cNvPr id="8" name="Subtitle 2"/>
          <p:cNvSpPr txBox="1">
            <a:spLocks/>
          </p:cNvSpPr>
          <p:nvPr/>
        </p:nvSpPr>
        <p:spPr>
          <a:xfrm>
            <a:off x="1524000" y="3505200"/>
            <a:ext cx="8458200" cy="1752600"/>
          </a:xfrm>
          <a:prstGeom prst="rect">
            <a:avLst/>
          </a:prstGeom>
        </p:spPr>
        <p:txBody>
          <a:bodyPr vert="horz" lIns="91440" tIns="45720" rIns="91440" bIns="45720" rtlCol="0" anchor="t">
            <a:normAutofit/>
          </a:bodyPr>
          <a:lstStyle>
            <a:lvl1pPr marL="0" indent="0" algn="l" defTabSz="914400" rtl="0" eaLnBrk="1" latinLnBrk="0" hangingPunct="1">
              <a:spcBef>
                <a:spcPct val="20000"/>
              </a:spcBef>
              <a:buClr>
                <a:schemeClr val="accent1"/>
              </a:buClr>
              <a:buFont typeface="Arial" pitchFamily="34" charset="0"/>
              <a:buNone/>
              <a:defRPr sz="2000" kern="1200">
                <a:solidFill>
                  <a:schemeClr val="tx1">
                    <a:tint val="75000"/>
                  </a:schemeClr>
                </a:solidFill>
                <a:latin typeface="+mn-lt"/>
                <a:ea typeface="+mn-ea"/>
                <a:cs typeface="+mn-cs"/>
              </a:defRPr>
            </a:lvl1pPr>
            <a:lvl2pPr marL="457200" indent="0" algn="ctr" defTabSz="914400" rtl="0" eaLnBrk="1" latinLnBrk="0" hangingPunct="1">
              <a:spcBef>
                <a:spcPct val="20000"/>
              </a:spcBef>
              <a:buClr>
                <a:schemeClr val="accent2"/>
              </a:buClr>
              <a:buFont typeface="Arial"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spcBef>
                <a:spcPct val="20000"/>
              </a:spcBef>
              <a:buClr>
                <a:schemeClr val="accent3"/>
              </a:buClr>
              <a:buFont typeface="Arial"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spcBef>
                <a:spcPct val="20000"/>
              </a:spcBef>
              <a:buClr>
                <a:schemeClr val="accent4"/>
              </a:buClr>
              <a:buFont typeface="Arial"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spcBef>
                <a:spcPct val="20000"/>
              </a:spcBef>
              <a:buClr>
                <a:schemeClr val="accent5"/>
              </a:buClr>
              <a:buFont typeface="Arial" pitchFamily="34" charset="0"/>
              <a:buNone/>
              <a:defRPr sz="1400" kern="1200" baseline="0">
                <a:solidFill>
                  <a:schemeClr val="tx1">
                    <a:tint val="75000"/>
                  </a:schemeClr>
                </a:solidFill>
                <a:latin typeface="+mn-lt"/>
                <a:ea typeface="+mn-ea"/>
                <a:cs typeface="+mn-cs"/>
              </a:defRPr>
            </a:lvl5pPr>
            <a:lvl6pPr marL="2286000" indent="0" algn="ctr" defTabSz="914400" rtl="0" eaLnBrk="1" latinLnBrk="0" hangingPunct="1">
              <a:spcBef>
                <a:spcPct val="20000"/>
              </a:spcBef>
              <a:buClr>
                <a:schemeClr val="accent1"/>
              </a:buClr>
              <a:buFont typeface="Arial" pitchFamily="34" charset="0"/>
              <a:buNone/>
              <a:defRPr sz="1400" kern="1200" baseline="0">
                <a:solidFill>
                  <a:schemeClr val="tx1">
                    <a:tint val="75000"/>
                  </a:schemeClr>
                </a:solidFill>
                <a:latin typeface="+mn-lt"/>
                <a:ea typeface="+mn-ea"/>
                <a:cs typeface="+mn-cs"/>
              </a:defRPr>
            </a:lvl6pPr>
            <a:lvl7pPr marL="2743200" indent="0" algn="ctr" defTabSz="914400" rtl="0" eaLnBrk="1" latinLnBrk="0" hangingPunct="1">
              <a:spcBef>
                <a:spcPct val="20000"/>
              </a:spcBef>
              <a:buClr>
                <a:schemeClr val="accent2"/>
              </a:buClr>
              <a:buFont typeface="Arial" pitchFamily="34" charset="0"/>
              <a:buNone/>
              <a:defRPr sz="1400" kern="1200">
                <a:solidFill>
                  <a:schemeClr val="tx1">
                    <a:tint val="75000"/>
                  </a:schemeClr>
                </a:solidFill>
                <a:latin typeface="+mn-lt"/>
                <a:ea typeface="+mn-ea"/>
                <a:cs typeface="+mn-cs"/>
              </a:defRPr>
            </a:lvl7pPr>
            <a:lvl8pPr marL="3200400" indent="0" algn="ctr" defTabSz="914400" rtl="0" eaLnBrk="1" latinLnBrk="0" hangingPunct="1">
              <a:spcBef>
                <a:spcPct val="20000"/>
              </a:spcBef>
              <a:buClr>
                <a:schemeClr val="accent3"/>
              </a:buClr>
              <a:buFont typeface="Arial" pitchFamily="34" charset="0"/>
              <a:buNone/>
              <a:defRPr sz="1400" kern="1200">
                <a:solidFill>
                  <a:schemeClr val="tx1">
                    <a:tint val="75000"/>
                  </a:schemeClr>
                </a:solidFill>
                <a:latin typeface="+mn-lt"/>
                <a:ea typeface="+mn-ea"/>
                <a:cs typeface="+mn-cs"/>
              </a:defRPr>
            </a:lvl8pPr>
            <a:lvl9pPr marL="3657600" indent="0" algn="ctr" defTabSz="914400" rtl="0" eaLnBrk="1" latinLnBrk="0" hangingPunct="1">
              <a:spcBef>
                <a:spcPct val="20000"/>
              </a:spcBef>
              <a:buClr>
                <a:schemeClr val="accent4"/>
              </a:buClr>
              <a:buFont typeface="Arial" pitchFamily="34" charset="0"/>
              <a:buNone/>
              <a:defRPr sz="1400" kern="1200">
                <a:solidFill>
                  <a:schemeClr val="tx1">
                    <a:tint val="75000"/>
                  </a:schemeClr>
                </a:solidFill>
                <a:latin typeface="+mn-lt"/>
                <a:ea typeface="+mn-ea"/>
                <a:cs typeface="+mn-cs"/>
              </a:defRPr>
            </a:lvl9pPr>
          </a:lstStyle>
          <a:p>
            <a:pPr algn="ctr">
              <a:buClr>
                <a:srgbClr val="A9A57C"/>
              </a:buClr>
            </a:pPr>
            <a:r>
              <a:rPr lang="en-US" sz="2800" b="1" spc="-100" dirty="0">
                <a:solidFill>
                  <a:srgbClr val="675E47"/>
                </a:solidFill>
                <a:latin typeface="Cambria"/>
              </a:rPr>
              <a:t>Instructor: Ms. Mamoona Tasadduq</a:t>
            </a:r>
          </a:p>
          <a:p>
            <a:pPr algn="ctr">
              <a:buClr>
                <a:srgbClr val="A9A57C"/>
              </a:buClr>
            </a:pPr>
            <a:r>
              <a:rPr lang="en-US" sz="2800" b="1" spc="-100" dirty="0">
                <a:solidFill>
                  <a:srgbClr val="675E47"/>
                </a:solidFill>
                <a:latin typeface="Cambria"/>
              </a:rPr>
              <a:t>Lecture# 11: Mass Storage Management</a:t>
            </a:r>
          </a:p>
        </p:txBody>
      </p:sp>
    </p:spTree>
    <p:extLst>
      <p:ext uri="{BB962C8B-B14F-4D97-AF65-F5344CB8AC3E}">
        <p14:creationId xmlns:p14="http://schemas.microsoft.com/office/powerpoint/2010/main" val="14239908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62F1F-7A40-D006-295B-5A2BE8FD33A6}"/>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DE23C9BD-1079-6753-22F3-62B0364B396D}"/>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Overview</a:t>
            </a:r>
          </a:p>
        </p:txBody>
      </p:sp>
      <p:sp>
        <p:nvSpPr>
          <p:cNvPr id="3" name="Slide Number Placeholder 2">
            <a:extLst>
              <a:ext uri="{FF2B5EF4-FFF2-40B4-BE49-F238E27FC236}">
                <a16:creationId xmlns:a16="http://schemas.microsoft.com/office/drawing/2014/main" id="{381F6D8C-EAB4-776E-9A21-BB974D24DC00}"/>
              </a:ext>
            </a:extLst>
          </p:cNvPr>
          <p:cNvSpPr>
            <a:spLocks noGrp="1"/>
          </p:cNvSpPr>
          <p:nvPr>
            <p:ph type="sldNum" sz="quarter" idx="12"/>
          </p:nvPr>
        </p:nvSpPr>
        <p:spPr/>
        <p:txBody>
          <a:bodyPr/>
          <a:lstStyle/>
          <a:p>
            <a:fld id="{3485D9CA-6DAA-4C3C-A3E2-EDEA918D5F89}" type="slidenum">
              <a:rPr lang="en-US">
                <a:latin typeface="Calibri"/>
              </a:rPr>
              <a:pPr/>
              <a:t>2</a:t>
            </a:fld>
            <a:endParaRPr lang="en-US">
              <a:latin typeface="Calibri"/>
            </a:endParaRPr>
          </a:p>
        </p:txBody>
      </p:sp>
      <p:sp>
        <p:nvSpPr>
          <p:cNvPr id="12" name="Rectangle 3">
            <a:extLst>
              <a:ext uri="{FF2B5EF4-FFF2-40B4-BE49-F238E27FC236}">
                <a16:creationId xmlns:a16="http://schemas.microsoft.com/office/drawing/2014/main" id="{408FFD99-EBCA-DEB5-E371-B821B54A6358}"/>
              </a:ext>
            </a:extLst>
          </p:cNvPr>
          <p:cNvSpPr txBox="1">
            <a:spLocks noChangeArrowheads="1"/>
          </p:cNvSpPr>
          <p:nvPr/>
        </p:nvSpPr>
        <p:spPr>
          <a:xfrm>
            <a:off x="632151" y="1453239"/>
            <a:ext cx="6862343" cy="557508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altLang="en-US" dirty="0">
                <a:latin typeface="Arial" panose="020B0604020202020204" pitchFamily="34" charset="0"/>
                <a:cs typeface="Arial" panose="020B0604020202020204" pitchFamily="34" charset="0"/>
              </a:rPr>
              <a:t>Bulk of secondary storage for modern computers is </a:t>
            </a:r>
            <a:r>
              <a:rPr lang="en-US" altLang="en-US" b="1" dirty="0">
                <a:solidFill>
                  <a:srgbClr val="FF0000"/>
                </a:solidFill>
                <a:latin typeface="Arial" panose="020B0604020202020204" pitchFamily="34" charset="0"/>
                <a:cs typeface="Arial" panose="020B0604020202020204" pitchFamily="34" charset="0"/>
              </a:rPr>
              <a:t>hard disk drives (HDDs)</a:t>
            </a:r>
            <a:r>
              <a:rPr lang="en-US" altLang="en-US" dirty="0">
                <a:solidFill>
                  <a:srgbClr val="FF0000"/>
                </a:solidFill>
                <a:latin typeface="Arial" panose="020B0604020202020204" pitchFamily="34" charset="0"/>
                <a:cs typeface="Arial" panose="020B0604020202020204" pitchFamily="34" charset="0"/>
              </a:rPr>
              <a:t> </a:t>
            </a:r>
            <a:r>
              <a:rPr lang="en-US" altLang="en-US" dirty="0">
                <a:latin typeface="Arial" panose="020B0604020202020204" pitchFamily="34" charset="0"/>
                <a:cs typeface="Arial" panose="020B0604020202020204" pitchFamily="34" charset="0"/>
              </a:rPr>
              <a:t>and </a:t>
            </a:r>
            <a:r>
              <a:rPr lang="en-US" altLang="en-US" b="1" dirty="0">
                <a:solidFill>
                  <a:srgbClr val="FF0000"/>
                </a:solidFill>
                <a:latin typeface="Arial" panose="020B0604020202020204" pitchFamily="34" charset="0"/>
                <a:cs typeface="Arial" panose="020B0604020202020204" pitchFamily="34" charset="0"/>
              </a:rPr>
              <a:t>nonvolatile memory  (NVM) </a:t>
            </a:r>
            <a:r>
              <a:rPr lang="en-US" altLang="en-US" dirty="0">
                <a:latin typeface="Arial" panose="020B0604020202020204" pitchFamily="34" charset="0"/>
                <a:cs typeface="Arial" panose="020B0604020202020204" pitchFamily="34" charset="0"/>
              </a:rPr>
              <a:t>devices</a:t>
            </a:r>
          </a:p>
          <a:p>
            <a:pPr algn="just"/>
            <a:endParaRPr lang="en-US" altLang="en-US" sz="1000" b="1" dirty="0">
              <a:solidFill>
                <a:srgbClr val="FF0000"/>
              </a:solidFill>
              <a:latin typeface="Arial" panose="020B0604020202020204" pitchFamily="34" charset="0"/>
              <a:cs typeface="Arial" panose="020B0604020202020204" pitchFamily="34" charset="0"/>
            </a:endParaRPr>
          </a:p>
          <a:p>
            <a:pPr algn="just"/>
            <a:r>
              <a:rPr lang="en-US" altLang="en-US" b="1" dirty="0">
                <a:solidFill>
                  <a:srgbClr val="FF0000"/>
                </a:solidFill>
                <a:latin typeface="Arial" panose="020B0604020202020204" pitchFamily="34" charset="0"/>
                <a:cs typeface="Arial" panose="020B0604020202020204" pitchFamily="34" charset="0"/>
              </a:rPr>
              <a:t>HDDs</a:t>
            </a:r>
            <a:r>
              <a:rPr lang="en-US" altLang="en-US" dirty="0">
                <a:latin typeface="Arial" panose="020B0604020202020204" pitchFamily="34" charset="0"/>
                <a:cs typeface="Arial" panose="020B0604020202020204" pitchFamily="34" charset="0"/>
              </a:rPr>
              <a:t> spin platters of magnetically-coated material under moving read-write heads</a:t>
            </a:r>
          </a:p>
          <a:p>
            <a:pPr lvl="1" algn="just"/>
            <a:r>
              <a:rPr lang="en-US" altLang="en-US" dirty="0">
                <a:latin typeface="Arial" panose="020B0604020202020204" pitchFamily="34" charset="0"/>
                <a:cs typeface="Arial" panose="020B0604020202020204" pitchFamily="34" charset="0"/>
              </a:rPr>
              <a:t>Drives rotate at 60 to 250 times per second</a:t>
            </a:r>
          </a:p>
          <a:p>
            <a:pPr lvl="1" algn="just"/>
            <a:r>
              <a:rPr lang="en-US" altLang="en-US" b="1" dirty="0">
                <a:solidFill>
                  <a:srgbClr val="FF0000"/>
                </a:solidFill>
                <a:latin typeface="Arial" panose="020B0604020202020204" pitchFamily="34" charset="0"/>
                <a:cs typeface="Arial" panose="020B0604020202020204" pitchFamily="34" charset="0"/>
              </a:rPr>
              <a:t>Transfer rate</a:t>
            </a:r>
            <a:r>
              <a:rPr lang="en-US" altLang="en-US" dirty="0">
                <a:solidFill>
                  <a:srgbClr val="3366FF"/>
                </a:solidFill>
                <a:latin typeface="Arial" panose="020B0604020202020204" pitchFamily="34" charset="0"/>
                <a:cs typeface="Arial" panose="020B0604020202020204" pitchFamily="34" charset="0"/>
              </a:rPr>
              <a:t> </a:t>
            </a:r>
            <a:r>
              <a:rPr lang="en-US" altLang="en-US" dirty="0">
                <a:latin typeface="Arial" panose="020B0604020202020204" pitchFamily="34" charset="0"/>
                <a:cs typeface="Arial" panose="020B0604020202020204" pitchFamily="34" charset="0"/>
              </a:rPr>
              <a:t>is rate at which data flow between drive and computer</a:t>
            </a:r>
          </a:p>
          <a:p>
            <a:pPr lvl="1" algn="just"/>
            <a:r>
              <a:rPr lang="en-US" altLang="en-US" b="1" dirty="0">
                <a:solidFill>
                  <a:srgbClr val="FF0000"/>
                </a:solidFill>
                <a:latin typeface="Arial" panose="020B0604020202020204" pitchFamily="34" charset="0"/>
                <a:cs typeface="Arial" panose="020B0604020202020204" pitchFamily="34" charset="0"/>
              </a:rPr>
              <a:t>Positioning time</a:t>
            </a:r>
            <a:r>
              <a:rPr lang="en-US" altLang="en-US" dirty="0">
                <a:solidFill>
                  <a:srgbClr val="3366FF"/>
                </a:solidFill>
                <a:latin typeface="Arial" panose="020B0604020202020204" pitchFamily="34" charset="0"/>
                <a:cs typeface="Arial" panose="020B0604020202020204" pitchFamily="34" charset="0"/>
              </a:rPr>
              <a:t> </a:t>
            </a:r>
            <a:r>
              <a:rPr lang="en-US" altLang="en-US" dirty="0">
                <a:latin typeface="Arial" panose="020B0604020202020204" pitchFamily="34" charset="0"/>
                <a:cs typeface="Arial" panose="020B0604020202020204" pitchFamily="34" charset="0"/>
              </a:rPr>
              <a:t>(</a:t>
            </a:r>
            <a:r>
              <a:rPr lang="en-US" altLang="en-US" b="1" dirty="0">
                <a:solidFill>
                  <a:srgbClr val="FF0000"/>
                </a:solidFill>
                <a:latin typeface="Arial" panose="020B0604020202020204" pitchFamily="34" charset="0"/>
                <a:cs typeface="Arial" panose="020B0604020202020204" pitchFamily="34" charset="0"/>
              </a:rPr>
              <a:t>random-access time</a:t>
            </a:r>
            <a:r>
              <a:rPr lang="en-US" altLang="en-US" dirty="0">
                <a:latin typeface="Arial" panose="020B0604020202020204" pitchFamily="34" charset="0"/>
                <a:cs typeface="Arial" panose="020B0604020202020204" pitchFamily="34" charset="0"/>
              </a:rPr>
              <a:t>) is time to move disk arm to desired cylinder (</a:t>
            </a:r>
            <a:r>
              <a:rPr lang="en-US" altLang="en-US" b="1" dirty="0">
                <a:solidFill>
                  <a:srgbClr val="FF0000"/>
                </a:solidFill>
                <a:latin typeface="Arial" panose="020B0604020202020204" pitchFamily="34" charset="0"/>
                <a:cs typeface="Arial" panose="020B0604020202020204" pitchFamily="34" charset="0"/>
              </a:rPr>
              <a:t>seek time</a:t>
            </a:r>
            <a:r>
              <a:rPr lang="en-US" altLang="en-US" dirty="0">
                <a:latin typeface="Arial" panose="020B0604020202020204" pitchFamily="34" charset="0"/>
                <a:cs typeface="Arial" panose="020B0604020202020204" pitchFamily="34" charset="0"/>
              </a:rPr>
              <a:t>) and time for desired sector to rotate under the disk head (</a:t>
            </a:r>
            <a:r>
              <a:rPr lang="en-US" altLang="en-US" b="1" dirty="0">
                <a:solidFill>
                  <a:srgbClr val="FF0000"/>
                </a:solidFill>
                <a:latin typeface="Arial" panose="020B0604020202020204" pitchFamily="34" charset="0"/>
                <a:cs typeface="Arial" panose="020B0604020202020204" pitchFamily="34" charset="0"/>
              </a:rPr>
              <a:t>rotational latency</a:t>
            </a:r>
            <a:r>
              <a:rPr lang="en-US" altLang="en-US" dirty="0">
                <a:latin typeface="Arial" panose="020B0604020202020204" pitchFamily="34" charset="0"/>
                <a:cs typeface="Arial" panose="020B0604020202020204" pitchFamily="34" charset="0"/>
              </a:rPr>
              <a:t>)</a:t>
            </a:r>
          </a:p>
          <a:p>
            <a:pPr algn="just"/>
            <a:endParaRPr lang="en-US" sz="10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Disks can be removable</a:t>
            </a:r>
          </a:p>
        </p:txBody>
      </p:sp>
      <p:pic>
        <p:nvPicPr>
          <p:cNvPr id="13314" name="Picture 1" descr="10_01.pdf">
            <a:extLst>
              <a:ext uri="{FF2B5EF4-FFF2-40B4-BE49-F238E27FC236}">
                <a16:creationId xmlns:a16="http://schemas.microsoft.com/office/drawing/2014/main" id="{DEEE75F2-D712-48C4-9214-B66B52B22D4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91287" y="2311774"/>
            <a:ext cx="3545850" cy="2887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20313818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B3663-0DC3-4A4B-9132-04A1CCDDC852}"/>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6253EAFD-2BF9-B784-6FF3-C01F9360D238}"/>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Hard Disk Drives</a:t>
            </a:r>
          </a:p>
        </p:txBody>
      </p:sp>
      <p:sp>
        <p:nvSpPr>
          <p:cNvPr id="3" name="Slide Number Placeholder 2">
            <a:extLst>
              <a:ext uri="{FF2B5EF4-FFF2-40B4-BE49-F238E27FC236}">
                <a16:creationId xmlns:a16="http://schemas.microsoft.com/office/drawing/2014/main" id="{EA31E86D-665C-ACC6-2BDE-16092A89B4FB}"/>
              </a:ext>
            </a:extLst>
          </p:cNvPr>
          <p:cNvSpPr>
            <a:spLocks noGrp="1"/>
          </p:cNvSpPr>
          <p:nvPr>
            <p:ph type="sldNum" sz="quarter" idx="12"/>
          </p:nvPr>
        </p:nvSpPr>
        <p:spPr/>
        <p:txBody>
          <a:bodyPr/>
          <a:lstStyle/>
          <a:p>
            <a:fld id="{3485D9CA-6DAA-4C3C-A3E2-EDEA918D5F89}" type="slidenum">
              <a:rPr lang="en-US">
                <a:latin typeface="Calibri"/>
              </a:rPr>
              <a:pPr/>
              <a:t>3</a:t>
            </a:fld>
            <a:endParaRPr lang="en-US">
              <a:latin typeface="Calibri"/>
            </a:endParaRPr>
          </a:p>
        </p:txBody>
      </p:sp>
      <p:sp>
        <p:nvSpPr>
          <p:cNvPr id="12" name="Rectangle 3">
            <a:extLst>
              <a:ext uri="{FF2B5EF4-FFF2-40B4-BE49-F238E27FC236}">
                <a16:creationId xmlns:a16="http://schemas.microsoft.com/office/drawing/2014/main" id="{8DF92DA3-435A-FB6C-F8E1-22B306AA8664}"/>
              </a:ext>
            </a:extLst>
          </p:cNvPr>
          <p:cNvSpPr txBox="1">
            <a:spLocks noChangeArrowheads="1"/>
          </p:cNvSpPr>
          <p:nvPr/>
        </p:nvSpPr>
        <p:spPr>
          <a:xfrm>
            <a:off x="632153" y="1453240"/>
            <a:ext cx="10484082" cy="5404760"/>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Platters range from 0.85” to 14” (historically)</a:t>
            </a:r>
          </a:p>
          <a:p>
            <a:pPr lvl="1" algn="just"/>
            <a:r>
              <a:rPr lang="en-US" dirty="0">
                <a:latin typeface="Arial" panose="020B0604020202020204" pitchFamily="34" charset="0"/>
                <a:cs typeface="Arial" panose="020B0604020202020204" pitchFamily="34" charset="0"/>
              </a:rPr>
              <a:t>Commonly 3.5”, 2.5”, and 1.8”</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Range from 30GB to 3TB per drive</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Performance </a:t>
            </a:r>
          </a:p>
          <a:p>
            <a:pPr lvl="1" algn="just"/>
            <a:r>
              <a:rPr lang="en-US" dirty="0">
                <a:latin typeface="Arial" panose="020B0604020202020204" pitchFamily="34" charset="0"/>
                <a:cs typeface="Arial" panose="020B0604020202020204" pitchFamily="34" charset="0"/>
              </a:rPr>
              <a:t>Transfer Rate – theoretical – 6 Gb/sec</a:t>
            </a:r>
          </a:p>
          <a:p>
            <a:pPr lvl="1" algn="just"/>
            <a:r>
              <a:rPr lang="en-US" dirty="0">
                <a:latin typeface="Arial" panose="020B0604020202020204" pitchFamily="34" charset="0"/>
                <a:cs typeface="Arial" panose="020B0604020202020204" pitchFamily="34" charset="0"/>
              </a:rPr>
              <a:t>Effective Transfer Rate – real – 1Gb/sec</a:t>
            </a:r>
          </a:p>
          <a:p>
            <a:pPr lvl="1" algn="just"/>
            <a:r>
              <a:rPr lang="en-US" dirty="0">
                <a:latin typeface="Arial" panose="020B0604020202020204" pitchFamily="34" charset="0"/>
                <a:cs typeface="Arial" panose="020B0604020202020204" pitchFamily="34" charset="0"/>
              </a:rPr>
              <a:t>Seek time from 3ms to 12ms – 9ms common for desktop drives</a:t>
            </a:r>
          </a:p>
          <a:p>
            <a:pPr lvl="1" algn="just"/>
            <a:r>
              <a:rPr lang="en-US" dirty="0">
                <a:latin typeface="Arial" panose="020B0604020202020204" pitchFamily="34" charset="0"/>
                <a:cs typeface="Arial" panose="020B0604020202020204" pitchFamily="34" charset="0"/>
              </a:rPr>
              <a:t>Average seek time measured or calculated based on 1/3 of tracks</a:t>
            </a:r>
          </a:p>
          <a:p>
            <a:pPr lvl="1" algn="just"/>
            <a:r>
              <a:rPr lang="en-US" dirty="0">
                <a:latin typeface="Arial" panose="020B0604020202020204" pitchFamily="34" charset="0"/>
                <a:cs typeface="Arial" panose="020B0604020202020204" pitchFamily="34" charset="0"/>
              </a:rPr>
              <a:t>Latency based on spindle speed</a:t>
            </a:r>
          </a:p>
          <a:p>
            <a:pPr lvl="2" algn="just"/>
            <a:r>
              <a:rPr lang="en-US" dirty="0">
                <a:latin typeface="Arial" panose="020B0604020202020204" pitchFamily="34" charset="0"/>
                <a:cs typeface="Arial" panose="020B0604020202020204" pitchFamily="34" charset="0"/>
              </a:rPr>
              <a:t>1 / (RPM / 60) = 60 / RPM</a:t>
            </a:r>
          </a:p>
          <a:p>
            <a:pPr lvl="1" algn="just"/>
            <a:r>
              <a:rPr lang="en-US" dirty="0">
                <a:latin typeface="Arial" panose="020B0604020202020204" pitchFamily="34" charset="0"/>
                <a:cs typeface="Arial" panose="020B0604020202020204" pitchFamily="34" charset="0"/>
              </a:rPr>
              <a:t>Average latency = ½ latency</a:t>
            </a:r>
          </a:p>
          <a:p>
            <a:pPr algn="just"/>
            <a:endParaRPr lang="en-US" sz="1400" dirty="0">
              <a:latin typeface="Arial" panose="020B0604020202020204" pitchFamily="34" charset="0"/>
              <a:cs typeface="Arial" panose="020B0604020202020204" pitchFamily="34" charset="0"/>
            </a:endParaRPr>
          </a:p>
        </p:txBody>
      </p:sp>
      <p:pic>
        <p:nvPicPr>
          <p:cNvPr id="15363" name="Picture 2">
            <a:extLst>
              <a:ext uri="{FF2B5EF4-FFF2-40B4-BE49-F238E27FC236}">
                <a16:creationId xmlns:a16="http://schemas.microsoft.com/office/drawing/2014/main" id="{DE2CC945-F928-4E84-BEF7-90C1B8BEEB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9512" y="1453240"/>
            <a:ext cx="3792537" cy="252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698778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75A2A-4332-BB4A-0E05-6C482E4387C3}"/>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9312FEF6-3F38-BDC4-5EB5-59BFD4A80F0B}"/>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Hard Disk Performance</a:t>
            </a:r>
          </a:p>
        </p:txBody>
      </p:sp>
      <p:sp>
        <p:nvSpPr>
          <p:cNvPr id="3" name="Slide Number Placeholder 2">
            <a:extLst>
              <a:ext uri="{FF2B5EF4-FFF2-40B4-BE49-F238E27FC236}">
                <a16:creationId xmlns:a16="http://schemas.microsoft.com/office/drawing/2014/main" id="{57F12D39-3330-6D40-9621-1C337F1E0156}"/>
              </a:ext>
            </a:extLst>
          </p:cNvPr>
          <p:cNvSpPr>
            <a:spLocks noGrp="1"/>
          </p:cNvSpPr>
          <p:nvPr>
            <p:ph type="sldNum" sz="quarter" idx="12"/>
          </p:nvPr>
        </p:nvSpPr>
        <p:spPr/>
        <p:txBody>
          <a:bodyPr/>
          <a:lstStyle/>
          <a:p>
            <a:fld id="{3485D9CA-6DAA-4C3C-A3E2-EDEA918D5F89}" type="slidenum">
              <a:rPr lang="en-US">
                <a:latin typeface="Calibri"/>
              </a:rPr>
              <a:pPr/>
              <a:t>4</a:t>
            </a:fld>
            <a:endParaRPr lang="en-US">
              <a:latin typeface="Calibri"/>
            </a:endParaRPr>
          </a:p>
        </p:txBody>
      </p:sp>
      <p:sp>
        <p:nvSpPr>
          <p:cNvPr id="12" name="Rectangle 3">
            <a:extLst>
              <a:ext uri="{FF2B5EF4-FFF2-40B4-BE49-F238E27FC236}">
                <a16:creationId xmlns:a16="http://schemas.microsoft.com/office/drawing/2014/main" id="{E576BA18-178A-D172-A1B5-C35174D4DC91}"/>
              </a:ext>
            </a:extLst>
          </p:cNvPr>
          <p:cNvSpPr txBox="1">
            <a:spLocks noChangeArrowheads="1"/>
          </p:cNvSpPr>
          <p:nvPr/>
        </p:nvSpPr>
        <p:spPr>
          <a:xfrm>
            <a:off x="632153" y="1453240"/>
            <a:ext cx="10743564" cy="5404760"/>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r>
              <a:rPr lang="en-US" altLang="en-US" b="1" dirty="0">
                <a:solidFill>
                  <a:srgbClr val="FF0000"/>
                </a:solidFill>
                <a:latin typeface="Arial" panose="020B0604020202020204" pitchFamily="34" charset="0"/>
                <a:cs typeface="Arial" panose="020B0604020202020204" pitchFamily="34" charset="0"/>
              </a:rPr>
              <a:t>Access Latency </a:t>
            </a:r>
            <a:r>
              <a:rPr lang="en-US" altLang="en-US" dirty="0">
                <a:latin typeface="Arial" panose="020B0604020202020204" pitchFamily="34" charset="0"/>
                <a:cs typeface="Arial" panose="020B0604020202020204" pitchFamily="34" charset="0"/>
              </a:rPr>
              <a:t>= </a:t>
            </a:r>
            <a:r>
              <a:rPr lang="en-US" altLang="en-US" b="1" dirty="0">
                <a:solidFill>
                  <a:srgbClr val="FF0000"/>
                </a:solidFill>
                <a:latin typeface="Arial" panose="020B0604020202020204" pitchFamily="34" charset="0"/>
                <a:cs typeface="Arial" panose="020B0604020202020204" pitchFamily="34" charset="0"/>
              </a:rPr>
              <a:t>Average access time </a:t>
            </a:r>
            <a:r>
              <a:rPr lang="en-US" altLang="en-US" dirty="0">
                <a:latin typeface="Arial" panose="020B0604020202020204" pitchFamily="34" charset="0"/>
                <a:cs typeface="Arial" panose="020B0604020202020204" pitchFamily="34" charset="0"/>
              </a:rPr>
              <a:t>= average seek time + average latency</a:t>
            </a:r>
          </a:p>
          <a:p>
            <a:pPr lvl="1"/>
            <a:r>
              <a:rPr lang="en-US" altLang="en-US" dirty="0">
                <a:latin typeface="Arial" panose="020B0604020202020204" pitchFamily="34" charset="0"/>
                <a:cs typeface="Arial" panose="020B0604020202020204" pitchFamily="34" charset="0"/>
              </a:rPr>
              <a:t>For fastest disk 3ms + 2ms = 5ms</a:t>
            </a:r>
          </a:p>
          <a:p>
            <a:pPr lvl="1"/>
            <a:r>
              <a:rPr lang="en-US" altLang="en-US" dirty="0">
                <a:latin typeface="Arial" panose="020B0604020202020204" pitchFamily="34" charset="0"/>
                <a:cs typeface="Arial" panose="020B0604020202020204" pitchFamily="34" charset="0"/>
              </a:rPr>
              <a:t>For slow disk 9ms + 5.56ms = 14.56ms</a:t>
            </a:r>
          </a:p>
          <a:p>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Average I/O time = average access time + (amount to transfer / transfer rate) + controller overhead</a:t>
            </a:r>
          </a:p>
          <a:p>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For example, to transfer a 4KB block on a 7200 RPM disk with a 5ms average seek time, 1Gb/sec transfer rate with a 0.1ms controller </a:t>
            </a:r>
          </a:p>
          <a:p>
            <a:pPr marL="114300" indent="0">
              <a:buNone/>
            </a:pPr>
            <a:r>
              <a:rPr lang="en-US" altLang="en-US" dirty="0">
                <a:latin typeface="Arial" panose="020B0604020202020204" pitchFamily="34" charset="0"/>
                <a:cs typeface="Arial" panose="020B0604020202020204" pitchFamily="34" charset="0"/>
              </a:rPr>
              <a:t>   overhead =</a:t>
            </a:r>
          </a:p>
          <a:p>
            <a:pPr lvl="1"/>
            <a:r>
              <a:rPr lang="en-US" altLang="en-US" dirty="0">
                <a:latin typeface="Arial" panose="020B0604020202020204" pitchFamily="34" charset="0"/>
                <a:cs typeface="Arial" panose="020B0604020202020204" pitchFamily="34" charset="0"/>
              </a:rPr>
              <a:t>5ms + 4.17ms + 0.1ms + transfer time =</a:t>
            </a:r>
          </a:p>
          <a:p>
            <a:pPr lvl="1"/>
            <a:r>
              <a:rPr lang="en-US" altLang="en-US" dirty="0">
                <a:latin typeface="Arial" panose="020B0604020202020204" pitchFamily="34" charset="0"/>
                <a:cs typeface="Arial" panose="020B0604020202020204" pitchFamily="34" charset="0"/>
              </a:rPr>
              <a:t>Transfer time = </a:t>
            </a:r>
            <a:r>
              <a:rPr lang="en-US" dirty="0">
                <a:latin typeface="Arial" panose="020B0604020202020204" pitchFamily="34" charset="0"/>
                <a:cs typeface="Arial" panose="020B0604020202020204" pitchFamily="34" charset="0"/>
              </a:rPr>
              <a:t>4096 bytes × 8 bits/byte / 1024^3 bits/second = 0.031ms</a:t>
            </a:r>
            <a:r>
              <a:rPr lang="en-US" altLang="en-US" dirty="0">
                <a:latin typeface="Arial" panose="020B0604020202020204" pitchFamily="34" charset="0"/>
                <a:cs typeface="Arial" panose="020B0604020202020204" pitchFamily="34" charset="0"/>
              </a:rPr>
              <a:t>= 0.031 </a:t>
            </a:r>
            <a:r>
              <a:rPr lang="en-US" altLang="en-US" dirty="0" err="1">
                <a:latin typeface="Arial" panose="020B0604020202020204" pitchFamily="34" charset="0"/>
                <a:cs typeface="Arial" panose="020B0604020202020204" pitchFamily="34" charset="0"/>
              </a:rPr>
              <a:t>ms</a:t>
            </a:r>
            <a:r>
              <a:rPr lang="en-US" altLang="en-US" dirty="0">
                <a:latin typeface="Arial" panose="020B0604020202020204" pitchFamily="34" charset="0"/>
                <a:cs typeface="Arial" panose="020B0604020202020204" pitchFamily="34" charset="0"/>
              </a:rPr>
              <a:t> </a:t>
            </a:r>
          </a:p>
          <a:p>
            <a:pPr lvl="1"/>
            <a:r>
              <a:rPr lang="en-US" altLang="en-US" dirty="0">
                <a:latin typeface="Arial" panose="020B0604020202020204" pitchFamily="34" charset="0"/>
                <a:cs typeface="Arial" panose="020B0604020202020204" pitchFamily="34" charset="0"/>
              </a:rPr>
              <a:t>Average I/O time for 4KB block = 9.27ms + .031ms = 9.301ms</a:t>
            </a:r>
          </a:p>
          <a:p>
            <a:pPr algn="just"/>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190545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4C164-2939-5FCE-8EC1-32E14C8A352B}"/>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0EBE2308-D8CB-D713-ABCD-BAAB564AC582}"/>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The First Commercial Disk Drive</a:t>
            </a:r>
          </a:p>
        </p:txBody>
      </p:sp>
      <p:sp>
        <p:nvSpPr>
          <p:cNvPr id="3" name="Slide Number Placeholder 2">
            <a:extLst>
              <a:ext uri="{FF2B5EF4-FFF2-40B4-BE49-F238E27FC236}">
                <a16:creationId xmlns:a16="http://schemas.microsoft.com/office/drawing/2014/main" id="{FAA4AF25-8F2D-8AC2-A1A3-529FEFA6067D}"/>
              </a:ext>
            </a:extLst>
          </p:cNvPr>
          <p:cNvSpPr>
            <a:spLocks noGrp="1"/>
          </p:cNvSpPr>
          <p:nvPr>
            <p:ph type="sldNum" sz="quarter" idx="12"/>
          </p:nvPr>
        </p:nvSpPr>
        <p:spPr/>
        <p:txBody>
          <a:bodyPr/>
          <a:lstStyle/>
          <a:p>
            <a:fld id="{3485D9CA-6DAA-4C3C-A3E2-EDEA918D5F89}" type="slidenum">
              <a:rPr lang="en-US">
                <a:latin typeface="Calibri"/>
              </a:rPr>
              <a:pPr/>
              <a:t>5</a:t>
            </a:fld>
            <a:endParaRPr lang="en-US">
              <a:latin typeface="Calibri"/>
            </a:endParaRPr>
          </a:p>
        </p:txBody>
      </p:sp>
      <p:sp>
        <p:nvSpPr>
          <p:cNvPr id="12" name="Rectangle 3">
            <a:extLst>
              <a:ext uri="{FF2B5EF4-FFF2-40B4-BE49-F238E27FC236}">
                <a16:creationId xmlns:a16="http://schemas.microsoft.com/office/drawing/2014/main" id="{9B2EFA9A-C1C7-039F-7C2E-C53CA04C12EE}"/>
              </a:ext>
            </a:extLst>
          </p:cNvPr>
          <p:cNvSpPr txBox="1">
            <a:spLocks noChangeArrowheads="1"/>
          </p:cNvSpPr>
          <p:nvPr/>
        </p:nvSpPr>
        <p:spPr>
          <a:xfrm>
            <a:off x="632152" y="1453241"/>
            <a:ext cx="5589354"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1956</a:t>
            </a:r>
          </a:p>
          <a:p>
            <a:pPr algn="just"/>
            <a:r>
              <a:rPr lang="en-US" dirty="0">
                <a:latin typeface="Arial" panose="020B0604020202020204" pitchFamily="34" charset="0"/>
                <a:cs typeface="Arial" panose="020B0604020202020204" pitchFamily="34" charset="0"/>
              </a:rPr>
              <a:t>IBM RAMDAC computer included the IBM Model 350 disk storage system</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5M (7 bit) characters</a:t>
            </a:r>
          </a:p>
          <a:p>
            <a:pPr algn="just"/>
            <a:r>
              <a:rPr lang="en-US" dirty="0">
                <a:latin typeface="Arial" panose="020B0604020202020204" pitchFamily="34" charset="0"/>
                <a:cs typeface="Arial" panose="020B0604020202020204" pitchFamily="34" charset="0"/>
              </a:rPr>
              <a:t>50 x 24” platters</a:t>
            </a:r>
          </a:p>
          <a:p>
            <a:pPr algn="just"/>
            <a:r>
              <a:rPr lang="en-US" dirty="0">
                <a:latin typeface="Arial" panose="020B0604020202020204" pitchFamily="34" charset="0"/>
                <a:cs typeface="Arial" panose="020B0604020202020204" pitchFamily="34" charset="0"/>
              </a:rPr>
              <a:t>Access time = &lt; 1 second</a:t>
            </a:r>
          </a:p>
          <a:p>
            <a:pPr lvl="1" algn="just"/>
            <a:endParaRPr lang="en-US" b="1" dirty="0">
              <a:solidFill>
                <a:srgbClr val="FF0000"/>
              </a:solidFill>
              <a:latin typeface="Arial" panose="020B0604020202020204" pitchFamily="34" charset="0"/>
              <a:cs typeface="Arial" panose="020B0604020202020204" pitchFamily="34" charset="0"/>
            </a:endParaRPr>
          </a:p>
        </p:txBody>
      </p:sp>
      <p:pic>
        <p:nvPicPr>
          <p:cNvPr id="2" name="Picture 2">
            <a:extLst>
              <a:ext uri="{FF2B5EF4-FFF2-40B4-BE49-F238E27FC236}">
                <a16:creationId xmlns:a16="http://schemas.microsoft.com/office/drawing/2014/main" id="{3BFF05BE-3220-9C9A-7FD5-8B67D7DB8B9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51811" y="1507028"/>
            <a:ext cx="3850030" cy="4850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27379039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779E4-26EF-DCBC-B7FE-135B4C004653}"/>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BC35E208-69D2-C710-A7BB-E543289300B6}"/>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Nonvolatile Memory Devices</a:t>
            </a:r>
          </a:p>
        </p:txBody>
      </p:sp>
      <p:sp>
        <p:nvSpPr>
          <p:cNvPr id="3" name="Slide Number Placeholder 2">
            <a:extLst>
              <a:ext uri="{FF2B5EF4-FFF2-40B4-BE49-F238E27FC236}">
                <a16:creationId xmlns:a16="http://schemas.microsoft.com/office/drawing/2014/main" id="{F94AAD9D-9C77-EBC5-6DD3-5097CA83A488}"/>
              </a:ext>
            </a:extLst>
          </p:cNvPr>
          <p:cNvSpPr>
            <a:spLocks noGrp="1"/>
          </p:cNvSpPr>
          <p:nvPr>
            <p:ph type="sldNum" sz="quarter" idx="12"/>
          </p:nvPr>
        </p:nvSpPr>
        <p:spPr/>
        <p:txBody>
          <a:bodyPr/>
          <a:lstStyle/>
          <a:p>
            <a:fld id="{3485D9CA-6DAA-4C3C-A3E2-EDEA918D5F89}" type="slidenum">
              <a:rPr lang="en-US">
                <a:latin typeface="Calibri"/>
              </a:rPr>
              <a:pPr/>
              <a:t>6</a:t>
            </a:fld>
            <a:endParaRPr lang="en-US">
              <a:latin typeface="Calibri"/>
            </a:endParaRPr>
          </a:p>
        </p:txBody>
      </p:sp>
      <p:sp>
        <p:nvSpPr>
          <p:cNvPr id="12" name="Rectangle 3">
            <a:extLst>
              <a:ext uri="{FF2B5EF4-FFF2-40B4-BE49-F238E27FC236}">
                <a16:creationId xmlns:a16="http://schemas.microsoft.com/office/drawing/2014/main" id="{D8DA0355-CFA1-170C-0F78-97FDCCC272A2}"/>
              </a:ext>
            </a:extLst>
          </p:cNvPr>
          <p:cNvSpPr txBox="1">
            <a:spLocks noChangeArrowheads="1"/>
          </p:cNvSpPr>
          <p:nvPr/>
        </p:nvSpPr>
        <p:spPr>
          <a:xfrm>
            <a:off x="632151" y="1453241"/>
            <a:ext cx="10412367"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Solid-state disks </a:t>
            </a:r>
            <a:r>
              <a:rPr lang="en-US" dirty="0">
                <a:latin typeface="Arial" panose="020B0604020202020204" pitchFamily="34" charset="0"/>
                <a:cs typeface="Arial" panose="020B0604020202020204" pitchFamily="34" charset="0"/>
              </a:rPr>
              <a:t>(</a:t>
            </a:r>
            <a:r>
              <a:rPr lang="en-US" b="1" dirty="0">
                <a:solidFill>
                  <a:srgbClr val="FF0000"/>
                </a:solidFill>
                <a:latin typeface="Arial" panose="020B0604020202020204" pitchFamily="34" charset="0"/>
                <a:cs typeface="Arial" panose="020B0604020202020204" pitchFamily="34" charset="0"/>
              </a:rPr>
              <a:t>SSDs</a:t>
            </a:r>
            <a:r>
              <a:rPr lang="en-US" dirty="0">
                <a:latin typeface="Arial" panose="020B0604020202020204" pitchFamily="34" charset="0"/>
                <a:cs typeface="Arial" panose="020B0604020202020204" pitchFamily="34" charset="0"/>
              </a:rPr>
              <a:t>) </a:t>
            </a:r>
            <a:r>
              <a:rPr lang="en-US" dirty="0"/>
              <a:t>used like traditional hard drives.</a:t>
            </a:r>
            <a:endParaRPr lang="en-US" dirty="0">
              <a:latin typeface="Arial" panose="020B0604020202020204" pitchFamily="34" charset="0"/>
              <a:cs typeface="Arial" panose="020B0604020202020204" pitchFamily="34" charset="0"/>
            </a:endParaRPr>
          </a:p>
          <a:p>
            <a:pPr algn="ctr"/>
            <a:r>
              <a:rPr lang="en-US" sz="2000" dirty="0">
                <a:latin typeface="Arial" panose="020B0604020202020204" pitchFamily="34" charset="0"/>
                <a:cs typeface="Arial" panose="020B0604020202020204" pitchFamily="34" charset="0"/>
              </a:rPr>
              <a:t>Other forms include </a:t>
            </a:r>
            <a:r>
              <a:rPr lang="en-US" sz="2000" b="1" dirty="0">
                <a:solidFill>
                  <a:srgbClr val="FF0000"/>
                </a:solidFill>
                <a:latin typeface="Arial" panose="020B0604020202020204" pitchFamily="34" charset="0"/>
                <a:cs typeface="Arial" panose="020B0604020202020204" pitchFamily="34" charset="0"/>
              </a:rPr>
              <a:t>USB</a:t>
            </a:r>
            <a:r>
              <a:rPr lang="en-US" sz="2000" dirty="0">
                <a:latin typeface="Arial" panose="020B0604020202020204" pitchFamily="34" charset="0"/>
                <a:cs typeface="Arial" panose="020B0604020202020204" pitchFamily="34" charset="0"/>
              </a:rPr>
              <a:t> drives (thumb drive, flash drive), DRAM disk replacements, surface-mounted on motherboards, and main storage in devices like smartphones</a:t>
            </a:r>
          </a:p>
          <a:p>
            <a:pPr algn="just"/>
            <a:r>
              <a:rPr lang="en-US" dirty="0">
                <a:latin typeface="Arial" panose="020B0604020202020204" pitchFamily="34" charset="0"/>
                <a:cs typeface="Arial" panose="020B0604020202020204" pitchFamily="34" charset="0"/>
              </a:rPr>
              <a:t>Can be more reliable than HDDs</a:t>
            </a:r>
          </a:p>
          <a:p>
            <a:pPr algn="just"/>
            <a:r>
              <a:rPr lang="en-US" dirty="0">
                <a:latin typeface="Arial" panose="020B0604020202020204" pitchFamily="34" charset="0"/>
                <a:cs typeface="Arial" panose="020B0604020202020204" pitchFamily="34" charset="0"/>
              </a:rPr>
              <a:t>More expensive per MB</a:t>
            </a:r>
          </a:p>
          <a:p>
            <a:pPr algn="just"/>
            <a:r>
              <a:rPr lang="en-US" dirty="0">
                <a:latin typeface="Arial" panose="020B0604020202020204" pitchFamily="34" charset="0"/>
                <a:cs typeface="Arial" panose="020B0604020202020204" pitchFamily="34" charset="0"/>
              </a:rPr>
              <a:t>Maybe have shorter life span – need careful management</a:t>
            </a:r>
          </a:p>
          <a:p>
            <a:pPr algn="just"/>
            <a:r>
              <a:rPr lang="en-US" dirty="0">
                <a:latin typeface="Arial" panose="020B0604020202020204" pitchFamily="34" charset="0"/>
                <a:cs typeface="Arial" panose="020B0604020202020204" pitchFamily="34" charset="0"/>
              </a:rPr>
              <a:t>Less capacity</a:t>
            </a:r>
          </a:p>
          <a:p>
            <a:pPr algn="just"/>
            <a:r>
              <a:rPr lang="en-US" dirty="0">
                <a:latin typeface="Arial" panose="020B0604020202020204" pitchFamily="34" charset="0"/>
                <a:cs typeface="Arial" panose="020B0604020202020204" pitchFamily="34" charset="0"/>
              </a:rPr>
              <a:t>But much faster</a:t>
            </a:r>
          </a:p>
          <a:p>
            <a:pPr algn="just"/>
            <a:r>
              <a:rPr lang="en-US" dirty="0">
                <a:latin typeface="Arial" panose="020B0604020202020204" pitchFamily="34" charset="0"/>
                <a:cs typeface="Arial" panose="020B0604020202020204" pitchFamily="34" charset="0"/>
              </a:rPr>
              <a:t> Buses can be too slow </a:t>
            </a:r>
            <a:r>
              <a:rPr lang="en-US" dirty="0">
                <a:latin typeface="Arial" panose="020B0604020202020204" pitchFamily="34" charset="0"/>
                <a:cs typeface="Arial" panose="020B0604020202020204" pitchFamily="34" charset="0"/>
                <a:sym typeface="Wingdings" panose="05000000000000000000" pitchFamily="2" charset="2"/>
              </a:rPr>
              <a:t></a:t>
            </a:r>
            <a:r>
              <a:rPr lang="en-US" dirty="0">
                <a:latin typeface="Arial" panose="020B0604020202020204" pitchFamily="34" charset="0"/>
                <a:cs typeface="Arial" panose="020B0604020202020204" pitchFamily="34" charset="0"/>
              </a:rPr>
              <a:t> to connect directly to PCI, for example</a:t>
            </a:r>
          </a:p>
          <a:p>
            <a:pPr algn="just"/>
            <a:r>
              <a:rPr lang="en-US" dirty="0">
                <a:latin typeface="Arial" panose="020B0604020202020204" pitchFamily="34" charset="0"/>
                <a:cs typeface="Arial" panose="020B0604020202020204" pitchFamily="34" charset="0"/>
              </a:rPr>
              <a:t>No moving parts, so no seek time or rotational latency</a:t>
            </a:r>
          </a:p>
          <a:p>
            <a:pPr lvl="0"/>
            <a:r>
              <a:rPr lang="en-GB" dirty="0">
                <a:latin typeface="Arial" panose="020B0604020202020204" pitchFamily="34" charset="0"/>
                <a:cs typeface="Arial" panose="020B0604020202020204" pitchFamily="34" charset="0"/>
              </a:rPr>
              <a:t>They use fast CMOS-based memory, enabling instant data access and providing much higher throughput than HDDs.</a:t>
            </a:r>
          </a:p>
          <a:p>
            <a:pPr algn="just"/>
            <a:endParaRPr lang="en-US" b="1" dirty="0">
              <a:solidFill>
                <a:srgbClr val="FF0000"/>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275859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C07A0-CDEA-A78C-EB70-517CB21E45D4}"/>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F3F3E8D0-390F-2A6E-514F-0E70BBD74234}"/>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Nonvolatile Memory Devices</a:t>
            </a:r>
          </a:p>
        </p:txBody>
      </p:sp>
      <p:sp>
        <p:nvSpPr>
          <p:cNvPr id="3" name="Slide Number Placeholder 2">
            <a:extLst>
              <a:ext uri="{FF2B5EF4-FFF2-40B4-BE49-F238E27FC236}">
                <a16:creationId xmlns:a16="http://schemas.microsoft.com/office/drawing/2014/main" id="{DE700EE0-9F43-F699-6D62-55FE88E2B290}"/>
              </a:ext>
            </a:extLst>
          </p:cNvPr>
          <p:cNvSpPr>
            <a:spLocks noGrp="1"/>
          </p:cNvSpPr>
          <p:nvPr>
            <p:ph type="sldNum" sz="quarter" idx="12"/>
          </p:nvPr>
        </p:nvSpPr>
        <p:spPr/>
        <p:txBody>
          <a:bodyPr/>
          <a:lstStyle/>
          <a:p>
            <a:fld id="{3485D9CA-6DAA-4C3C-A3E2-EDEA918D5F89}" type="slidenum">
              <a:rPr lang="en-US">
                <a:latin typeface="Calibri"/>
              </a:rPr>
              <a:pPr/>
              <a:t>7</a:t>
            </a:fld>
            <a:endParaRPr lang="en-US">
              <a:latin typeface="Calibri"/>
            </a:endParaRPr>
          </a:p>
        </p:txBody>
      </p:sp>
      <p:sp>
        <p:nvSpPr>
          <p:cNvPr id="12" name="Rectangle 3">
            <a:extLst>
              <a:ext uri="{FF2B5EF4-FFF2-40B4-BE49-F238E27FC236}">
                <a16:creationId xmlns:a16="http://schemas.microsoft.com/office/drawing/2014/main" id="{82803E76-7FEB-07D8-4C3F-7EFF48E3B393}"/>
              </a:ext>
            </a:extLst>
          </p:cNvPr>
          <p:cNvSpPr txBox="1">
            <a:spLocks noChangeArrowheads="1"/>
          </p:cNvSpPr>
          <p:nvPr/>
        </p:nvSpPr>
        <p:spPr>
          <a:xfrm>
            <a:off x="632151" y="1453241"/>
            <a:ext cx="10412367"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Have characteristics that present challenges</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Read and write in “page” increments but can’t overwrite in place</a:t>
            </a:r>
          </a:p>
          <a:p>
            <a:pPr lvl="1" algn="just"/>
            <a:r>
              <a:rPr lang="en-US" dirty="0">
                <a:latin typeface="Arial" panose="020B0604020202020204" pitchFamily="34" charset="0"/>
                <a:cs typeface="Arial" panose="020B0604020202020204" pitchFamily="34" charset="0"/>
              </a:rPr>
              <a:t>Must first be erased, and erases happen in larger ”block” increments</a:t>
            </a:r>
          </a:p>
          <a:p>
            <a:pPr lvl="1" algn="just"/>
            <a:r>
              <a:rPr lang="en-US" dirty="0">
                <a:latin typeface="Arial" panose="020B0604020202020204" pitchFamily="34" charset="0"/>
                <a:cs typeface="Arial" panose="020B0604020202020204" pitchFamily="34" charset="0"/>
              </a:rPr>
              <a:t>Can only be erased a limited number of times before worn out – ~ 100,000</a:t>
            </a:r>
          </a:p>
          <a:p>
            <a:pPr lvl="1" algn="just"/>
            <a:r>
              <a:rPr lang="en-US" dirty="0">
                <a:latin typeface="Arial" panose="020B0604020202020204" pitchFamily="34" charset="0"/>
                <a:cs typeface="Arial" panose="020B0604020202020204" pitchFamily="34" charset="0"/>
              </a:rPr>
              <a:t>Life span measured in </a:t>
            </a:r>
            <a:r>
              <a:rPr lang="en-US" b="1" dirty="0">
                <a:solidFill>
                  <a:srgbClr val="FF0000"/>
                </a:solidFill>
                <a:latin typeface="Arial" panose="020B0604020202020204" pitchFamily="34" charset="0"/>
                <a:cs typeface="Arial" panose="020B0604020202020204" pitchFamily="34" charset="0"/>
              </a:rPr>
              <a:t>drive writes per day</a:t>
            </a:r>
            <a:r>
              <a:rPr lang="en-US" dirty="0">
                <a:latin typeface="Arial" panose="020B0604020202020204" pitchFamily="34" charset="0"/>
                <a:cs typeface="Arial" panose="020B0604020202020204" pitchFamily="34" charset="0"/>
              </a:rPr>
              <a:t> (</a:t>
            </a:r>
            <a:r>
              <a:rPr lang="en-US" b="1" dirty="0">
                <a:solidFill>
                  <a:srgbClr val="FF0000"/>
                </a:solidFill>
                <a:latin typeface="Arial" panose="020B0604020202020204" pitchFamily="34" charset="0"/>
                <a:cs typeface="Arial" panose="020B0604020202020204" pitchFamily="34" charset="0"/>
              </a:rPr>
              <a:t>DWPD</a:t>
            </a:r>
            <a:r>
              <a:rPr lang="en-US" dirty="0">
                <a:latin typeface="Arial" panose="020B0604020202020204" pitchFamily="34" charset="0"/>
                <a:cs typeface="Arial" panose="020B0604020202020204" pitchFamily="34" charset="0"/>
              </a:rPr>
              <a:t>)</a:t>
            </a:r>
          </a:p>
          <a:p>
            <a:pPr lvl="2" algn="just"/>
            <a:r>
              <a:rPr lang="en-US" dirty="0">
                <a:latin typeface="Arial" panose="020B0604020202020204" pitchFamily="34" charset="0"/>
                <a:cs typeface="Arial" panose="020B0604020202020204" pitchFamily="34" charset="0"/>
              </a:rPr>
              <a:t>A 1TB NAND drive with a rating of 5DWPD is expected to have 5TB per day written within the warranty period without failing</a:t>
            </a:r>
          </a:p>
        </p:txBody>
      </p:sp>
      <p:pic>
        <p:nvPicPr>
          <p:cNvPr id="19459" name="Picture 6">
            <a:extLst>
              <a:ext uri="{FF2B5EF4-FFF2-40B4-BE49-F238E27FC236}">
                <a16:creationId xmlns:a16="http://schemas.microsoft.com/office/drawing/2014/main" id="{E2B9527C-5168-46B7-9A74-7BF10FB567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7889" y="4456227"/>
            <a:ext cx="3593777" cy="2195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19011958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39CC8-DDDD-9BDF-02F4-9D5B92658D52}"/>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3D3690A2-EF51-68FA-846F-BD676D14E870}"/>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NAND Flash Controller Algorithms</a:t>
            </a:r>
          </a:p>
        </p:txBody>
      </p:sp>
      <p:sp>
        <p:nvSpPr>
          <p:cNvPr id="3" name="Slide Number Placeholder 2">
            <a:extLst>
              <a:ext uri="{FF2B5EF4-FFF2-40B4-BE49-F238E27FC236}">
                <a16:creationId xmlns:a16="http://schemas.microsoft.com/office/drawing/2014/main" id="{6C6B040F-D312-B2DA-9BEF-25FB1B3A1D5C}"/>
              </a:ext>
            </a:extLst>
          </p:cNvPr>
          <p:cNvSpPr>
            <a:spLocks noGrp="1"/>
          </p:cNvSpPr>
          <p:nvPr>
            <p:ph type="sldNum" sz="quarter" idx="12"/>
          </p:nvPr>
        </p:nvSpPr>
        <p:spPr/>
        <p:txBody>
          <a:bodyPr/>
          <a:lstStyle/>
          <a:p>
            <a:fld id="{3485D9CA-6DAA-4C3C-A3E2-EDEA918D5F89}" type="slidenum">
              <a:rPr lang="en-US">
                <a:latin typeface="Calibri"/>
              </a:rPr>
              <a:pPr/>
              <a:t>8</a:t>
            </a:fld>
            <a:endParaRPr lang="en-US">
              <a:latin typeface="Calibri"/>
            </a:endParaRPr>
          </a:p>
        </p:txBody>
      </p:sp>
      <p:sp>
        <p:nvSpPr>
          <p:cNvPr id="12" name="Rectangle 3">
            <a:extLst>
              <a:ext uri="{FF2B5EF4-FFF2-40B4-BE49-F238E27FC236}">
                <a16:creationId xmlns:a16="http://schemas.microsoft.com/office/drawing/2014/main" id="{B635FE35-4964-F97C-AD5C-93D102F68602}"/>
              </a:ext>
            </a:extLst>
          </p:cNvPr>
          <p:cNvSpPr txBox="1">
            <a:spLocks noChangeArrowheads="1"/>
          </p:cNvSpPr>
          <p:nvPr/>
        </p:nvSpPr>
        <p:spPr>
          <a:xfrm>
            <a:off x="632151" y="1453241"/>
            <a:ext cx="10412367"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With no overwrite, pages end up with mix of valid and invalid data</a:t>
            </a:r>
          </a:p>
          <a:p>
            <a:pPr algn="just"/>
            <a:r>
              <a:rPr lang="en-US" dirty="0">
                <a:latin typeface="Arial" panose="020B0604020202020204" pitchFamily="34" charset="0"/>
                <a:cs typeface="Arial" panose="020B0604020202020204" pitchFamily="34" charset="0"/>
              </a:rPr>
              <a:t>To track which logical blocks are valid, controller maintains flash </a:t>
            </a:r>
            <a:r>
              <a:rPr lang="en-US" b="1" dirty="0">
                <a:solidFill>
                  <a:srgbClr val="FF0000"/>
                </a:solidFill>
                <a:latin typeface="Arial" panose="020B0604020202020204" pitchFamily="34" charset="0"/>
                <a:cs typeface="Arial" panose="020B0604020202020204" pitchFamily="34" charset="0"/>
              </a:rPr>
              <a:t>translation layer </a:t>
            </a:r>
            <a:r>
              <a:rPr lang="en-US" dirty="0">
                <a:latin typeface="Arial" panose="020B0604020202020204" pitchFamily="34" charset="0"/>
                <a:cs typeface="Arial" panose="020B0604020202020204" pitchFamily="34" charset="0"/>
              </a:rPr>
              <a:t>(</a:t>
            </a:r>
            <a:r>
              <a:rPr lang="en-US" b="1" dirty="0">
                <a:solidFill>
                  <a:srgbClr val="FF0000"/>
                </a:solidFill>
                <a:latin typeface="Arial" panose="020B0604020202020204" pitchFamily="34" charset="0"/>
                <a:cs typeface="Arial" panose="020B0604020202020204" pitchFamily="34" charset="0"/>
              </a:rPr>
              <a:t>FTL</a:t>
            </a:r>
            <a:r>
              <a:rPr lang="en-US" dirty="0">
                <a:latin typeface="Arial" panose="020B0604020202020204" pitchFamily="34" charset="0"/>
                <a:cs typeface="Arial" panose="020B0604020202020204" pitchFamily="34" charset="0"/>
              </a:rPr>
              <a:t>) table</a:t>
            </a:r>
          </a:p>
          <a:p>
            <a:pPr algn="just"/>
            <a:r>
              <a:rPr lang="en-US" dirty="0">
                <a:latin typeface="Arial" panose="020B0604020202020204" pitchFamily="34" charset="0"/>
                <a:cs typeface="Arial" panose="020B0604020202020204" pitchFamily="34" charset="0"/>
              </a:rPr>
              <a:t>Also implements </a:t>
            </a:r>
            <a:r>
              <a:rPr lang="en-US" b="1" dirty="0">
                <a:solidFill>
                  <a:srgbClr val="FF0000"/>
                </a:solidFill>
                <a:latin typeface="Arial" panose="020B0604020202020204" pitchFamily="34" charset="0"/>
                <a:cs typeface="Arial" panose="020B0604020202020204" pitchFamily="34" charset="0"/>
              </a:rPr>
              <a:t>garbage collection </a:t>
            </a:r>
            <a:r>
              <a:rPr lang="en-US" dirty="0">
                <a:latin typeface="Arial" panose="020B0604020202020204" pitchFamily="34" charset="0"/>
                <a:cs typeface="Arial" panose="020B0604020202020204" pitchFamily="34" charset="0"/>
              </a:rPr>
              <a:t>to free invalid page space</a:t>
            </a:r>
          </a:p>
          <a:p>
            <a:pPr algn="just"/>
            <a:r>
              <a:rPr lang="en-US" dirty="0">
                <a:latin typeface="Arial" panose="020B0604020202020204" pitchFamily="34" charset="0"/>
                <a:cs typeface="Arial" panose="020B0604020202020204" pitchFamily="34" charset="0"/>
              </a:rPr>
              <a:t>Allocates </a:t>
            </a:r>
            <a:r>
              <a:rPr lang="en-US" b="1" dirty="0">
                <a:solidFill>
                  <a:srgbClr val="FF0000"/>
                </a:solidFill>
                <a:latin typeface="Arial" panose="020B0604020202020204" pitchFamily="34" charset="0"/>
                <a:cs typeface="Arial" panose="020B0604020202020204" pitchFamily="34" charset="0"/>
              </a:rPr>
              <a:t>overprovisioning</a:t>
            </a:r>
            <a:r>
              <a:rPr lang="en-US" dirty="0">
                <a:latin typeface="Arial" panose="020B0604020202020204" pitchFamily="34" charset="0"/>
                <a:cs typeface="Arial" panose="020B0604020202020204" pitchFamily="34" charset="0"/>
              </a:rPr>
              <a:t> to provide working space for GC</a:t>
            </a:r>
          </a:p>
          <a:p>
            <a:pPr algn="just"/>
            <a:r>
              <a:rPr lang="en-US" dirty="0">
                <a:latin typeface="Arial" panose="020B0604020202020204" pitchFamily="34" charset="0"/>
                <a:cs typeface="Arial" panose="020B0604020202020204" pitchFamily="34" charset="0"/>
              </a:rPr>
              <a:t>Each cell has lifespan, so </a:t>
            </a:r>
            <a:r>
              <a:rPr lang="en-US" b="1" dirty="0">
                <a:solidFill>
                  <a:srgbClr val="FF0000"/>
                </a:solidFill>
                <a:latin typeface="Arial" panose="020B0604020202020204" pitchFamily="34" charset="0"/>
                <a:cs typeface="Arial" panose="020B0604020202020204" pitchFamily="34" charset="0"/>
              </a:rPr>
              <a:t>wear leveling </a:t>
            </a:r>
            <a:r>
              <a:rPr lang="en-US" dirty="0">
                <a:latin typeface="Arial" panose="020B0604020202020204" pitchFamily="34" charset="0"/>
                <a:cs typeface="Arial" panose="020B0604020202020204" pitchFamily="34" charset="0"/>
              </a:rPr>
              <a:t>needed to write equally to all cells</a:t>
            </a:r>
          </a:p>
        </p:txBody>
      </p:sp>
      <p:pic>
        <p:nvPicPr>
          <p:cNvPr id="87043" name="Picture 4">
            <a:extLst>
              <a:ext uri="{FF2B5EF4-FFF2-40B4-BE49-F238E27FC236}">
                <a16:creationId xmlns:a16="http://schemas.microsoft.com/office/drawing/2014/main" id="{143BB5E9-3048-4ED5-9B8B-B69C0D545E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8843" y="3954443"/>
            <a:ext cx="4751057" cy="2385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4" name="TextBox 5">
            <a:extLst>
              <a:ext uri="{FF2B5EF4-FFF2-40B4-BE49-F238E27FC236}">
                <a16:creationId xmlns:a16="http://schemas.microsoft.com/office/drawing/2014/main" id="{49980EFD-4160-4281-931A-C944B55527E2}"/>
              </a:ext>
            </a:extLst>
          </p:cNvPr>
          <p:cNvSpPr txBox="1">
            <a:spLocks noChangeArrowheads="1"/>
          </p:cNvSpPr>
          <p:nvPr/>
        </p:nvSpPr>
        <p:spPr bwMode="auto">
          <a:xfrm>
            <a:off x="3428627" y="6352431"/>
            <a:ext cx="61595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1600" b="1" i="1">
                <a:latin typeface="Arial" panose="020B0604020202020204" pitchFamily="34" charset="0"/>
                <a:cs typeface="Arial" panose="020B0604020202020204" pitchFamily="34" charset="0"/>
              </a:rPr>
              <a:t>NAND block with valid and invalid pages</a:t>
            </a:r>
          </a:p>
        </p:txBody>
      </p:sp>
    </p:spTree>
    <p:custDataLst>
      <p:tags r:id="rId1"/>
    </p:custDataLst>
    <p:extLst>
      <p:ext uri="{BB962C8B-B14F-4D97-AF65-F5344CB8AC3E}">
        <p14:creationId xmlns:p14="http://schemas.microsoft.com/office/powerpoint/2010/main" val="2182188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B0A6D-CA48-B5E7-AEEF-1BFBE26C21E8}"/>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74D5301D-EAD5-2091-1635-55311E4C6D90}"/>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Volatile Memory</a:t>
            </a:r>
          </a:p>
        </p:txBody>
      </p:sp>
      <p:sp>
        <p:nvSpPr>
          <p:cNvPr id="3" name="Slide Number Placeholder 2">
            <a:extLst>
              <a:ext uri="{FF2B5EF4-FFF2-40B4-BE49-F238E27FC236}">
                <a16:creationId xmlns:a16="http://schemas.microsoft.com/office/drawing/2014/main" id="{5A9D057E-78DF-E860-3F2C-9AB4987A5575}"/>
              </a:ext>
            </a:extLst>
          </p:cNvPr>
          <p:cNvSpPr>
            <a:spLocks noGrp="1"/>
          </p:cNvSpPr>
          <p:nvPr>
            <p:ph type="sldNum" sz="quarter" idx="12"/>
          </p:nvPr>
        </p:nvSpPr>
        <p:spPr/>
        <p:txBody>
          <a:bodyPr/>
          <a:lstStyle/>
          <a:p>
            <a:fld id="{3485D9CA-6DAA-4C3C-A3E2-EDEA918D5F89}" type="slidenum">
              <a:rPr lang="en-US">
                <a:latin typeface="Calibri"/>
              </a:rPr>
              <a:pPr/>
              <a:t>9</a:t>
            </a:fld>
            <a:endParaRPr lang="en-US">
              <a:latin typeface="Calibri"/>
            </a:endParaRPr>
          </a:p>
        </p:txBody>
      </p:sp>
      <p:sp>
        <p:nvSpPr>
          <p:cNvPr id="12" name="Rectangle 3">
            <a:extLst>
              <a:ext uri="{FF2B5EF4-FFF2-40B4-BE49-F238E27FC236}">
                <a16:creationId xmlns:a16="http://schemas.microsoft.com/office/drawing/2014/main" id="{20963EFC-3931-6F9D-F106-CD1F4FB91ECF}"/>
              </a:ext>
            </a:extLst>
          </p:cNvPr>
          <p:cNvSpPr txBox="1">
            <a:spLocks noChangeArrowheads="1"/>
          </p:cNvSpPr>
          <p:nvPr/>
        </p:nvSpPr>
        <p:spPr>
          <a:xfrm>
            <a:off x="632151" y="1453241"/>
            <a:ext cx="10412367"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DRAM frequently used as mass-storage device</a:t>
            </a:r>
          </a:p>
          <a:p>
            <a:pPr lvl="1" algn="just"/>
            <a:r>
              <a:rPr lang="en-US" dirty="0">
                <a:latin typeface="Arial" panose="020B0604020202020204" pitchFamily="34" charset="0"/>
                <a:cs typeface="Arial" panose="020B0604020202020204" pitchFamily="34" charset="0"/>
              </a:rPr>
              <a:t>Not technically secondary storage because volatile, but can have file systems, be used like very fast secondary storage</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RAM drives (with many names, including RAM disks) present as raw block devices, commonly file system formatted</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Computers have buffering, caching via RAM, so why RAM drives?</a:t>
            </a:r>
          </a:p>
          <a:p>
            <a:pPr lvl="1" algn="just"/>
            <a:r>
              <a:rPr lang="en-US" dirty="0">
                <a:latin typeface="Arial" panose="020B0604020202020204" pitchFamily="34" charset="0"/>
                <a:cs typeface="Arial" panose="020B0604020202020204" pitchFamily="34" charset="0"/>
              </a:rPr>
              <a:t>Caches / buffers allocated / managed by programmer, operating system, hardware</a:t>
            </a:r>
          </a:p>
          <a:p>
            <a:pPr lvl="1" algn="just"/>
            <a:r>
              <a:rPr lang="en-US" dirty="0">
                <a:latin typeface="Arial" panose="020B0604020202020204" pitchFamily="34" charset="0"/>
                <a:cs typeface="Arial" panose="020B0604020202020204" pitchFamily="34" charset="0"/>
              </a:rPr>
              <a:t>RAM drives under user control</a:t>
            </a:r>
          </a:p>
          <a:p>
            <a:pPr lvl="1" algn="just"/>
            <a:r>
              <a:rPr lang="en-US" dirty="0">
                <a:latin typeface="Arial" panose="020B0604020202020204" pitchFamily="34" charset="0"/>
                <a:cs typeface="Arial" panose="020B0604020202020204" pitchFamily="34" charset="0"/>
              </a:rPr>
              <a:t>Found in all major operating systems</a:t>
            </a:r>
          </a:p>
          <a:p>
            <a:pPr lvl="2" algn="just"/>
            <a:r>
              <a:rPr lang="en-US" dirty="0">
                <a:latin typeface="Arial" panose="020B0604020202020204" pitchFamily="34" charset="0"/>
                <a:cs typeface="Arial" panose="020B0604020202020204" pitchFamily="34" charset="0"/>
              </a:rPr>
              <a:t>Linux </a:t>
            </a:r>
            <a:r>
              <a:rPr lang="en-US" i="1" dirty="0">
                <a:latin typeface="Arial" panose="020B0604020202020204" pitchFamily="34" charset="0"/>
                <a:cs typeface="Arial" panose="020B0604020202020204" pitchFamily="34" charset="0"/>
              </a:rPr>
              <a:t>/dev/ram,</a:t>
            </a:r>
            <a:r>
              <a:rPr lang="en-US" dirty="0">
                <a:latin typeface="Arial" panose="020B0604020202020204" pitchFamily="34" charset="0"/>
                <a:cs typeface="Arial" panose="020B0604020202020204" pitchFamily="34" charset="0"/>
              </a:rPr>
              <a:t> macOS </a:t>
            </a:r>
            <a:r>
              <a:rPr lang="en-US" i="1" dirty="0" err="1">
                <a:latin typeface="Arial" panose="020B0604020202020204" pitchFamily="34" charset="0"/>
                <a:cs typeface="Arial" panose="020B0604020202020204" pitchFamily="34" charset="0"/>
              </a:rPr>
              <a:t>diskutil</a:t>
            </a:r>
            <a:r>
              <a:rPr lang="en-US" dirty="0">
                <a:latin typeface="Arial" panose="020B0604020202020204" pitchFamily="34" charset="0"/>
                <a:cs typeface="Arial" panose="020B0604020202020204" pitchFamily="34" charset="0"/>
              </a:rPr>
              <a:t> to create them, Linux </a:t>
            </a:r>
            <a:r>
              <a:rPr lang="en-US" i="1" dirty="0">
                <a:latin typeface="Arial" panose="020B0604020202020204" pitchFamily="34" charset="0"/>
                <a:cs typeface="Arial" panose="020B0604020202020204" pitchFamily="34" charset="0"/>
              </a:rPr>
              <a:t>/</a:t>
            </a:r>
            <a:r>
              <a:rPr lang="en-US" i="1" dirty="0" err="1">
                <a:latin typeface="Arial" panose="020B0604020202020204" pitchFamily="34" charset="0"/>
                <a:cs typeface="Arial" panose="020B0604020202020204" pitchFamily="34" charset="0"/>
              </a:rPr>
              <a:t>tmp</a:t>
            </a:r>
            <a:r>
              <a:rPr lang="en-US" dirty="0">
                <a:latin typeface="Arial" panose="020B0604020202020204" pitchFamily="34" charset="0"/>
                <a:cs typeface="Arial" panose="020B0604020202020204" pitchFamily="34" charset="0"/>
              </a:rPr>
              <a:t> of file system type </a:t>
            </a:r>
            <a:r>
              <a:rPr lang="en-US" i="1" dirty="0" err="1">
                <a:latin typeface="Arial" panose="020B0604020202020204" pitchFamily="34" charset="0"/>
                <a:cs typeface="Arial" panose="020B0604020202020204" pitchFamily="34" charset="0"/>
              </a:rPr>
              <a:t>tmpfs</a:t>
            </a:r>
            <a:endParaRPr lang="en-US" i="1"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Used as high-speed temporary storage</a:t>
            </a:r>
          </a:p>
          <a:p>
            <a:pPr lvl="1" algn="just"/>
            <a:r>
              <a:rPr lang="en-US" dirty="0">
                <a:latin typeface="Arial" panose="020B0604020202020204" pitchFamily="34" charset="0"/>
                <a:cs typeface="Arial" panose="020B0604020202020204" pitchFamily="34" charset="0"/>
              </a:rPr>
              <a:t>Programs could share bulk date, quickly, by reading/writing to RAM drive</a:t>
            </a:r>
          </a:p>
        </p:txBody>
      </p:sp>
    </p:spTree>
    <p:custDataLst>
      <p:tags r:id="rId1"/>
    </p:custDataLst>
    <p:extLst>
      <p:ext uri="{BB962C8B-B14F-4D97-AF65-F5344CB8AC3E}">
        <p14:creationId xmlns:p14="http://schemas.microsoft.com/office/powerpoint/2010/main" val="41697106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E90F8-54C3-AC51-5ECF-9343FA4E047E}"/>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35A2BB69-1DBF-F4DD-5A09-8BA0309A41AC}"/>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Magnetic Tape</a:t>
            </a:r>
          </a:p>
        </p:txBody>
      </p:sp>
      <p:sp>
        <p:nvSpPr>
          <p:cNvPr id="3" name="Slide Number Placeholder 2">
            <a:extLst>
              <a:ext uri="{FF2B5EF4-FFF2-40B4-BE49-F238E27FC236}">
                <a16:creationId xmlns:a16="http://schemas.microsoft.com/office/drawing/2014/main" id="{DD8F2B3A-F6E9-3083-8960-87D5746FB644}"/>
              </a:ext>
            </a:extLst>
          </p:cNvPr>
          <p:cNvSpPr>
            <a:spLocks noGrp="1"/>
          </p:cNvSpPr>
          <p:nvPr>
            <p:ph type="sldNum" sz="quarter" idx="12"/>
          </p:nvPr>
        </p:nvSpPr>
        <p:spPr/>
        <p:txBody>
          <a:bodyPr/>
          <a:lstStyle/>
          <a:p>
            <a:fld id="{3485D9CA-6DAA-4C3C-A3E2-EDEA918D5F89}" type="slidenum">
              <a:rPr lang="en-US" smtClean="0">
                <a:latin typeface="Calibri"/>
              </a:rPr>
              <a:pPr/>
              <a:t>10</a:t>
            </a:fld>
            <a:endParaRPr lang="en-US">
              <a:latin typeface="Calibri"/>
            </a:endParaRPr>
          </a:p>
        </p:txBody>
      </p:sp>
      <p:sp>
        <p:nvSpPr>
          <p:cNvPr id="12" name="Rectangle 3">
            <a:extLst>
              <a:ext uri="{FF2B5EF4-FFF2-40B4-BE49-F238E27FC236}">
                <a16:creationId xmlns:a16="http://schemas.microsoft.com/office/drawing/2014/main" id="{B2BC2AD5-EDD2-DD41-AFEB-E85A2BB5B842}"/>
              </a:ext>
            </a:extLst>
          </p:cNvPr>
          <p:cNvSpPr txBox="1">
            <a:spLocks noChangeArrowheads="1"/>
          </p:cNvSpPr>
          <p:nvPr/>
        </p:nvSpPr>
        <p:spPr>
          <a:xfrm>
            <a:off x="632152" y="1453242"/>
            <a:ext cx="10573730" cy="540475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Was early secondary-storage medium</a:t>
            </a:r>
          </a:p>
          <a:p>
            <a:pPr lvl="1" algn="just"/>
            <a:r>
              <a:rPr lang="en-US" dirty="0">
                <a:latin typeface="Arial" panose="020B0604020202020204" pitchFamily="34" charset="0"/>
                <a:cs typeface="Arial" panose="020B0604020202020204" pitchFamily="34" charset="0"/>
              </a:rPr>
              <a:t>Evolved from open spools to cartridges</a:t>
            </a:r>
          </a:p>
          <a:p>
            <a:pPr algn="just"/>
            <a:r>
              <a:rPr lang="en-US" dirty="0">
                <a:latin typeface="Arial" panose="020B0604020202020204" pitchFamily="34" charset="0"/>
                <a:cs typeface="Arial" panose="020B0604020202020204" pitchFamily="34" charset="0"/>
              </a:rPr>
              <a:t>Relatively permanent and holds large quantities of data</a:t>
            </a:r>
          </a:p>
          <a:p>
            <a:pPr algn="just"/>
            <a:r>
              <a:rPr lang="en-US" dirty="0">
                <a:latin typeface="Arial" panose="020B0604020202020204" pitchFamily="34" charset="0"/>
                <a:cs typeface="Arial" panose="020B0604020202020204" pitchFamily="34" charset="0"/>
              </a:rPr>
              <a:t>Access time slow</a:t>
            </a:r>
          </a:p>
          <a:p>
            <a:pPr algn="just"/>
            <a:r>
              <a:rPr lang="en-US" dirty="0">
                <a:latin typeface="Arial" panose="020B0604020202020204" pitchFamily="34" charset="0"/>
                <a:cs typeface="Arial" panose="020B0604020202020204" pitchFamily="34" charset="0"/>
              </a:rPr>
              <a:t>Random access ~1000 times slower than disk</a:t>
            </a:r>
          </a:p>
          <a:p>
            <a:pPr algn="just"/>
            <a:r>
              <a:rPr lang="en-US" dirty="0">
                <a:latin typeface="Arial" panose="020B0604020202020204" pitchFamily="34" charset="0"/>
                <a:cs typeface="Arial" panose="020B0604020202020204" pitchFamily="34" charset="0"/>
              </a:rPr>
              <a:t>Mainly used for backup, storage of infrequently-used data, transfer medium between systems</a:t>
            </a:r>
          </a:p>
          <a:p>
            <a:pPr algn="just"/>
            <a:r>
              <a:rPr lang="en-US" dirty="0">
                <a:latin typeface="Arial" panose="020B0604020202020204" pitchFamily="34" charset="0"/>
                <a:cs typeface="Arial" panose="020B0604020202020204" pitchFamily="34" charset="0"/>
              </a:rPr>
              <a:t>Kept in spool and wound or rewound past read-write head</a:t>
            </a:r>
          </a:p>
          <a:p>
            <a:pPr algn="just"/>
            <a:r>
              <a:rPr lang="en-US" dirty="0">
                <a:latin typeface="Arial" panose="020B0604020202020204" pitchFamily="34" charset="0"/>
                <a:cs typeface="Arial" panose="020B0604020202020204" pitchFamily="34" charset="0"/>
              </a:rPr>
              <a:t>Once data under head, transfer rates comparable to disk</a:t>
            </a:r>
          </a:p>
          <a:p>
            <a:pPr lvl="1" algn="just"/>
            <a:r>
              <a:rPr lang="en-US" dirty="0">
                <a:latin typeface="Arial" panose="020B0604020202020204" pitchFamily="34" charset="0"/>
                <a:cs typeface="Arial" panose="020B0604020202020204" pitchFamily="34" charset="0"/>
              </a:rPr>
              <a:t>140MB/sec and greater</a:t>
            </a:r>
          </a:p>
          <a:p>
            <a:pPr algn="just"/>
            <a:r>
              <a:rPr lang="en-US" dirty="0">
                <a:latin typeface="Arial" panose="020B0604020202020204" pitchFamily="34" charset="0"/>
                <a:cs typeface="Arial" panose="020B0604020202020204" pitchFamily="34" charset="0"/>
              </a:rPr>
              <a:t>200GB to 1.5TB typical storage</a:t>
            </a:r>
          </a:p>
          <a:p>
            <a:pPr algn="just"/>
            <a:r>
              <a:rPr lang="en-US" dirty="0">
                <a:latin typeface="Arial" panose="020B0604020202020204" pitchFamily="34" charset="0"/>
                <a:cs typeface="Arial" panose="020B0604020202020204" pitchFamily="34" charset="0"/>
              </a:rPr>
              <a:t>Common technologies are LTO-{3,4,5} and T10000</a:t>
            </a:r>
          </a:p>
        </p:txBody>
      </p:sp>
    </p:spTree>
    <p:custDataLst>
      <p:tags r:id="rId1"/>
    </p:custDataLst>
    <p:extLst>
      <p:ext uri="{BB962C8B-B14F-4D97-AF65-F5344CB8AC3E}">
        <p14:creationId xmlns:p14="http://schemas.microsoft.com/office/powerpoint/2010/main" val="35633194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3781D-ECDD-92D7-58FC-A55C020ABA12}"/>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03EB48DE-C9F9-8AC1-5496-B8E7CD60F32E}"/>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Disk Attachment</a:t>
            </a:r>
          </a:p>
        </p:txBody>
      </p:sp>
      <p:sp>
        <p:nvSpPr>
          <p:cNvPr id="3" name="Slide Number Placeholder 2">
            <a:extLst>
              <a:ext uri="{FF2B5EF4-FFF2-40B4-BE49-F238E27FC236}">
                <a16:creationId xmlns:a16="http://schemas.microsoft.com/office/drawing/2014/main" id="{EFC39B5F-6075-60CC-7261-6B7F54A05EA2}"/>
              </a:ext>
            </a:extLst>
          </p:cNvPr>
          <p:cNvSpPr>
            <a:spLocks noGrp="1"/>
          </p:cNvSpPr>
          <p:nvPr>
            <p:ph type="sldNum" sz="quarter" idx="12"/>
          </p:nvPr>
        </p:nvSpPr>
        <p:spPr/>
        <p:txBody>
          <a:bodyPr/>
          <a:lstStyle/>
          <a:p>
            <a:fld id="{3485D9CA-6DAA-4C3C-A3E2-EDEA918D5F89}" type="slidenum">
              <a:rPr lang="en-US">
                <a:latin typeface="Calibri"/>
              </a:rPr>
              <a:pPr/>
              <a:t>11</a:t>
            </a:fld>
            <a:endParaRPr lang="en-US">
              <a:latin typeface="Calibri"/>
            </a:endParaRPr>
          </a:p>
        </p:txBody>
      </p:sp>
      <p:sp>
        <p:nvSpPr>
          <p:cNvPr id="12" name="Rectangle 3">
            <a:extLst>
              <a:ext uri="{FF2B5EF4-FFF2-40B4-BE49-F238E27FC236}">
                <a16:creationId xmlns:a16="http://schemas.microsoft.com/office/drawing/2014/main" id="{3A7FEC1F-8021-DC6B-469F-B772039B1C5F}"/>
              </a:ext>
            </a:extLst>
          </p:cNvPr>
          <p:cNvSpPr txBox="1">
            <a:spLocks noChangeArrowheads="1"/>
          </p:cNvSpPr>
          <p:nvPr/>
        </p:nvSpPr>
        <p:spPr>
          <a:xfrm>
            <a:off x="632151" y="1453241"/>
            <a:ext cx="10743565" cy="557508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r>
              <a:rPr lang="en-US" altLang="en-US" dirty="0">
                <a:latin typeface="Arial" panose="020B0604020202020204" pitchFamily="34" charset="0"/>
                <a:cs typeface="Arial" panose="020B0604020202020204" pitchFamily="34" charset="0"/>
              </a:rPr>
              <a:t>Host-attached storage accessed through I/O ports talking to </a:t>
            </a:r>
            <a:r>
              <a:rPr lang="en-US" altLang="en-US" b="1" dirty="0">
                <a:solidFill>
                  <a:srgbClr val="FF0000"/>
                </a:solidFill>
                <a:latin typeface="Arial" panose="020B0604020202020204" pitchFamily="34" charset="0"/>
                <a:cs typeface="Arial" panose="020B0604020202020204" pitchFamily="34" charset="0"/>
              </a:rPr>
              <a:t>I/O busses</a:t>
            </a:r>
          </a:p>
          <a:p>
            <a:r>
              <a:rPr lang="en-US" altLang="en-US" dirty="0">
                <a:latin typeface="Arial" panose="020B0604020202020204" pitchFamily="34" charset="0"/>
                <a:cs typeface="Arial" panose="020B0604020202020204" pitchFamily="34" charset="0"/>
              </a:rPr>
              <a:t>Several busses available, including </a:t>
            </a:r>
            <a:r>
              <a:rPr lang="en-US" altLang="en-US" b="1" dirty="0">
                <a:solidFill>
                  <a:srgbClr val="FF0000"/>
                </a:solidFill>
                <a:latin typeface="Arial" panose="020B0604020202020204" pitchFamily="34" charset="0"/>
                <a:cs typeface="Arial" panose="020B0604020202020204" pitchFamily="34" charset="0"/>
              </a:rPr>
              <a:t>advanced technology attachment (ATA), serial ATA (SATA), </a:t>
            </a:r>
            <a:r>
              <a:rPr lang="en-US" altLang="en-US" b="1" dirty="0" err="1">
                <a:solidFill>
                  <a:srgbClr val="FF0000"/>
                </a:solidFill>
                <a:latin typeface="Arial" panose="020B0604020202020204" pitchFamily="34" charset="0"/>
                <a:cs typeface="Arial" panose="020B0604020202020204" pitchFamily="34" charset="0"/>
              </a:rPr>
              <a:t>eSATA</a:t>
            </a:r>
            <a:r>
              <a:rPr lang="en-US" altLang="en-US" b="1" dirty="0">
                <a:solidFill>
                  <a:srgbClr val="FF0000"/>
                </a:solidFill>
                <a:latin typeface="Arial" panose="020B0604020202020204" pitchFamily="34" charset="0"/>
                <a:cs typeface="Arial" panose="020B0604020202020204" pitchFamily="34" charset="0"/>
              </a:rPr>
              <a:t>, serial attached SCSI (SAS), universal serial bus (USB), </a:t>
            </a:r>
            <a:r>
              <a:rPr lang="en-US" altLang="en-US" dirty="0">
                <a:latin typeface="Arial" panose="020B0604020202020204" pitchFamily="34" charset="0"/>
                <a:cs typeface="Arial" panose="020B0604020202020204" pitchFamily="34" charset="0"/>
              </a:rPr>
              <a:t>and</a:t>
            </a:r>
            <a:r>
              <a:rPr lang="en-US" altLang="en-US" b="1" dirty="0">
                <a:solidFill>
                  <a:srgbClr val="FF0000"/>
                </a:solidFill>
                <a:latin typeface="Arial" panose="020B0604020202020204" pitchFamily="34" charset="0"/>
                <a:cs typeface="Arial" panose="020B0604020202020204" pitchFamily="34" charset="0"/>
              </a:rPr>
              <a:t> </a:t>
            </a:r>
            <a:r>
              <a:rPr lang="en-US" altLang="en-US" b="1" dirty="0" err="1">
                <a:solidFill>
                  <a:srgbClr val="FF0000"/>
                </a:solidFill>
                <a:latin typeface="Arial" panose="020B0604020202020204" pitchFamily="34" charset="0"/>
                <a:cs typeface="Arial" panose="020B0604020202020204" pitchFamily="34" charset="0"/>
              </a:rPr>
              <a:t>fibre</a:t>
            </a:r>
            <a:r>
              <a:rPr lang="en-US" altLang="en-US" b="1" dirty="0">
                <a:solidFill>
                  <a:srgbClr val="FF0000"/>
                </a:solidFill>
                <a:latin typeface="Arial" panose="020B0604020202020204" pitchFamily="34" charset="0"/>
                <a:cs typeface="Arial" panose="020B0604020202020204" pitchFamily="34" charset="0"/>
              </a:rPr>
              <a:t> channel (FC).</a:t>
            </a:r>
          </a:p>
          <a:p>
            <a:r>
              <a:rPr lang="en-US" altLang="en-US" dirty="0">
                <a:latin typeface="Arial" panose="020B0604020202020204" pitchFamily="34" charset="0"/>
                <a:cs typeface="Arial" panose="020B0604020202020204" pitchFamily="34" charset="0"/>
              </a:rPr>
              <a:t>Most common is SATA</a:t>
            </a:r>
          </a:p>
          <a:p>
            <a:r>
              <a:rPr lang="en-US" altLang="en-US" dirty="0">
                <a:latin typeface="Arial" panose="020B0604020202020204" pitchFamily="34" charset="0"/>
                <a:cs typeface="Arial" panose="020B0604020202020204" pitchFamily="34" charset="0"/>
              </a:rPr>
              <a:t>Because </a:t>
            </a:r>
            <a:r>
              <a:rPr lang="en-US" altLang="en-US">
                <a:latin typeface="Arial" panose="020B0604020202020204" pitchFamily="34" charset="0"/>
                <a:cs typeface="Arial" panose="020B0604020202020204" pitchFamily="34" charset="0"/>
              </a:rPr>
              <a:t>flash based </a:t>
            </a:r>
            <a:r>
              <a:rPr lang="en-US" altLang="en-US" dirty="0">
                <a:latin typeface="Arial" panose="020B0604020202020204" pitchFamily="34" charset="0"/>
                <a:cs typeface="Arial" panose="020B0604020202020204" pitchFamily="34" charset="0"/>
              </a:rPr>
              <a:t>NVM much faster than HDD, new fast interface for NVM </a:t>
            </a:r>
            <a:r>
              <a:rPr lang="en-US" altLang="en-US" b="1" dirty="0">
                <a:solidFill>
                  <a:srgbClr val="FF0000"/>
                </a:solidFill>
                <a:latin typeface="Arial" panose="020B0604020202020204" pitchFamily="34" charset="0"/>
                <a:cs typeface="Arial" panose="020B0604020202020204" pitchFamily="34" charset="0"/>
              </a:rPr>
              <a:t>called NVM express (</a:t>
            </a:r>
            <a:r>
              <a:rPr lang="en-US" altLang="en-US" b="1" dirty="0" err="1">
                <a:solidFill>
                  <a:srgbClr val="FF0000"/>
                </a:solidFill>
                <a:latin typeface="Arial" panose="020B0604020202020204" pitchFamily="34" charset="0"/>
                <a:cs typeface="Arial" panose="020B0604020202020204" pitchFamily="34" charset="0"/>
              </a:rPr>
              <a:t>NVMe</a:t>
            </a:r>
            <a:r>
              <a:rPr lang="en-US" altLang="en-US" b="1" dirty="0">
                <a:solidFill>
                  <a:srgbClr val="FF0000"/>
                </a:solidFill>
                <a:latin typeface="Arial" panose="020B0604020202020204" pitchFamily="34" charset="0"/>
                <a:cs typeface="Arial" panose="020B0604020202020204" pitchFamily="34" charset="0"/>
              </a:rPr>
              <a:t>)</a:t>
            </a:r>
            <a:r>
              <a:rPr lang="en-US" altLang="en-US" dirty="0">
                <a:latin typeface="Arial" panose="020B0604020202020204" pitchFamily="34" charset="0"/>
                <a:cs typeface="Arial" panose="020B0604020202020204" pitchFamily="34" charset="0"/>
              </a:rPr>
              <a:t>, connecting directly to PCI bus</a:t>
            </a:r>
          </a:p>
          <a:p>
            <a:r>
              <a:rPr lang="en-US" altLang="en-US" dirty="0">
                <a:latin typeface="Arial" panose="020B0604020202020204" pitchFamily="34" charset="0"/>
                <a:cs typeface="Arial" panose="020B0604020202020204" pitchFamily="34" charset="0"/>
              </a:rPr>
              <a:t>Data transfers on a bus carried out by special electronic processors called </a:t>
            </a:r>
            <a:r>
              <a:rPr lang="en-US" altLang="en-US" b="1" dirty="0">
                <a:solidFill>
                  <a:srgbClr val="FF0000"/>
                </a:solidFill>
                <a:latin typeface="Arial" panose="020B0604020202020204" pitchFamily="34" charset="0"/>
                <a:cs typeface="Arial" panose="020B0604020202020204" pitchFamily="34" charset="0"/>
              </a:rPr>
              <a:t>controllers</a:t>
            </a:r>
            <a:r>
              <a:rPr lang="en-US" altLang="en-US" dirty="0">
                <a:latin typeface="Arial" panose="020B0604020202020204" pitchFamily="34" charset="0"/>
                <a:cs typeface="Arial" panose="020B0604020202020204" pitchFamily="34" charset="0"/>
              </a:rPr>
              <a:t> (or </a:t>
            </a:r>
            <a:r>
              <a:rPr lang="en-US" altLang="en-US" b="1" dirty="0">
                <a:solidFill>
                  <a:srgbClr val="FF0000"/>
                </a:solidFill>
                <a:latin typeface="Arial" panose="020B0604020202020204" pitchFamily="34" charset="0"/>
                <a:cs typeface="Arial" panose="020B0604020202020204" pitchFamily="34" charset="0"/>
              </a:rPr>
              <a:t>host-bus adapters, HBAs</a:t>
            </a:r>
            <a:r>
              <a:rPr lang="en-US" altLang="en-US" dirty="0">
                <a:latin typeface="Arial" panose="020B0604020202020204" pitchFamily="34" charset="0"/>
                <a:cs typeface="Arial" panose="020B0604020202020204" pitchFamily="34" charset="0"/>
              </a:rPr>
              <a:t>)</a:t>
            </a:r>
          </a:p>
          <a:p>
            <a:r>
              <a:rPr lang="en-US" altLang="en-US" dirty="0">
                <a:latin typeface="Arial" panose="020B0604020202020204" pitchFamily="34" charset="0"/>
                <a:cs typeface="Arial" panose="020B0604020202020204" pitchFamily="34" charset="0"/>
              </a:rPr>
              <a:t>Host controller on the computer end of the bus, device controller on device end</a:t>
            </a:r>
          </a:p>
          <a:p>
            <a:r>
              <a:rPr lang="en-US" altLang="en-US" dirty="0">
                <a:latin typeface="Arial" panose="020B0604020202020204" pitchFamily="34" charset="0"/>
                <a:cs typeface="Arial" panose="020B0604020202020204" pitchFamily="34" charset="0"/>
              </a:rPr>
              <a:t>Computer places command on host controller, using memory-mapped I/O ports</a:t>
            </a:r>
          </a:p>
          <a:p>
            <a:pPr lvl="1"/>
            <a:r>
              <a:rPr lang="en-US" altLang="en-US" dirty="0">
                <a:latin typeface="Arial" panose="020B0604020202020204" pitchFamily="34" charset="0"/>
                <a:cs typeface="Arial" panose="020B0604020202020204" pitchFamily="34" charset="0"/>
              </a:rPr>
              <a:t>Host controller sends messages to device controller</a:t>
            </a:r>
          </a:p>
          <a:p>
            <a:pPr lvl="1"/>
            <a:r>
              <a:rPr lang="en-US" altLang="en-US" dirty="0">
                <a:latin typeface="Arial" panose="020B0604020202020204" pitchFamily="34" charset="0"/>
                <a:cs typeface="Arial" panose="020B0604020202020204" pitchFamily="34" charset="0"/>
              </a:rPr>
              <a:t>Data transferred via DMA between device and computer DRAM</a:t>
            </a:r>
          </a:p>
        </p:txBody>
      </p:sp>
    </p:spTree>
    <p:custDataLst>
      <p:tags r:id="rId1"/>
    </p:custDataLst>
    <p:extLst>
      <p:ext uri="{BB962C8B-B14F-4D97-AF65-F5344CB8AC3E}">
        <p14:creationId xmlns:p14="http://schemas.microsoft.com/office/powerpoint/2010/main" val="23214422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35C94-45DB-F6CE-6EBB-45F631676167}"/>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74013DA1-9677-B304-4539-C3B9414F51AA}"/>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Address Mapping</a:t>
            </a:r>
          </a:p>
        </p:txBody>
      </p:sp>
      <p:sp>
        <p:nvSpPr>
          <p:cNvPr id="3" name="Slide Number Placeholder 2">
            <a:extLst>
              <a:ext uri="{FF2B5EF4-FFF2-40B4-BE49-F238E27FC236}">
                <a16:creationId xmlns:a16="http://schemas.microsoft.com/office/drawing/2014/main" id="{37ED9EC1-EE50-8C5D-41D1-381CAB0A8A75}"/>
              </a:ext>
            </a:extLst>
          </p:cNvPr>
          <p:cNvSpPr>
            <a:spLocks noGrp="1"/>
          </p:cNvSpPr>
          <p:nvPr>
            <p:ph type="sldNum" sz="quarter" idx="12"/>
          </p:nvPr>
        </p:nvSpPr>
        <p:spPr/>
        <p:txBody>
          <a:bodyPr/>
          <a:lstStyle/>
          <a:p>
            <a:fld id="{3485D9CA-6DAA-4C3C-A3E2-EDEA918D5F89}" type="slidenum">
              <a:rPr lang="en-US">
                <a:latin typeface="Calibri"/>
              </a:rPr>
              <a:pPr/>
              <a:t>12</a:t>
            </a:fld>
            <a:endParaRPr lang="en-US">
              <a:latin typeface="Calibri"/>
            </a:endParaRPr>
          </a:p>
        </p:txBody>
      </p:sp>
      <p:sp>
        <p:nvSpPr>
          <p:cNvPr id="12" name="Rectangle 3">
            <a:extLst>
              <a:ext uri="{FF2B5EF4-FFF2-40B4-BE49-F238E27FC236}">
                <a16:creationId xmlns:a16="http://schemas.microsoft.com/office/drawing/2014/main" id="{210B7BDC-06B2-55BA-1FAF-87D27B375599}"/>
              </a:ext>
            </a:extLst>
          </p:cNvPr>
          <p:cNvSpPr txBox="1">
            <a:spLocks noChangeArrowheads="1"/>
          </p:cNvSpPr>
          <p:nvPr/>
        </p:nvSpPr>
        <p:spPr>
          <a:xfrm>
            <a:off x="632152" y="1453241"/>
            <a:ext cx="10555802" cy="557508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altLang="en-US" dirty="0">
                <a:latin typeface="Arial" panose="020B0604020202020204" pitchFamily="34" charset="0"/>
                <a:cs typeface="Arial" panose="020B0604020202020204" pitchFamily="34" charset="0"/>
              </a:rPr>
              <a:t>Disk drives are addressed as large 1-dimensional arrays of </a:t>
            </a:r>
            <a:r>
              <a:rPr lang="en-US" altLang="en-US" b="1" dirty="0">
                <a:solidFill>
                  <a:srgbClr val="FF0000"/>
                </a:solidFill>
                <a:latin typeface="Arial" panose="020B0604020202020204" pitchFamily="34" charset="0"/>
                <a:cs typeface="Arial" panose="020B0604020202020204" pitchFamily="34" charset="0"/>
              </a:rPr>
              <a:t>logical blocks</a:t>
            </a:r>
            <a:r>
              <a:rPr lang="en-US" altLang="en-US" dirty="0">
                <a:latin typeface="Arial" panose="020B0604020202020204" pitchFamily="34" charset="0"/>
                <a:cs typeface="Arial" panose="020B0604020202020204" pitchFamily="34" charset="0"/>
              </a:rPr>
              <a:t>, where the logical block is the smallest unit of transfer</a:t>
            </a:r>
          </a:p>
          <a:p>
            <a:pPr lvl="1" algn="just"/>
            <a:r>
              <a:rPr lang="en-US" altLang="en-US" dirty="0">
                <a:latin typeface="Arial" panose="020B0604020202020204" pitchFamily="34" charset="0"/>
                <a:cs typeface="Arial" panose="020B0604020202020204" pitchFamily="34" charset="0"/>
              </a:rPr>
              <a:t>Low-level formatting creates </a:t>
            </a:r>
            <a:r>
              <a:rPr lang="en-US" altLang="en-US" b="1" dirty="0">
                <a:solidFill>
                  <a:srgbClr val="FF0000"/>
                </a:solidFill>
                <a:latin typeface="Arial" panose="020B0604020202020204" pitchFamily="34" charset="0"/>
                <a:cs typeface="Arial" panose="020B0604020202020204" pitchFamily="34" charset="0"/>
              </a:rPr>
              <a:t>logical blocks </a:t>
            </a:r>
            <a:r>
              <a:rPr lang="en-US" altLang="en-US" dirty="0">
                <a:latin typeface="Arial" panose="020B0604020202020204" pitchFamily="34" charset="0"/>
                <a:cs typeface="Arial" panose="020B0604020202020204" pitchFamily="34" charset="0"/>
              </a:rPr>
              <a:t>on physical media</a:t>
            </a:r>
          </a:p>
          <a:p>
            <a:pPr algn="just"/>
            <a:endParaRPr lang="en-US" altLang="en-US" dirty="0">
              <a:latin typeface="Arial" panose="020B0604020202020204" pitchFamily="34" charset="0"/>
              <a:cs typeface="Arial" panose="020B0604020202020204" pitchFamily="34" charset="0"/>
            </a:endParaRPr>
          </a:p>
          <a:p>
            <a:pPr algn="just"/>
            <a:r>
              <a:rPr lang="en-US" altLang="en-US" dirty="0">
                <a:latin typeface="Arial" panose="020B0604020202020204" pitchFamily="34" charset="0"/>
                <a:cs typeface="Arial" panose="020B0604020202020204" pitchFamily="34" charset="0"/>
              </a:rPr>
              <a:t>The 1-dimensional array of logical blocks is mapped into the sectors of the disk sequentially</a:t>
            </a:r>
          </a:p>
          <a:p>
            <a:pPr lvl="1" algn="just"/>
            <a:r>
              <a:rPr lang="en-US" altLang="en-US" dirty="0">
                <a:latin typeface="Arial" panose="020B0604020202020204" pitchFamily="34" charset="0"/>
                <a:cs typeface="Arial" panose="020B0604020202020204" pitchFamily="34" charset="0"/>
              </a:rPr>
              <a:t>Sector 0 is the first sector of the first track on the outermost cylinder</a:t>
            </a:r>
          </a:p>
          <a:p>
            <a:pPr lvl="1" algn="just"/>
            <a:r>
              <a:rPr lang="en-US" altLang="en-US" dirty="0">
                <a:latin typeface="Arial" panose="020B0604020202020204" pitchFamily="34" charset="0"/>
                <a:cs typeface="Arial" panose="020B0604020202020204" pitchFamily="34" charset="0"/>
              </a:rPr>
              <a:t>Mapping proceeds in order through that track, then the rest of the tracks in that cylinder, and then through the rest of the cylinders from outermost to innermost</a:t>
            </a:r>
          </a:p>
          <a:p>
            <a:pPr lvl="1" algn="just"/>
            <a:r>
              <a:rPr lang="en-US" altLang="en-US" dirty="0">
                <a:latin typeface="Arial" panose="020B0604020202020204" pitchFamily="34" charset="0"/>
                <a:cs typeface="Arial" panose="020B0604020202020204" pitchFamily="34" charset="0"/>
              </a:rPr>
              <a:t>Logical to physical address should be easy</a:t>
            </a:r>
          </a:p>
          <a:p>
            <a:pPr lvl="2" algn="just"/>
            <a:r>
              <a:rPr lang="en-US" altLang="en-US" dirty="0">
                <a:latin typeface="Arial" panose="020B0604020202020204" pitchFamily="34" charset="0"/>
                <a:cs typeface="Arial" panose="020B0604020202020204" pitchFamily="34" charset="0"/>
              </a:rPr>
              <a:t>Except for bad sectors</a:t>
            </a:r>
          </a:p>
          <a:p>
            <a:pPr lvl="2" algn="just"/>
            <a:r>
              <a:rPr lang="en-US" altLang="en-US" dirty="0">
                <a:latin typeface="Arial" panose="020B0604020202020204" pitchFamily="34" charset="0"/>
                <a:cs typeface="Arial" panose="020B0604020202020204" pitchFamily="34" charset="0"/>
              </a:rPr>
              <a:t>Non-constant # of sectors per track via constant angular velocity</a:t>
            </a:r>
          </a:p>
        </p:txBody>
      </p:sp>
    </p:spTree>
    <p:custDataLst>
      <p:tags r:id="rId1"/>
    </p:custDataLst>
    <p:extLst>
      <p:ext uri="{BB962C8B-B14F-4D97-AF65-F5344CB8AC3E}">
        <p14:creationId xmlns:p14="http://schemas.microsoft.com/office/powerpoint/2010/main" val="739622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Disk Scheduling</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13</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0" y="1453242"/>
            <a:ext cx="10573732" cy="5404758"/>
          </a:xfrm>
          <a:prstGeom prst="rect">
            <a:avLst/>
          </a:prstGeom>
          <a:ln w="15875">
            <a:noFill/>
          </a:ln>
        </p:spPr>
        <p:txBody>
          <a:bodyPr vert="horz" lIns="91440" tIns="45720" rIns="91440" bIns="45720" rtlCol="0">
            <a:normAutofit lnSpcReduction="10000"/>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The operating system is responsible for using hardware efficiently — for the disk drives, this means having a fast access time and disk bandwidth</a:t>
            </a:r>
          </a:p>
          <a:p>
            <a:pPr algn="just"/>
            <a:r>
              <a:rPr lang="en-US" dirty="0">
                <a:latin typeface="Arial" panose="020B0604020202020204" pitchFamily="34" charset="0"/>
                <a:cs typeface="Arial" panose="020B0604020202020204" pitchFamily="34" charset="0"/>
              </a:rPr>
              <a:t>Minimize seek time</a:t>
            </a:r>
          </a:p>
          <a:p>
            <a:pPr algn="just"/>
            <a:r>
              <a:rPr lang="en-US" dirty="0">
                <a:latin typeface="Arial" panose="020B0604020202020204" pitchFamily="34" charset="0"/>
                <a:cs typeface="Arial" panose="020B0604020202020204" pitchFamily="34" charset="0"/>
              </a:rPr>
              <a:t>Seek time </a:t>
            </a:r>
            <a:r>
              <a:rPr lang="en-US" altLang="en-US" dirty="0">
                <a:sym typeface="Symbol" panose="05050102010706020507" pitchFamily="18" charset="2"/>
              </a:rPr>
              <a:t> </a:t>
            </a:r>
            <a:r>
              <a:rPr lang="en-US" dirty="0">
                <a:latin typeface="Arial" panose="020B0604020202020204" pitchFamily="34" charset="0"/>
                <a:cs typeface="Arial" panose="020B0604020202020204" pitchFamily="34" charset="0"/>
              </a:rPr>
              <a:t>seek distance</a:t>
            </a:r>
          </a:p>
          <a:p>
            <a:pPr algn="just"/>
            <a:r>
              <a:rPr lang="en-US" dirty="0">
                <a:latin typeface="Arial" panose="020B0604020202020204" pitchFamily="34" charset="0"/>
                <a:cs typeface="Arial" panose="020B0604020202020204" pitchFamily="34" charset="0"/>
              </a:rPr>
              <a:t>Disk </a:t>
            </a:r>
            <a:r>
              <a:rPr lang="en-US" b="1" dirty="0">
                <a:solidFill>
                  <a:srgbClr val="FF0000"/>
                </a:solidFill>
                <a:latin typeface="Arial" panose="020B0604020202020204" pitchFamily="34" charset="0"/>
                <a:cs typeface="Arial" panose="020B0604020202020204" pitchFamily="34" charset="0"/>
              </a:rPr>
              <a:t>bandwidth</a:t>
            </a:r>
            <a:r>
              <a:rPr lang="en-US" dirty="0">
                <a:latin typeface="Arial" panose="020B0604020202020204" pitchFamily="34" charset="0"/>
                <a:cs typeface="Arial" panose="020B0604020202020204" pitchFamily="34" charset="0"/>
              </a:rPr>
              <a:t> is the total number of bytes transferred, divided by the total time between the first request for service and the completion of the last transfer</a:t>
            </a:r>
          </a:p>
          <a:p>
            <a:pPr algn="just"/>
            <a:r>
              <a:rPr lang="en-US" dirty="0">
                <a:latin typeface="Arial" panose="020B0604020202020204" pitchFamily="34" charset="0"/>
                <a:cs typeface="Arial" panose="020B0604020202020204" pitchFamily="34" charset="0"/>
              </a:rPr>
              <a:t>There are many sources of disk I/O request</a:t>
            </a:r>
          </a:p>
          <a:p>
            <a:pPr lvl="1">
              <a:lnSpc>
                <a:spcPct val="90000"/>
              </a:lnSpc>
              <a:tabLst>
                <a:tab pos="2063592" algn="l"/>
                <a:tab pos="2568099" algn="l"/>
              </a:tabLst>
            </a:pPr>
            <a:r>
              <a:rPr lang="pt-BR" dirty="0">
                <a:latin typeface="Arial" panose="020B0604020202020204" pitchFamily="34" charset="0"/>
                <a:cs typeface="Arial" panose="020B0604020202020204" pitchFamily="34" charset="0"/>
              </a:rPr>
              <a:t>OS</a:t>
            </a:r>
          </a:p>
          <a:p>
            <a:pPr lvl="1">
              <a:lnSpc>
                <a:spcPct val="90000"/>
              </a:lnSpc>
              <a:tabLst>
                <a:tab pos="2063592" algn="l"/>
                <a:tab pos="2568099" algn="l"/>
              </a:tabLst>
            </a:pPr>
            <a:r>
              <a:rPr lang="pt-BR" dirty="0">
                <a:latin typeface="Arial" panose="020B0604020202020204" pitchFamily="34" charset="0"/>
                <a:cs typeface="Arial" panose="020B0604020202020204" pitchFamily="34" charset="0"/>
              </a:rPr>
              <a:t>System processes</a:t>
            </a:r>
          </a:p>
          <a:p>
            <a:pPr lvl="1">
              <a:lnSpc>
                <a:spcPct val="90000"/>
              </a:lnSpc>
              <a:tabLst>
                <a:tab pos="2063592" algn="l"/>
                <a:tab pos="2568099" algn="l"/>
              </a:tabLst>
            </a:pPr>
            <a:r>
              <a:rPr lang="pt-BR" dirty="0">
                <a:latin typeface="Arial" panose="020B0604020202020204" pitchFamily="34" charset="0"/>
                <a:cs typeface="Arial" panose="020B0604020202020204" pitchFamily="34" charset="0"/>
              </a:rPr>
              <a:t>Users' processes</a:t>
            </a:r>
          </a:p>
          <a:p>
            <a:pPr>
              <a:lnSpc>
                <a:spcPct val="90000"/>
              </a:lnSpc>
              <a:tabLst>
                <a:tab pos="2063592" algn="l"/>
                <a:tab pos="2568099" algn="l"/>
              </a:tabLst>
            </a:pPr>
            <a:r>
              <a:rPr lang="en-US" dirty="0">
                <a:latin typeface="Arial" panose="020B0604020202020204" pitchFamily="34" charset="0"/>
                <a:ea typeface="ＭＳ Ｐゴシック" pitchFamily="-84" charset="-128"/>
                <a:cs typeface="Arial" panose="020B0604020202020204" pitchFamily="34" charset="0"/>
                <a:sym typeface="Symbol" pitchFamily="18" charset="2"/>
              </a:rPr>
              <a:t>I/O request includes input or output mode, disk address, memory address, number of sectors to transfer</a:t>
            </a:r>
          </a:p>
          <a:p>
            <a:pPr>
              <a:lnSpc>
                <a:spcPct val="90000"/>
              </a:lnSpc>
              <a:tabLst>
                <a:tab pos="2063592" algn="l"/>
                <a:tab pos="2568099" algn="l"/>
              </a:tabLst>
            </a:pPr>
            <a:r>
              <a:rPr lang="en-US" dirty="0">
                <a:latin typeface="Arial" panose="020B0604020202020204" pitchFamily="34" charset="0"/>
                <a:ea typeface="ＭＳ Ｐゴシック" pitchFamily="-84" charset="-128"/>
                <a:cs typeface="Arial" panose="020B0604020202020204" pitchFamily="34" charset="0"/>
                <a:sym typeface="Symbol" pitchFamily="18" charset="2"/>
              </a:rPr>
              <a:t>OS maintains queue of requests, per disk or device</a:t>
            </a:r>
          </a:p>
          <a:p>
            <a:pPr>
              <a:lnSpc>
                <a:spcPct val="90000"/>
              </a:lnSpc>
              <a:tabLst>
                <a:tab pos="2063592" algn="l"/>
                <a:tab pos="2568099" algn="l"/>
              </a:tabLst>
            </a:pPr>
            <a:r>
              <a:rPr lang="en-US" dirty="0">
                <a:latin typeface="Arial" panose="020B0604020202020204" pitchFamily="34" charset="0"/>
                <a:ea typeface="ＭＳ Ｐゴシック" pitchFamily="-84" charset="-128"/>
                <a:cs typeface="Arial" panose="020B0604020202020204" pitchFamily="34" charset="0"/>
                <a:sym typeface="Symbol" pitchFamily="18" charset="2"/>
              </a:rPr>
              <a:t>Idle disk can immediately work on I/O request, busy disk means work must queue</a:t>
            </a:r>
          </a:p>
          <a:p>
            <a:pPr lvl="1">
              <a:lnSpc>
                <a:spcPct val="90000"/>
              </a:lnSpc>
              <a:tabLst>
                <a:tab pos="2063592" algn="l"/>
                <a:tab pos="2568099" algn="l"/>
              </a:tabLst>
            </a:pPr>
            <a:r>
              <a:rPr lang="en-US" dirty="0">
                <a:latin typeface="Arial" panose="020B0604020202020204" pitchFamily="34" charset="0"/>
                <a:ea typeface="ＭＳ Ｐゴシック" pitchFamily="-84" charset="-128"/>
                <a:cs typeface="Arial" panose="020B0604020202020204" pitchFamily="34" charset="0"/>
                <a:sym typeface="Symbol" pitchFamily="18" charset="2"/>
              </a:rPr>
              <a:t>Optimization algorithms only make sense when a queue exists</a:t>
            </a:r>
          </a:p>
        </p:txBody>
      </p:sp>
    </p:spTree>
    <p:custDataLst>
      <p:tags r:id="rId1"/>
    </p:custDataLst>
    <p:extLst>
      <p:ext uri="{BB962C8B-B14F-4D97-AF65-F5344CB8AC3E}">
        <p14:creationId xmlns:p14="http://schemas.microsoft.com/office/powerpoint/2010/main" val="3325734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9FD67-6823-4D6A-C363-EC4513853827}"/>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FD1B848B-16F1-6E15-06E4-57C3566623D4}"/>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Disk Scheduling</a:t>
            </a:r>
          </a:p>
        </p:txBody>
      </p:sp>
      <p:sp>
        <p:nvSpPr>
          <p:cNvPr id="3" name="Slide Number Placeholder 2">
            <a:extLst>
              <a:ext uri="{FF2B5EF4-FFF2-40B4-BE49-F238E27FC236}">
                <a16:creationId xmlns:a16="http://schemas.microsoft.com/office/drawing/2014/main" id="{8A3A10B8-F8B6-4F2E-D274-2ADE7E2D52B0}"/>
              </a:ext>
            </a:extLst>
          </p:cNvPr>
          <p:cNvSpPr>
            <a:spLocks noGrp="1"/>
          </p:cNvSpPr>
          <p:nvPr>
            <p:ph type="sldNum" sz="quarter" idx="12"/>
          </p:nvPr>
        </p:nvSpPr>
        <p:spPr/>
        <p:txBody>
          <a:bodyPr/>
          <a:lstStyle/>
          <a:p>
            <a:fld id="{3485D9CA-6DAA-4C3C-A3E2-EDEA918D5F89}" type="slidenum">
              <a:rPr lang="en-US">
                <a:latin typeface="Calibri"/>
              </a:rPr>
              <a:pPr/>
              <a:t>14</a:t>
            </a:fld>
            <a:endParaRPr lang="en-US">
              <a:latin typeface="Calibri"/>
            </a:endParaRPr>
          </a:p>
        </p:txBody>
      </p:sp>
      <p:sp>
        <p:nvSpPr>
          <p:cNvPr id="12" name="Rectangle 3">
            <a:extLst>
              <a:ext uri="{FF2B5EF4-FFF2-40B4-BE49-F238E27FC236}">
                <a16:creationId xmlns:a16="http://schemas.microsoft.com/office/drawing/2014/main" id="{F6D1D25D-9FE8-AD0A-BF78-5F1311F94330}"/>
              </a:ext>
            </a:extLst>
          </p:cNvPr>
          <p:cNvSpPr txBox="1">
            <a:spLocks noChangeArrowheads="1"/>
          </p:cNvSpPr>
          <p:nvPr/>
        </p:nvSpPr>
        <p:spPr>
          <a:xfrm>
            <a:off x="632151" y="1453242"/>
            <a:ext cx="10233074" cy="540475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Note that drive controllers have small buffers and can manage a queue of I/O requests (of varying “depth”)</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Several algorithms exist to schedule the servicing of disk I/O requests</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The analysis is true for one or many platters</a:t>
            </a:r>
          </a:p>
          <a:p>
            <a:pPr algn="just"/>
            <a:endParaRPr lang="en-US" sz="1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We illustrate scheduling algorithms with a request queue (0-199)</a:t>
            </a:r>
          </a:p>
          <a:p>
            <a:pPr algn="ctr">
              <a:buFont typeface="Monotype Sorts" pitchFamily="-84" charset="2"/>
              <a:buNone/>
              <a:tabLst>
                <a:tab pos="1708150" algn="l"/>
              </a:tabLst>
            </a:pPr>
            <a:endParaRPr lang="en-US" altLang="en-US" sz="2400" dirty="0">
              <a:latin typeface="Arial" panose="020B0604020202020204" pitchFamily="34" charset="0"/>
              <a:cs typeface="Arial" panose="020B0604020202020204" pitchFamily="34" charset="0"/>
            </a:endParaRPr>
          </a:p>
          <a:p>
            <a:pPr algn="ctr">
              <a:buFont typeface="Monotype Sorts" pitchFamily="-84" charset="2"/>
              <a:buNone/>
              <a:tabLst>
                <a:tab pos="1708150" algn="l"/>
              </a:tabLst>
            </a:pPr>
            <a:r>
              <a:rPr lang="en-US" altLang="en-US" sz="2400" dirty="0">
                <a:latin typeface="Arial" panose="020B0604020202020204" pitchFamily="34" charset="0"/>
                <a:cs typeface="Arial" panose="020B0604020202020204" pitchFamily="34" charset="0"/>
              </a:rPr>
              <a:t>Queue = 98, 183, 37, 122, 14, 124, 65, 67</a:t>
            </a:r>
          </a:p>
          <a:p>
            <a:pPr algn="ctr">
              <a:buFont typeface="Monotype Sorts" pitchFamily="-84" charset="2"/>
              <a:buNone/>
              <a:tabLst>
                <a:tab pos="1708150" algn="l"/>
              </a:tabLst>
            </a:pPr>
            <a:r>
              <a:rPr lang="en-US" altLang="en-US" sz="2400" dirty="0">
                <a:latin typeface="Arial" panose="020B0604020202020204" pitchFamily="34" charset="0"/>
                <a:cs typeface="Arial" panose="020B0604020202020204" pitchFamily="34" charset="0"/>
              </a:rPr>
              <a:t>(Head pointer starts at 53)</a:t>
            </a:r>
          </a:p>
          <a:p>
            <a:pPr marL="114300" indent="0" algn="just">
              <a:buNone/>
            </a:pPr>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3823847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83849-BA73-430D-7D55-3BA5025B4D5A}"/>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0DF1FEA3-8B61-D169-0AC2-F8EAA28A0568}"/>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Disk Scheduling (FCFS)</a:t>
            </a:r>
          </a:p>
        </p:txBody>
      </p:sp>
      <p:sp>
        <p:nvSpPr>
          <p:cNvPr id="3" name="Slide Number Placeholder 2">
            <a:extLst>
              <a:ext uri="{FF2B5EF4-FFF2-40B4-BE49-F238E27FC236}">
                <a16:creationId xmlns:a16="http://schemas.microsoft.com/office/drawing/2014/main" id="{DFD6BCD9-5348-CA9F-ED20-3AFB74B53FE2}"/>
              </a:ext>
            </a:extLst>
          </p:cNvPr>
          <p:cNvSpPr>
            <a:spLocks noGrp="1"/>
          </p:cNvSpPr>
          <p:nvPr>
            <p:ph type="sldNum" sz="quarter" idx="12"/>
          </p:nvPr>
        </p:nvSpPr>
        <p:spPr/>
        <p:txBody>
          <a:bodyPr/>
          <a:lstStyle/>
          <a:p>
            <a:fld id="{3485D9CA-6DAA-4C3C-A3E2-EDEA918D5F89}" type="slidenum">
              <a:rPr lang="en-US">
                <a:latin typeface="Calibri"/>
              </a:rPr>
              <a:pPr/>
              <a:t>15</a:t>
            </a:fld>
            <a:endParaRPr lang="en-US">
              <a:latin typeface="Calibri"/>
            </a:endParaRPr>
          </a:p>
        </p:txBody>
      </p:sp>
      <p:sp>
        <p:nvSpPr>
          <p:cNvPr id="12" name="Rectangle 3">
            <a:extLst>
              <a:ext uri="{FF2B5EF4-FFF2-40B4-BE49-F238E27FC236}">
                <a16:creationId xmlns:a16="http://schemas.microsoft.com/office/drawing/2014/main" id="{E4FA3267-8949-4CEC-4A10-BC11392EFB7C}"/>
              </a:ext>
            </a:extLst>
          </p:cNvPr>
          <p:cNvSpPr txBox="1">
            <a:spLocks noChangeArrowheads="1"/>
          </p:cNvSpPr>
          <p:nvPr/>
        </p:nvSpPr>
        <p:spPr>
          <a:xfrm>
            <a:off x="746692" y="1412516"/>
            <a:ext cx="9060698" cy="937695"/>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ctr">
              <a:buFont typeface="Monotype Sorts" pitchFamily="-84" charset="2"/>
              <a:buNone/>
              <a:tabLst>
                <a:tab pos="1708150" algn="l"/>
              </a:tabLst>
            </a:pPr>
            <a:r>
              <a:rPr lang="en-US" altLang="en-US" sz="2400" dirty="0">
                <a:latin typeface="Arial" panose="020B0604020202020204" pitchFamily="34" charset="0"/>
                <a:cs typeface="Arial" panose="020B0604020202020204" pitchFamily="34" charset="0"/>
              </a:rPr>
              <a:t>Queue = 98, 183, 37, 122, 14, 124, 65, 67</a:t>
            </a:r>
          </a:p>
          <a:p>
            <a:pPr algn="ctr">
              <a:buFont typeface="Monotype Sorts" pitchFamily="-84" charset="2"/>
              <a:buNone/>
              <a:tabLst>
                <a:tab pos="1708150" algn="l"/>
              </a:tabLst>
            </a:pPr>
            <a:r>
              <a:rPr lang="en-US" altLang="en-US" sz="2400" dirty="0">
                <a:latin typeface="Arial" panose="020B0604020202020204" pitchFamily="34" charset="0"/>
                <a:cs typeface="Arial" panose="020B0604020202020204" pitchFamily="34" charset="0"/>
              </a:rPr>
              <a:t>(Head pointer starts at 53)</a:t>
            </a:r>
          </a:p>
        </p:txBody>
      </p:sp>
      <p:pic>
        <p:nvPicPr>
          <p:cNvPr id="36867" name="Picture 6">
            <a:extLst>
              <a:ext uri="{FF2B5EF4-FFF2-40B4-BE49-F238E27FC236}">
                <a16:creationId xmlns:a16="http://schemas.microsoft.com/office/drawing/2014/main" id="{159710FD-52C7-4469-80D4-35B441FEA97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4180"/>
          <a:stretch/>
        </p:blipFill>
        <p:spPr bwMode="auto">
          <a:xfrm>
            <a:off x="2415895" y="2476500"/>
            <a:ext cx="5883564"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6" name="Text Box 4">
            <a:extLst>
              <a:ext uri="{FF2B5EF4-FFF2-40B4-BE49-F238E27FC236}">
                <a16:creationId xmlns:a16="http://schemas.microsoft.com/office/drawing/2014/main" id="{8097D222-759F-40FC-95D3-1A00440D5EE4}"/>
              </a:ext>
            </a:extLst>
          </p:cNvPr>
          <p:cNvSpPr txBox="1">
            <a:spLocks noChangeArrowheads="1"/>
          </p:cNvSpPr>
          <p:nvPr/>
        </p:nvSpPr>
        <p:spPr bwMode="auto">
          <a:xfrm>
            <a:off x="1821702" y="6269063"/>
            <a:ext cx="7124048" cy="430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nchor="ct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2200" dirty="0">
                <a:latin typeface="Arial" panose="020B0604020202020204" pitchFamily="34" charset="0"/>
                <a:cs typeface="Arial" panose="020B0604020202020204" pitchFamily="34" charset="0"/>
              </a:rPr>
              <a:t>Illustration shows total head movement of 640 cylinders</a:t>
            </a:r>
          </a:p>
        </p:txBody>
      </p:sp>
    </p:spTree>
    <p:custDataLst>
      <p:tags r:id="rId1"/>
    </p:custDataLst>
    <p:extLst>
      <p:ext uri="{BB962C8B-B14F-4D97-AF65-F5344CB8AC3E}">
        <p14:creationId xmlns:p14="http://schemas.microsoft.com/office/powerpoint/2010/main" val="1863269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8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EE5B9-6C5F-2761-A2DC-E8407DBEE846}"/>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1933A526-8F26-A5CC-0EE8-41CB54D4F41B}"/>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Disk Scheduling (SSTF)</a:t>
            </a:r>
          </a:p>
        </p:txBody>
      </p:sp>
      <p:sp>
        <p:nvSpPr>
          <p:cNvPr id="3" name="Slide Number Placeholder 2">
            <a:extLst>
              <a:ext uri="{FF2B5EF4-FFF2-40B4-BE49-F238E27FC236}">
                <a16:creationId xmlns:a16="http://schemas.microsoft.com/office/drawing/2014/main" id="{A60734D0-3CEA-AC44-6A8B-57B29DB08D20}"/>
              </a:ext>
            </a:extLst>
          </p:cNvPr>
          <p:cNvSpPr>
            <a:spLocks noGrp="1"/>
          </p:cNvSpPr>
          <p:nvPr>
            <p:ph type="sldNum" sz="quarter" idx="12"/>
          </p:nvPr>
        </p:nvSpPr>
        <p:spPr/>
        <p:txBody>
          <a:bodyPr/>
          <a:lstStyle/>
          <a:p>
            <a:fld id="{3485D9CA-6DAA-4C3C-A3E2-EDEA918D5F89}" type="slidenum">
              <a:rPr lang="en-US">
                <a:latin typeface="Calibri"/>
              </a:rPr>
              <a:pPr/>
              <a:t>16</a:t>
            </a:fld>
            <a:endParaRPr lang="en-US">
              <a:latin typeface="Calibri"/>
            </a:endParaRPr>
          </a:p>
        </p:txBody>
      </p:sp>
      <p:sp>
        <p:nvSpPr>
          <p:cNvPr id="12" name="Rectangle 3">
            <a:extLst>
              <a:ext uri="{FF2B5EF4-FFF2-40B4-BE49-F238E27FC236}">
                <a16:creationId xmlns:a16="http://schemas.microsoft.com/office/drawing/2014/main" id="{F1465889-F426-BE74-6C45-A547E20A6D2E}"/>
              </a:ext>
            </a:extLst>
          </p:cNvPr>
          <p:cNvSpPr txBox="1">
            <a:spLocks noChangeArrowheads="1"/>
          </p:cNvSpPr>
          <p:nvPr/>
        </p:nvSpPr>
        <p:spPr>
          <a:xfrm>
            <a:off x="746692" y="1412516"/>
            <a:ext cx="9060698" cy="937695"/>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ctr">
              <a:buFont typeface="Monotype Sorts" pitchFamily="-84" charset="2"/>
              <a:buNone/>
              <a:tabLst>
                <a:tab pos="1708150" algn="l"/>
              </a:tabLst>
            </a:pPr>
            <a:r>
              <a:rPr lang="en-US" altLang="en-US" sz="2400" dirty="0">
                <a:latin typeface="Arial" panose="020B0604020202020204" pitchFamily="34" charset="0"/>
                <a:cs typeface="Arial" panose="020B0604020202020204" pitchFamily="34" charset="0"/>
              </a:rPr>
              <a:t>Queue = 98, 183, 37, 122, 14, 124, 65, 67</a:t>
            </a:r>
          </a:p>
          <a:p>
            <a:pPr algn="ctr">
              <a:buFont typeface="Monotype Sorts" pitchFamily="-84" charset="2"/>
              <a:buNone/>
              <a:tabLst>
                <a:tab pos="1708150" algn="l"/>
              </a:tabLst>
            </a:pPr>
            <a:r>
              <a:rPr lang="en-US" altLang="en-US" sz="2400" dirty="0">
                <a:latin typeface="Arial" panose="020B0604020202020204" pitchFamily="34" charset="0"/>
                <a:cs typeface="Arial" panose="020B0604020202020204" pitchFamily="34" charset="0"/>
              </a:rPr>
              <a:t>(Head pointer starts at 53)</a:t>
            </a:r>
          </a:p>
        </p:txBody>
      </p:sp>
      <p:sp>
        <p:nvSpPr>
          <p:cNvPr id="36866" name="Text Box 4">
            <a:extLst>
              <a:ext uri="{FF2B5EF4-FFF2-40B4-BE49-F238E27FC236}">
                <a16:creationId xmlns:a16="http://schemas.microsoft.com/office/drawing/2014/main" id="{96A7127D-EF19-73AD-330C-1FD151C6924F}"/>
              </a:ext>
            </a:extLst>
          </p:cNvPr>
          <p:cNvSpPr txBox="1">
            <a:spLocks noChangeArrowheads="1"/>
          </p:cNvSpPr>
          <p:nvPr/>
        </p:nvSpPr>
        <p:spPr bwMode="auto">
          <a:xfrm>
            <a:off x="1821702" y="6269063"/>
            <a:ext cx="7124048" cy="430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nchor="ct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2200" dirty="0">
                <a:latin typeface="Arial" panose="020B0604020202020204" pitchFamily="34" charset="0"/>
                <a:cs typeface="Arial" panose="020B0604020202020204" pitchFamily="34" charset="0"/>
              </a:rPr>
              <a:t>Illustration shows total head movement of 236 cylinders</a:t>
            </a:r>
          </a:p>
        </p:txBody>
      </p:sp>
      <p:pic>
        <p:nvPicPr>
          <p:cNvPr id="2" name="Picture 4" descr="12">
            <a:extLst>
              <a:ext uri="{FF2B5EF4-FFF2-40B4-BE49-F238E27FC236}">
                <a16:creationId xmlns:a16="http://schemas.microsoft.com/office/drawing/2014/main" id="{34D246C2-0F5C-AD00-C1C6-EA630CB2009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4696"/>
          <a:stretch/>
        </p:blipFill>
        <p:spPr bwMode="auto">
          <a:xfrm>
            <a:off x="2429399" y="2480837"/>
            <a:ext cx="5866876"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1822719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8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B3FFB-BC7D-D00B-D9F0-F4530D7DC89C}"/>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C544543B-2B3A-759C-6E1C-E293F868BB93}"/>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Disk Scheduling (SCAN)</a:t>
            </a:r>
          </a:p>
        </p:txBody>
      </p:sp>
      <p:sp>
        <p:nvSpPr>
          <p:cNvPr id="3" name="Slide Number Placeholder 2">
            <a:extLst>
              <a:ext uri="{FF2B5EF4-FFF2-40B4-BE49-F238E27FC236}">
                <a16:creationId xmlns:a16="http://schemas.microsoft.com/office/drawing/2014/main" id="{CB8AD2CE-381B-E2AC-0FBC-4B6BC55ED16C}"/>
              </a:ext>
            </a:extLst>
          </p:cNvPr>
          <p:cNvSpPr>
            <a:spLocks noGrp="1"/>
          </p:cNvSpPr>
          <p:nvPr>
            <p:ph type="sldNum" sz="quarter" idx="12"/>
          </p:nvPr>
        </p:nvSpPr>
        <p:spPr/>
        <p:txBody>
          <a:bodyPr/>
          <a:lstStyle/>
          <a:p>
            <a:fld id="{3485D9CA-6DAA-4C3C-A3E2-EDEA918D5F89}" type="slidenum">
              <a:rPr lang="en-US">
                <a:latin typeface="Calibri"/>
              </a:rPr>
              <a:pPr/>
              <a:t>17</a:t>
            </a:fld>
            <a:endParaRPr lang="en-US">
              <a:latin typeface="Calibri"/>
            </a:endParaRPr>
          </a:p>
        </p:txBody>
      </p:sp>
      <p:sp>
        <p:nvSpPr>
          <p:cNvPr id="12" name="Rectangle 3">
            <a:extLst>
              <a:ext uri="{FF2B5EF4-FFF2-40B4-BE49-F238E27FC236}">
                <a16:creationId xmlns:a16="http://schemas.microsoft.com/office/drawing/2014/main" id="{D38A0CC3-6093-56EF-E112-36CCCFF4802E}"/>
              </a:ext>
            </a:extLst>
          </p:cNvPr>
          <p:cNvSpPr txBox="1">
            <a:spLocks noChangeArrowheads="1"/>
          </p:cNvSpPr>
          <p:nvPr/>
        </p:nvSpPr>
        <p:spPr>
          <a:xfrm>
            <a:off x="632150" y="1453242"/>
            <a:ext cx="10519943" cy="540475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The disk arm starting at one end of the disk, and moving toward the other end, servicing requests until it gets to the other end of the disk, where the head movement is reversed, and servicing continues.</a:t>
            </a:r>
          </a:p>
          <a:p>
            <a:pPr algn="just"/>
            <a:endParaRPr lang="en-US" b="1" dirty="0">
              <a:solidFill>
                <a:srgbClr val="FF0000"/>
              </a:solidFill>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SCAN algorithm</a:t>
            </a:r>
            <a:r>
              <a:rPr lang="en-US" dirty="0">
                <a:latin typeface="Arial" panose="020B0604020202020204" pitchFamily="34" charset="0"/>
                <a:cs typeface="Arial" panose="020B0604020202020204" pitchFamily="34" charset="0"/>
              </a:rPr>
              <a:t> sometimes also called </a:t>
            </a:r>
            <a:r>
              <a:rPr lang="en-US" b="1" dirty="0">
                <a:solidFill>
                  <a:srgbClr val="FF0000"/>
                </a:solidFill>
                <a:latin typeface="Arial" panose="020B0604020202020204" pitchFamily="34" charset="0"/>
                <a:cs typeface="Arial" panose="020B0604020202020204" pitchFamily="34" charset="0"/>
              </a:rPr>
              <a:t>elevator algorithm</a:t>
            </a:r>
            <a:r>
              <a:rPr lang="en-US" dirty="0">
                <a:latin typeface="Arial" panose="020B0604020202020204" pitchFamily="34" charset="0"/>
                <a:cs typeface="Arial" panose="020B0604020202020204" pitchFamily="34" charset="0"/>
              </a:rPr>
              <a:t> </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Request at the other end of the disk wait the longest.</a:t>
            </a:r>
          </a:p>
        </p:txBody>
      </p:sp>
    </p:spTree>
    <p:custDataLst>
      <p:tags r:id="rId1"/>
    </p:custDataLst>
    <p:extLst>
      <p:ext uri="{BB962C8B-B14F-4D97-AF65-F5344CB8AC3E}">
        <p14:creationId xmlns:p14="http://schemas.microsoft.com/office/powerpoint/2010/main" val="28886748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651BB-808F-4A11-2EF2-10153F4D1F8F}"/>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DE9CF103-53DE-56F8-313F-8AE632563E1E}"/>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Disk Scheduling (SCAN)</a:t>
            </a:r>
          </a:p>
        </p:txBody>
      </p:sp>
      <p:sp>
        <p:nvSpPr>
          <p:cNvPr id="3" name="Slide Number Placeholder 2">
            <a:extLst>
              <a:ext uri="{FF2B5EF4-FFF2-40B4-BE49-F238E27FC236}">
                <a16:creationId xmlns:a16="http://schemas.microsoft.com/office/drawing/2014/main" id="{2382BFB8-BC00-CE06-F44E-E9A98B53E043}"/>
              </a:ext>
            </a:extLst>
          </p:cNvPr>
          <p:cNvSpPr>
            <a:spLocks noGrp="1"/>
          </p:cNvSpPr>
          <p:nvPr>
            <p:ph type="sldNum" sz="quarter" idx="12"/>
          </p:nvPr>
        </p:nvSpPr>
        <p:spPr/>
        <p:txBody>
          <a:bodyPr/>
          <a:lstStyle/>
          <a:p>
            <a:fld id="{3485D9CA-6DAA-4C3C-A3E2-EDEA918D5F89}" type="slidenum">
              <a:rPr lang="en-US">
                <a:latin typeface="Calibri"/>
              </a:rPr>
              <a:pPr/>
              <a:t>18</a:t>
            </a:fld>
            <a:endParaRPr lang="en-US">
              <a:latin typeface="Calibri"/>
            </a:endParaRPr>
          </a:p>
        </p:txBody>
      </p:sp>
      <p:sp>
        <p:nvSpPr>
          <p:cNvPr id="12" name="Rectangle 3">
            <a:extLst>
              <a:ext uri="{FF2B5EF4-FFF2-40B4-BE49-F238E27FC236}">
                <a16:creationId xmlns:a16="http://schemas.microsoft.com/office/drawing/2014/main" id="{C9FF48D1-BDBB-A12A-01B5-1AFBAAA76C30}"/>
              </a:ext>
            </a:extLst>
          </p:cNvPr>
          <p:cNvSpPr txBox="1">
            <a:spLocks noChangeArrowheads="1"/>
          </p:cNvSpPr>
          <p:nvPr/>
        </p:nvSpPr>
        <p:spPr>
          <a:xfrm>
            <a:off x="746692" y="1412516"/>
            <a:ext cx="9060698" cy="937695"/>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ctr">
              <a:buFont typeface="Monotype Sorts" pitchFamily="-84" charset="2"/>
              <a:buNone/>
              <a:tabLst>
                <a:tab pos="1708150" algn="l"/>
              </a:tabLst>
            </a:pPr>
            <a:r>
              <a:rPr lang="en-US" altLang="en-US" sz="2400" dirty="0">
                <a:latin typeface="Arial" panose="020B0604020202020204" pitchFamily="34" charset="0"/>
                <a:cs typeface="Arial" panose="020B0604020202020204" pitchFamily="34" charset="0"/>
              </a:rPr>
              <a:t>Queue = 98, 183, 37, 122, 14, 124, 65, 67</a:t>
            </a:r>
          </a:p>
          <a:p>
            <a:pPr algn="ctr">
              <a:buFont typeface="Monotype Sorts" pitchFamily="-84" charset="2"/>
              <a:buNone/>
              <a:tabLst>
                <a:tab pos="1708150" algn="l"/>
              </a:tabLst>
            </a:pPr>
            <a:r>
              <a:rPr lang="en-US" altLang="en-US" sz="2400" dirty="0">
                <a:latin typeface="Arial" panose="020B0604020202020204" pitchFamily="34" charset="0"/>
                <a:cs typeface="Arial" panose="020B0604020202020204" pitchFamily="34" charset="0"/>
              </a:rPr>
              <a:t>(Head pointer starts at 53)</a:t>
            </a:r>
          </a:p>
        </p:txBody>
      </p:sp>
      <p:sp>
        <p:nvSpPr>
          <p:cNvPr id="36866" name="Text Box 4">
            <a:extLst>
              <a:ext uri="{FF2B5EF4-FFF2-40B4-BE49-F238E27FC236}">
                <a16:creationId xmlns:a16="http://schemas.microsoft.com/office/drawing/2014/main" id="{61EEB6DA-2977-3D14-10E4-2259325C5ABC}"/>
              </a:ext>
            </a:extLst>
          </p:cNvPr>
          <p:cNvSpPr txBox="1">
            <a:spLocks noChangeArrowheads="1"/>
          </p:cNvSpPr>
          <p:nvPr/>
        </p:nvSpPr>
        <p:spPr bwMode="auto">
          <a:xfrm>
            <a:off x="1821702" y="6269063"/>
            <a:ext cx="7124048" cy="430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nchor="ct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2200" dirty="0">
                <a:latin typeface="Arial" panose="020B0604020202020204" pitchFamily="34" charset="0"/>
                <a:cs typeface="Arial" panose="020B0604020202020204" pitchFamily="34" charset="0"/>
              </a:rPr>
              <a:t>Illustration shows total head movement of 236 cylinders</a:t>
            </a:r>
          </a:p>
        </p:txBody>
      </p:sp>
      <p:pic>
        <p:nvPicPr>
          <p:cNvPr id="38916" name="Picture 6">
            <a:extLst>
              <a:ext uri="{FF2B5EF4-FFF2-40B4-BE49-F238E27FC236}">
                <a16:creationId xmlns:a16="http://schemas.microsoft.com/office/drawing/2014/main" id="{C5EF5AA7-198C-89EB-F9A2-1003BDE75CD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924"/>
          <a:stretch/>
        </p:blipFill>
        <p:spPr bwMode="auto">
          <a:xfrm>
            <a:off x="2407529" y="2387600"/>
            <a:ext cx="5857143"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2561211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8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2752D-A845-7BFC-2DB4-F79A0F9A2D31}"/>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ED312893-0B1F-C377-D9CF-C9170AE92EB8}"/>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Disk Scheduling (C-SCAN)</a:t>
            </a:r>
          </a:p>
        </p:txBody>
      </p:sp>
      <p:sp>
        <p:nvSpPr>
          <p:cNvPr id="3" name="Slide Number Placeholder 2">
            <a:extLst>
              <a:ext uri="{FF2B5EF4-FFF2-40B4-BE49-F238E27FC236}">
                <a16:creationId xmlns:a16="http://schemas.microsoft.com/office/drawing/2014/main" id="{2CB776C9-E335-D21A-3DCD-8F4B7BD3C958}"/>
              </a:ext>
            </a:extLst>
          </p:cNvPr>
          <p:cNvSpPr>
            <a:spLocks noGrp="1"/>
          </p:cNvSpPr>
          <p:nvPr>
            <p:ph type="sldNum" sz="quarter" idx="12"/>
          </p:nvPr>
        </p:nvSpPr>
        <p:spPr/>
        <p:txBody>
          <a:bodyPr/>
          <a:lstStyle/>
          <a:p>
            <a:fld id="{3485D9CA-6DAA-4C3C-A3E2-EDEA918D5F89}" type="slidenum">
              <a:rPr lang="en-US">
                <a:latin typeface="Calibri"/>
              </a:rPr>
              <a:pPr/>
              <a:t>19</a:t>
            </a:fld>
            <a:endParaRPr lang="en-US">
              <a:latin typeface="Calibri"/>
            </a:endParaRPr>
          </a:p>
        </p:txBody>
      </p:sp>
      <p:sp>
        <p:nvSpPr>
          <p:cNvPr id="12" name="Rectangle 3">
            <a:extLst>
              <a:ext uri="{FF2B5EF4-FFF2-40B4-BE49-F238E27FC236}">
                <a16:creationId xmlns:a16="http://schemas.microsoft.com/office/drawing/2014/main" id="{D7A3087B-7C2E-8876-6F91-0B46C65A4237}"/>
              </a:ext>
            </a:extLst>
          </p:cNvPr>
          <p:cNvSpPr txBox="1">
            <a:spLocks noChangeArrowheads="1"/>
          </p:cNvSpPr>
          <p:nvPr/>
        </p:nvSpPr>
        <p:spPr>
          <a:xfrm>
            <a:off x="632150" y="1453242"/>
            <a:ext cx="10376509" cy="540475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Provides a more uniform wait time than SCAN</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Head moves from one end of the disk to the other, servicing requests as it goes</a:t>
            </a:r>
          </a:p>
          <a:p>
            <a:pPr lvl="1" algn="just"/>
            <a:r>
              <a:rPr lang="en-US" dirty="0">
                <a:latin typeface="Arial" panose="020B0604020202020204" pitchFamily="34" charset="0"/>
                <a:cs typeface="Arial" panose="020B0604020202020204" pitchFamily="34" charset="0"/>
              </a:rPr>
              <a:t>When it reaches the other end, however, it immediately returns to the beginning of the disk, without servicing any requests on the return trip</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Treats the cylinders as a circular list that wraps around from the last cylinder to the first one</a:t>
            </a:r>
            <a:endParaRPr lang="en-US" b="1" dirty="0">
              <a:solidFill>
                <a:srgbClr val="FF0000"/>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4887396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0AE4E-0212-67CF-2B13-77304D1EBF9B}"/>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294D23F9-EB3D-CD8B-373D-7270DE81BDEA}"/>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Disk Scheduling (C-SCAN)</a:t>
            </a:r>
          </a:p>
        </p:txBody>
      </p:sp>
      <p:sp>
        <p:nvSpPr>
          <p:cNvPr id="3" name="Slide Number Placeholder 2">
            <a:extLst>
              <a:ext uri="{FF2B5EF4-FFF2-40B4-BE49-F238E27FC236}">
                <a16:creationId xmlns:a16="http://schemas.microsoft.com/office/drawing/2014/main" id="{2D7DD494-FD8C-460A-6D25-932049794244}"/>
              </a:ext>
            </a:extLst>
          </p:cNvPr>
          <p:cNvSpPr>
            <a:spLocks noGrp="1"/>
          </p:cNvSpPr>
          <p:nvPr>
            <p:ph type="sldNum" sz="quarter" idx="12"/>
          </p:nvPr>
        </p:nvSpPr>
        <p:spPr/>
        <p:txBody>
          <a:bodyPr/>
          <a:lstStyle/>
          <a:p>
            <a:fld id="{3485D9CA-6DAA-4C3C-A3E2-EDEA918D5F89}" type="slidenum">
              <a:rPr lang="en-US">
                <a:latin typeface="Calibri"/>
              </a:rPr>
              <a:pPr/>
              <a:t>20</a:t>
            </a:fld>
            <a:endParaRPr lang="en-US">
              <a:latin typeface="Calibri"/>
            </a:endParaRPr>
          </a:p>
        </p:txBody>
      </p:sp>
      <p:sp>
        <p:nvSpPr>
          <p:cNvPr id="12" name="Rectangle 3">
            <a:extLst>
              <a:ext uri="{FF2B5EF4-FFF2-40B4-BE49-F238E27FC236}">
                <a16:creationId xmlns:a16="http://schemas.microsoft.com/office/drawing/2014/main" id="{4572DF5D-CA07-510C-F2A3-5EE4AB061409}"/>
              </a:ext>
            </a:extLst>
          </p:cNvPr>
          <p:cNvSpPr txBox="1">
            <a:spLocks noChangeArrowheads="1"/>
          </p:cNvSpPr>
          <p:nvPr/>
        </p:nvSpPr>
        <p:spPr>
          <a:xfrm>
            <a:off x="746692" y="1412516"/>
            <a:ext cx="9060698" cy="937695"/>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ctr">
              <a:buFont typeface="Monotype Sorts" pitchFamily="-84" charset="2"/>
              <a:buNone/>
              <a:tabLst>
                <a:tab pos="1708150" algn="l"/>
              </a:tabLst>
            </a:pPr>
            <a:r>
              <a:rPr lang="en-US" altLang="en-US" sz="2400" dirty="0">
                <a:latin typeface="Arial" panose="020B0604020202020204" pitchFamily="34" charset="0"/>
                <a:cs typeface="Arial" panose="020B0604020202020204" pitchFamily="34" charset="0"/>
              </a:rPr>
              <a:t>Queue = 98, 183, 37, 122, 14, 124, 65, 67</a:t>
            </a:r>
          </a:p>
          <a:p>
            <a:pPr algn="ctr">
              <a:buFont typeface="Monotype Sorts" pitchFamily="-84" charset="2"/>
              <a:buNone/>
              <a:tabLst>
                <a:tab pos="1708150" algn="l"/>
              </a:tabLst>
            </a:pPr>
            <a:r>
              <a:rPr lang="en-US" altLang="en-US" sz="2400" dirty="0">
                <a:latin typeface="Arial" panose="020B0604020202020204" pitchFamily="34" charset="0"/>
                <a:cs typeface="Arial" panose="020B0604020202020204" pitchFamily="34" charset="0"/>
              </a:rPr>
              <a:t>(Head pointer starts at 53)</a:t>
            </a:r>
          </a:p>
        </p:txBody>
      </p:sp>
      <p:sp>
        <p:nvSpPr>
          <p:cNvPr id="36866" name="Text Box 4">
            <a:extLst>
              <a:ext uri="{FF2B5EF4-FFF2-40B4-BE49-F238E27FC236}">
                <a16:creationId xmlns:a16="http://schemas.microsoft.com/office/drawing/2014/main" id="{BF365759-B201-E670-074B-FD3FB6B8B3BD}"/>
              </a:ext>
            </a:extLst>
          </p:cNvPr>
          <p:cNvSpPr txBox="1">
            <a:spLocks noChangeArrowheads="1"/>
          </p:cNvSpPr>
          <p:nvPr/>
        </p:nvSpPr>
        <p:spPr bwMode="auto">
          <a:xfrm>
            <a:off x="1821702" y="6269063"/>
            <a:ext cx="7124048" cy="430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nchor="ct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2200" dirty="0">
                <a:latin typeface="Arial" panose="020B0604020202020204" pitchFamily="34" charset="0"/>
                <a:cs typeface="Arial" panose="020B0604020202020204" pitchFamily="34" charset="0"/>
              </a:rPr>
              <a:t>Illustration shows total head movement of 382 cylinders</a:t>
            </a:r>
          </a:p>
        </p:txBody>
      </p:sp>
      <p:pic>
        <p:nvPicPr>
          <p:cNvPr id="2" name="Picture 4">
            <a:extLst>
              <a:ext uri="{FF2B5EF4-FFF2-40B4-BE49-F238E27FC236}">
                <a16:creationId xmlns:a16="http://schemas.microsoft.com/office/drawing/2014/main" id="{1BC9A7F7-AEC0-A1E4-E485-43A2DC9C078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06" t="16464" r="925" b="3730"/>
          <a:stretch/>
        </p:blipFill>
        <p:spPr bwMode="auto">
          <a:xfrm>
            <a:off x="2428028" y="2387600"/>
            <a:ext cx="5877315"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4197751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8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CA6DC-D747-7B63-7C93-2424532AFEF1}"/>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2FF843F9-0BA4-D42D-17C4-740E86D778FD}"/>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Disk Scheduling (LOOK and C-LOOK)</a:t>
            </a:r>
          </a:p>
        </p:txBody>
      </p:sp>
      <p:sp>
        <p:nvSpPr>
          <p:cNvPr id="3" name="Slide Number Placeholder 2">
            <a:extLst>
              <a:ext uri="{FF2B5EF4-FFF2-40B4-BE49-F238E27FC236}">
                <a16:creationId xmlns:a16="http://schemas.microsoft.com/office/drawing/2014/main" id="{7D9FB504-BE01-6532-D9B5-85492582ABDC}"/>
              </a:ext>
            </a:extLst>
          </p:cNvPr>
          <p:cNvSpPr>
            <a:spLocks noGrp="1"/>
          </p:cNvSpPr>
          <p:nvPr>
            <p:ph type="sldNum" sz="quarter" idx="12"/>
          </p:nvPr>
        </p:nvSpPr>
        <p:spPr/>
        <p:txBody>
          <a:bodyPr/>
          <a:lstStyle/>
          <a:p>
            <a:fld id="{3485D9CA-6DAA-4C3C-A3E2-EDEA918D5F89}" type="slidenum">
              <a:rPr lang="en-US">
                <a:latin typeface="Calibri"/>
              </a:rPr>
              <a:pPr/>
              <a:t>21</a:t>
            </a:fld>
            <a:endParaRPr lang="en-US">
              <a:latin typeface="Calibri"/>
            </a:endParaRPr>
          </a:p>
        </p:txBody>
      </p:sp>
      <p:sp>
        <p:nvSpPr>
          <p:cNvPr id="12" name="Rectangle 3">
            <a:extLst>
              <a:ext uri="{FF2B5EF4-FFF2-40B4-BE49-F238E27FC236}">
                <a16:creationId xmlns:a16="http://schemas.microsoft.com/office/drawing/2014/main" id="{DD744410-6A6B-62B0-59FF-3900C564A50E}"/>
              </a:ext>
            </a:extLst>
          </p:cNvPr>
          <p:cNvSpPr txBox="1">
            <a:spLocks noChangeArrowheads="1"/>
          </p:cNvSpPr>
          <p:nvPr/>
        </p:nvSpPr>
        <p:spPr>
          <a:xfrm>
            <a:off x="632150" y="1453242"/>
            <a:ext cx="10519943" cy="540475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LOOK</a:t>
            </a:r>
            <a:r>
              <a:rPr lang="en-US" dirty="0">
                <a:latin typeface="Arial" panose="020B0604020202020204" pitchFamily="34" charset="0"/>
                <a:cs typeface="Arial" panose="020B0604020202020204" pitchFamily="34" charset="0"/>
              </a:rPr>
              <a:t>, a version of </a:t>
            </a:r>
            <a:r>
              <a:rPr lang="en-US" b="1" dirty="0">
                <a:solidFill>
                  <a:srgbClr val="FF0000"/>
                </a:solidFill>
                <a:latin typeface="Arial" panose="020B0604020202020204" pitchFamily="34" charset="0"/>
                <a:cs typeface="Arial" panose="020B0604020202020204" pitchFamily="34" charset="0"/>
              </a:rPr>
              <a:t>SCAN, C-LOOK </a:t>
            </a:r>
            <a:r>
              <a:rPr lang="en-US" dirty="0">
                <a:latin typeface="Arial" panose="020B0604020202020204" pitchFamily="34" charset="0"/>
                <a:cs typeface="Arial" panose="020B0604020202020204" pitchFamily="34" charset="0"/>
              </a:rPr>
              <a:t>a version of </a:t>
            </a:r>
            <a:r>
              <a:rPr lang="en-US" b="1" dirty="0">
                <a:solidFill>
                  <a:srgbClr val="FF0000"/>
                </a:solidFill>
                <a:latin typeface="Arial" panose="020B0604020202020204" pitchFamily="34" charset="0"/>
                <a:cs typeface="Arial" panose="020B0604020202020204" pitchFamily="34" charset="0"/>
              </a:rPr>
              <a:t>C-SCAN. </a:t>
            </a:r>
            <a:r>
              <a:rPr lang="en-US" dirty="0">
                <a:latin typeface="Arial" panose="020B0604020202020204" pitchFamily="34" charset="0"/>
                <a:cs typeface="Arial" panose="020B0604020202020204" pitchFamily="34" charset="0"/>
              </a:rPr>
              <a:t>Arm only goes as far as the last request in each direction, then reverses direction immediately, without first going all the way to the end of the disk </a:t>
            </a:r>
          </a:p>
          <a:p>
            <a:pPr algn="just"/>
            <a:endParaRPr lang="en-US" sz="1000" dirty="0">
              <a:latin typeface="Arial" panose="020B0604020202020204" pitchFamily="34" charset="0"/>
              <a:cs typeface="Arial" panose="020B0604020202020204" pitchFamily="34" charset="0"/>
            </a:endParaRPr>
          </a:p>
          <a:p>
            <a:pPr algn="ctr">
              <a:buFont typeface="Monotype Sorts" pitchFamily="-84" charset="2"/>
              <a:buNone/>
              <a:tabLst>
                <a:tab pos="1708150" algn="l"/>
              </a:tabLst>
            </a:pPr>
            <a:r>
              <a:rPr lang="en-US" altLang="en-US" sz="2400" dirty="0">
                <a:latin typeface="Arial" panose="020B0604020202020204" pitchFamily="34" charset="0"/>
                <a:cs typeface="Arial" panose="020B0604020202020204" pitchFamily="34" charset="0"/>
              </a:rPr>
              <a:t>98, 183, 37, 122, 14, 124, 65, 67		(Head pointer 53)</a:t>
            </a:r>
          </a:p>
          <a:p>
            <a:pPr marL="114300" indent="0" algn="just">
              <a:buNone/>
            </a:pPr>
            <a:endParaRPr lang="en-US" dirty="0">
              <a:latin typeface="Arial" panose="020B0604020202020204" pitchFamily="34" charset="0"/>
              <a:cs typeface="Arial" panose="020B0604020202020204" pitchFamily="34" charset="0"/>
            </a:endParaRPr>
          </a:p>
        </p:txBody>
      </p:sp>
      <p:pic>
        <p:nvPicPr>
          <p:cNvPr id="43012" name="Picture 4" descr="12">
            <a:extLst>
              <a:ext uri="{FF2B5EF4-FFF2-40B4-BE49-F238E27FC236}">
                <a16:creationId xmlns:a16="http://schemas.microsoft.com/office/drawing/2014/main" id="{BAB11F87-093D-B8C0-619C-D3EC8DF3895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4542"/>
          <a:stretch/>
        </p:blipFill>
        <p:spPr bwMode="auto">
          <a:xfrm>
            <a:off x="2919869" y="3378200"/>
            <a:ext cx="4879426" cy="3252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28294614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D2062-E981-9BF0-B7BE-BFC7273E2BF6}"/>
            </a:ext>
          </a:extLst>
        </p:cNvPr>
        <p:cNvGrpSpPr/>
        <p:nvPr/>
      </p:nvGrpSpPr>
      <p:grpSpPr>
        <a:xfrm>
          <a:off x="0" y="0"/>
          <a:ext cx="0" cy="0"/>
          <a:chOff x="0" y="0"/>
          <a:chExt cx="0" cy="0"/>
        </a:xfrm>
      </p:grpSpPr>
      <p:sp>
        <p:nvSpPr>
          <p:cNvPr id="3074" name="Rectangle 2">
            <a:extLst>
              <a:ext uri="{FF2B5EF4-FFF2-40B4-BE49-F238E27FC236}">
                <a16:creationId xmlns:a16="http://schemas.microsoft.com/office/drawing/2014/main" id="{63F9C99D-D9DA-72CE-968A-D137F13A2CE9}"/>
              </a:ext>
            </a:extLst>
          </p:cNvPr>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Selecting a Disk-Scheduling Algorithm</a:t>
            </a:r>
          </a:p>
        </p:txBody>
      </p:sp>
      <p:sp>
        <p:nvSpPr>
          <p:cNvPr id="3" name="Slide Number Placeholder 2">
            <a:extLst>
              <a:ext uri="{FF2B5EF4-FFF2-40B4-BE49-F238E27FC236}">
                <a16:creationId xmlns:a16="http://schemas.microsoft.com/office/drawing/2014/main" id="{2A466741-2CEB-7BF4-C903-3B62F7D2C73E}"/>
              </a:ext>
            </a:extLst>
          </p:cNvPr>
          <p:cNvSpPr>
            <a:spLocks noGrp="1"/>
          </p:cNvSpPr>
          <p:nvPr>
            <p:ph type="sldNum" sz="quarter" idx="12"/>
          </p:nvPr>
        </p:nvSpPr>
        <p:spPr/>
        <p:txBody>
          <a:bodyPr/>
          <a:lstStyle/>
          <a:p>
            <a:fld id="{3485D9CA-6DAA-4C3C-A3E2-EDEA918D5F89}" type="slidenum">
              <a:rPr lang="en-US">
                <a:latin typeface="Calibri"/>
              </a:rPr>
              <a:pPr/>
              <a:t>22</a:t>
            </a:fld>
            <a:endParaRPr lang="en-US">
              <a:latin typeface="Calibri"/>
            </a:endParaRPr>
          </a:p>
        </p:txBody>
      </p:sp>
      <p:sp>
        <p:nvSpPr>
          <p:cNvPr id="12" name="Rectangle 3">
            <a:extLst>
              <a:ext uri="{FF2B5EF4-FFF2-40B4-BE49-F238E27FC236}">
                <a16:creationId xmlns:a16="http://schemas.microsoft.com/office/drawing/2014/main" id="{ECD3AB43-8CE7-6215-B602-302A74C4E66B}"/>
              </a:ext>
            </a:extLst>
          </p:cNvPr>
          <p:cNvSpPr txBox="1">
            <a:spLocks noChangeArrowheads="1"/>
          </p:cNvSpPr>
          <p:nvPr/>
        </p:nvSpPr>
        <p:spPr>
          <a:xfrm>
            <a:off x="632150" y="1453242"/>
            <a:ext cx="10519943" cy="540475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SSTF is common and has a natural appeal</a:t>
            </a:r>
          </a:p>
          <a:p>
            <a:pPr algn="just"/>
            <a:r>
              <a:rPr lang="en-US" dirty="0">
                <a:latin typeface="Arial" panose="020B0604020202020204" pitchFamily="34" charset="0"/>
                <a:cs typeface="Arial" panose="020B0604020202020204" pitchFamily="34" charset="0"/>
              </a:rPr>
              <a:t>SCAN and C-SCAN perform better for systems that place heavy load on the disk</a:t>
            </a:r>
          </a:p>
          <a:p>
            <a:pPr lvl="1" algn="just"/>
            <a:r>
              <a:rPr lang="en-US" dirty="0">
                <a:latin typeface="Arial" panose="020B0604020202020204" pitchFamily="34" charset="0"/>
                <a:cs typeface="Arial" panose="020B0604020202020204" pitchFamily="34" charset="0"/>
              </a:rPr>
              <a:t>Less starvation, but still possible</a:t>
            </a:r>
          </a:p>
          <a:p>
            <a:pPr algn="just"/>
            <a:r>
              <a:rPr lang="en-US" dirty="0">
                <a:latin typeface="Arial" panose="020B0604020202020204" pitchFamily="34" charset="0"/>
                <a:cs typeface="Arial" panose="020B0604020202020204" pitchFamily="34" charset="0"/>
              </a:rPr>
              <a:t>Performance depends on the number and types of requests</a:t>
            </a:r>
          </a:p>
          <a:p>
            <a:pPr algn="just"/>
            <a:r>
              <a:rPr lang="en-US" dirty="0">
                <a:latin typeface="Arial" panose="020B0604020202020204" pitchFamily="34" charset="0"/>
                <a:cs typeface="Arial" panose="020B0604020202020204" pitchFamily="34" charset="0"/>
              </a:rPr>
              <a:t>Requests for disk service can be influenced by the file-allocation method</a:t>
            </a:r>
          </a:p>
          <a:p>
            <a:pPr lvl="1" algn="just"/>
            <a:r>
              <a:rPr lang="en-US" dirty="0">
                <a:latin typeface="Arial" panose="020B0604020202020204" pitchFamily="34" charset="0"/>
                <a:cs typeface="Arial" panose="020B0604020202020204" pitchFamily="34" charset="0"/>
              </a:rPr>
              <a:t>And metadata layout</a:t>
            </a:r>
          </a:p>
          <a:p>
            <a:pPr algn="just"/>
            <a:r>
              <a:rPr lang="en-US" dirty="0">
                <a:latin typeface="Arial" panose="020B0604020202020204" pitchFamily="34" charset="0"/>
                <a:cs typeface="Arial" panose="020B0604020202020204" pitchFamily="34" charset="0"/>
              </a:rPr>
              <a:t>The disk-scheduling algorithm should be written as a separate module of the operating system, allowing it to be replaced with a different algorithm if necessary</a:t>
            </a:r>
          </a:p>
          <a:p>
            <a:pPr algn="just"/>
            <a:r>
              <a:rPr lang="en-US" dirty="0">
                <a:latin typeface="Arial" panose="020B0604020202020204" pitchFamily="34" charset="0"/>
                <a:cs typeface="Arial" panose="020B0604020202020204" pitchFamily="34" charset="0"/>
              </a:rPr>
              <a:t>Either SSTF or LOOK is a reasonable choice for the default algorithm</a:t>
            </a:r>
          </a:p>
          <a:p>
            <a:pPr algn="just"/>
            <a:r>
              <a:rPr lang="en-US" dirty="0">
                <a:latin typeface="Arial" panose="020B0604020202020204" pitchFamily="34" charset="0"/>
                <a:cs typeface="Arial" panose="020B0604020202020204" pitchFamily="34" charset="0"/>
              </a:rPr>
              <a:t>What about rotational latency?</a:t>
            </a:r>
          </a:p>
          <a:p>
            <a:pPr lvl="1" algn="just"/>
            <a:r>
              <a:rPr lang="en-US" dirty="0">
                <a:latin typeface="Arial" panose="020B0604020202020204" pitchFamily="34" charset="0"/>
                <a:cs typeface="Arial" panose="020B0604020202020204" pitchFamily="34" charset="0"/>
              </a:rPr>
              <a:t>Difficult for OS to calculate</a:t>
            </a:r>
          </a:p>
          <a:p>
            <a:pPr algn="just"/>
            <a:r>
              <a:rPr lang="en-US" dirty="0">
                <a:latin typeface="Arial" panose="020B0604020202020204" pitchFamily="34" charset="0"/>
                <a:cs typeface="Arial" panose="020B0604020202020204" pitchFamily="34" charset="0"/>
              </a:rPr>
              <a:t>How does disk-based queueing effect OS queue ordering efforts?</a:t>
            </a:r>
          </a:p>
          <a:p>
            <a:pPr lvl="1" algn="just"/>
            <a:endParaRPr lang="en-US" dirty="0">
              <a:latin typeface="Arial" panose="020B0604020202020204" pitchFamily="34" charset="0"/>
              <a:ea typeface="ＭＳ Ｐゴシック" pitchFamily="-84" charset="-128"/>
              <a:cs typeface="Arial" panose="020B0604020202020204" pitchFamily="34" charset="0"/>
              <a:sym typeface="Symbol" pitchFamily="18" charset="2"/>
            </a:endParaRPr>
          </a:p>
        </p:txBody>
      </p:sp>
    </p:spTree>
    <p:custDataLst>
      <p:tags r:id="rId1"/>
    </p:custDataLst>
    <p:extLst>
      <p:ext uri="{BB962C8B-B14F-4D97-AF65-F5344CB8AC3E}">
        <p14:creationId xmlns:p14="http://schemas.microsoft.com/office/powerpoint/2010/main" val="34307057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7B851-442F-BE08-BA6C-4D1DED2EFD76}"/>
              </a:ext>
            </a:extLst>
          </p:cNvPr>
          <p:cNvSpPr>
            <a:spLocks noGrp="1"/>
          </p:cNvSpPr>
          <p:nvPr>
            <p:ph type="title"/>
          </p:nvPr>
        </p:nvSpPr>
        <p:spPr/>
        <p:txBody>
          <a:bodyPr/>
          <a:lstStyle/>
          <a:p>
            <a:r>
              <a:rPr lang="en-GB" sz="4800" b="1" dirty="0"/>
              <a:t>Seek Time Optimization Techniques</a:t>
            </a:r>
            <a:endParaRPr lang="en-GB" dirty="0"/>
          </a:p>
        </p:txBody>
      </p:sp>
      <p:sp>
        <p:nvSpPr>
          <p:cNvPr id="3" name="Content Placeholder 2">
            <a:extLst>
              <a:ext uri="{FF2B5EF4-FFF2-40B4-BE49-F238E27FC236}">
                <a16:creationId xmlns:a16="http://schemas.microsoft.com/office/drawing/2014/main" id="{45181BCD-8179-075F-A13F-8E8DDB27AA4A}"/>
              </a:ext>
            </a:extLst>
          </p:cNvPr>
          <p:cNvSpPr>
            <a:spLocks noGrp="1"/>
          </p:cNvSpPr>
          <p:nvPr>
            <p:ph idx="1"/>
          </p:nvPr>
        </p:nvSpPr>
        <p:spPr/>
        <p:txBody>
          <a:bodyPr>
            <a:normAutofit/>
          </a:bodyPr>
          <a:lstStyle/>
          <a:p>
            <a:pPr lvl="0"/>
            <a:r>
              <a:rPr lang="en-GB" dirty="0">
                <a:latin typeface="Arial" panose="020B0604020202020204" pitchFamily="34" charset="0"/>
                <a:cs typeface="Arial" panose="020B0604020202020204" pitchFamily="34" charset="0"/>
              </a:rPr>
              <a:t>I/O Request Reordering:</a:t>
            </a:r>
          </a:p>
          <a:p>
            <a:pPr lvl="1"/>
            <a:r>
              <a:rPr lang="en-GB" sz="2200" dirty="0">
                <a:latin typeface="Arial" panose="020B0604020202020204" pitchFamily="34" charset="0"/>
                <a:cs typeface="Arial" panose="020B0604020202020204" pitchFamily="34" charset="0"/>
              </a:rPr>
              <a:t>Operating systems optimize I/O by reordering requests to minimize seek time. OS makes requests out of order, sees where the head is, calculates order in which the seek time is close to 0, and </a:t>
            </a:r>
            <a:r>
              <a:rPr lang="en-GB" sz="2200" dirty="0" err="1">
                <a:latin typeface="Arial" panose="020B0604020202020204" pitchFamily="34" charset="0"/>
                <a:cs typeface="Arial" panose="020B0604020202020204" pitchFamily="34" charset="0"/>
              </a:rPr>
              <a:t>fulfills</a:t>
            </a:r>
            <a:r>
              <a:rPr lang="en-GB" sz="2200" dirty="0">
                <a:latin typeface="Arial" panose="020B0604020202020204" pitchFamily="34" charset="0"/>
                <a:cs typeface="Arial" panose="020B0604020202020204" pitchFamily="34" charset="0"/>
              </a:rPr>
              <a:t> request according to this order. </a:t>
            </a:r>
          </a:p>
          <a:p>
            <a:pPr lvl="0"/>
            <a:r>
              <a:rPr lang="en-GB" dirty="0">
                <a:latin typeface="Arial" panose="020B0604020202020204" pitchFamily="34" charset="0"/>
                <a:cs typeface="Arial" panose="020B0604020202020204" pitchFamily="34" charset="0"/>
              </a:rPr>
              <a:t>Caching:</a:t>
            </a:r>
          </a:p>
          <a:p>
            <a:pPr lvl="1"/>
            <a:r>
              <a:rPr lang="en-GB" sz="2200" dirty="0">
                <a:latin typeface="Arial" panose="020B0604020202020204" pitchFamily="34" charset="0"/>
                <a:cs typeface="Arial" panose="020B0604020202020204" pitchFamily="34" charset="0"/>
              </a:rPr>
              <a:t>Modern HDDs use dedicated cache memory (e.g., 12 MB) to store frequently accessed or predicted data blocks. This reduces the need for repeated seeks and improves throughput.</a:t>
            </a:r>
          </a:p>
          <a:p>
            <a:pPr lvl="0"/>
            <a:r>
              <a:rPr lang="en-GB" dirty="0">
                <a:latin typeface="Arial" panose="020B0604020202020204" pitchFamily="34" charset="0"/>
                <a:cs typeface="Arial" panose="020B0604020202020204" pitchFamily="34" charset="0"/>
              </a:rPr>
              <a:t>Prefetching:</a:t>
            </a:r>
          </a:p>
          <a:p>
            <a:r>
              <a:rPr lang="en-GB" dirty="0">
                <a:latin typeface="Arial" panose="020B0604020202020204" pitchFamily="34" charset="0"/>
                <a:cs typeface="Arial" panose="020B0604020202020204" pitchFamily="34" charset="0"/>
              </a:rPr>
              <a:t>HDDs take advantage of locality of reference by preloading nearby data blocks into cache, increasing performance</a:t>
            </a:r>
          </a:p>
        </p:txBody>
      </p:sp>
      <p:sp>
        <p:nvSpPr>
          <p:cNvPr id="4" name="Footer Placeholder 3">
            <a:extLst>
              <a:ext uri="{FF2B5EF4-FFF2-40B4-BE49-F238E27FC236}">
                <a16:creationId xmlns:a16="http://schemas.microsoft.com/office/drawing/2014/main" id="{9676C454-7EDE-B519-17C7-9479CE7C7E82}"/>
              </a:ext>
            </a:extLst>
          </p:cNvPr>
          <p:cNvSpPr>
            <a:spLocks noGrp="1"/>
          </p:cNvSpPr>
          <p:nvPr>
            <p:ph type="ftr" sz="quarter" idx="11"/>
          </p:nvPr>
        </p:nvSpPr>
        <p:spPr/>
        <p:txBody>
          <a:bodyPr/>
          <a:lstStyle/>
          <a:p>
            <a:r>
              <a:rPr lang="en-US"/>
              <a:t>Design &amp; Analysis of Algorithms</a:t>
            </a:r>
          </a:p>
        </p:txBody>
      </p:sp>
      <p:sp>
        <p:nvSpPr>
          <p:cNvPr id="5" name="Slide Number Placeholder 4">
            <a:extLst>
              <a:ext uri="{FF2B5EF4-FFF2-40B4-BE49-F238E27FC236}">
                <a16:creationId xmlns:a16="http://schemas.microsoft.com/office/drawing/2014/main" id="{24D8F465-0552-2B46-031B-1388A3B1786F}"/>
              </a:ext>
            </a:extLst>
          </p:cNvPr>
          <p:cNvSpPr>
            <a:spLocks noGrp="1"/>
          </p:cNvSpPr>
          <p:nvPr>
            <p:ph type="sldNum" sz="quarter" idx="12"/>
          </p:nvPr>
        </p:nvSpPr>
        <p:spPr/>
        <p:txBody>
          <a:bodyPr/>
          <a:lstStyle/>
          <a:p>
            <a:fld id="{3485D9CA-6DAA-4C3C-A3E2-EDEA918D5F89}" type="slidenum">
              <a:rPr lang="en-US" smtClean="0"/>
              <a:pPr/>
              <a:t>23</a:t>
            </a:fld>
            <a:endParaRPr lang="en-US"/>
          </a:p>
        </p:txBody>
      </p:sp>
    </p:spTree>
    <p:extLst>
      <p:ext uri="{BB962C8B-B14F-4D97-AF65-F5344CB8AC3E}">
        <p14:creationId xmlns:p14="http://schemas.microsoft.com/office/powerpoint/2010/main" val="39262013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38.5"/>
</p:tagLst>
</file>

<file path=ppt/tags/tag2.xml><?xml version="1.0" encoding="utf-8"?>
<p:tagLst xmlns:a="http://schemas.openxmlformats.org/drawingml/2006/main" xmlns:r="http://schemas.openxmlformats.org/officeDocument/2006/relationships" xmlns:p="http://schemas.openxmlformats.org/presentationml/2006/main">
  <p:tag name="TIMING" val="|38.5"/>
</p:tagLst>
</file>

<file path=ppt/tags/tag3.xml><?xml version="1.0" encoding="utf-8"?>
<p:tagLst xmlns:a="http://schemas.openxmlformats.org/drawingml/2006/main" xmlns:r="http://schemas.openxmlformats.org/officeDocument/2006/relationships" xmlns:p="http://schemas.openxmlformats.org/presentationml/2006/main">
  <p:tag name="TIMING" val="|38.5"/>
</p:tagLst>
</file>

<file path=ppt/tags/tag4.xml><?xml version="1.0" encoding="utf-8"?>
<p:tagLst xmlns:a="http://schemas.openxmlformats.org/drawingml/2006/main" xmlns:r="http://schemas.openxmlformats.org/officeDocument/2006/relationships" xmlns:p="http://schemas.openxmlformats.org/presentationml/2006/main">
  <p:tag name="TIMING" val="|38.5"/>
</p:tagLst>
</file>

<file path=ppt/tags/tag5.xml><?xml version="1.0" encoding="utf-8"?>
<p:tagLst xmlns:a="http://schemas.openxmlformats.org/drawingml/2006/main" xmlns:r="http://schemas.openxmlformats.org/officeDocument/2006/relationships" xmlns:p="http://schemas.openxmlformats.org/presentationml/2006/main">
  <p:tag name="TIMING" val="|38.5"/>
</p:tagLst>
</file>

<file path=ppt/tags/tag6.xml><?xml version="1.0" encoding="utf-8"?>
<p:tagLst xmlns:a="http://schemas.openxmlformats.org/drawingml/2006/main" xmlns:r="http://schemas.openxmlformats.org/officeDocument/2006/relationships" xmlns:p="http://schemas.openxmlformats.org/presentationml/2006/main">
  <p:tag name="TIMING" val="|38.5"/>
</p:tagLst>
</file>

<file path=ppt/tags/tag7.xml><?xml version="1.0" encoding="utf-8"?>
<p:tagLst xmlns:a="http://schemas.openxmlformats.org/drawingml/2006/main" xmlns:r="http://schemas.openxmlformats.org/officeDocument/2006/relationships" xmlns:p="http://schemas.openxmlformats.org/presentationml/2006/main">
  <p:tag name="TIMING" val="|38.5"/>
</p:tagLst>
</file>

<file path=ppt/tags/tag8.xml><?xml version="1.0" encoding="utf-8"?>
<p:tagLst xmlns:a="http://schemas.openxmlformats.org/drawingml/2006/main" xmlns:r="http://schemas.openxmlformats.org/officeDocument/2006/relationships" xmlns:p="http://schemas.openxmlformats.org/presentationml/2006/main">
  <p:tag name="TIMING" val="|38.5"/>
</p:tagLst>
</file>

<file path=ppt/tags/tag9.xml><?xml version="1.0" encoding="utf-8"?>
<p:tagLst xmlns:a="http://schemas.openxmlformats.org/drawingml/2006/main" xmlns:r="http://schemas.openxmlformats.org/officeDocument/2006/relationships" xmlns:p="http://schemas.openxmlformats.org/presentationml/2006/main">
  <p:tag name="TIMING" val="|38.5"/>
</p:tagLst>
</file>

<file path=ppt/tags/tag10.xml><?xml version="1.0" encoding="utf-8"?>
<p:tagLst xmlns:a="http://schemas.openxmlformats.org/drawingml/2006/main" xmlns:r="http://schemas.openxmlformats.org/officeDocument/2006/relationships" xmlns:p="http://schemas.openxmlformats.org/presentationml/2006/main">
  <p:tag name="TIMING" val="|38.5"/>
</p:tagLst>
</file>

<file path=ppt/tags/tag11.xml><?xml version="1.0" encoding="utf-8"?>
<p:tagLst xmlns:a="http://schemas.openxmlformats.org/drawingml/2006/main" xmlns:r="http://schemas.openxmlformats.org/officeDocument/2006/relationships" xmlns:p="http://schemas.openxmlformats.org/presentationml/2006/main">
  <p:tag name="TIMING" val="|38.5"/>
</p:tagLst>
</file>

<file path=ppt/tags/tag12.xml><?xml version="1.0" encoding="utf-8"?>
<p:tagLst xmlns:a="http://schemas.openxmlformats.org/drawingml/2006/main" xmlns:r="http://schemas.openxmlformats.org/officeDocument/2006/relationships" xmlns:p="http://schemas.openxmlformats.org/presentationml/2006/main">
  <p:tag name="TIMING" val="|38.5"/>
</p:tagLst>
</file>

<file path=ppt/tags/tag13.xml><?xml version="1.0" encoding="utf-8"?>
<p:tagLst xmlns:a="http://schemas.openxmlformats.org/drawingml/2006/main" xmlns:r="http://schemas.openxmlformats.org/officeDocument/2006/relationships" xmlns:p="http://schemas.openxmlformats.org/presentationml/2006/main">
  <p:tag name="TIMING" val="|38.5"/>
</p:tagLst>
</file>

<file path=ppt/tags/tag14.xml><?xml version="1.0" encoding="utf-8"?>
<p:tagLst xmlns:a="http://schemas.openxmlformats.org/drawingml/2006/main" xmlns:r="http://schemas.openxmlformats.org/officeDocument/2006/relationships" xmlns:p="http://schemas.openxmlformats.org/presentationml/2006/main">
  <p:tag name="TIMING" val="|38.5"/>
</p:tagLst>
</file>

<file path=ppt/tags/tag15.xml><?xml version="1.0" encoding="utf-8"?>
<p:tagLst xmlns:a="http://schemas.openxmlformats.org/drawingml/2006/main" xmlns:r="http://schemas.openxmlformats.org/officeDocument/2006/relationships" xmlns:p="http://schemas.openxmlformats.org/presentationml/2006/main">
  <p:tag name="TIMING" val="|38.5"/>
</p:tagLst>
</file>

<file path=ppt/tags/tag16.xml><?xml version="1.0" encoding="utf-8"?>
<p:tagLst xmlns:a="http://schemas.openxmlformats.org/drawingml/2006/main" xmlns:r="http://schemas.openxmlformats.org/officeDocument/2006/relationships" xmlns:p="http://schemas.openxmlformats.org/presentationml/2006/main">
  <p:tag name="TIMING" val="|38.5"/>
</p:tagLst>
</file>

<file path=ppt/tags/tag17.xml><?xml version="1.0" encoding="utf-8"?>
<p:tagLst xmlns:a="http://schemas.openxmlformats.org/drawingml/2006/main" xmlns:r="http://schemas.openxmlformats.org/officeDocument/2006/relationships" xmlns:p="http://schemas.openxmlformats.org/presentationml/2006/main">
  <p:tag name="TIMING" val="|38.5"/>
</p:tagLst>
</file>

<file path=ppt/tags/tag18.xml><?xml version="1.0" encoding="utf-8"?>
<p:tagLst xmlns:a="http://schemas.openxmlformats.org/drawingml/2006/main" xmlns:r="http://schemas.openxmlformats.org/officeDocument/2006/relationships" xmlns:p="http://schemas.openxmlformats.org/presentationml/2006/main">
  <p:tag name="TIMING" val="|38.5"/>
</p:tagLst>
</file>

<file path=ppt/tags/tag19.xml><?xml version="1.0" encoding="utf-8"?>
<p:tagLst xmlns:a="http://schemas.openxmlformats.org/drawingml/2006/main" xmlns:r="http://schemas.openxmlformats.org/officeDocument/2006/relationships" xmlns:p="http://schemas.openxmlformats.org/presentationml/2006/main">
  <p:tag name="TIMING" val="|38.5"/>
</p:tagLst>
</file>

<file path=ppt/tags/tag20.xml><?xml version="1.0" encoding="utf-8"?>
<p:tagLst xmlns:a="http://schemas.openxmlformats.org/drawingml/2006/main" xmlns:r="http://schemas.openxmlformats.org/officeDocument/2006/relationships" xmlns:p="http://schemas.openxmlformats.org/presentationml/2006/main">
  <p:tag name="TIMING" val="|38.5"/>
</p:tagLst>
</file>

<file path=ppt/tags/tag21.xml><?xml version="1.0" encoding="utf-8"?>
<p:tagLst xmlns:a="http://schemas.openxmlformats.org/drawingml/2006/main" xmlns:r="http://schemas.openxmlformats.org/officeDocument/2006/relationships" xmlns:p="http://schemas.openxmlformats.org/presentationml/2006/main">
  <p:tag name="TIMING" val="|38.5"/>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41254</TotalTime>
  <Words>1933</Words>
  <Application>Microsoft Office PowerPoint</Application>
  <PresentationFormat>Widescreen</PresentationFormat>
  <Paragraphs>218</Paragraphs>
  <Slides>23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Cambria</vt:lpstr>
      <vt:lpstr>Monotype Sorts</vt:lpstr>
      <vt:lpstr>Symbol</vt:lpstr>
      <vt:lpstr>Adjacency</vt:lpstr>
      <vt:lpstr>CSC 323 – Principles of Operating Systems</vt:lpstr>
      <vt:lpstr>Overview</vt:lpstr>
      <vt:lpstr>Hard Disk Drives</vt:lpstr>
      <vt:lpstr>Hard Disk Performance</vt:lpstr>
      <vt:lpstr>The First Commercial Disk Drive</vt:lpstr>
      <vt:lpstr>Nonvolatile Memory Devices</vt:lpstr>
      <vt:lpstr>Nonvolatile Memory Devices</vt:lpstr>
      <vt:lpstr>NAND Flash Controller Algorithms</vt:lpstr>
      <vt:lpstr>Volatile Memory</vt:lpstr>
      <vt:lpstr>Magnetic Tape</vt:lpstr>
      <vt:lpstr>Disk Attachment</vt:lpstr>
      <vt:lpstr>Address Mapping</vt:lpstr>
      <vt:lpstr>Disk Scheduling</vt:lpstr>
      <vt:lpstr>Disk Scheduling</vt:lpstr>
      <vt:lpstr>Disk Scheduling (FCFS)</vt:lpstr>
      <vt:lpstr>Disk Scheduling (SSTF)</vt:lpstr>
      <vt:lpstr>Disk Scheduling (SCAN)</vt:lpstr>
      <vt:lpstr>Disk Scheduling (SCAN)</vt:lpstr>
      <vt:lpstr>Disk Scheduling (C-SCAN)</vt:lpstr>
      <vt:lpstr>Disk Scheduling (C-SCAN)</vt:lpstr>
      <vt:lpstr>Disk Scheduling (LOOK and C-LOOK)</vt:lpstr>
      <vt:lpstr>Selecting a Disk-Scheduling Algorithm</vt:lpstr>
      <vt:lpstr>Seek Time Optimization Techniques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 323 – Principles of Operating Systems</dc:title>
  <dc:creator>Hasan Jamal</dc:creator>
  <cp:lastModifiedBy>Mamoona Tasadduq</cp:lastModifiedBy>
  <cp:revision>191</cp:revision>
  <dcterms:created xsi:type="dcterms:W3CDTF">2020-06-08T03:46:58Z</dcterms:created>
  <dcterms:modified xsi:type="dcterms:W3CDTF">2025-11-14T01:35:43Z</dcterms:modified>
</cp:coreProperties>
</file>