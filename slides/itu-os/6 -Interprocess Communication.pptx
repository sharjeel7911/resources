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5"/>
  </p:notesMasterIdLst>
  <p:sldIdLst>
    <p:sldId id="267" r:id="rId3"/>
    <p:sldId id="642" r:id="rId4"/>
    <p:sldId id="660" r:id="rId5"/>
    <p:sldId id="679" r:id="rId6"/>
    <p:sldId id="668" r:id="rId7"/>
    <p:sldId id="633" r:id="rId8"/>
    <p:sldId id="646" r:id="rId9"/>
    <p:sldId id="632" r:id="rId10"/>
    <p:sldId id="669" r:id="rId11"/>
    <p:sldId id="670" r:id="rId12"/>
    <p:sldId id="664" r:id="rId13"/>
    <p:sldId id="596" r:id="rId14"/>
    <p:sldId id="665" r:id="rId15"/>
    <p:sldId id="680" r:id="rId16"/>
    <p:sldId id="674" r:id="rId17"/>
    <p:sldId id="675" r:id="rId18"/>
    <p:sldId id="677" r:id="rId19"/>
    <p:sldId id="645" r:id="rId20"/>
    <p:sldId id="614" r:id="rId21"/>
    <p:sldId id="672" r:id="rId22"/>
    <p:sldId id="673" r:id="rId23"/>
    <p:sldId id="67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5CD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44" autoAdjust="0"/>
    <p:restoredTop sz="87028" autoAdjust="0"/>
  </p:normalViewPr>
  <p:slideViewPr>
    <p:cSldViewPr snapToGrid="0">
      <p:cViewPr>
        <p:scale>
          <a:sx n="60" d="100"/>
          <a:sy n="60" d="100"/>
        </p:scale>
        <p:origin x="5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34546-FD7D-47BB-AA1E-00BBFD21EEC5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D3D20-B80A-47F2-90D8-E85AAC9E3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035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304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70CC6-EB59-4447-80BA-9D36C629B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4DD14A-F511-49B0-A91B-978DAEFBBA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39A08-9A7A-49DA-A39B-B0EF1A480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D8D3A-B881-4BC9-A537-ECB468F7F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F4CF0-1776-4F65-BCA7-0F303DF3D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570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B02DE-303C-4D87-8E77-879FBE119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6C54D-48BB-467E-8103-DFE5F6DCE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DAA13-6920-4BB8-A1F1-3A1324279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3360B-5BAB-41D8-A02D-7C1BAB8C6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2317C-2498-4AED-8B51-357F03DCA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134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33ADF-891D-4A12-83B5-454FF556A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92D1F-5588-4349-97C5-EB30CD88E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24B3D-6B89-4416-A6EB-152D8D49D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B9C78-BA9A-479E-A3FF-695287295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8EE37-7497-4B13-94F5-9E33310DD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059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D8959-A7A6-4D39-AA8B-57C72F6B1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E0084-43D6-45E5-B2FB-83FB50E504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1317EC-AA9D-4624-8395-48D0AE97E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28D681-CD5B-4D0F-A2B0-BF8B8AD77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1E102-0CFC-4C99-8794-DDB15502C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0784B-2F5A-4BD4-9EBE-85512D864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031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A3181-2412-4949-91A3-23CBDDDBC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C8FC4-D6CA-4D00-B86A-7336B6E1C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AD6D8B-7024-4E37-B53E-016331394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A1DB30-80A3-4DC3-9806-9202A76140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997761-D7C3-42D3-803A-AAC22024F8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D11AC6-D32A-4EAD-B726-5AE67DFFC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8607F5-A7FB-40DA-A637-507CECE2A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28571F-5213-44AD-9B39-829F87621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11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16889-5B79-497C-9736-E9B7A36D0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5B599-D225-4693-9E55-C140F796D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5B06CB-70EA-4710-B4B5-59BF2C624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1CA16-87D7-4A9A-93EE-A252B69E1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11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9141D3-43C6-40C7-A4DB-9BFB3972D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B73F51-C531-4416-9A10-50D5280BF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032B0-273E-4169-9640-156E7D4EA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267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A39EF-1141-43EF-9A25-60CEC3698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A0430-0CCC-4FD2-905C-27F04B934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F68AE7-6F69-4589-A8AF-F2B8927E8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31577C-944C-412C-8F52-FFFC45A36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F4FD3B-027E-4C74-964C-C3F64FBB4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DFEB46-4620-4847-8F68-DB3BB84CB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27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9019B-EBB5-4FBC-99F6-CD60929B5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6A3050-1640-44D7-B8B2-7F5BC0F2C4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7D1C82-DEC0-4624-8D52-79B7F25CF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A048C-F343-4D60-96F0-B2859B510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788895-9B51-4541-AAB2-BF16ED7D0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53C80-6CDB-486A-B8CF-AAD127321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752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7D555-ABD7-4161-B06F-FCD3143D9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095C10-FF95-4025-B207-9881A16465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C42DD-D420-4BAE-A427-F815A4F37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1F7B7-D2EB-4517-9D60-26A66FF0E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20148-FE35-475E-9068-7641710E2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833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554761-8A33-482D-B4B2-18B2A8F89E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B816EB-AB8E-47C2-9A3E-33DE4D4F8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40179-C5D2-4148-BAA2-30F72348B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0BD9F-3BB0-4D0E-9EBA-8CC5FDF82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69872-32D9-46E9-AB85-0ABCDEE88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650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1"/>
            <a:ext cx="100584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883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8225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5" y="5486400"/>
            <a:ext cx="10212916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5" y="3852863"/>
            <a:ext cx="8180916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8603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928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969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928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928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1203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7330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6782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03632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0" y="6096000"/>
            <a:ext cx="103632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03632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54409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5495278"/>
            <a:ext cx="103632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12776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2336" y="6096000"/>
            <a:ext cx="103632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</p:spTree>
    <p:extLst>
      <p:ext uri="{BB962C8B-B14F-4D97-AF65-F5344CB8AC3E}">
        <p14:creationId xmlns:p14="http://schemas.microsoft.com/office/powerpoint/2010/main" val="8020862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2371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3368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5936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and Anaysis of Algorihms, Spring 2008 </a:t>
            </a:r>
            <a:endParaRPr lang="en-GB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Design &amp; Analysis of Algorithms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AA143B-99B6-4B27-B043-E574855ABF9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07592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and Anaysis of Algorihms, Spring 2008 </a:t>
            </a: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Design &amp; Analysis of Algorithms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718971-3FDC-4323-BE22-69C0E5D57951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8714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and Anaysis of Algorihms, Spring 2008 </a:t>
            </a: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Design &amp; Analysis of Algorithms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BCAC09-0EE0-4829-9090-1F0BC639B9B6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3955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EB5029-5875-48B9-9C22-38D785FCE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0B3BA-C511-4FC7-AA99-072F757CF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00382-92E4-4D10-875A-89C34EF30D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F8B72-9C19-4DBD-8F3B-D049130D496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D864E-90F0-4014-8C2D-CE853EFCBA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62C12-0EAF-4F9E-BB1B-EED572C618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24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16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16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11277600" y="5486400"/>
            <a:ext cx="9144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10510428" y="3987800"/>
            <a:ext cx="2367281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/>
              <a:t>Design &amp; Analysis of Algorithms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474869" y="1584960"/>
            <a:ext cx="2438399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/>
              <a:t>Design and Anaysis of Algorihms, Spring 2008 </a:t>
            </a:r>
          </a:p>
        </p:txBody>
      </p:sp>
    </p:spTree>
    <p:extLst>
      <p:ext uri="{BB962C8B-B14F-4D97-AF65-F5344CB8AC3E}">
        <p14:creationId xmlns:p14="http://schemas.microsoft.com/office/powerpoint/2010/main" val="2389917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</a:t>
            </a:fld>
            <a:endParaRPr lang="en-US">
              <a:latin typeface="Calibri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654176"/>
            <a:ext cx="8458200" cy="1470025"/>
          </a:xfrm>
        </p:spPr>
        <p:txBody>
          <a:bodyPr/>
          <a:lstStyle/>
          <a:p>
            <a:pPr algn="ctr"/>
            <a:r>
              <a:rPr lang="en-US" sz="3200" b="1" dirty="0"/>
              <a:t>CSC 323 – Principles of Operating Systems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524000" y="3505200"/>
            <a:ext cx="8458200" cy="1752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A9A57C"/>
              </a:buClr>
            </a:pPr>
            <a:r>
              <a:rPr lang="en-US" sz="2800" b="1" spc="-100" dirty="0">
                <a:solidFill>
                  <a:srgbClr val="675E47"/>
                </a:solidFill>
                <a:latin typeface="Cambria"/>
              </a:rPr>
              <a:t>Instructor: Ms. </a:t>
            </a:r>
            <a:r>
              <a:rPr lang="en-US" sz="2800" b="1" spc="-100">
                <a:solidFill>
                  <a:srgbClr val="675E47"/>
                </a:solidFill>
                <a:latin typeface="Cambria"/>
              </a:rPr>
              <a:t>Mamoona Tasadduq</a:t>
            </a:r>
            <a:endParaRPr lang="en-US" sz="2800" b="1" spc="-100" dirty="0">
              <a:solidFill>
                <a:srgbClr val="675E47"/>
              </a:solidFill>
              <a:latin typeface="Cambria"/>
            </a:endParaRPr>
          </a:p>
          <a:p>
            <a:pPr algn="ctr">
              <a:buClr>
                <a:srgbClr val="A9A57C"/>
              </a:buClr>
            </a:pPr>
            <a:r>
              <a:rPr lang="en-US" sz="2800" b="1" spc="-100" dirty="0">
                <a:solidFill>
                  <a:srgbClr val="675E47"/>
                </a:solidFill>
                <a:latin typeface="Cambria"/>
              </a:rPr>
              <a:t>Lecture# 03(b): Inter-Process Communication</a:t>
            </a:r>
          </a:p>
        </p:txBody>
      </p:sp>
    </p:spTree>
    <p:extLst>
      <p:ext uri="{BB962C8B-B14F-4D97-AF65-F5344CB8AC3E}">
        <p14:creationId xmlns:p14="http://schemas.microsoft.com/office/powerpoint/2010/main" val="142399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Inter-process Communication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596979" y="1453241"/>
            <a:ext cx="10338499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Processes within a system may be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independent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cooperating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Cooperating process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can affect or be affected by other processes, including sharing data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Reasons for cooperating processes: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Information sharing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Computation speedup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Modularity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Convenience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Cooperating processes need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inter-process communication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1917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Inter-process Communication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10988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Two models of IPC.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Shared memory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Message passing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1444" name="Picture 1">
            <a:extLst>
              <a:ext uri="{FF2B5EF4-FFF2-40B4-BE49-F238E27FC236}">
                <a16:creationId xmlns:a16="http://schemas.microsoft.com/office/drawing/2014/main" id="{3ED38AED-C0F5-4084-BE69-BF6EFD7FF58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26"/>
          <a:stretch/>
        </p:blipFill>
        <p:spPr bwMode="auto">
          <a:xfrm>
            <a:off x="3908230" y="2454338"/>
            <a:ext cx="6246813" cy="3609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3" name="Rectangle 3">
            <a:extLst>
              <a:ext uri="{FF2B5EF4-FFF2-40B4-BE49-F238E27FC236}">
                <a16:creationId xmlns:a16="http://schemas.microsoft.com/office/drawing/2014/main" id="{00B4232E-A93C-4613-91D0-E8A0948B6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1314" y="6228236"/>
            <a:ext cx="63722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i="1" dirty="0">
                <a:solidFill>
                  <a:srgbClr val="000000"/>
                </a:solidFill>
                <a:latin typeface="Arial" panose="020B0604020202020204" pitchFamily="34" charset="0"/>
              </a:rPr>
              <a:t>(a) Shared memory.  	      b) Message passing. </a:t>
            </a:r>
            <a:r>
              <a:rPr kumimoji="0" lang="en-US" altLang="en-US" b="1" i="1" dirty="0">
                <a:latin typeface="Arial" panose="020B0604020202020204" pitchFamily="34" charset="0"/>
              </a:rPr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99634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IPC –  Shared Memory Model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10988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 area of memory shared among the processes that wish to communicate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communication is under the control of the users’ process and not the OS.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Used for large amount of data transfer.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Major issue is to provide mechanism that allows the user processes to synchronize their actions when they access shared memory.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Mostly used in shared memory systems.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23488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IPC – Message Passing Model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5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1"/>
            <a:ext cx="10569249" cy="5404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Processes communicate with each other without resorting to shared variables</a:t>
            </a:r>
          </a:p>
          <a:p>
            <a:pPr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IPC facility provides two operations:</a:t>
            </a:r>
          </a:p>
          <a:p>
            <a:pPr lvl="1"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send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message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– message size fixed or variable</a:t>
            </a:r>
          </a:p>
          <a:p>
            <a:pPr lvl="1"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receive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message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two processes wish to communicate, they need to: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Establish a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communication link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between them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Exchange messages via send/receive</a:t>
            </a:r>
          </a:p>
          <a:p>
            <a:pPr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Implementation of communication link: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physical (e.g., shared memory, hardware bus, network)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logical (e.g., direct/indirect, synchronous/asynchronous, automatic/explicit buffering)</a:t>
            </a:r>
          </a:p>
          <a:p>
            <a:pPr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Mostly used in distributed systems, for small amount of data transfer (fixed or variable length messages) as it is time consuming.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8376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Message Format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6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1"/>
            <a:ext cx="6436865" cy="524649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Consists of header and body of the message.</a:t>
            </a:r>
          </a:p>
          <a:p>
            <a:pPr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UNIX: no ID, only message type</a:t>
            </a:r>
          </a:p>
          <a:p>
            <a:pPr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Control Information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to do if run out of buffer space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Sequence numbers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Priority</a:t>
            </a:r>
          </a:p>
          <a:p>
            <a:pPr lvl="1"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Queuing discipline: usually FIFO but can also include priorities</a:t>
            </a:r>
          </a:p>
          <a:p>
            <a:pPr marL="411480" lvl="1" indent="0" algn="just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9765270"/>
              </p:ext>
            </p:extLst>
          </p:nvPr>
        </p:nvGraphicFramePr>
        <p:xfrm>
          <a:off x="7462622" y="1529397"/>
          <a:ext cx="3519488" cy="411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rtwork" r:id="rId3" imgW="2924583" imgH="2847619" progId="Adobe.Illustrator.7">
                  <p:embed/>
                </p:oleObj>
              </mc:Choice>
              <mc:Fallback>
                <p:oleObj name="Artwork" r:id="rId3" imgW="2924583" imgH="2847619" progId="Adobe.Illustrator.7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2622" y="1529397"/>
                        <a:ext cx="3519488" cy="4119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823083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Implementation Questions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7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81326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are links established?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Can a link be associated with more than two processes?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many links can there be between every pair of communicating processes?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is the capacity of a link?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the size of a message that the link can accommodate fixed or variable?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a link unidirectional or bi-directional?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4377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Direct Communication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8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2"/>
            <a:ext cx="10516495" cy="5088236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Processes must name each other explicitly:</a:t>
            </a:r>
          </a:p>
          <a:p>
            <a:pPr lvl="1"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send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P, message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– send a message to process P</a:t>
            </a:r>
          </a:p>
          <a:p>
            <a:pPr lvl="1"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receive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Q, message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– receive a message from process Q</a:t>
            </a:r>
          </a:p>
          <a:p>
            <a:pPr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Properties of direct communication link: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Links are established automatically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link is associated with exactly one pair of communicating processes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Between each pair, there exists exactly one link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link may be unidirectional, but is usually bi-directional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79913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Indirect Communication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9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2"/>
            <a:ext cx="10516495" cy="5088236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Messages are directed and received from mailboxes (also referred to as ports)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Each mailbox has a unique id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Processes can communicate only if they share a mailbox</a:t>
            </a:r>
          </a:p>
          <a:p>
            <a:pPr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Properties of indirect communication link: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Link established only if processes share a common mailbox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link may be associated with many processes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Each pair of processes may share several communication links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Link may be unidirectional or bi-directional</a:t>
            </a:r>
          </a:p>
          <a:p>
            <a:pPr lvl="1"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Operations: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create a new mailbox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send and receive messages through mailbox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destroy a mailbox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1337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Indirect Communication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10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2"/>
            <a:ext cx="10516495" cy="5088236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Primitives are defined as:</a:t>
            </a:r>
          </a:p>
          <a:p>
            <a:pPr lvl="1"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send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A, message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– send a message to mailbox A</a:t>
            </a:r>
          </a:p>
          <a:p>
            <a:pPr lvl="1"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receive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A, message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– receive a message from mailbox A</a:t>
            </a:r>
          </a:p>
          <a:p>
            <a:pPr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Mailbox sharing – consider the following …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P1, P2, and P3 share mailbox A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P1, sends; P2 and P3 receive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Who gets the message?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Possible Solutions to avoid unpredictable behavior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Allow a link to be associated with at most two processes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Allow only one process at a time to execute a receive operation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Allow system to select an arbitrarily receiver. Sender is notified who the receiver was.</a:t>
            </a:r>
          </a:p>
          <a:p>
            <a:pPr marL="411480" lvl="1" indent="0" algn="just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1810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Synchronization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11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1"/>
            <a:ext cx="10393404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Message passing may be either blocking or non-blocking.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Blocking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considered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synchronous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Blocking send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 the sender is blocked until the message is received </a:t>
            </a:r>
          </a:p>
          <a:p>
            <a:pPr lvl="1"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Blocking receive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the receiver is blocked until a message is available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Non-blocking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considered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asynchronous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Non-blocking send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 the sender sends the message and continues</a:t>
            </a:r>
          </a:p>
          <a:p>
            <a:pPr lvl="1"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Non-blocking receive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the receiver receives a valid message or null message</a:t>
            </a:r>
          </a:p>
        </p:txBody>
      </p:sp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18141" y="5211886"/>
            <a:ext cx="4261338" cy="1449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4008" tIns="32004" rIns="64008" bIns="32004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pPr>
              <a:spcBef>
                <a:spcPts val="0"/>
              </a:spcBef>
              <a:buNone/>
              <a:defRPr/>
            </a:pPr>
            <a:r>
              <a:rPr lang="en-US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message </a:t>
            </a:r>
            <a:r>
              <a:rPr lang="en-US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next_produced</a:t>
            </a:r>
            <a:r>
              <a:rPr lang="en-US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; </a:t>
            </a:r>
          </a:p>
          <a:p>
            <a:pPr>
              <a:spcBef>
                <a:spcPts val="0"/>
              </a:spcBef>
              <a:buNone/>
              <a:defRPr/>
            </a:pPr>
            <a:r>
              <a:rPr lang="en-US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while (true) {</a:t>
            </a:r>
            <a:br>
              <a:rPr lang="en-US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    /* produce an item */ </a:t>
            </a:r>
          </a:p>
          <a:p>
            <a:pPr>
              <a:spcBef>
                <a:spcPts val="0"/>
              </a:spcBef>
              <a:buNone/>
              <a:defRPr/>
            </a:pPr>
            <a:r>
              <a:rPr lang="en-US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    send(</a:t>
            </a:r>
            <a:r>
              <a:rPr lang="en-US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next_produced</a:t>
            </a:r>
            <a:r>
              <a:rPr lang="en-US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); </a:t>
            </a:r>
          </a:p>
          <a:p>
            <a:pPr>
              <a:spcBef>
                <a:spcPts val="0"/>
              </a:spcBef>
              <a:buNone/>
              <a:defRPr/>
            </a:pPr>
            <a:r>
              <a:rPr lang="en-US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}</a:t>
            </a:r>
            <a:endParaRPr lang="en-US" altLang="en-US" dirty="0">
              <a:latin typeface="Courier New" panose="02070309020205020404" pitchFamily="49" charset="0"/>
              <a:ea typeface="Cambria Math" panose="02040503050406030204" pitchFamily="18" charset="0"/>
              <a:cs typeface="Courier New" panose="02070309020205020404" pitchFamily="49" charset="0"/>
            </a:endParaRPr>
          </a:p>
        </p:txBody>
      </p:sp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6283568" y="5211886"/>
            <a:ext cx="4261337" cy="1449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4008" tIns="32004" rIns="64008" bIns="32004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Courier New" pitchFamily="49" charset="0"/>
                <a:cs typeface="Courier New" pitchFamily="49" charset="0"/>
              </a:rPr>
              <a:t>message </a:t>
            </a: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next_consumed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Courier New" pitchFamily="49" charset="0"/>
                <a:cs typeface="Courier New" pitchFamily="49" charset="0"/>
              </a:rPr>
              <a:t>while (true)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   receive(</a:t>
            </a: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next_consumed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  /* consume the item */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Courier New" pitchFamily="49" charset="0"/>
                <a:cs typeface="Courier New" pitchFamily="49" charset="0"/>
              </a:rPr>
              <a:t>}</a:t>
            </a:r>
            <a:endParaRPr lang="en-US" altLang="en-US" dirty="0">
              <a:latin typeface="Courier New" panose="02070309020205020404" pitchFamily="49" charset="0"/>
              <a:ea typeface="Cambria Math" panose="02040503050406030204" pitchFamily="18" charset="0"/>
              <a:cs typeface="Courier New" panose="020703090202050204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2552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Link Capacity – Buffering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12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323064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Regardless of how messages are exchanged between processes, queue of messages attached to the link.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Queuing can be implemented in one of three ways</a:t>
            </a:r>
          </a:p>
          <a:p>
            <a:pPr lvl="1"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Zero capacity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no messages are queued on a link.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Sender must wait (or block) until the receiver gets the message</a:t>
            </a:r>
          </a:p>
          <a:p>
            <a:pPr lvl="1"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Bounded capacity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queue has finite length of n messages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Sender must wait if link full</a:t>
            </a:r>
          </a:p>
          <a:p>
            <a:pPr lvl="1"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Unbounded capacity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queue has “infinite” length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Sender never waits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3571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Examples of IPC Systems – POSIX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13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63741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POSIX Shared Memory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Process first creates shared memory segment</a:t>
            </a:r>
          </a:p>
          <a:p>
            <a:pPr marL="11430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shm_fd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shm_open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(name, O CREAT | O RDWR, 0666);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Also used to open an existing segment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Set the size of the object</a:t>
            </a:r>
          </a:p>
          <a:p>
            <a:pPr marL="11430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b="1" dirty="0">
                <a:latin typeface="Courier New" panose="02070309020205020404" pitchFamily="49" charset="0"/>
              </a:rPr>
              <a:t> </a:t>
            </a:r>
            <a:r>
              <a:rPr lang="en-US" altLang="en-US" b="1" dirty="0" err="1">
                <a:latin typeface="Courier New" panose="02070309020205020404" pitchFamily="49" charset="0"/>
              </a:rPr>
              <a:t>ftruncate</a:t>
            </a:r>
            <a:r>
              <a:rPr lang="en-US" altLang="en-US" b="1" dirty="0">
                <a:latin typeface="Courier New" panose="02070309020205020404" pitchFamily="49" charset="0"/>
              </a:rPr>
              <a:t>(</a:t>
            </a:r>
            <a:r>
              <a:rPr lang="en-US" altLang="en-US" b="1" dirty="0" err="1">
                <a:latin typeface="Courier New" panose="02070309020205020404" pitchFamily="49" charset="0"/>
              </a:rPr>
              <a:t>shm_fd</a:t>
            </a:r>
            <a:r>
              <a:rPr lang="en-US" altLang="en-US" b="1" dirty="0">
                <a:latin typeface="Courier New" panose="02070309020205020404" pitchFamily="49" charset="0"/>
              </a:rPr>
              <a:t>, 4096);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mmap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memory-map a file pointer to the shared memory object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Reading and writing to shared memory is done by using the pointer returned by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mmap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28946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IPC POSIX Producer and Consumer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14</a:t>
            </a:fld>
            <a:endParaRPr lang="en-US">
              <a:latin typeface="Calibri"/>
            </a:endParaRPr>
          </a:p>
        </p:txBody>
      </p:sp>
      <p:pic>
        <p:nvPicPr>
          <p:cNvPr id="98307" name="Picture 1" descr="Screen Shot 2013-03-14 at 6.46.57 PM.png">
            <a:extLst>
              <a:ext uri="{FF2B5EF4-FFF2-40B4-BE49-F238E27FC236}">
                <a16:creationId xmlns:a16="http://schemas.microsoft.com/office/drawing/2014/main" id="{61A9851A-030D-4A31-97DA-D34C1F0D8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7571" y="1222191"/>
            <a:ext cx="3673839" cy="5635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0355" name="Picture 1" descr="Screen Shot 2013-03-12 at 1.38.41 PM.png">
            <a:extLst>
              <a:ext uri="{FF2B5EF4-FFF2-40B4-BE49-F238E27FC236}">
                <a16:creationId xmlns:a16="http://schemas.microsoft.com/office/drawing/2014/main" id="{0B653FB0-9968-4B72-95FF-0DAED2D585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8082" y="1453166"/>
            <a:ext cx="4130963" cy="5173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27403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Pipes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15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2" y="1453241"/>
            <a:ext cx="10340648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5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Acts as a channel allowing two processes to communicate.</a:t>
            </a:r>
          </a:p>
          <a:p>
            <a:pPr algn="just">
              <a:spcBef>
                <a:spcPts val="500"/>
              </a:spcBef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5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Some issues:</a:t>
            </a:r>
          </a:p>
          <a:p>
            <a:pPr lvl="1" algn="just">
              <a:spcBef>
                <a:spcPts val="5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communication unidirectional or bidirectional?</a:t>
            </a:r>
          </a:p>
          <a:p>
            <a:pPr lvl="1" algn="just">
              <a:spcBef>
                <a:spcPts val="5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the case of two-way communication, is it half or full-duplex?</a:t>
            </a:r>
          </a:p>
          <a:p>
            <a:pPr lvl="1" algn="just">
              <a:spcBef>
                <a:spcPts val="5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Must there exist a relationship (i.e.,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parent-child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between the communicating processes?</a:t>
            </a:r>
          </a:p>
          <a:p>
            <a:pPr lvl="1" algn="just">
              <a:spcBef>
                <a:spcPts val="5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Can the pipes be used over a network?</a:t>
            </a:r>
          </a:p>
          <a:p>
            <a:pPr lvl="1" algn="just">
              <a:spcBef>
                <a:spcPts val="500"/>
              </a:spcBef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5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Ordinary (unnamed) pipes – cannot be accessed  from outside the process that created it. Typically, a parent process creates a pipe and uses it to communicate with a child process that it created. </a:t>
            </a:r>
          </a:p>
          <a:p>
            <a:pPr algn="just">
              <a:spcBef>
                <a:spcPts val="500"/>
              </a:spcBef>
              <a:tabLst>
                <a:tab pos="3938588" algn="ctr"/>
              </a:tabLst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5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Named pipes – can be accessed without a parent-child relationship.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5807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>
                <a:latin typeface="Arial" panose="020B0604020202020204" pitchFamily="34" charset="0"/>
                <a:cs typeface="Arial" panose="020B0604020202020204" pitchFamily="34" charset="0"/>
              </a:rPr>
              <a:t>Ordinary Pipes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16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2" y="1453241"/>
            <a:ext cx="10358234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500"/>
              </a:spcBef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Ordinary Pipes allow communication in standard producer-consumer style</a:t>
            </a:r>
          </a:p>
          <a:p>
            <a:pPr algn="just">
              <a:spcBef>
                <a:spcPts val="500"/>
              </a:spcBef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500"/>
              </a:spcBef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Producer writes to one end (the </a:t>
            </a:r>
            <a:r>
              <a:rPr lang="en-US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write-end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of the pipe)</a:t>
            </a:r>
          </a:p>
          <a:p>
            <a:pPr algn="just">
              <a:spcBef>
                <a:spcPts val="500"/>
              </a:spcBef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500"/>
              </a:spcBef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Consumer reads from the other end (the </a:t>
            </a:r>
            <a:r>
              <a:rPr lang="en-US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read-end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of the pipe)</a:t>
            </a:r>
          </a:p>
          <a:p>
            <a:pPr algn="just">
              <a:spcBef>
                <a:spcPts val="500"/>
              </a:spcBef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500"/>
              </a:spcBef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Ordinary pipes are therefore unidirectional</a:t>
            </a:r>
          </a:p>
          <a:p>
            <a:pPr algn="just">
              <a:spcBef>
                <a:spcPts val="500"/>
              </a:spcBef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500"/>
              </a:spcBef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Require a parent-child relationship between communicating processes</a:t>
            </a:r>
          </a:p>
          <a:p>
            <a:pPr algn="just">
              <a:spcBef>
                <a:spcPts val="500"/>
              </a:spcBef>
            </a:pP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500"/>
              </a:spcBef>
            </a:pP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500"/>
              </a:spcBef>
            </a:pP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500"/>
              </a:spcBef>
            </a:pP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500"/>
              </a:spcBef>
            </a:pP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500"/>
              </a:spcBef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Windows calls it </a:t>
            </a:r>
            <a:r>
              <a:rPr lang="en-US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anonymous pipes</a:t>
            </a:r>
          </a:p>
        </p:txBody>
      </p:sp>
      <p:pic>
        <p:nvPicPr>
          <p:cNvPr id="113668" name="Picture 1">
            <a:extLst>
              <a:ext uri="{FF2B5EF4-FFF2-40B4-BE49-F238E27FC236}">
                <a16:creationId xmlns:a16="http://schemas.microsoft.com/office/drawing/2014/main" id="{7F3119A2-4C8F-4927-A524-86ABC2A54F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538" y="4523105"/>
            <a:ext cx="388937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6352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Named Pipes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17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2" y="1453241"/>
            <a:ext cx="10358234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500"/>
              </a:spcBef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Named Pipes are more powerful than ordinary pipes</a:t>
            </a:r>
          </a:p>
          <a:p>
            <a:pPr algn="just">
              <a:spcBef>
                <a:spcPts val="500"/>
              </a:spcBef>
            </a:pP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500"/>
              </a:spcBef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Communication is bidirectional</a:t>
            </a:r>
          </a:p>
          <a:p>
            <a:pPr algn="just">
              <a:spcBef>
                <a:spcPts val="500"/>
              </a:spcBef>
            </a:pP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500"/>
              </a:spcBef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No parent-child relationship is necessary between the communicating processes</a:t>
            </a:r>
          </a:p>
          <a:p>
            <a:pPr algn="just">
              <a:spcBef>
                <a:spcPts val="500"/>
              </a:spcBef>
            </a:pP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500"/>
              </a:spcBef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Several processes can use the named pipe for communication</a:t>
            </a:r>
          </a:p>
          <a:p>
            <a:pPr algn="just">
              <a:spcBef>
                <a:spcPts val="500"/>
              </a:spcBef>
            </a:pP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500"/>
              </a:spcBef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Provided on both UNIX and Windows systems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50570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Communication in Client-Server Systems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18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2" y="1453241"/>
            <a:ext cx="9971690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Various mechanisms for communication between client-server systems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Remote Procedure Calls (RPCs)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649637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19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2" y="1453241"/>
            <a:ext cx="10428572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9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defined as an endpoint for communication.</a:t>
            </a:r>
          </a:p>
          <a:p>
            <a:pPr algn="just">
              <a:spcBef>
                <a:spcPts val="9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Concatenation of IP address and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9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socket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161.25.19.8:1625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refers to port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1625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 host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161.25.19.8</a:t>
            </a:r>
          </a:p>
          <a:p>
            <a:pPr algn="just">
              <a:spcBef>
                <a:spcPts val="9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Communication consists between a pair of sockets</a:t>
            </a:r>
          </a:p>
          <a:p>
            <a:pPr algn="just">
              <a:spcBef>
                <a:spcPts val="9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 ports below 1024 are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well known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used for standard services</a:t>
            </a:r>
          </a:p>
          <a:p>
            <a:pPr algn="just">
              <a:spcBef>
                <a:spcPts val="9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Special IP address 127.0.0.1 (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loopback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to refer to system on which process is running</a:t>
            </a:r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322" y="4279527"/>
            <a:ext cx="3546231" cy="2426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876812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812328" y="1070873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Remote Procedure Calls (RPCs)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20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489029" y="1993931"/>
            <a:ext cx="10358234" cy="5208816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900"/>
              </a:spcBef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RPC abstracts procedure calls between processes on a networked system.</a:t>
            </a:r>
          </a:p>
          <a:p>
            <a:pPr lvl="1" algn="just">
              <a:spcBef>
                <a:spcPts val="900"/>
              </a:spcBef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Uses ports for service differentiation</a:t>
            </a:r>
          </a:p>
          <a:p>
            <a:pPr algn="just">
              <a:spcBef>
                <a:spcPts val="900"/>
              </a:spcBef>
            </a:pPr>
            <a:r>
              <a:rPr lang="en-US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Stubs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– client-side proxy for the actual procedure on the server.</a:t>
            </a:r>
          </a:p>
          <a:p>
            <a:pPr algn="just">
              <a:spcBef>
                <a:spcPts val="900"/>
              </a:spcBef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The client-side stub locates the server and </a:t>
            </a:r>
            <a:r>
              <a:rPr lang="en-US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marshals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the parameters.</a:t>
            </a:r>
          </a:p>
          <a:p>
            <a:pPr algn="just">
              <a:spcBef>
                <a:spcPts val="900"/>
              </a:spcBef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The server-side stub receives this message, unpacks the marshalled parameters, and performs the procedure on the server.</a:t>
            </a:r>
          </a:p>
          <a:p>
            <a:pPr algn="just">
              <a:spcBef>
                <a:spcPts val="900"/>
              </a:spcBef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Stubs can be generated automatically using tools like IDL (Interface Definition Language) compilers.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013612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Remote Procedure Call Mechanism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21</a:t>
            </a:fld>
            <a:endParaRPr lang="en-US">
              <a:latin typeface="Calibri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511" y="1441939"/>
            <a:ext cx="8370887" cy="521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149718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Execution of Remote Procedure Call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22</a:t>
            </a:fld>
            <a:endParaRPr lang="en-US">
              <a:latin typeface="Calibri"/>
            </a:endParaRPr>
          </a:p>
        </p:txBody>
      </p:sp>
      <p:pic>
        <p:nvPicPr>
          <p:cNvPr id="82947" name="Picture 6" descr="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4891" y="1410616"/>
            <a:ext cx="4407877" cy="5306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74099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26440</TotalTime>
  <Words>1332</Words>
  <Application>Microsoft Office PowerPoint</Application>
  <PresentationFormat>Widescreen</PresentationFormat>
  <Paragraphs>231</Paragraphs>
  <Slides>22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Calibri Light</vt:lpstr>
      <vt:lpstr>Cambria</vt:lpstr>
      <vt:lpstr>Courier New</vt:lpstr>
      <vt:lpstr>Office Theme</vt:lpstr>
      <vt:lpstr>Adjacency</vt:lpstr>
      <vt:lpstr>Artwork</vt:lpstr>
      <vt:lpstr>CSC 323 – Principles of Operating Systems</vt:lpstr>
      <vt:lpstr>Inter-process Communication</vt:lpstr>
      <vt:lpstr>Inter-process Communication</vt:lpstr>
      <vt:lpstr>IPC –  Shared Memory Model</vt:lpstr>
      <vt:lpstr>IPC – Message Passing Model</vt:lpstr>
      <vt:lpstr>Message Format</vt:lpstr>
      <vt:lpstr>Implementation Questions</vt:lpstr>
      <vt:lpstr>Direct Communication</vt:lpstr>
      <vt:lpstr>Indirect Communication</vt:lpstr>
      <vt:lpstr>Indirect Communication</vt:lpstr>
      <vt:lpstr>Synchronization</vt:lpstr>
      <vt:lpstr>Link Capacity – Buffering</vt:lpstr>
      <vt:lpstr>Examples of IPC Systems – POSIX</vt:lpstr>
      <vt:lpstr>IPC POSIX Producer and Consumer</vt:lpstr>
      <vt:lpstr>Pipes</vt:lpstr>
      <vt:lpstr>Ordinary Pipes</vt:lpstr>
      <vt:lpstr>Named Pipes</vt:lpstr>
      <vt:lpstr>Communication in Client-Server Systems</vt:lpstr>
      <vt:lpstr>Sockets</vt:lpstr>
      <vt:lpstr>Remote Procedure Calls (RPCs)</vt:lpstr>
      <vt:lpstr>Remote Procedure Call Mechanism</vt:lpstr>
      <vt:lpstr>Execution of Remote Procedure Call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 323 – Principles of Operating Systems</dc:title>
  <dc:creator>Hasan Jamal</dc:creator>
  <cp:lastModifiedBy>Mamoona Tasadduq</cp:lastModifiedBy>
  <cp:revision>131</cp:revision>
  <dcterms:created xsi:type="dcterms:W3CDTF">2020-06-08T03:46:58Z</dcterms:created>
  <dcterms:modified xsi:type="dcterms:W3CDTF">2025-09-11T07:42:57Z</dcterms:modified>
</cp:coreProperties>
</file>