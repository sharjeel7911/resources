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300" r:id="rId2"/>
    <p:sldId id="486" r:id="rId3"/>
    <p:sldId id="487" r:id="rId4"/>
    <p:sldId id="488" r:id="rId5"/>
    <p:sldId id="489" r:id="rId6"/>
    <p:sldId id="490" r:id="rId7"/>
    <p:sldId id="491" r:id="rId8"/>
    <p:sldId id="492" r:id="rId9"/>
    <p:sldId id="493" r:id="rId10"/>
    <p:sldId id="494" r:id="rId11"/>
    <p:sldId id="495" r:id="rId12"/>
    <p:sldId id="496" r:id="rId13"/>
    <p:sldId id="311" r:id="rId14"/>
    <p:sldId id="313" r:id="rId15"/>
    <p:sldId id="325" r:id="rId16"/>
    <p:sldId id="304" r:id="rId17"/>
    <p:sldId id="305" r:id="rId18"/>
    <p:sldId id="306" r:id="rId19"/>
    <p:sldId id="307" r:id="rId20"/>
    <p:sldId id="308" r:id="rId21"/>
    <p:sldId id="309" r:id="rId22"/>
    <p:sldId id="296" r:id="rId23"/>
    <p:sldId id="497" r:id="rId24"/>
    <p:sldId id="498" r:id="rId25"/>
    <p:sldId id="499" r:id="rId26"/>
    <p:sldId id="500" r:id="rId27"/>
    <p:sldId id="501" r:id="rId28"/>
    <p:sldId id="502" r:id="rId29"/>
    <p:sldId id="503" r:id="rId30"/>
    <p:sldId id="504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85278" autoAdjust="0"/>
  </p:normalViewPr>
  <p:slideViewPr>
    <p:cSldViewPr snapToGrid="0">
      <p:cViewPr varScale="1">
        <p:scale>
          <a:sx n="82" d="100"/>
          <a:sy n="82" d="100"/>
        </p:scale>
        <p:origin x="7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8T03:15:11.0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1 251 24575,'4'2'0,"0"-1"0,0 1 0,-1 0 0,1 0 0,0 0 0,-1 0 0,1 0 0,-1 1 0,6 5 0,9 6 0,-6-8 0,0 0 0,1 0 0,0-1 0,0-1 0,0 0 0,1-1 0,-1-1 0,1 0 0,-1 0 0,1-1 0,0-1 0,18-2 0,18-2 0,1-2 0,-1-2 0,0-2 0,57-20 0,187-88 0,-261 101 0,-1-2 0,45-33 0,-56 37-455,0 1 0,25-12 0,-24 16-6371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EE72B4-1258-4A50-B001-2FA0E644095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AC34B4-D2E5-4257-8EB4-6A0ED23460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894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34B4-D2E5-4257-8EB4-6A0ED23460F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2496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6AD5590-9C90-486D-8FA8-38179D6EA4CC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4083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EEEC92-9AE2-40B1-BEDA-C04DC176BF8C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5859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EEEC92-9AE2-40B1-BEDA-C04DC176BF8C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9881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EEEC92-9AE2-40B1-BEDA-C04DC176BF8C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9647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EEEC92-9AE2-40B1-BEDA-C04DC176BF8C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9965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EEEC92-9AE2-40B1-BEDA-C04DC176BF8C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7551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rgbClr val="00B05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81608" y="6356350"/>
            <a:ext cx="2743200" cy="365125"/>
          </a:xfrm>
        </p:spPr>
        <p:txBody>
          <a:bodyPr/>
          <a:lstStyle/>
          <a:p>
            <a:fld id="{DD9DFCAB-F758-4332-A193-2A2770332BF3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74420" y="6356350"/>
            <a:ext cx="2743200" cy="365125"/>
          </a:xfrm>
        </p:spPr>
        <p:txBody>
          <a:bodyPr/>
          <a:lstStyle/>
          <a:p>
            <a:fld id="{0E5D4AE8-9B61-40EB-BDB6-99E4971919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5132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463550" indent="-463550">
              <a:buFont typeface="Wingdings" panose="05000000000000000000" pitchFamily="2" charset="2"/>
              <a:buChar char="v"/>
              <a:defRPr/>
            </a:lvl1pPr>
            <a:lvl2pPr marL="795338" indent="-338138">
              <a:buFont typeface="Wingdings" panose="05000000000000000000" pitchFamily="2" charset="2"/>
              <a:buChar char="§"/>
              <a:defRPr/>
            </a:lvl2pPr>
            <a:lvl3pPr marL="1258888" indent="-344488">
              <a:buFont typeface="Wingdings" panose="05000000000000000000" pitchFamily="2" charset="2"/>
              <a:buChar char="Ø"/>
              <a:defRPr/>
            </a:lvl3pPr>
            <a:lvl4pPr marL="1709738" indent="-338138">
              <a:buFont typeface="Wingdings" panose="05000000000000000000" pitchFamily="2" charset="2"/>
              <a:buChar char="ü"/>
              <a:defRPr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DFCAB-F758-4332-A193-2A2770332BF3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D4AE8-9B61-40EB-BDB6-99E49719199C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7" descr="http://www.uol.edu.pk/portals/0/Images/branding-logo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844" y="7460779"/>
            <a:ext cx="3381186" cy="974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Straight Connector 7"/>
          <p:cNvCxnSpPr/>
          <p:nvPr userDrawn="1"/>
        </p:nvCxnSpPr>
        <p:spPr>
          <a:xfrm>
            <a:off x="834887" y="1444489"/>
            <a:ext cx="10518913" cy="13252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49921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00B050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DFCAB-F758-4332-A193-2A2770332BF3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D4AE8-9B61-40EB-BDB6-99E49719199C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834887" y="1444489"/>
            <a:ext cx="10518913" cy="13252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70052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DFCAB-F758-4332-A193-2A2770332BF3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D4AE8-9B61-40EB-BDB6-99E49719199C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834887" y="1762539"/>
            <a:ext cx="10518913" cy="13252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98223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DFCAB-F758-4332-A193-2A2770332BF3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D4AE8-9B61-40EB-BDB6-99E49719199C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834887" y="1683025"/>
            <a:ext cx="10518913" cy="13252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1291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DFCAB-F758-4332-A193-2A2770332BF3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D4AE8-9B61-40EB-BDB6-99E49719199C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834887" y="1762539"/>
            <a:ext cx="10518913" cy="13252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52601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DFCAB-F758-4332-A193-2A2770332BF3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D4AE8-9B61-40EB-BDB6-99E49719199C}" type="slidenum">
              <a:rPr lang="en-US" smtClean="0"/>
              <a:t>‹#›</a:t>
            </a:fld>
            <a:endParaRPr lang="en-US"/>
          </a:p>
        </p:txBody>
      </p:sp>
      <p:cxnSp>
        <p:nvCxnSpPr>
          <p:cNvPr id="5" name="Straight Connector 4"/>
          <p:cNvCxnSpPr/>
          <p:nvPr userDrawn="1"/>
        </p:nvCxnSpPr>
        <p:spPr>
          <a:xfrm>
            <a:off x="834887" y="1444489"/>
            <a:ext cx="10518913" cy="13252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41337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DFCAB-F758-4332-A193-2A2770332BF3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D4AE8-9B61-40EB-BDB6-99E4971919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8644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DFCAB-F758-4332-A193-2A2770332BF3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D4AE8-9B61-40EB-BDB6-99E4971919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5158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DFCAB-F758-4332-A193-2A2770332BF3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D4AE8-9B61-40EB-BDB6-99E49719199C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834887" y="1762539"/>
            <a:ext cx="10518913" cy="13252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24972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 anchor="b"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DFCAB-F758-4332-A193-2A2770332BF3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D4AE8-9B61-40EB-BDB6-99E4971919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0892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301113"/>
            <a:ext cx="10058400" cy="1450757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60260"/>
            <a:ext cx="10058400" cy="4023360"/>
          </a:xfrm>
        </p:spPr>
        <p:txBody>
          <a:bodyPr/>
          <a:lstStyle>
            <a:lvl1pPr marL="347663" indent="-347663">
              <a:buFont typeface="Wingdings" panose="05000000000000000000" pitchFamily="2" charset="2"/>
              <a:buChar char="v"/>
              <a:defRPr/>
            </a:lvl1pPr>
            <a:lvl2pPr marL="682625" indent="-334963">
              <a:buFont typeface="Wingdings" panose="05000000000000000000" pitchFamily="2" charset="2"/>
              <a:buChar char="q"/>
              <a:defRPr/>
            </a:lvl2pPr>
            <a:lvl3pPr marL="914400" indent="-231775">
              <a:buFont typeface="Wingdings" panose="05000000000000000000" pitchFamily="2" charset="2"/>
              <a:buChar char="§"/>
              <a:defRPr/>
            </a:lvl3pPr>
            <a:lvl4pPr marL="1146175" indent="-231775">
              <a:defRPr/>
            </a:lvl4pPr>
            <a:lvl5pPr marL="1379538" indent="-231775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B9DE3-69F7-4C71-A116-E31BF97F5FAD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4036B-9B09-4361-9AAE-7166081CB667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 userDrawn="1"/>
        </p:nvCxnSpPr>
        <p:spPr>
          <a:xfrm flipV="1">
            <a:off x="1207658" y="1741714"/>
            <a:ext cx="9948022" cy="18143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4734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463550" lvl="0" indent="-463550">
              <a:buFont typeface="Wingdings" panose="05000000000000000000" pitchFamily="2" charset="2"/>
              <a:buChar char="v"/>
            </a:pPr>
            <a:r>
              <a:rPr lang="en-US" dirty="0"/>
              <a:t>Click to edit Master text styles</a:t>
            </a:r>
          </a:p>
          <a:p>
            <a:pPr marL="795338" lvl="1" indent="-338138">
              <a:buFont typeface="Wingdings" panose="05000000000000000000" pitchFamily="2" charset="2"/>
              <a:buChar char="§"/>
            </a:pPr>
            <a:r>
              <a:rPr lang="en-US" dirty="0"/>
              <a:t>Second level</a:t>
            </a:r>
          </a:p>
          <a:p>
            <a:pPr marL="1258888" lvl="2" indent="-344488">
              <a:buFont typeface="Wingdings" panose="05000000000000000000" pitchFamily="2" charset="2"/>
              <a:buChar char="Ø"/>
            </a:pPr>
            <a:r>
              <a:rPr lang="en-US" dirty="0"/>
              <a:t>Third level</a:t>
            </a:r>
          </a:p>
          <a:p>
            <a:pPr marL="1709738" lvl="3" indent="-338138">
              <a:buFont typeface="Wingdings" panose="05000000000000000000" pitchFamily="2" charset="2"/>
              <a:buChar char="ü"/>
            </a:pPr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9DFCAB-F758-4332-A193-2A2770332BF3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5D4AE8-9B61-40EB-BDB6-99E49719199C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7" descr="http://www.uol.edu.pk/portals/0/Images/branding-logo.png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844" y="92559"/>
            <a:ext cx="2438332" cy="702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 userDrawn="1"/>
        </p:nvSpPr>
        <p:spPr>
          <a:xfrm>
            <a:off x="8534399" y="119269"/>
            <a:ext cx="26769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</a:rPr>
              <a:t>Department of </a:t>
            </a:r>
          </a:p>
          <a:p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</a:rPr>
              <a:t>Software Engineering </a:t>
            </a:r>
          </a:p>
        </p:txBody>
      </p:sp>
      <p:pic>
        <p:nvPicPr>
          <p:cNvPr id="9" name="Picture 8"/>
          <p:cNvPicPr/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41768" y="132517"/>
            <a:ext cx="593335" cy="69463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3067146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lang="en-US" sz="2800" kern="1200" smtClean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2400" kern="1200" smtClean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2000" kern="1200" smtClean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800" kern="1200" smtClean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800" kern="1200" smtClean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32012" y="1990165"/>
            <a:ext cx="10945906" cy="1680880"/>
          </a:xfrm>
        </p:spPr>
        <p:txBody>
          <a:bodyPr/>
          <a:lstStyle/>
          <a:p>
            <a:br>
              <a:rPr 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Artificial Intelligence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2612" y="3834274"/>
            <a:ext cx="7924800" cy="2091396"/>
          </a:xfrm>
        </p:spPr>
        <p:txBody>
          <a:bodyPr>
            <a:normAutofit/>
          </a:bodyPr>
          <a:lstStyle/>
          <a:p>
            <a:pPr algn="l"/>
            <a:endParaRPr lang="en-US" sz="4000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l"/>
            <a:endParaRPr lang="en-US" sz="4000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7641704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21" name="Picture 4" descr="dfs-progress01c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0" y="3886200"/>
            <a:ext cx="5181600" cy="266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4822" name="Rectangle 2"/>
          <p:cNvSpPr>
            <a:spLocks noGrp="1" noChangeArrowheads="1"/>
          </p:cNvSpPr>
          <p:nvPr>
            <p:ph type="title"/>
          </p:nvPr>
        </p:nvSpPr>
        <p:spPr>
          <a:xfrm>
            <a:off x="1261240" y="842308"/>
            <a:ext cx="9585436" cy="852487"/>
          </a:xfrm>
        </p:spPr>
        <p:txBody>
          <a:bodyPr/>
          <a:lstStyle/>
          <a:p>
            <a:pPr eaLnBrk="1" hangingPunct="1"/>
            <a:r>
              <a:rPr lang="en-US" dirty="0"/>
              <a:t>Depth-first Search</a:t>
            </a:r>
          </a:p>
        </p:txBody>
      </p:sp>
      <p:sp>
        <p:nvSpPr>
          <p:cNvPr id="348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61240" y="1860331"/>
            <a:ext cx="10026869" cy="4692869"/>
          </a:xfrm>
        </p:spPr>
        <p:txBody>
          <a:bodyPr/>
          <a:lstStyle/>
          <a:p>
            <a:pPr marL="342900" lvl="1" indent="-342900">
              <a:buClr>
                <a:schemeClr val="folHlink"/>
              </a:buClr>
              <a:buSzPct val="60000"/>
              <a:buFont typeface="Wingdings" panose="05000000000000000000" pitchFamily="2" charset="2"/>
              <a:buChar char="§"/>
            </a:pPr>
            <a:r>
              <a:rPr lang="en-US" dirty="0"/>
              <a:t>Expand deepest unexpanded node
</a:t>
            </a:r>
            <a:r>
              <a:rPr lang="en-US" sz="2000" dirty="0"/>
              <a:t>Goes to the deepest level of the search tree where there are no further successors</a:t>
            </a:r>
            <a:endParaRPr lang="en-US" dirty="0"/>
          </a:p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accent2"/>
                </a:solidFill>
              </a:rPr>
              <a:t>Implementation</a:t>
            </a:r>
            <a:r>
              <a:rPr lang="en-US" sz="2400" dirty="0"/>
              <a:t>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/>
              <a:t>use </a:t>
            </a:r>
            <a:r>
              <a:rPr lang="en-US" sz="2000" i="1" dirty="0"/>
              <a:t>frontier</a:t>
            </a:r>
            <a:r>
              <a:rPr lang="en-US" sz="2000" dirty="0"/>
              <a:t> as a </a:t>
            </a:r>
            <a:r>
              <a:rPr lang="en-US" sz="2000" dirty="0">
                <a:solidFill>
                  <a:srgbClr val="FF0000"/>
                </a:solidFill>
              </a:rPr>
              <a:t>Stack</a:t>
            </a:r>
            <a:r>
              <a:rPr lang="en-US" sz="2000" dirty="0"/>
              <a:t>, LIFO</a:t>
            </a:r>
          </a:p>
          <a:p>
            <a:pPr lvl="1" eaLnBrk="1" hangingPunct="1">
              <a:buFont typeface="Wingdings" panose="05000000000000000000" pitchFamily="2" charset="2"/>
              <a:buChar char="§"/>
            </a:pPr>
            <a:r>
              <a:rPr lang="en-US" sz="2000" dirty="0"/>
              <a:t>Put the expanded node at the </a:t>
            </a:r>
            <a:r>
              <a:rPr lang="en-US" sz="2000" dirty="0">
                <a:solidFill>
                  <a:srgbClr val="FF0000"/>
                </a:solidFill>
              </a:rPr>
              <a:t>front</a:t>
            </a:r>
            <a:r>
              <a:rPr lang="en-US" sz="2000" dirty="0"/>
              <a:t> of the </a:t>
            </a:r>
            <a:r>
              <a:rPr lang="en-US" sz="2000" i="1" dirty="0"/>
              <a:t>frontier</a:t>
            </a:r>
            <a:r>
              <a:rPr lang="en-US" sz="2000" dirty="0"/>
              <a:t>
Frontier = 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763000" y="6400800"/>
            <a:ext cx="1905000" cy="457200"/>
          </a:xfrm>
        </p:spPr>
        <p:txBody>
          <a:bodyPr/>
          <a:lstStyle/>
          <a:p>
            <a:fld id="{4554FA1C-AE11-4D94-9C38-1A203D2294E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1363DC-A005-C5F7-DCFE-3323ABE6E60C}"/>
              </a:ext>
            </a:extLst>
          </p:cNvPr>
          <p:cNvSpPr txBox="1"/>
          <p:nvPr/>
        </p:nvSpPr>
        <p:spPr>
          <a:xfrm>
            <a:off x="643812" y="4159656"/>
            <a:ext cx="584096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Frontier  		expansion   explored</a:t>
            </a:r>
          </a:p>
          <a:p>
            <a:r>
              <a:rPr lang="en-US" dirty="0"/>
              <a:t>A		A		0</a:t>
            </a:r>
          </a:p>
          <a:p>
            <a:r>
              <a:rPr lang="en-US" dirty="0"/>
              <a:t> B C            	 B		A</a:t>
            </a:r>
          </a:p>
          <a:p>
            <a:r>
              <a:rPr lang="en-US" dirty="0"/>
              <a:t>DEC		D		A,B</a:t>
            </a:r>
          </a:p>
          <a:p>
            <a:r>
              <a:rPr lang="en-US" dirty="0"/>
              <a:t>H,I,E,C		H		A,B,D</a:t>
            </a:r>
          </a:p>
          <a:p>
            <a:r>
              <a:rPr lang="en-US" dirty="0"/>
              <a:t>I,E,C		I		A,B,D,H</a:t>
            </a:r>
          </a:p>
          <a:p>
            <a:r>
              <a:rPr lang="en-US" dirty="0"/>
              <a:t>E,C		E		A,B,D,H,I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59C9F873-F794-7B01-ECB1-0DC10BE07ADE}"/>
                  </a:ext>
                </a:extLst>
              </p14:cNvPr>
              <p14:cNvContentPartPr/>
              <p14:nvPr/>
            </p14:nvContentPartPr>
            <p14:xfrm>
              <a:off x="877048" y="4733633"/>
              <a:ext cx="397800" cy="11952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59C9F873-F794-7B01-ECB1-0DC10BE07AD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59408" y="4715993"/>
                <a:ext cx="433440" cy="155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595099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5" name="Rectangle 2"/>
          <p:cNvSpPr>
            <a:spLocks noGrp="1" noChangeArrowheads="1"/>
          </p:cNvSpPr>
          <p:nvPr>
            <p:ph type="title"/>
          </p:nvPr>
        </p:nvSpPr>
        <p:spPr>
          <a:xfrm>
            <a:off x="1224840" y="885304"/>
            <a:ext cx="7793037" cy="852487"/>
          </a:xfrm>
        </p:spPr>
        <p:txBody>
          <a:bodyPr/>
          <a:lstStyle/>
          <a:p>
            <a:pPr eaLnBrk="1" hangingPunct="1"/>
            <a:r>
              <a:rPr lang="en-US" dirty="0"/>
              <a:t>Depth-first Search</a:t>
            </a:r>
          </a:p>
        </p:txBody>
      </p:sp>
      <p:sp>
        <p:nvSpPr>
          <p:cNvPr id="3584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sz="2400" dirty="0"/>
              <a:t>Expand deepest unexpanded node</a:t>
            </a:r>
          </a:p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sz="2400" dirty="0"/>
              <a:t>Check if A is goal, it is not, expand A, remove A</a:t>
            </a:r>
          </a:p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sz="2400" dirty="0"/>
              <a:t>Frontier = B,C</a:t>
            </a:r>
          </a:p>
          <a:p>
            <a:pPr marL="347662" lvl="1" indent="0" eaLnBrk="1" hangingPunct="1">
              <a:buNone/>
            </a:pPr>
            <a:endParaRPr lang="en-US" sz="2000" dirty="0"/>
          </a:p>
        </p:txBody>
      </p:sp>
      <p:pic>
        <p:nvPicPr>
          <p:cNvPr id="35847" name="Picture 5" descr="dfs-progress02c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257800" y="3314700"/>
            <a:ext cx="5181600" cy="300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763000" y="6400800"/>
            <a:ext cx="1905000" cy="457200"/>
          </a:xfrm>
        </p:spPr>
        <p:txBody>
          <a:bodyPr/>
          <a:lstStyle/>
          <a:p>
            <a:fld id="{4554FA1C-AE11-4D94-9C38-1A203D2294EB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496255-FD6E-D9E7-2306-CBF9D0900E57}"/>
              </a:ext>
            </a:extLst>
          </p:cNvPr>
          <p:cNvSpPr txBox="1"/>
          <p:nvPr/>
        </p:nvSpPr>
        <p:spPr>
          <a:xfrm>
            <a:off x="643812" y="4159656"/>
            <a:ext cx="584096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Frontier  		expansion   explored</a:t>
            </a:r>
          </a:p>
          <a:p>
            <a:r>
              <a:rPr lang="en-US" dirty="0"/>
              <a:t>A		A		0</a:t>
            </a:r>
          </a:p>
          <a:p>
            <a:r>
              <a:rPr lang="en-US" dirty="0"/>
              <a:t> B C            	 B		A</a:t>
            </a:r>
          </a:p>
          <a:p>
            <a:r>
              <a:rPr lang="en-US" dirty="0"/>
              <a:t>DEC		D		A,B</a:t>
            </a:r>
          </a:p>
          <a:p>
            <a:r>
              <a:rPr lang="en-US" dirty="0"/>
              <a:t>H,I,E,C		H		A,B,D</a:t>
            </a:r>
          </a:p>
          <a:p>
            <a:r>
              <a:rPr lang="en-US" dirty="0"/>
              <a:t>I,E,C		I		A,B,D,H</a:t>
            </a:r>
          </a:p>
          <a:p>
            <a:r>
              <a:rPr lang="en-US" dirty="0"/>
              <a:t>E,C		E		A,B,D,H,I</a:t>
            </a:r>
          </a:p>
        </p:txBody>
      </p:sp>
    </p:spTree>
    <p:extLst>
      <p:ext uri="{BB962C8B-B14F-4D97-AF65-F5344CB8AC3E}">
        <p14:creationId xmlns:p14="http://schemas.microsoft.com/office/powerpoint/2010/main" val="14448479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9" name="Picture 5" descr="dfs-progress03c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913120" y="2290928"/>
            <a:ext cx="5181600" cy="297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6870" name="Rectangle 2"/>
          <p:cNvSpPr>
            <a:spLocks noGrp="1" noChangeArrowheads="1"/>
          </p:cNvSpPr>
          <p:nvPr>
            <p:ph type="title"/>
          </p:nvPr>
        </p:nvSpPr>
        <p:spPr>
          <a:xfrm>
            <a:off x="1271808" y="843779"/>
            <a:ext cx="7793037" cy="852487"/>
          </a:xfrm>
        </p:spPr>
        <p:txBody>
          <a:bodyPr/>
          <a:lstStyle/>
          <a:p>
            <a:pPr eaLnBrk="1" hangingPunct="1"/>
            <a:r>
              <a:rPr lang="en-US" dirty="0"/>
              <a:t>Depth-first Search</a:t>
            </a:r>
          </a:p>
        </p:txBody>
      </p:sp>
      <p:sp>
        <p:nvSpPr>
          <p:cNvPr id="368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dirty="0"/>
              <a:t>Check if B is goal, it is not, expand B, remove B</a:t>
            </a:r>
          </a:p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dirty="0"/>
              <a:t>Frontier = D,E,C</a:t>
            </a:r>
          </a:p>
          <a:p>
            <a:pPr eaLnBrk="1" hangingPunct="1">
              <a:buFont typeface="Wingdings" panose="05000000000000000000" pitchFamily="2" charset="2"/>
              <a:buChar char="§"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763000" y="6400800"/>
            <a:ext cx="1905000" cy="457200"/>
          </a:xfrm>
        </p:spPr>
        <p:txBody>
          <a:bodyPr/>
          <a:lstStyle/>
          <a:p>
            <a:fld id="{4554FA1C-AE11-4D94-9C38-1A203D2294E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6A9152A-AB95-0B8D-4F6B-C990479C8103}"/>
              </a:ext>
            </a:extLst>
          </p:cNvPr>
          <p:cNvSpPr txBox="1"/>
          <p:nvPr/>
        </p:nvSpPr>
        <p:spPr>
          <a:xfrm>
            <a:off x="730898" y="3231403"/>
            <a:ext cx="584096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Frontier  		expansion   explored</a:t>
            </a:r>
          </a:p>
          <a:p>
            <a:r>
              <a:rPr lang="en-US" dirty="0"/>
              <a:t>A		A		0</a:t>
            </a:r>
          </a:p>
          <a:p>
            <a:r>
              <a:rPr lang="en-US" dirty="0"/>
              <a:t> B C            	 B		A</a:t>
            </a:r>
          </a:p>
          <a:p>
            <a:r>
              <a:rPr lang="en-US" dirty="0"/>
              <a:t>DEC		D		A,B</a:t>
            </a:r>
          </a:p>
          <a:p>
            <a:r>
              <a:rPr lang="en-US" dirty="0"/>
              <a:t>H,I,E,C		H		A,B,D</a:t>
            </a:r>
          </a:p>
          <a:p>
            <a:r>
              <a:rPr lang="en-US" dirty="0"/>
              <a:t>I,E,C		I		A,B,D,H</a:t>
            </a:r>
          </a:p>
          <a:p>
            <a:r>
              <a:rPr lang="en-US" dirty="0"/>
              <a:t>E,C		E		A,B,D,H,I</a:t>
            </a:r>
          </a:p>
        </p:txBody>
      </p:sp>
    </p:spTree>
    <p:extLst>
      <p:ext uri="{BB962C8B-B14F-4D97-AF65-F5344CB8AC3E}">
        <p14:creationId xmlns:p14="http://schemas.microsoft.com/office/powerpoint/2010/main" val="11739915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3" name="Picture 5" descr="dfs-progress04c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248404" y="3048001"/>
            <a:ext cx="5181600" cy="291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7894" name="Rectangle 3"/>
          <p:cNvSpPr>
            <a:spLocks noGrp="1" noChangeArrowheads="1"/>
          </p:cNvSpPr>
          <p:nvPr>
            <p:ph type="title"/>
          </p:nvPr>
        </p:nvSpPr>
        <p:spPr>
          <a:xfrm>
            <a:off x="1256370" y="855912"/>
            <a:ext cx="7793037" cy="852487"/>
          </a:xfrm>
        </p:spPr>
        <p:txBody>
          <a:bodyPr/>
          <a:lstStyle/>
          <a:p>
            <a:pPr eaLnBrk="1" hangingPunct="1"/>
            <a:r>
              <a:rPr lang="en-US" dirty="0"/>
              <a:t>Depth-first Search</a:t>
            </a:r>
          </a:p>
        </p:txBody>
      </p:sp>
      <p:sp>
        <p:nvSpPr>
          <p:cNvPr id="37895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dirty="0"/>
              <a:t>Check if D is goal, it is not, expand D, remove D</a:t>
            </a:r>
          </a:p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dirty="0"/>
              <a:t>Frontier = H, I, E, C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763000" y="6400800"/>
            <a:ext cx="1905000" cy="457200"/>
          </a:xfrm>
        </p:spPr>
        <p:txBody>
          <a:bodyPr/>
          <a:lstStyle/>
          <a:p>
            <a:fld id="{4554FA1C-AE11-4D94-9C38-1A203D2294EB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504F0CC-1273-519B-AC4E-30CA6FA5B248}"/>
              </a:ext>
            </a:extLst>
          </p:cNvPr>
          <p:cNvSpPr txBox="1"/>
          <p:nvPr/>
        </p:nvSpPr>
        <p:spPr>
          <a:xfrm>
            <a:off x="730898" y="3231403"/>
            <a:ext cx="584096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Frontier  		expansion   explored</a:t>
            </a:r>
          </a:p>
          <a:p>
            <a:r>
              <a:rPr lang="en-US" dirty="0"/>
              <a:t>A		A		0</a:t>
            </a:r>
          </a:p>
          <a:p>
            <a:r>
              <a:rPr lang="en-US" dirty="0"/>
              <a:t> B C            	 B		A</a:t>
            </a:r>
          </a:p>
          <a:p>
            <a:r>
              <a:rPr lang="en-US" dirty="0"/>
              <a:t>DEC		D		A,B</a:t>
            </a:r>
          </a:p>
          <a:p>
            <a:r>
              <a:rPr lang="en-US" dirty="0"/>
              <a:t>H,I,E,C		H		A,B,D</a:t>
            </a:r>
          </a:p>
          <a:p>
            <a:r>
              <a:rPr lang="en-US" dirty="0"/>
              <a:t>I,E,C		I		A,B,D,H</a:t>
            </a:r>
          </a:p>
          <a:p>
            <a:r>
              <a:rPr lang="en-US" dirty="0"/>
              <a:t>E,C		E		A,B,D,H,I</a:t>
            </a:r>
          </a:p>
        </p:txBody>
      </p:sp>
    </p:spTree>
    <p:extLst>
      <p:ext uri="{BB962C8B-B14F-4D97-AF65-F5344CB8AC3E}">
        <p14:creationId xmlns:p14="http://schemas.microsoft.com/office/powerpoint/2010/main" val="40689334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7" name="Picture 5" descr="dfs-progress05c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192044" y="3121026"/>
            <a:ext cx="5181600" cy="3011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8918" name="Rectangle 2"/>
          <p:cNvSpPr>
            <a:spLocks noGrp="1" noChangeArrowheads="1"/>
          </p:cNvSpPr>
          <p:nvPr>
            <p:ph type="title"/>
          </p:nvPr>
        </p:nvSpPr>
        <p:spPr>
          <a:xfrm>
            <a:off x="1272134" y="842169"/>
            <a:ext cx="7793037" cy="852487"/>
          </a:xfrm>
        </p:spPr>
        <p:txBody>
          <a:bodyPr/>
          <a:lstStyle/>
          <a:p>
            <a:pPr eaLnBrk="1" hangingPunct="1"/>
            <a:r>
              <a:rPr lang="en-US" dirty="0"/>
              <a:t>Depth-first Search</a:t>
            </a:r>
          </a:p>
        </p:txBody>
      </p:sp>
      <p:sp>
        <p:nvSpPr>
          <p:cNvPr id="389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414" y="1860331"/>
            <a:ext cx="9296674" cy="4272183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sz="2400" dirty="0"/>
              <a:t>Both H and I has not successors so remove them if it is not goal</a:t>
            </a:r>
          </a:p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dirty="0"/>
              <a:t>Frontier = E, C</a:t>
            </a:r>
            <a:endParaRPr lang="en-US" sz="2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763000" y="6400800"/>
            <a:ext cx="1905000" cy="457200"/>
          </a:xfrm>
        </p:spPr>
        <p:txBody>
          <a:bodyPr/>
          <a:lstStyle/>
          <a:p>
            <a:fld id="{4554FA1C-AE11-4D94-9C38-1A203D2294EB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6E91CDA-7558-85D5-EB13-456C10640309}"/>
              </a:ext>
            </a:extLst>
          </p:cNvPr>
          <p:cNvSpPr txBox="1"/>
          <p:nvPr/>
        </p:nvSpPr>
        <p:spPr>
          <a:xfrm>
            <a:off x="730898" y="3231403"/>
            <a:ext cx="584096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Frontier  		expansion   explored</a:t>
            </a:r>
          </a:p>
          <a:p>
            <a:r>
              <a:rPr lang="en-US" dirty="0"/>
              <a:t>A		A		0</a:t>
            </a:r>
          </a:p>
          <a:p>
            <a:r>
              <a:rPr lang="en-US" dirty="0"/>
              <a:t> B C            	 B		A</a:t>
            </a:r>
          </a:p>
          <a:p>
            <a:r>
              <a:rPr lang="en-US" dirty="0"/>
              <a:t>DEC		D		A,B</a:t>
            </a:r>
          </a:p>
          <a:p>
            <a:r>
              <a:rPr lang="en-US" dirty="0"/>
              <a:t>H,I,E,C		H		A,B,D</a:t>
            </a:r>
          </a:p>
          <a:p>
            <a:r>
              <a:rPr lang="en-US" dirty="0"/>
              <a:t>I,E,C		I		A,B,D,H</a:t>
            </a:r>
          </a:p>
          <a:p>
            <a:r>
              <a:rPr lang="en-US" dirty="0"/>
              <a:t>E,C		E		A,B,D,H,I</a:t>
            </a:r>
          </a:p>
          <a:p>
            <a:r>
              <a:rPr lang="en-US" dirty="0"/>
              <a:t>J, K C		J		A,B,D,H,I,E</a:t>
            </a:r>
          </a:p>
        </p:txBody>
      </p:sp>
    </p:spTree>
    <p:extLst>
      <p:ext uri="{BB962C8B-B14F-4D97-AF65-F5344CB8AC3E}">
        <p14:creationId xmlns:p14="http://schemas.microsoft.com/office/powerpoint/2010/main" val="20672029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41" name="Rectangle 2"/>
          <p:cNvSpPr>
            <a:spLocks noGrp="1" noChangeArrowheads="1"/>
          </p:cNvSpPr>
          <p:nvPr>
            <p:ph type="title"/>
          </p:nvPr>
        </p:nvSpPr>
        <p:spPr>
          <a:xfrm>
            <a:off x="1240606" y="859545"/>
            <a:ext cx="9732194" cy="852487"/>
          </a:xfrm>
        </p:spPr>
        <p:txBody>
          <a:bodyPr/>
          <a:lstStyle/>
          <a:p>
            <a:pPr eaLnBrk="1" hangingPunct="1"/>
            <a:r>
              <a:rPr lang="en-US" dirty="0"/>
              <a:t>Depth-first Search</a:t>
            </a:r>
          </a:p>
        </p:txBody>
      </p:sp>
      <p:sp>
        <p:nvSpPr>
          <p:cNvPr id="3994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dirty="0"/>
              <a:t>Check if E is goal, it is not, expand E, remove E</a:t>
            </a:r>
          </a:p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dirty="0"/>
              <a:t>Frontier = J, K, C</a:t>
            </a:r>
          </a:p>
        </p:txBody>
      </p:sp>
      <p:pic>
        <p:nvPicPr>
          <p:cNvPr id="39943" name="Picture 6" descr="dfs-progress06c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724400" y="3297238"/>
            <a:ext cx="5181600" cy="302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763000" y="6400800"/>
            <a:ext cx="1905000" cy="457200"/>
          </a:xfrm>
        </p:spPr>
        <p:txBody>
          <a:bodyPr/>
          <a:lstStyle/>
          <a:p>
            <a:fld id="{4554FA1C-AE11-4D94-9C38-1A203D2294EB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F43FA9-28B5-3128-3DE0-36FD7AF7C27C}"/>
              </a:ext>
            </a:extLst>
          </p:cNvPr>
          <p:cNvSpPr txBox="1"/>
          <p:nvPr/>
        </p:nvSpPr>
        <p:spPr>
          <a:xfrm>
            <a:off x="833535" y="2802195"/>
            <a:ext cx="584096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Frontier  		expansion   explored</a:t>
            </a:r>
          </a:p>
          <a:p>
            <a:r>
              <a:rPr lang="en-US" dirty="0"/>
              <a:t>A		A		0</a:t>
            </a:r>
          </a:p>
          <a:p>
            <a:r>
              <a:rPr lang="en-US" dirty="0"/>
              <a:t> B C            	 B		A</a:t>
            </a:r>
          </a:p>
          <a:p>
            <a:r>
              <a:rPr lang="en-US" dirty="0"/>
              <a:t>DEC		D		A,B</a:t>
            </a:r>
          </a:p>
          <a:p>
            <a:r>
              <a:rPr lang="en-US" dirty="0"/>
              <a:t>H,I,E,C		H		A,B,D</a:t>
            </a:r>
          </a:p>
          <a:p>
            <a:r>
              <a:rPr lang="en-US" dirty="0"/>
              <a:t>I,E,C		I		A,B,D,H</a:t>
            </a:r>
          </a:p>
          <a:p>
            <a:r>
              <a:rPr lang="en-US" dirty="0"/>
              <a:t>E,C		E		A,B,D,H,I</a:t>
            </a:r>
          </a:p>
          <a:p>
            <a:r>
              <a:rPr lang="en-US" dirty="0"/>
              <a:t>J, K C		J		A,B,D,H,I,E</a:t>
            </a:r>
          </a:p>
        </p:txBody>
      </p:sp>
    </p:spTree>
    <p:extLst>
      <p:ext uri="{BB962C8B-B14F-4D97-AF65-F5344CB8AC3E}">
        <p14:creationId xmlns:p14="http://schemas.microsoft.com/office/powerpoint/2010/main" val="7520962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5" name="Rectangle 2"/>
          <p:cNvSpPr>
            <a:spLocks noGrp="1" noChangeArrowheads="1"/>
          </p:cNvSpPr>
          <p:nvPr>
            <p:ph type="title"/>
          </p:nvPr>
        </p:nvSpPr>
        <p:spPr>
          <a:xfrm>
            <a:off x="1160344" y="869538"/>
            <a:ext cx="7793037" cy="852487"/>
          </a:xfrm>
        </p:spPr>
        <p:txBody>
          <a:bodyPr/>
          <a:lstStyle/>
          <a:p>
            <a:pPr eaLnBrk="1" hangingPunct="1"/>
            <a:r>
              <a:rPr lang="en-US" dirty="0"/>
              <a:t>Depth-first Search</a:t>
            </a:r>
          </a:p>
        </p:txBody>
      </p:sp>
      <p:sp>
        <p:nvSpPr>
          <p:cNvPr id="4096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dirty="0"/>
              <a:t>J and K do not have successors neither is any of them goal so remove them from frontier one by one</a:t>
            </a:r>
          </a:p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dirty="0"/>
              <a:t>Frontier = C</a:t>
            </a:r>
          </a:p>
        </p:txBody>
      </p:sp>
      <p:pic>
        <p:nvPicPr>
          <p:cNvPr id="40968" name="Picture 6" descr="dfs-progress07c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362581" y="3093168"/>
            <a:ext cx="5181600" cy="300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763000" y="6400800"/>
            <a:ext cx="1905000" cy="457200"/>
          </a:xfrm>
        </p:spPr>
        <p:txBody>
          <a:bodyPr/>
          <a:lstStyle/>
          <a:p>
            <a:fld id="{4554FA1C-AE11-4D94-9C38-1A203D2294EB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A66C2D-07BB-961A-AF34-832F673CC75E}"/>
              </a:ext>
            </a:extLst>
          </p:cNvPr>
          <p:cNvSpPr txBox="1"/>
          <p:nvPr/>
        </p:nvSpPr>
        <p:spPr>
          <a:xfrm>
            <a:off x="730898" y="3231403"/>
            <a:ext cx="584096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Frontier  		expansion   explored</a:t>
            </a:r>
          </a:p>
          <a:p>
            <a:r>
              <a:rPr lang="en-US" dirty="0"/>
              <a:t>A		A		0</a:t>
            </a:r>
          </a:p>
          <a:p>
            <a:r>
              <a:rPr lang="en-US" dirty="0"/>
              <a:t> B C            	 B		A</a:t>
            </a:r>
          </a:p>
          <a:p>
            <a:r>
              <a:rPr lang="en-US" dirty="0"/>
              <a:t>DEC		D		A,B</a:t>
            </a:r>
          </a:p>
          <a:p>
            <a:r>
              <a:rPr lang="en-US" dirty="0"/>
              <a:t>H,I,E,C		H		A,B,D</a:t>
            </a:r>
          </a:p>
          <a:p>
            <a:r>
              <a:rPr lang="en-US" dirty="0"/>
              <a:t>I,E,C		I		A,B,D,H</a:t>
            </a:r>
          </a:p>
          <a:p>
            <a:r>
              <a:rPr lang="en-US" dirty="0"/>
              <a:t>E,C		E		A,B,D,H,I</a:t>
            </a:r>
          </a:p>
          <a:p>
            <a:r>
              <a:rPr lang="en-US" dirty="0"/>
              <a:t>J, K C		J		A,B,D,H,I,E</a:t>
            </a:r>
          </a:p>
          <a:p>
            <a:r>
              <a:rPr lang="en-US" dirty="0"/>
              <a:t>..</a:t>
            </a:r>
          </a:p>
          <a:p>
            <a:r>
              <a:rPr lang="en-US" dirty="0"/>
              <a:t>C		C		A,B,D,H,I,EJ,K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59992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3" name="Rectangle 2"/>
          <p:cNvSpPr>
            <a:spLocks noGrp="1" noChangeArrowheads="1"/>
          </p:cNvSpPr>
          <p:nvPr>
            <p:ph type="title"/>
          </p:nvPr>
        </p:nvSpPr>
        <p:spPr>
          <a:xfrm>
            <a:off x="1287900" y="853282"/>
            <a:ext cx="7793037" cy="852487"/>
          </a:xfrm>
        </p:spPr>
        <p:txBody>
          <a:bodyPr/>
          <a:lstStyle/>
          <a:p>
            <a:pPr eaLnBrk="1" hangingPunct="1"/>
            <a:r>
              <a:rPr lang="en-US" dirty="0"/>
              <a:t>Depth-first Search</a:t>
            </a:r>
          </a:p>
        </p:txBody>
      </p:sp>
      <p:sp>
        <p:nvSpPr>
          <p:cNvPr id="4301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dirty="0"/>
              <a:t>Check if C is goal, it is not, expand C, remove C</a:t>
            </a:r>
          </a:p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dirty="0"/>
              <a:t>Frontier = F, G</a:t>
            </a:r>
          </a:p>
          <a:p>
            <a:pPr eaLnBrk="1" hangingPunct="1">
              <a:buFont typeface="Wingdings" panose="05000000000000000000" pitchFamily="2" charset="2"/>
              <a:buChar char="§"/>
            </a:pPr>
            <a:endParaRPr lang="en-US" dirty="0"/>
          </a:p>
        </p:txBody>
      </p:sp>
      <p:pic>
        <p:nvPicPr>
          <p:cNvPr id="43016" name="Picture 6" descr="dfs-progress09c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974080" y="2755641"/>
            <a:ext cx="5181600" cy="302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763000" y="6400800"/>
            <a:ext cx="1905000" cy="457200"/>
          </a:xfrm>
        </p:spPr>
        <p:txBody>
          <a:bodyPr/>
          <a:lstStyle/>
          <a:p>
            <a:fld id="{4554FA1C-AE11-4D94-9C38-1A203D2294EB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CF8366-B46F-7F84-A384-FBEA9430D68F}"/>
              </a:ext>
            </a:extLst>
          </p:cNvPr>
          <p:cNvSpPr txBox="1"/>
          <p:nvPr/>
        </p:nvSpPr>
        <p:spPr>
          <a:xfrm>
            <a:off x="730898" y="3231403"/>
            <a:ext cx="5840964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Frontier  		expansion   explored</a:t>
            </a:r>
          </a:p>
          <a:p>
            <a:r>
              <a:rPr lang="en-US" dirty="0"/>
              <a:t>A		A		0</a:t>
            </a:r>
          </a:p>
          <a:p>
            <a:r>
              <a:rPr lang="en-US" dirty="0"/>
              <a:t> B C            	 B		A</a:t>
            </a:r>
          </a:p>
          <a:p>
            <a:r>
              <a:rPr lang="en-US" dirty="0"/>
              <a:t>DEC		D		A,B</a:t>
            </a:r>
          </a:p>
          <a:p>
            <a:r>
              <a:rPr lang="en-US" dirty="0"/>
              <a:t>H,I,E,C		H		A,B,D</a:t>
            </a:r>
          </a:p>
          <a:p>
            <a:r>
              <a:rPr lang="en-US" dirty="0"/>
              <a:t>I,E,C		I		A,B,D,H</a:t>
            </a:r>
          </a:p>
          <a:p>
            <a:r>
              <a:rPr lang="en-US" dirty="0"/>
              <a:t>E,C		E		A,B,D,H,I</a:t>
            </a:r>
          </a:p>
          <a:p>
            <a:r>
              <a:rPr lang="en-US" dirty="0"/>
              <a:t>J, K C		J		A,B,D,H,I,E</a:t>
            </a:r>
          </a:p>
          <a:p>
            <a:r>
              <a:rPr lang="en-US" dirty="0"/>
              <a:t>..</a:t>
            </a:r>
          </a:p>
          <a:p>
            <a:r>
              <a:rPr lang="en-US" dirty="0"/>
              <a:t>C		C		A,B,D,H,I,EJ,K</a:t>
            </a:r>
          </a:p>
          <a:p>
            <a:r>
              <a:rPr lang="en-US" dirty="0"/>
              <a:t>F,G		F		 A,B,D,H,I,EJ,K,C 	</a:t>
            </a:r>
          </a:p>
          <a:p>
            <a:r>
              <a:rPr lang="en-US" dirty="0"/>
              <a:t>L,M,G		L		 A,B,D,H,I,EJ,K,C,F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17634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7" name="Rectangle 2"/>
          <p:cNvSpPr>
            <a:spLocks noGrp="1" noChangeArrowheads="1"/>
          </p:cNvSpPr>
          <p:nvPr>
            <p:ph type="title"/>
          </p:nvPr>
        </p:nvSpPr>
        <p:spPr>
          <a:xfrm>
            <a:off x="1240606" y="855373"/>
            <a:ext cx="7793037" cy="852487"/>
          </a:xfrm>
        </p:spPr>
        <p:txBody>
          <a:bodyPr/>
          <a:lstStyle/>
          <a:p>
            <a:pPr eaLnBrk="1" hangingPunct="1"/>
            <a:r>
              <a:rPr lang="en-US" dirty="0"/>
              <a:t>Depth-first Search</a:t>
            </a:r>
          </a:p>
        </p:txBody>
      </p:sp>
      <p:sp>
        <p:nvSpPr>
          <p:cNvPr id="4403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dirty="0"/>
              <a:t>Check if F is goal, it is not, expand F, remove F
Frontier = L, M, G</a:t>
            </a:r>
          </a:p>
        </p:txBody>
      </p:sp>
      <p:pic>
        <p:nvPicPr>
          <p:cNvPr id="44040" name="Picture 6" descr="dfs-progress10c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0" y="3238500"/>
            <a:ext cx="5181600" cy="300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763000" y="6400800"/>
            <a:ext cx="1905000" cy="457200"/>
          </a:xfrm>
        </p:spPr>
        <p:txBody>
          <a:bodyPr/>
          <a:lstStyle/>
          <a:p>
            <a:fld id="{4554FA1C-AE11-4D94-9C38-1A203D2294EB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7277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5" name="Rectangle 2"/>
          <p:cNvSpPr>
            <a:spLocks noGrp="1" noChangeArrowheads="1"/>
          </p:cNvSpPr>
          <p:nvPr>
            <p:ph type="title"/>
          </p:nvPr>
        </p:nvSpPr>
        <p:spPr>
          <a:xfrm>
            <a:off x="1240605" y="802046"/>
            <a:ext cx="7793037" cy="852487"/>
          </a:xfrm>
        </p:spPr>
        <p:txBody>
          <a:bodyPr/>
          <a:lstStyle/>
          <a:p>
            <a:pPr eaLnBrk="1" hangingPunct="1"/>
            <a:r>
              <a:rPr lang="en-US" dirty="0"/>
              <a:t>Depth-first Search</a:t>
            </a:r>
          </a:p>
        </p:txBody>
      </p:sp>
      <p:sp>
        <p:nvSpPr>
          <p:cNvPr id="4608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dirty="0"/>
              <a:t>Both L, M are not goal, neither they have any successor</a:t>
            </a:r>
          </a:p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dirty="0"/>
              <a:t>Remove L, M from frontier</a:t>
            </a:r>
          </a:p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dirty="0"/>
              <a:t>frontier = G</a:t>
            </a:r>
          </a:p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dirty="0"/>
              <a:t>Check if G is goal, it is</a:t>
            </a:r>
          </a:p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dirty="0"/>
              <a:t>The search terminates</a:t>
            </a:r>
          </a:p>
        </p:txBody>
      </p:sp>
      <p:pic>
        <p:nvPicPr>
          <p:cNvPr id="46088" name="Picture 6" descr="dfs-progress12c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486400" y="3124201"/>
            <a:ext cx="5181600" cy="302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763000" y="6400800"/>
            <a:ext cx="1905000" cy="457200"/>
          </a:xfrm>
        </p:spPr>
        <p:txBody>
          <a:bodyPr/>
          <a:lstStyle/>
          <a:p>
            <a:fld id="{4554FA1C-AE11-4D94-9C38-1A203D2294EB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9881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9" name="Rectangle 2"/>
          <p:cNvSpPr>
            <a:spLocks noGrp="1" noChangeArrowheads="1"/>
          </p:cNvSpPr>
          <p:nvPr>
            <p:ph type="title"/>
          </p:nvPr>
        </p:nvSpPr>
        <p:spPr>
          <a:xfrm>
            <a:off x="1286472" y="838335"/>
            <a:ext cx="9381528" cy="852487"/>
          </a:xfrm>
        </p:spPr>
        <p:txBody>
          <a:bodyPr/>
          <a:lstStyle/>
          <a:p>
            <a:pPr eaLnBrk="1" hangingPunct="1"/>
            <a:r>
              <a:rPr lang="en-US" sz="4000" dirty="0"/>
              <a:t>Properties of Depth-first </a:t>
            </a:r>
            <a:r>
              <a:rPr lang="en-US" dirty="0"/>
              <a:t>S</a:t>
            </a:r>
            <a:r>
              <a:rPr lang="en-US" sz="4000" dirty="0"/>
              <a:t>earch</a:t>
            </a:r>
          </a:p>
        </p:txBody>
      </p:sp>
      <p:sp>
        <p:nvSpPr>
          <p:cNvPr id="4711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86472" y="1970619"/>
            <a:ext cx="10058400" cy="402336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sz="2400" u="sng" dirty="0">
                <a:solidFill>
                  <a:srgbClr val="CC0099"/>
                </a:solidFill>
              </a:rPr>
              <a:t>Complete?</a:t>
            </a:r>
            <a:r>
              <a:rPr lang="en-US" sz="2400" dirty="0"/>
              <a:t> No: fails in infinite-depth spaces, spaces with loops </a:t>
            </a:r>
            <a:endParaRPr lang="en-US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Complete in finite state space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Modify to avoid repeated states along path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u="sng" dirty="0">
                <a:solidFill>
                  <a:srgbClr val="CC0099"/>
                </a:solidFill>
              </a:rPr>
              <a:t>Optimal?</a:t>
            </a:r>
            <a:r>
              <a:rPr lang="en-US" sz="2400" dirty="0"/>
              <a:t> No</a:t>
            </a:r>
          </a:p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sz="2400" u="sng" dirty="0">
                <a:solidFill>
                  <a:srgbClr val="CC0099"/>
                </a:solidFill>
              </a:rPr>
              <a:t>Time?</a:t>
            </a:r>
            <a:r>
              <a:rPr lang="en-US" sz="2400" dirty="0"/>
              <a:t> </a:t>
            </a:r>
            <a:r>
              <a:rPr lang="en-US" sz="2400" i="1" dirty="0"/>
              <a:t>O(b</a:t>
            </a:r>
            <a:r>
              <a:rPr lang="en-US" sz="2400" i="1" baseline="30000" dirty="0"/>
              <a:t>m</a:t>
            </a:r>
            <a:r>
              <a:rPr lang="en-US" sz="2400" i="1" dirty="0"/>
              <a:t>)</a:t>
            </a:r>
            <a:r>
              <a:rPr lang="en-US" sz="2400" dirty="0"/>
              <a:t> terrible if </a:t>
            </a:r>
            <a:r>
              <a:rPr lang="en-US" sz="2400" i="1" dirty="0"/>
              <a:t>m</a:t>
            </a:r>
            <a:r>
              <a:rPr lang="en-US" sz="2400" dirty="0"/>
              <a:t> is much larger than </a:t>
            </a:r>
            <a:r>
              <a:rPr lang="en-US" sz="2400" i="1" dirty="0"/>
              <a:t>d</a:t>
            </a:r>
          </a:p>
          <a:p>
            <a:pPr marL="0" indent="0" eaLnBrk="1" hangingPunct="1">
              <a:buNone/>
            </a:pPr>
            <a:r>
              <a:rPr lang="en-US" sz="1800" i="1" dirty="0"/>
              <a:t>		(m is maximum depth)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u="sng" dirty="0">
                <a:solidFill>
                  <a:srgbClr val="CC0099"/>
                </a:solidFill>
              </a:rPr>
              <a:t>Space ?</a:t>
            </a:r>
            <a:r>
              <a:rPr lang="en-US" sz="2400" dirty="0"/>
              <a:t>  </a:t>
            </a:r>
            <a:r>
              <a:rPr lang="en-US" sz="2400" i="1" dirty="0"/>
              <a:t>O(m)</a:t>
            </a:r>
            <a:r>
              <a:rPr lang="en-US" sz="2400" dirty="0"/>
              <a:t> as it needs to store the current path from the root to the current node. The maximum size of this path is the maximum depth, m, which results in a space complexity of O(m) or O(d)</a:t>
            </a:r>
            <a:r>
              <a:rPr lang="en-US" dirty="0"/>
              <a:t>. </a:t>
            </a:r>
            <a:endParaRPr lang="en-US" sz="2400" i="1" dirty="0"/>
          </a:p>
          <a:p>
            <a:pPr marL="0" indent="0" eaLnBrk="1" hangingPunct="1">
              <a:buNone/>
            </a:pPr>
            <a:endParaRPr lang="en-US" sz="1800" i="1" dirty="0"/>
          </a:p>
          <a:p>
            <a:pPr marL="0" indent="0" eaLnBrk="1" hangingPunct="1">
              <a:buNone/>
            </a:pP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763000" y="6400800"/>
            <a:ext cx="1905000" cy="457200"/>
          </a:xfrm>
        </p:spPr>
        <p:txBody>
          <a:bodyPr/>
          <a:lstStyle/>
          <a:p>
            <a:fld id="{4554FA1C-AE11-4D94-9C38-1A203D2294EB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207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 dirty="0"/>
              <a:t>Depth-Limited Search (DLS)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DFS with a depth bound</a:t>
            </a:r>
          </a:p>
          <a:p>
            <a:pPr lvl="1"/>
            <a:r>
              <a:rPr lang="en-US" dirty="0"/>
              <a:t>Searching is not permitted beyond the depth bound.</a:t>
            </a:r>
          </a:p>
          <a:p>
            <a:endParaRPr lang="en-US" dirty="0"/>
          </a:p>
          <a:p>
            <a:r>
              <a:rPr lang="en-US" dirty="0"/>
              <a:t>Works well if we know what is the depth of the solution.</a:t>
            </a:r>
          </a:p>
          <a:p>
            <a:endParaRPr lang="en-US" altLang="x-none" dirty="0"/>
          </a:p>
          <a:p>
            <a:r>
              <a:rPr lang="en-US" altLang="x-none" dirty="0"/>
              <a:t>If the solution is beneath the depth bound, the search cannot find the goal (hence this search algorithm is </a:t>
            </a:r>
            <a:r>
              <a:rPr lang="en-US" altLang="x-none" dirty="0">
                <a:solidFill>
                  <a:srgbClr val="FF0000"/>
                </a:solidFill>
              </a:rPr>
              <a:t>incomplete</a:t>
            </a:r>
            <a:r>
              <a:rPr lang="en-US" altLang="x-none" dirty="0"/>
              <a:t>).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73180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 dirty="0"/>
              <a:t>Depth-Limited Search (DLS)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628184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en-US" altLang="x-none" b="1" dirty="0"/>
                  <a:t>Main idea</a:t>
                </a:r>
                <a:r>
                  <a:rPr lang="en-US" altLang="x-none" i="1" dirty="0"/>
                  <a:t>: </a:t>
                </a:r>
              </a:p>
              <a:p>
                <a:pPr lvl="1"/>
                <a:r>
                  <a:rPr lang="en-US" altLang="x-none" i="1" dirty="0"/>
                  <a:t>Expand node at the deepest level, but limit depth to D.</a:t>
                </a:r>
              </a:p>
              <a:p>
                <a:r>
                  <a:rPr lang="en-US" altLang="x-none" b="1" dirty="0"/>
                  <a:t>Implementation</a:t>
                </a:r>
                <a:r>
                  <a:rPr lang="en-US" altLang="x-none" dirty="0"/>
                  <a:t>: </a:t>
                </a:r>
              </a:p>
              <a:p>
                <a:pPr lvl="1"/>
                <a:r>
                  <a:rPr lang="en-US" altLang="x-none" i="1" dirty="0" err="1"/>
                  <a:t>Enqueue</a:t>
                </a:r>
                <a:r>
                  <a:rPr lang="en-US" altLang="x-none" i="1" dirty="0"/>
                  <a:t> nodes in LIFO (last-in, first-out) order. But limit depth to D</a:t>
                </a:r>
              </a:p>
              <a:p>
                <a:endParaRPr lang="en-US" altLang="x-none" i="1" dirty="0"/>
              </a:p>
              <a:p>
                <a:r>
                  <a:rPr lang="en-US" altLang="x-none" i="1" dirty="0"/>
                  <a:t>Complete?</a:t>
                </a:r>
              </a:p>
              <a:p>
                <a:pPr lvl="1"/>
                <a:r>
                  <a:rPr lang="en-US" altLang="x-none" dirty="0"/>
                  <a:t>No</a:t>
                </a:r>
              </a:p>
              <a:p>
                <a:pPr lvl="1"/>
                <a:r>
                  <a:rPr lang="en-US" altLang="x-none" dirty="0"/>
                  <a:t>Yes: if there is a goal state at a depth less than D</a:t>
                </a:r>
              </a:p>
              <a:p>
                <a:pPr eaLnBrk="0" hangingPunct="0">
                  <a:buFontTx/>
                  <a:buChar char="•"/>
                </a:pPr>
                <a:r>
                  <a:rPr lang="en-US" altLang="x-none" dirty="0"/>
                  <a:t>Optimal? </a:t>
                </a:r>
              </a:p>
              <a:p>
                <a:pPr lvl="1" eaLnBrk="0" hangingPunct="0">
                  <a:buFontTx/>
                  <a:buChar char="•"/>
                </a:pPr>
                <a:r>
                  <a:rPr lang="en-US" altLang="x-none" dirty="0"/>
                  <a:t>No</a:t>
                </a:r>
              </a:p>
              <a:p>
                <a:pPr eaLnBrk="0" hangingPunct="0">
                  <a:buFontTx/>
                  <a:buChar char="•"/>
                </a:pPr>
                <a:r>
                  <a:rPr lang="en-US" altLang="x-none" dirty="0"/>
                  <a:t>Time Complexity: </a:t>
                </a:r>
              </a:p>
              <a:p>
                <a:pPr lvl="1" eaLnBrk="0" hangingPunct="0">
                  <a:buFontTx/>
                  <a:buChar char="•"/>
                </a:pPr>
                <a14:m>
                  <m:oMath xmlns:m="http://schemas.openxmlformats.org/officeDocument/2006/math">
                    <m:r>
                      <a:rPr lang="en-US" altLang="x-none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x-non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x-none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x-none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altLang="x-none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x-none" dirty="0"/>
                  <a:t>, where D is the cutoff.</a:t>
                </a:r>
              </a:p>
              <a:p>
                <a:pPr eaLnBrk="0" hangingPunct="0">
                  <a:buFontTx/>
                  <a:buChar char="•"/>
                </a:pPr>
                <a:r>
                  <a:rPr lang="en-US" altLang="x-none" dirty="0"/>
                  <a:t>Space Complexity: </a:t>
                </a:r>
              </a:p>
              <a:p>
                <a:pPr lvl="1" eaLnBrk="0" hangingPunct="0">
                  <a:buFontTx/>
                  <a:buChar char="•"/>
                </a:pPr>
                <a14:m>
                  <m:oMath xmlns:m="http://schemas.openxmlformats.org/officeDocument/2006/math">
                    <m:r>
                      <a:rPr lang="en-US" altLang="x-none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x-non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x-none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</m:oMath>
                </a14:m>
                <a:r>
                  <a:rPr lang="en-US" altLang="x-none" dirty="0"/>
                  <a:t> , where d is the cutoff.</a:t>
                </a: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628184"/>
              </a:xfrm>
              <a:blipFill>
                <a:blip r:embed="rId2"/>
                <a:stretch>
                  <a:fillRect l="-928" t="-3026" b="-15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154276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Iterative Deepening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To avoid the infinite depth problem of DFS:</a:t>
            </a:r>
          </a:p>
          <a:p>
            <a:pPr lvl="1"/>
            <a:r>
              <a:rPr lang="en-US" dirty="0"/>
              <a:t>Only search until depth L</a:t>
            </a:r>
          </a:p>
          <a:p>
            <a:pPr lvl="1"/>
            <a:r>
              <a:rPr lang="en-US" dirty="0" err="1"/>
              <a:t>i.e</a:t>
            </a:r>
            <a:r>
              <a:rPr lang="en-US" dirty="0"/>
              <a:t>, don’t expand nodes beyond depth L</a:t>
            </a:r>
          </a:p>
          <a:p>
            <a:pPr lvl="1"/>
            <a:r>
              <a:rPr lang="en-US" dirty="0"/>
              <a:t>Depth-Limited Search</a:t>
            </a:r>
          </a:p>
          <a:p>
            <a:r>
              <a:rPr lang="en-US" dirty="0"/>
              <a:t>What if solution is deeper than L?</a:t>
            </a:r>
          </a:p>
          <a:p>
            <a:pPr lvl="1"/>
            <a:r>
              <a:rPr lang="en-US" dirty="0"/>
              <a:t>Increase depth iteratively</a:t>
            </a:r>
          </a:p>
          <a:p>
            <a:pPr lvl="1"/>
            <a:r>
              <a:rPr lang="en-US" dirty="0"/>
              <a:t>Iterative Deepening Search</a:t>
            </a:r>
          </a:p>
          <a:p>
            <a:r>
              <a:rPr lang="en-US" dirty="0"/>
              <a:t>IDS</a:t>
            </a:r>
          </a:p>
          <a:p>
            <a:pPr lvl="1"/>
            <a:r>
              <a:rPr lang="en-US" dirty="0"/>
              <a:t>Inherits the memory advantage of depth-first search</a:t>
            </a:r>
          </a:p>
          <a:p>
            <a:pPr lvl="1"/>
            <a:r>
              <a:rPr lang="en-US" dirty="0"/>
              <a:t>Has the completeness property of breadth-first search</a:t>
            </a:r>
          </a:p>
        </p:txBody>
      </p:sp>
    </p:spTree>
    <p:extLst>
      <p:ext uri="{BB962C8B-B14F-4D97-AF65-F5344CB8AC3E}">
        <p14:creationId xmlns:p14="http://schemas.microsoft.com/office/powerpoint/2010/main" val="5106748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 txBox="1">
            <a:spLocks noGrp="1"/>
          </p:cNvSpPr>
          <p:nvPr/>
        </p:nvSpPr>
        <p:spPr>
          <a:xfrm>
            <a:off x="9448800" y="6416676"/>
            <a:ext cx="762000" cy="365125"/>
          </a:xfrm>
          <a:prstGeom prst="rect">
            <a:avLst/>
          </a:prstGeom>
          <a:noFill/>
        </p:spPr>
        <p:txBody>
          <a:bodyPr lIns="0" rIns="0" anchor="b"/>
          <a:lstStyle/>
          <a:p>
            <a:pPr algn="r">
              <a:defRPr/>
            </a:pPr>
            <a:fld id="{C1C7F234-BF9F-452B-BFE2-87B30D0141B8}" type="slidenum">
              <a:rPr lang="en-US" sz="1300">
                <a:solidFill>
                  <a:schemeClr val="bg1"/>
                </a:solidFill>
              </a:rPr>
              <a:pPr algn="r">
                <a:defRPr/>
              </a:pPr>
              <a:t>16</a:t>
            </a:fld>
            <a:endParaRPr lang="en-US" sz="1300">
              <a:solidFill>
                <a:schemeClr val="bg1"/>
              </a:solidFill>
            </a:endParaRPr>
          </a:p>
        </p:txBody>
      </p:sp>
      <p:pic>
        <p:nvPicPr>
          <p:cNvPr id="30725" name="Picture 4" descr="ids-progress1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1657350"/>
            <a:ext cx="7620000" cy="3543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077200" y="6356351"/>
            <a:ext cx="2133600" cy="365125"/>
          </a:xfrm>
        </p:spPr>
        <p:txBody>
          <a:bodyPr/>
          <a:lstStyle/>
          <a:p>
            <a:fld id="{482C819C-4FBF-414A-B199-7B5360CB0F4E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85038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 txBox="1">
            <a:spLocks noGrp="1"/>
          </p:cNvSpPr>
          <p:nvPr/>
        </p:nvSpPr>
        <p:spPr>
          <a:xfrm>
            <a:off x="1981200" y="6416676"/>
            <a:ext cx="2133600" cy="365125"/>
          </a:xfrm>
          <a:prstGeom prst="rect">
            <a:avLst/>
          </a:prstGeom>
          <a:noFill/>
        </p:spPr>
        <p:txBody>
          <a:bodyPr anchor="b"/>
          <a:lstStyle/>
          <a:p>
            <a:pPr>
              <a:defRPr/>
            </a:pPr>
            <a:endParaRPr lang="en-US" sz="1200" dirty="0">
              <a:solidFill>
                <a:schemeClr val="tx1">
                  <a:shade val="50000"/>
                </a:schemeClr>
              </a:solidFill>
            </a:endParaRPr>
          </a:p>
        </p:txBody>
      </p:sp>
      <p:sp>
        <p:nvSpPr>
          <p:cNvPr id="6" name="Slide Number Placeholder 5"/>
          <p:cNvSpPr txBox="1">
            <a:spLocks noGrp="1"/>
          </p:cNvSpPr>
          <p:nvPr/>
        </p:nvSpPr>
        <p:spPr>
          <a:xfrm>
            <a:off x="9448800" y="6416676"/>
            <a:ext cx="762000" cy="365125"/>
          </a:xfrm>
          <a:prstGeom prst="rect">
            <a:avLst/>
          </a:prstGeom>
          <a:noFill/>
        </p:spPr>
        <p:txBody>
          <a:bodyPr lIns="0" rIns="0" anchor="b"/>
          <a:lstStyle/>
          <a:p>
            <a:pPr algn="r">
              <a:defRPr/>
            </a:pPr>
            <a:fld id="{A6467A3B-4F36-45B6-8FA6-85FD84CA3A0A}" type="slidenum">
              <a:rPr lang="en-US" sz="1300">
                <a:solidFill>
                  <a:schemeClr val="bg1"/>
                </a:solidFill>
              </a:rPr>
              <a:pPr algn="r">
                <a:defRPr/>
              </a:pPr>
              <a:t>17</a:t>
            </a:fld>
            <a:endParaRPr lang="en-US" sz="1300">
              <a:solidFill>
                <a:schemeClr val="bg1"/>
              </a:solidFill>
            </a:endParaRPr>
          </a:p>
        </p:txBody>
      </p:sp>
      <p:pic>
        <p:nvPicPr>
          <p:cNvPr id="31749" name="Picture 4" descr="ids-progress2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1657350"/>
            <a:ext cx="7620000" cy="3543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077200" y="6356351"/>
            <a:ext cx="2133600" cy="365125"/>
          </a:xfrm>
        </p:spPr>
        <p:txBody>
          <a:bodyPr/>
          <a:lstStyle/>
          <a:p>
            <a:fld id="{482C819C-4FBF-414A-B199-7B5360CB0F4E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07262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 txBox="1">
            <a:spLocks noGrp="1"/>
          </p:cNvSpPr>
          <p:nvPr/>
        </p:nvSpPr>
        <p:spPr>
          <a:xfrm>
            <a:off x="9448800" y="6416676"/>
            <a:ext cx="762000" cy="365125"/>
          </a:xfrm>
          <a:prstGeom prst="rect">
            <a:avLst/>
          </a:prstGeom>
          <a:noFill/>
        </p:spPr>
        <p:txBody>
          <a:bodyPr lIns="0" rIns="0" anchor="b"/>
          <a:lstStyle/>
          <a:p>
            <a:pPr algn="r">
              <a:defRPr/>
            </a:pPr>
            <a:fld id="{067F3C64-082F-44FA-8AA6-DF37F06BC691}" type="slidenum">
              <a:rPr lang="en-US" sz="1300">
                <a:solidFill>
                  <a:schemeClr val="bg1"/>
                </a:solidFill>
              </a:rPr>
              <a:pPr algn="r">
                <a:defRPr/>
              </a:pPr>
              <a:t>18</a:t>
            </a:fld>
            <a:endParaRPr lang="en-US" sz="1300">
              <a:solidFill>
                <a:schemeClr val="bg1"/>
              </a:solidFill>
            </a:endParaRPr>
          </a:p>
        </p:txBody>
      </p:sp>
      <p:sp>
        <p:nvSpPr>
          <p:cNvPr id="5017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</a:p>
        </p:txBody>
      </p:sp>
      <p:pic>
        <p:nvPicPr>
          <p:cNvPr id="32773" name="Picture 4" descr="ids-progress3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1652589"/>
            <a:ext cx="7620000" cy="355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077200" y="6356351"/>
            <a:ext cx="2133600" cy="365125"/>
          </a:xfrm>
        </p:spPr>
        <p:txBody>
          <a:bodyPr/>
          <a:lstStyle/>
          <a:p>
            <a:fld id="{482C819C-4FBF-414A-B199-7B5360CB0F4E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99072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 txBox="1">
            <a:spLocks noGrp="1"/>
          </p:cNvSpPr>
          <p:nvPr/>
        </p:nvSpPr>
        <p:spPr>
          <a:xfrm>
            <a:off x="9448800" y="6416676"/>
            <a:ext cx="762000" cy="365125"/>
          </a:xfrm>
          <a:prstGeom prst="rect">
            <a:avLst/>
          </a:prstGeom>
          <a:noFill/>
        </p:spPr>
        <p:txBody>
          <a:bodyPr lIns="0" rIns="0" anchor="b"/>
          <a:lstStyle/>
          <a:p>
            <a:pPr algn="r">
              <a:defRPr/>
            </a:pPr>
            <a:fld id="{689719A8-39B3-4808-A0A9-7D7AF00031A5}" type="slidenum">
              <a:rPr lang="en-US" sz="1300">
                <a:solidFill>
                  <a:schemeClr val="bg1"/>
                </a:solidFill>
              </a:rPr>
              <a:pPr algn="r">
                <a:defRPr/>
              </a:pPr>
              <a:t>19</a:t>
            </a:fld>
            <a:endParaRPr lang="en-US" sz="1300">
              <a:solidFill>
                <a:schemeClr val="bg1"/>
              </a:solidFill>
            </a:endParaRPr>
          </a:p>
        </p:txBody>
      </p:sp>
      <p:sp>
        <p:nvSpPr>
          <p:cNvPr id="5120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</a:p>
        </p:txBody>
      </p:sp>
      <p:pic>
        <p:nvPicPr>
          <p:cNvPr id="33797" name="Picture 4" descr="ids-progress4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1657350"/>
            <a:ext cx="7620000" cy="3543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077200" y="6356351"/>
            <a:ext cx="2133600" cy="365125"/>
          </a:xfrm>
        </p:spPr>
        <p:txBody>
          <a:bodyPr/>
          <a:lstStyle/>
          <a:p>
            <a:fld id="{482C819C-4FBF-414A-B199-7B5360CB0F4E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1325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 txBox="1">
            <a:spLocks noGrp="1"/>
          </p:cNvSpPr>
          <p:nvPr/>
        </p:nvSpPr>
        <p:spPr>
          <a:xfrm>
            <a:off x="9448800" y="6416676"/>
            <a:ext cx="762000" cy="365125"/>
          </a:xfrm>
          <a:prstGeom prst="rect">
            <a:avLst/>
          </a:prstGeom>
          <a:noFill/>
        </p:spPr>
        <p:txBody>
          <a:bodyPr lIns="0" rIns="0" anchor="b"/>
          <a:lstStyle/>
          <a:p>
            <a:pPr algn="r">
              <a:defRPr/>
            </a:pPr>
            <a:fld id="{6961BC6F-26DD-4EBD-B453-7AFE2DA08D4F}" type="slidenum">
              <a:rPr lang="en-US" sz="1300">
                <a:solidFill>
                  <a:schemeClr val="bg1"/>
                </a:solidFill>
              </a:rPr>
              <a:pPr algn="r">
                <a:defRPr/>
              </a:pPr>
              <a:t>20</a:t>
            </a:fld>
            <a:endParaRPr lang="en-US" sz="1300">
              <a:solidFill>
                <a:schemeClr val="bg1"/>
              </a:solidFill>
            </a:endParaRPr>
          </a:p>
        </p:txBody>
      </p:sp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Properties of Iterative Deepening Search</a:t>
            </a:r>
          </a:p>
        </p:txBody>
      </p:sp>
      <p:sp>
        <p:nvSpPr>
          <p:cNvPr id="3584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x-none" u="sng" dirty="0">
                <a:solidFill>
                  <a:srgbClr val="FF0000"/>
                </a:solidFill>
              </a:rPr>
              <a:t>Complete?</a:t>
            </a:r>
            <a:r>
              <a:rPr lang="en-US" altLang="x-none" dirty="0">
                <a:solidFill>
                  <a:srgbClr val="002060"/>
                </a:solidFill>
              </a:rPr>
              <a:t> Yes (in finite spaces)</a:t>
            </a:r>
          </a:p>
          <a:p>
            <a:endParaRPr lang="en-US" altLang="x-none" u="sng" dirty="0">
              <a:solidFill>
                <a:srgbClr val="FF0000"/>
              </a:solidFill>
            </a:endParaRPr>
          </a:p>
          <a:p>
            <a:r>
              <a:rPr lang="en-US" altLang="x-none" u="sng" dirty="0">
                <a:solidFill>
                  <a:srgbClr val="FF0000"/>
                </a:solidFill>
              </a:rPr>
              <a:t>Time?</a:t>
            </a:r>
            <a:r>
              <a:rPr lang="en-US" altLang="x-none" dirty="0">
                <a:solidFill>
                  <a:srgbClr val="CC0099"/>
                </a:solidFill>
              </a:rPr>
              <a:t> </a:t>
            </a:r>
            <a:r>
              <a:rPr lang="en-US" altLang="x-none" i="1" dirty="0">
                <a:solidFill>
                  <a:srgbClr val="002060"/>
                </a:solidFill>
              </a:rPr>
              <a:t>O(</a:t>
            </a:r>
            <a:r>
              <a:rPr lang="en-US" altLang="x-none" i="1" dirty="0" err="1">
                <a:solidFill>
                  <a:srgbClr val="002060"/>
                </a:solidFill>
              </a:rPr>
              <a:t>b</a:t>
            </a:r>
            <a:r>
              <a:rPr lang="en-US" altLang="x-none" i="1" baseline="30000" dirty="0" err="1">
                <a:solidFill>
                  <a:srgbClr val="002060"/>
                </a:solidFill>
              </a:rPr>
              <a:t>d</a:t>
            </a:r>
            <a:r>
              <a:rPr lang="en-US" altLang="x-none" i="1" dirty="0">
                <a:solidFill>
                  <a:srgbClr val="002060"/>
                </a:solidFill>
              </a:rPr>
              <a:t>)</a:t>
            </a:r>
            <a:endParaRPr lang="en-US" altLang="x-none" dirty="0">
              <a:solidFill>
                <a:srgbClr val="002060"/>
              </a:solidFill>
            </a:endParaRPr>
          </a:p>
          <a:p>
            <a:endParaRPr lang="en-US" altLang="x-none" u="sng" dirty="0">
              <a:solidFill>
                <a:srgbClr val="CC0099"/>
              </a:solidFill>
            </a:endParaRPr>
          </a:p>
          <a:p>
            <a:r>
              <a:rPr lang="en-US" altLang="x-none" u="sng" dirty="0">
                <a:solidFill>
                  <a:srgbClr val="FF0000"/>
                </a:solidFill>
              </a:rPr>
              <a:t>Space?</a:t>
            </a:r>
            <a:r>
              <a:rPr lang="en-US" altLang="x-none" dirty="0">
                <a:solidFill>
                  <a:srgbClr val="002060"/>
                </a:solidFill>
              </a:rPr>
              <a:t> </a:t>
            </a:r>
            <a:r>
              <a:rPr lang="en-US" altLang="x-none" i="1" dirty="0">
                <a:solidFill>
                  <a:srgbClr val="002060"/>
                </a:solidFill>
              </a:rPr>
              <a:t>O(</a:t>
            </a:r>
            <a:r>
              <a:rPr lang="en-US" altLang="x-none" i="1" dirty="0" err="1">
                <a:solidFill>
                  <a:srgbClr val="002060"/>
                </a:solidFill>
              </a:rPr>
              <a:t>bd</a:t>
            </a:r>
            <a:r>
              <a:rPr lang="en-US" altLang="x-none" i="1" dirty="0">
                <a:solidFill>
                  <a:srgbClr val="002060"/>
                </a:solidFill>
              </a:rPr>
              <a:t>)</a:t>
            </a:r>
            <a:endParaRPr lang="en-US" altLang="x-none" dirty="0">
              <a:solidFill>
                <a:srgbClr val="002060"/>
              </a:solidFill>
            </a:endParaRPr>
          </a:p>
          <a:p>
            <a:pPr>
              <a:buFont typeface="Wingdings" pitchFamily="2" charset="2"/>
              <a:buNone/>
            </a:pPr>
            <a:endParaRPr lang="en-US" altLang="x-none" dirty="0">
              <a:solidFill>
                <a:srgbClr val="002060"/>
              </a:solidFill>
            </a:endParaRPr>
          </a:p>
          <a:p>
            <a:r>
              <a:rPr lang="en-US" altLang="x-none" u="sng" dirty="0">
                <a:solidFill>
                  <a:srgbClr val="FF0000"/>
                </a:solidFill>
              </a:rPr>
              <a:t>Optimal?</a:t>
            </a:r>
            <a:r>
              <a:rPr lang="en-US" altLang="x-none" dirty="0">
                <a:solidFill>
                  <a:srgbClr val="002060"/>
                </a:solidFill>
              </a:rPr>
              <a:t> Yes,</a:t>
            </a:r>
            <a:r>
              <a:rPr lang="en-US" altLang="x-none" sz="2400" dirty="0">
                <a:solidFill>
                  <a:srgbClr val="002060"/>
                </a:solidFill>
              </a:rPr>
              <a:t> (if step cost = 1 i.e. identical step cost)</a:t>
            </a:r>
            <a:endParaRPr lang="en-US" altLang="x-none" dirty="0">
              <a:solidFill>
                <a:srgbClr val="002060"/>
              </a:solidFill>
            </a:endParaRPr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C819C-4FBF-414A-B199-7B5360CB0F4E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7850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536637" y="73895"/>
            <a:ext cx="5062284" cy="1143000"/>
          </a:xfrm>
        </p:spPr>
        <p:txBody>
          <a:bodyPr>
            <a:normAutofit/>
          </a:bodyPr>
          <a:lstStyle/>
          <a:p>
            <a:r>
              <a:rPr lang="en-US" dirty="0"/>
              <a:t>Example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CE4C1-E6A0-4AA9-9965-F1CD6F0FDCC0}" type="slidenum">
              <a:rPr lang="en-US" smtClean="0"/>
              <a:t>21</a:t>
            </a:fld>
            <a:endParaRPr lang="en-US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600200" y="1447800"/>
            <a:ext cx="8915400" cy="4832326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b="1" dirty="0"/>
              <a:t>Do it on notebook</a:t>
            </a:r>
          </a:p>
          <a:p>
            <a:r>
              <a:rPr lang="en-US" sz="2000" dirty="0"/>
              <a:t>Start Node: A</a:t>
            </a:r>
          </a:p>
          <a:p>
            <a:r>
              <a:rPr lang="en-US" sz="2000" dirty="0"/>
              <a:t>Goal Node: G</a:t>
            </a:r>
            <a:endParaRPr lang="en-US" dirty="0"/>
          </a:p>
          <a:p>
            <a:pPr marL="0" indent="0">
              <a:buNone/>
            </a:pPr>
            <a:r>
              <a:rPr lang="en-US" sz="2000" b="1" u="sng" dirty="0"/>
              <a:t>Step 	Frontier              			Expand[*]  Explored: a set of nodes</a:t>
            </a:r>
          </a:p>
          <a:p>
            <a:pPr marL="0" indent="0">
              <a:buNone/>
            </a:pPr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6553200" y="609600"/>
            <a:ext cx="2514600" cy="1905000"/>
            <a:chOff x="1405890" y="237490"/>
            <a:chExt cx="2329815" cy="1636395"/>
          </a:xfrm>
        </p:grpSpPr>
        <p:sp>
          <p:nvSpPr>
            <p:cNvPr id="8" name="Text Box 2"/>
            <p:cNvSpPr txBox="1"/>
            <p:nvPr/>
          </p:nvSpPr>
          <p:spPr>
            <a:xfrm>
              <a:off x="2374900" y="237490"/>
              <a:ext cx="271145" cy="237490"/>
            </a:xfrm>
            <a:prstGeom prst="rect">
              <a:avLst/>
            </a:prstGeom>
            <a:solidFill>
              <a:schemeClr val="lt1"/>
            </a:solidFill>
            <a:ln w="6350">
              <a:solidFill>
                <a:prstClr val="black"/>
              </a:solidFill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en-US" sz="1100">
                  <a:ea typeface="Calibri"/>
                  <a:cs typeface="Arial"/>
                </a:rPr>
                <a:t>A</a:t>
              </a:r>
            </a:p>
          </p:txBody>
        </p:sp>
        <p:sp>
          <p:nvSpPr>
            <p:cNvPr id="9" name="Text Box 2"/>
            <p:cNvSpPr txBox="1"/>
            <p:nvPr/>
          </p:nvSpPr>
          <p:spPr>
            <a:xfrm>
              <a:off x="1899920" y="676910"/>
              <a:ext cx="290195" cy="237490"/>
            </a:xfrm>
            <a:prstGeom prst="rect">
              <a:avLst/>
            </a:prstGeom>
            <a:solidFill>
              <a:schemeClr val="lt1"/>
            </a:solidFill>
            <a:ln w="6350">
              <a:solidFill>
                <a:prstClr val="black"/>
              </a:solidFill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en-US" sz="1100" dirty="0">
                  <a:latin typeface="Times New Roman"/>
                  <a:ea typeface="Calibri"/>
                  <a:cs typeface="Arial"/>
                </a:rPr>
                <a:t>D</a:t>
              </a:r>
              <a:endParaRPr lang="en-US" sz="1200" dirty="0">
                <a:latin typeface="Times New Roman"/>
                <a:ea typeface="Times New Roman"/>
              </a:endParaRPr>
            </a:p>
          </p:txBody>
        </p:sp>
        <p:sp>
          <p:nvSpPr>
            <p:cNvPr id="10" name="Text Box 2"/>
            <p:cNvSpPr txBox="1"/>
            <p:nvPr/>
          </p:nvSpPr>
          <p:spPr>
            <a:xfrm>
              <a:off x="2705100" y="688975"/>
              <a:ext cx="282575" cy="237490"/>
            </a:xfrm>
            <a:prstGeom prst="rect">
              <a:avLst/>
            </a:prstGeom>
            <a:solidFill>
              <a:schemeClr val="lt1"/>
            </a:solidFill>
            <a:ln w="6350">
              <a:solidFill>
                <a:prstClr val="black"/>
              </a:solidFill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en-US" sz="1100">
                  <a:latin typeface="Times New Roman"/>
                  <a:ea typeface="Calibri"/>
                  <a:cs typeface="Arial"/>
                </a:rPr>
                <a:t>B</a:t>
              </a:r>
              <a:endParaRPr lang="en-US" sz="1200">
                <a:latin typeface="Times New Roman"/>
                <a:ea typeface="Times New Roman"/>
              </a:endParaRPr>
            </a:p>
          </p:txBody>
        </p:sp>
        <p:sp>
          <p:nvSpPr>
            <p:cNvPr id="11" name="Text Box 2"/>
            <p:cNvSpPr txBox="1"/>
            <p:nvPr/>
          </p:nvSpPr>
          <p:spPr>
            <a:xfrm>
              <a:off x="1424940" y="1068705"/>
              <a:ext cx="267335" cy="237490"/>
            </a:xfrm>
            <a:prstGeom prst="rect">
              <a:avLst/>
            </a:prstGeom>
            <a:solidFill>
              <a:schemeClr val="lt1"/>
            </a:solidFill>
            <a:ln w="6350">
              <a:solidFill>
                <a:prstClr val="black"/>
              </a:solidFill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en-US" sz="1100">
                  <a:latin typeface="Times New Roman"/>
                  <a:ea typeface="Calibri"/>
                  <a:cs typeface="Arial"/>
                </a:rPr>
                <a:t>F</a:t>
              </a:r>
              <a:endParaRPr lang="en-US" sz="1200">
                <a:latin typeface="Times New Roman"/>
                <a:ea typeface="Times New Roman"/>
              </a:endParaRPr>
            </a:p>
          </p:txBody>
        </p:sp>
        <p:sp>
          <p:nvSpPr>
            <p:cNvPr id="12" name="Text Box 2"/>
            <p:cNvSpPr txBox="1"/>
            <p:nvPr/>
          </p:nvSpPr>
          <p:spPr>
            <a:xfrm>
              <a:off x="1405890" y="1543685"/>
              <a:ext cx="290195" cy="23749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rgbClr val="FF0000"/>
              </a:solidFill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en-US" sz="1100">
                  <a:solidFill>
                    <a:srgbClr val="FF0000"/>
                  </a:solidFill>
                  <a:latin typeface="Times New Roman"/>
                  <a:ea typeface="Calibri"/>
                  <a:cs typeface="Arial"/>
                </a:rPr>
                <a:t>G</a:t>
              </a:r>
              <a:endParaRPr lang="en-US" sz="1200">
                <a:latin typeface="Times New Roman"/>
                <a:ea typeface="Times New Roman"/>
              </a:endParaRPr>
            </a:p>
          </p:txBody>
        </p:sp>
        <p:sp>
          <p:nvSpPr>
            <p:cNvPr id="13" name="Text Box 2"/>
            <p:cNvSpPr txBox="1"/>
            <p:nvPr/>
          </p:nvSpPr>
          <p:spPr>
            <a:xfrm>
              <a:off x="2190115" y="1068705"/>
              <a:ext cx="274955" cy="237490"/>
            </a:xfrm>
            <a:prstGeom prst="rect">
              <a:avLst/>
            </a:prstGeom>
            <a:solidFill>
              <a:schemeClr val="lt1"/>
            </a:solidFill>
            <a:ln w="6350">
              <a:solidFill>
                <a:prstClr val="black"/>
              </a:solidFill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en-US" sz="1100">
                  <a:latin typeface="Times New Roman"/>
                  <a:ea typeface="Calibri"/>
                  <a:cs typeface="Arial"/>
                </a:rPr>
                <a:t>E</a:t>
              </a:r>
              <a:endParaRPr lang="en-US" sz="1200">
                <a:latin typeface="Times New Roman"/>
                <a:ea typeface="Times New Roman"/>
              </a:endParaRPr>
            </a:p>
          </p:txBody>
        </p:sp>
        <p:sp>
          <p:nvSpPr>
            <p:cNvPr id="14" name="Text Box 2"/>
            <p:cNvSpPr txBox="1"/>
            <p:nvPr/>
          </p:nvSpPr>
          <p:spPr>
            <a:xfrm>
              <a:off x="2190115" y="1543685"/>
              <a:ext cx="282575" cy="237490"/>
            </a:xfrm>
            <a:prstGeom prst="rect">
              <a:avLst/>
            </a:prstGeom>
            <a:solidFill>
              <a:schemeClr val="lt1"/>
            </a:solidFill>
            <a:ln w="6350">
              <a:solidFill>
                <a:prstClr val="black"/>
              </a:solidFill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en-US" sz="1100">
                  <a:latin typeface="Times New Roman"/>
                  <a:ea typeface="Calibri"/>
                  <a:cs typeface="Arial"/>
                </a:rPr>
                <a:t>B</a:t>
              </a:r>
              <a:endParaRPr lang="en-US" sz="1200">
                <a:latin typeface="Times New Roman"/>
                <a:ea typeface="Times New Roman"/>
              </a:endParaRPr>
            </a:p>
          </p:txBody>
        </p:sp>
        <p:sp>
          <p:nvSpPr>
            <p:cNvPr id="15" name="Text Box 2"/>
            <p:cNvSpPr txBox="1"/>
            <p:nvPr/>
          </p:nvSpPr>
          <p:spPr>
            <a:xfrm>
              <a:off x="3460750" y="1636395"/>
              <a:ext cx="274955" cy="237490"/>
            </a:xfrm>
            <a:prstGeom prst="rect">
              <a:avLst/>
            </a:prstGeom>
            <a:solidFill>
              <a:schemeClr val="lt1"/>
            </a:solidFill>
            <a:ln w="6350">
              <a:solidFill>
                <a:prstClr val="black"/>
              </a:solidFill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en-US" sz="1100">
                  <a:latin typeface="Times New Roman"/>
                  <a:ea typeface="Calibri"/>
                  <a:cs typeface="Arial"/>
                </a:rPr>
                <a:t>E</a:t>
              </a:r>
              <a:endParaRPr lang="en-US" sz="1200">
                <a:latin typeface="Times New Roman"/>
                <a:ea typeface="Times New Roman"/>
              </a:endParaRPr>
            </a:p>
          </p:txBody>
        </p:sp>
        <p:sp>
          <p:nvSpPr>
            <p:cNvPr id="16" name="Text Box 2"/>
            <p:cNvSpPr txBox="1"/>
            <p:nvPr/>
          </p:nvSpPr>
          <p:spPr>
            <a:xfrm>
              <a:off x="3161030" y="1151890"/>
              <a:ext cx="282575" cy="237490"/>
            </a:xfrm>
            <a:prstGeom prst="rect">
              <a:avLst/>
            </a:prstGeom>
            <a:solidFill>
              <a:schemeClr val="lt1"/>
            </a:solidFill>
            <a:ln w="6350">
              <a:solidFill>
                <a:prstClr val="black"/>
              </a:solidFill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en-US" sz="1100">
                  <a:latin typeface="Times New Roman"/>
                  <a:ea typeface="Calibri"/>
                  <a:cs typeface="Arial"/>
                </a:rPr>
                <a:t>C</a:t>
              </a:r>
              <a:endParaRPr lang="en-US" sz="1200">
                <a:latin typeface="Times New Roman"/>
                <a:ea typeface="Times New Roman"/>
              </a:endParaRPr>
            </a:p>
          </p:txBody>
        </p:sp>
        <p:cxnSp>
          <p:nvCxnSpPr>
            <p:cNvPr id="17" name="Straight Connector 16"/>
            <p:cNvCxnSpPr>
              <a:stCxn id="8" idx="2"/>
              <a:endCxn id="9" idx="0"/>
            </p:cNvCxnSpPr>
            <p:nvPr/>
          </p:nvCxnSpPr>
          <p:spPr>
            <a:xfrm flipH="1">
              <a:off x="2045018" y="474980"/>
              <a:ext cx="465455" cy="20193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>
              <a:endCxn id="10" idx="0"/>
            </p:cNvCxnSpPr>
            <p:nvPr/>
          </p:nvCxnSpPr>
          <p:spPr>
            <a:xfrm>
              <a:off x="2510473" y="474980"/>
              <a:ext cx="335915" cy="21399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>
              <a:stCxn id="9" idx="2"/>
              <a:endCxn id="11" idx="0"/>
            </p:cNvCxnSpPr>
            <p:nvPr/>
          </p:nvCxnSpPr>
          <p:spPr>
            <a:xfrm flipH="1">
              <a:off x="1558608" y="914400"/>
              <a:ext cx="486410" cy="15430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>
              <a:endCxn id="13" idx="0"/>
            </p:cNvCxnSpPr>
            <p:nvPr/>
          </p:nvCxnSpPr>
          <p:spPr>
            <a:xfrm>
              <a:off x="2045018" y="926465"/>
              <a:ext cx="282575" cy="14224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>
              <a:stCxn id="11" idx="2"/>
              <a:endCxn id="12" idx="0"/>
            </p:cNvCxnSpPr>
            <p:nvPr/>
          </p:nvCxnSpPr>
          <p:spPr>
            <a:xfrm flipH="1">
              <a:off x="1550988" y="1306195"/>
              <a:ext cx="7620" cy="23749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>
              <a:stCxn id="13" idx="2"/>
              <a:endCxn id="14" idx="0"/>
            </p:cNvCxnSpPr>
            <p:nvPr/>
          </p:nvCxnSpPr>
          <p:spPr>
            <a:xfrm>
              <a:off x="2327593" y="1306195"/>
              <a:ext cx="3810" cy="23749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>
              <a:stCxn id="10" idx="2"/>
              <a:endCxn id="17" idx="0"/>
            </p:cNvCxnSpPr>
            <p:nvPr/>
          </p:nvCxnSpPr>
          <p:spPr>
            <a:xfrm>
              <a:off x="2846388" y="926465"/>
              <a:ext cx="455930" cy="22542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>
              <a:stCxn id="17" idx="2"/>
            </p:cNvCxnSpPr>
            <p:nvPr/>
          </p:nvCxnSpPr>
          <p:spPr>
            <a:xfrm flipH="1">
              <a:off x="3078163" y="1389380"/>
              <a:ext cx="224155" cy="23749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>
              <a:stCxn id="17" idx="2"/>
              <a:endCxn id="15" idx="0"/>
            </p:cNvCxnSpPr>
            <p:nvPr/>
          </p:nvCxnSpPr>
          <p:spPr>
            <a:xfrm>
              <a:off x="3302318" y="1389380"/>
              <a:ext cx="295910" cy="24701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 Box 2"/>
            <p:cNvSpPr txBox="1"/>
            <p:nvPr/>
          </p:nvSpPr>
          <p:spPr>
            <a:xfrm>
              <a:off x="2933065" y="1626870"/>
              <a:ext cx="290195" cy="23749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rgbClr val="FF0000"/>
              </a:solidFill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en-US" sz="1100">
                  <a:solidFill>
                    <a:srgbClr val="FF0000"/>
                  </a:solidFill>
                  <a:latin typeface="Times New Roman"/>
                  <a:ea typeface="Calibri"/>
                  <a:cs typeface="Arial"/>
                </a:rPr>
                <a:t>G</a:t>
              </a:r>
              <a:endParaRPr lang="en-US" sz="1200">
                <a:latin typeface="Times New Roman"/>
                <a:ea typeface="Times New Roman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28309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250" name="Freeform 2"/>
          <p:cNvSpPr>
            <a:spLocks/>
          </p:cNvSpPr>
          <p:nvPr/>
        </p:nvSpPr>
        <p:spPr bwMode="auto">
          <a:xfrm>
            <a:off x="9250359" y="2112965"/>
            <a:ext cx="965200" cy="828675"/>
          </a:xfrm>
          <a:custGeom>
            <a:avLst/>
            <a:gdLst>
              <a:gd name="T0" fmla="*/ 2147483647 w 1087"/>
              <a:gd name="T1" fmla="*/ 0 h 926"/>
              <a:gd name="T2" fmla="*/ 0 w 1087"/>
              <a:gd name="T3" fmla="*/ 2147483647 h 926"/>
              <a:gd name="T4" fmla="*/ 2147483647 w 1087"/>
              <a:gd name="T5" fmla="*/ 2147483647 h 926"/>
              <a:gd name="T6" fmla="*/ 2147483647 w 1087"/>
              <a:gd name="T7" fmla="*/ 0 h 926"/>
              <a:gd name="T8" fmla="*/ 0 60000 65536"/>
              <a:gd name="T9" fmla="*/ 0 60000 65536"/>
              <a:gd name="T10" fmla="*/ 0 60000 65536"/>
              <a:gd name="T11" fmla="*/ 0 60000 65536"/>
              <a:gd name="T12" fmla="*/ 0 w 1087"/>
              <a:gd name="T13" fmla="*/ 0 h 926"/>
              <a:gd name="T14" fmla="*/ 1087 w 1087"/>
              <a:gd name="T15" fmla="*/ 926 h 92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87" h="926">
                <a:moveTo>
                  <a:pt x="538" y="0"/>
                </a:moveTo>
                <a:lnTo>
                  <a:pt x="0" y="926"/>
                </a:lnTo>
                <a:lnTo>
                  <a:pt x="1087" y="926"/>
                </a:lnTo>
                <a:lnTo>
                  <a:pt x="538" y="0"/>
                </a:lnTo>
                <a:close/>
              </a:path>
            </a:pathLst>
          </a:cu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en-US"/>
          </a:p>
        </p:txBody>
      </p:sp>
      <p:sp>
        <p:nvSpPr>
          <p:cNvPr id="821251" name="Freeform 3"/>
          <p:cNvSpPr>
            <a:spLocks/>
          </p:cNvSpPr>
          <p:nvPr/>
        </p:nvSpPr>
        <p:spPr bwMode="auto">
          <a:xfrm>
            <a:off x="8866184" y="2112968"/>
            <a:ext cx="1725613" cy="1470025"/>
          </a:xfrm>
          <a:custGeom>
            <a:avLst/>
            <a:gdLst>
              <a:gd name="T0" fmla="*/ 2147483647 w 1087"/>
              <a:gd name="T1" fmla="*/ 0 h 926"/>
              <a:gd name="T2" fmla="*/ 0 w 1087"/>
              <a:gd name="T3" fmla="*/ 2147483647 h 926"/>
              <a:gd name="T4" fmla="*/ 2147483647 w 1087"/>
              <a:gd name="T5" fmla="*/ 2147483647 h 926"/>
              <a:gd name="T6" fmla="*/ 2147483647 w 1087"/>
              <a:gd name="T7" fmla="*/ 0 h 926"/>
              <a:gd name="T8" fmla="*/ 0 60000 65536"/>
              <a:gd name="T9" fmla="*/ 0 60000 65536"/>
              <a:gd name="T10" fmla="*/ 0 60000 65536"/>
              <a:gd name="T11" fmla="*/ 0 60000 65536"/>
              <a:gd name="T12" fmla="*/ 0 w 1087"/>
              <a:gd name="T13" fmla="*/ 0 h 926"/>
              <a:gd name="T14" fmla="*/ 1087 w 1087"/>
              <a:gd name="T15" fmla="*/ 926 h 92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87" h="926">
                <a:moveTo>
                  <a:pt x="538" y="0"/>
                </a:moveTo>
                <a:lnTo>
                  <a:pt x="0" y="926"/>
                </a:lnTo>
                <a:lnTo>
                  <a:pt x="1087" y="926"/>
                </a:lnTo>
                <a:lnTo>
                  <a:pt x="538" y="0"/>
                </a:lnTo>
                <a:close/>
              </a:path>
            </a:pathLst>
          </a:cu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en-US"/>
          </a:p>
        </p:txBody>
      </p:sp>
      <p:sp>
        <p:nvSpPr>
          <p:cNvPr id="821252" name="Freeform 4"/>
          <p:cNvSpPr>
            <a:spLocks/>
          </p:cNvSpPr>
          <p:nvPr/>
        </p:nvSpPr>
        <p:spPr bwMode="auto">
          <a:xfrm>
            <a:off x="9070978" y="2119313"/>
            <a:ext cx="1323975" cy="1162051"/>
          </a:xfrm>
          <a:custGeom>
            <a:avLst/>
            <a:gdLst>
              <a:gd name="T0" fmla="*/ 2147483647 w 1087"/>
              <a:gd name="T1" fmla="*/ 0 h 926"/>
              <a:gd name="T2" fmla="*/ 0 w 1087"/>
              <a:gd name="T3" fmla="*/ 2147483647 h 926"/>
              <a:gd name="T4" fmla="*/ 2147483647 w 1087"/>
              <a:gd name="T5" fmla="*/ 2147483647 h 926"/>
              <a:gd name="T6" fmla="*/ 2147483647 w 1087"/>
              <a:gd name="T7" fmla="*/ 0 h 926"/>
              <a:gd name="T8" fmla="*/ 0 60000 65536"/>
              <a:gd name="T9" fmla="*/ 0 60000 65536"/>
              <a:gd name="T10" fmla="*/ 0 60000 65536"/>
              <a:gd name="T11" fmla="*/ 0 60000 65536"/>
              <a:gd name="T12" fmla="*/ 0 w 1087"/>
              <a:gd name="T13" fmla="*/ 0 h 926"/>
              <a:gd name="T14" fmla="*/ 1087 w 1087"/>
              <a:gd name="T15" fmla="*/ 926 h 92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87" h="926">
                <a:moveTo>
                  <a:pt x="538" y="0"/>
                </a:moveTo>
                <a:lnTo>
                  <a:pt x="0" y="926"/>
                </a:lnTo>
                <a:lnTo>
                  <a:pt x="1087" y="926"/>
                </a:lnTo>
                <a:lnTo>
                  <a:pt x="538" y="0"/>
                </a:lnTo>
                <a:close/>
              </a:path>
            </a:pathLst>
          </a:cu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en-US"/>
          </a:p>
        </p:txBody>
      </p:sp>
      <p:sp>
        <p:nvSpPr>
          <p:cNvPr id="26629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Iterative Deepening Search</a:t>
            </a:r>
          </a:p>
        </p:txBody>
      </p:sp>
      <p:sp>
        <p:nvSpPr>
          <p:cNvPr id="30" name="Content Placeholder 29"/>
          <p:cNvSpPr>
            <a:spLocks noGrp="1"/>
          </p:cNvSpPr>
          <p:nvPr>
            <p:ph idx="1"/>
          </p:nvPr>
        </p:nvSpPr>
        <p:spPr>
          <a:xfrm>
            <a:off x="838200" y="1825625"/>
            <a:ext cx="6443661" cy="4351338"/>
          </a:xfrm>
        </p:spPr>
        <p:txBody>
          <a:bodyPr/>
          <a:lstStyle/>
          <a:p>
            <a:r>
              <a:rPr lang="en-US" sz="2800" dirty="0"/>
              <a:t>Idea: get DFS’s space advantage with BFS’s time / shallow-solution advantages</a:t>
            </a:r>
          </a:p>
          <a:p>
            <a:pPr lvl="1"/>
            <a:r>
              <a:rPr lang="en-US" sz="2400" dirty="0"/>
              <a:t>Run a DFS with depth limit 1.  If no solution…</a:t>
            </a:r>
          </a:p>
          <a:p>
            <a:pPr lvl="1"/>
            <a:r>
              <a:rPr lang="en-US" sz="2400" dirty="0"/>
              <a:t>Run a DFS with depth limit 2.  If no solution…</a:t>
            </a:r>
          </a:p>
          <a:p>
            <a:pPr lvl="1"/>
            <a:r>
              <a:rPr lang="en-US" sz="2400" dirty="0"/>
              <a:t>Run a DFS with depth limit 3.  …..</a:t>
            </a:r>
          </a:p>
          <a:p>
            <a:pPr lvl="1"/>
            <a:endParaRPr lang="en-US" sz="2400" dirty="0"/>
          </a:p>
          <a:p>
            <a:r>
              <a:rPr lang="en-US" sz="2800" dirty="0"/>
              <a:t>Isn’t that wastefully redundant?</a:t>
            </a:r>
          </a:p>
          <a:p>
            <a:pPr lvl="1"/>
            <a:r>
              <a:rPr lang="en-US" sz="2400" dirty="0"/>
              <a:t>Generally most work happens in the lowest level searched, so not so bad!</a:t>
            </a:r>
          </a:p>
        </p:txBody>
      </p:sp>
      <p:sp>
        <p:nvSpPr>
          <p:cNvPr id="26679" name="Freeform 55"/>
          <p:cNvSpPr>
            <a:spLocks/>
          </p:cNvSpPr>
          <p:nvPr/>
        </p:nvSpPr>
        <p:spPr bwMode="auto">
          <a:xfrm>
            <a:off x="8274051" y="2093912"/>
            <a:ext cx="2927351" cy="2554288"/>
          </a:xfrm>
          <a:custGeom>
            <a:avLst/>
            <a:gdLst>
              <a:gd name="T0" fmla="*/ 0 w 1844"/>
              <a:gd name="T1" fmla="*/ 2147483647 h 1609"/>
              <a:gd name="T2" fmla="*/ 2147483647 w 1844"/>
              <a:gd name="T3" fmla="*/ 2147483647 h 1609"/>
              <a:gd name="T4" fmla="*/ 2147483647 w 1844"/>
              <a:gd name="T5" fmla="*/ 0 h 1609"/>
              <a:gd name="T6" fmla="*/ 0 w 1844"/>
              <a:gd name="T7" fmla="*/ 2147483647 h 1609"/>
              <a:gd name="T8" fmla="*/ 0 60000 65536"/>
              <a:gd name="T9" fmla="*/ 0 60000 65536"/>
              <a:gd name="T10" fmla="*/ 0 60000 65536"/>
              <a:gd name="T11" fmla="*/ 0 60000 65536"/>
              <a:gd name="T12" fmla="*/ 0 w 1844"/>
              <a:gd name="T13" fmla="*/ 0 h 1609"/>
              <a:gd name="T14" fmla="*/ 1844 w 1844"/>
              <a:gd name="T15" fmla="*/ 1609 h 160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844" h="1609">
                <a:moveTo>
                  <a:pt x="0" y="1609"/>
                </a:moveTo>
                <a:lnTo>
                  <a:pt x="1844" y="1609"/>
                </a:lnTo>
                <a:lnTo>
                  <a:pt x="915" y="0"/>
                </a:lnTo>
                <a:lnTo>
                  <a:pt x="0" y="1609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en-US"/>
          </a:p>
        </p:txBody>
      </p:sp>
      <p:sp>
        <p:nvSpPr>
          <p:cNvPr id="26680" name="Oval 56"/>
          <p:cNvSpPr>
            <a:spLocks noChangeArrowheads="1"/>
          </p:cNvSpPr>
          <p:nvPr/>
        </p:nvSpPr>
        <p:spPr bwMode="auto">
          <a:xfrm>
            <a:off x="9628187" y="2024063"/>
            <a:ext cx="179388" cy="1793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26681" name="Oval 57"/>
          <p:cNvSpPr>
            <a:spLocks noChangeArrowheads="1"/>
          </p:cNvSpPr>
          <p:nvPr/>
        </p:nvSpPr>
        <p:spPr bwMode="auto">
          <a:xfrm>
            <a:off x="9396411" y="2449515"/>
            <a:ext cx="179388" cy="1793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26682" name="Oval 58"/>
          <p:cNvSpPr>
            <a:spLocks noChangeArrowheads="1"/>
          </p:cNvSpPr>
          <p:nvPr/>
        </p:nvSpPr>
        <p:spPr bwMode="auto">
          <a:xfrm>
            <a:off x="9872659" y="2439987"/>
            <a:ext cx="179388" cy="1793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26683" name="Text Box 59"/>
          <p:cNvSpPr txBox="1">
            <a:spLocks noChangeArrowheads="1"/>
          </p:cNvSpPr>
          <p:nvPr/>
        </p:nvSpPr>
        <p:spPr bwMode="auto">
          <a:xfrm>
            <a:off x="9526589" y="2300291"/>
            <a:ext cx="274639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…</a:t>
            </a:r>
          </a:p>
        </p:txBody>
      </p:sp>
      <p:sp>
        <p:nvSpPr>
          <p:cNvPr id="26684" name="Freeform 60"/>
          <p:cNvSpPr>
            <a:spLocks/>
          </p:cNvSpPr>
          <p:nvPr/>
        </p:nvSpPr>
        <p:spPr bwMode="auto">
          <a:xfrm>
            <a:off x="9509123" y="2254251"/>
            <a:ext cx="444500" cy="88900"/>
          </a:xfrm>
          <a:custGeom>
            <a:avLst/>
            <a:gdLst>
              <a:gd name="T0" fmla="*/ 0 w 280"/>
              <a:gd name="T1" fmla="*/ 2147483647 h 56"/>
              <a:gd name="T2" fmla="*/ 2147483647 w 280"/>
              <a:gd name="T3" fmla="*/ 2147483647 h 56"/>
              <a:gd name="T4" fmla="*/ 2147483647 w 280"/>
              <a:gd name="T5" fmla="*/ 0 h 56"/>
              <a:gd name="T6" fmla="*/ 0 60000 65536"/>
              <a:gd name="T7" fmla="*/ 0 60000 65536"/>
              <a:gd name="T8" fmla="*/ 0 60000 65536"/>
              <a:gd name="T9" fmla="*/ 0 w 280"/>
              <a:gd name="T10" fmla="*/ 0 h 56"/>
              <a:gd name="T11" fmla="*/ 280 w 280"/>
              <a:gd name="T12" fmla="*/ 56 h 5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0" h="56">
                <a:moveTo>
                  <a:pt x="0" y="11"/>
                </a:moveTo>
                <a:cubicBezTo>
                  <a:pt x="52" y="33"/>
                  <a:pt x="104" y="56"/>
                  <a:pt x="151" y="54"/>
                </a:cubicBezTo>
                <a:cubicBezTo>
                  <a:pt x="198" y="52"/>
                  <a:pt x="239" y="26"/>
                  <a:pt x="28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sm" len="sm"/>
          </a:ln>
        </p:spPr>
        <p:txBody>
          <a:bodyPr lIns="91432" tIns="45718" rIns="91432" bIns="45718"/>
          <a:lstStyle/>
          <a:p>
            <a:endParaRPr lang="en-US"/>
          </a:p>
        </p:txBody>
      </p:sp>
      <p:sp>
        <p:nvSpPr>
          <p:cNvPr id="26685" name="Text Box 61"/>
          <p:cNvSpPr txBox="1">
            <a:spLocks noChangeArrowheads="1"/>
          </p:cNvSpPr>
          <p:nvPr/>
        </p:nvSpPr>
        <p:spPr bwMode="auto">
          <a:xfrm>
            <a:off x="9910761" y="2052639"/>
            <a:ext cx="298451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b</a:t>
            </a:r>
          </a:p>
        </p:txBody>
      </p:sp>
      <p:sp>
        <p:nvSpPr>
          <p:cNvPr id="26686" name="Oval 62"/>
          <p:cNvSpPr>
            <a:spLocks noChangeArrowheads="1"/>
          </p:cNvSpPr>
          <p:nvPr/>
        </p:nvSpPr>
        <p:spPr bwMode="auto">
          <a:xfrm>
            <a:off x="10120311" y="3489325"/>
            <a:ext cx="179388" cy="179387"/>
          </a:xfrm>
          <a:prstGeom prst="ellipse">
            <a:avLst/>
          </a:prstGeom>
          <a:solidFill>
            <a:srgbClr val="FF99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821312" name="Freeform 64"/>
          <p:cNvSpPr>
            <a:spLocks/>
          </p:cNvSpPr>
          <p:nvPr/>
        </p:nvSpPr>
        <p:spPr bwMode="auto">
          <a:xfrm>
            <a:off x="9472614" y="2119315"/>
            <a:ext cx="511175" cy="419100"/>
          </a:xfrm>
          <a:custGeom>
            <a:avLst/>
            <a:gdLst>
              <a:gd name="T0" fmla="*/ 2147483647 w 1087"/>
              <a:gd name="T1" fmla="*/ 0 h 926"/>
              <a:gd name="T2" fmla="*/ 0 w 1087"/>
              <a:gd name="T3" fmla="*/ 2147483647 h 926"/>
              <a:gd name="T4" fmla="*/ 2147483647 w 1087"/>
              <a:gd name="T5" fmla="*/ 2147483647 h 926"/>
              <a:gd name="T6" fmla="*/ 2147483647 w 1087"/>
              <a:gd name="T7" fmla="*/ 0 h 926"/>
              <a:gd name="T8" fmla="*/ 0 60000 65536"/>
              <a:gd name="T9" fmla="*/ 0 60000 65536"/>
              <a:gd name="T10" fmla="*/ 0 60000 65536"/>
              <a:gd name="T11" fmla="*/ 0 60000 65536"/>
              <a:gd name="T12" fmla="*/ 0 w 1087"/>
              <a:gd name="T13" fmla="*/ 0 h 926"/>
              <a:gd name="T14" fmla="*/ 1087 w 1087"/>
              <a:gd name="T15" fmla="*/ 926 h 92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87" h="926">
                <a:moveTo>
                  <a:pt x="538" y="0"/>
                </a:moveTo>
                <a:lnTo>
                  <a:pt x="0" y="926"/>
                </a:lnTo>
                <a:lnTo>
                  <a:pt x="1087" y="926"/>
                </a:lnTo>
                <a:lnTo>
                  <a:pt x="538" y="0"/>
                </a:lnTo>
                <a:close/>
              </a:path>
            </a:pathLst>
          </a:cu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45109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1250" grpId="0" animBg="1"/>
      <p:bldP spid="821251" grpId="0" animBg="1"/>
      <p:bldP spid="821252" grpId="0" animBg="1"/>
      <p:bldP spid="82131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Expands a node with the lowest path cost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May get stuck in infinite loop if a node has a zero-cost action leading back to the same state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Equivalent to breadth-first if all step costs are equal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accent2"/>
                </a:solidFill>
              </a:rPr>
              <a:t>Implementation</a:t>
            </a:r>
            <a:r>
              <a:rPr lang="en-US" dirty="0"/>
              <a:t>: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i="1" dirty="0"/>
              <a:t>frontier</a:t>
            </a:r>
            <a:r>
              <a:rPr lang="en-US" dirty="0"/>
              <a:t> = queue ordered by path cost (priority queue)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763000" y="6400800"/>
            <a:ext cx="1905000" cy="457200"/>
          </a:xfrm>
        </p:spPr>
        <p:txBody>
          <a:bodyPr/>
          <a:lstStyle/>
          <a:p>
            <a:fld id="{4554FA1C-AE11-4D94-9C38-1A203D2294EB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256371" y="859545"/>
            <a:ext cx="7793037" cy="852487"/>
          </a:xfrm>
        </p:spPr>
        <p:txBody>
          <a:bodyPr/>
          <a:lstStyle/>
          <a:p>
            <a:pPr eaLnBrk="1" hangingPunct="1"/>
            <a:r>
              <a:rPr lang="en-US" dirty="0"/>
              <a:t>Uniform-cost Search</a:t>
            </a:r>
          </a:p>
        </p:txBody>
      </p:sp>
    </p:spTree>
    <p:extLst>
      <p:ext uri="{BB962C8B-B14F-4D97-AF65-F5344CB8AC3E}">
        <p14:creationId xmlns:p14="http://schemas.microsoft.com/office/powerpoint/2010/main" val="10022489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6007" y="575343"/>
            <a:ext cx="7391400" cy="838200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r>
              <a:rPr lang="en-US" sz="4000" dirty="0"/>
              <a:t>Uniform Cost search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B1DB1AC-4E93-4062-9D86-E4477ED1D11A}" type="slidenum">
              <a:rPr lang="en-US" altLang="en-US">
                <a:solidFill>
                  <a:schemeClr val="bg1"/>
                </a:solidFill>
                <a:latin typeface="Book Antiqua" panose="02040602050305030304" pitchFamily="18" charset="0"/>
              </a:rPr>
              <a:pPr eaLnBrk="1" hangingPunct="1"/>
              <a:t>24</a:t>
            </a:fld>
            <a:endParaRPr lang="en-US" altLang="en-US">
              <a:solidFill>
                <a:schemeClr val="bg1"/>
              </a:solidFill>
              <a:latin typeface="Book Antiqua" panose="02040602050305030304" pitchFamily="18" charset="0"/>
            </a:endParaRPr>
          </a:p>
        </p:txBody>
      </p:sp>
      <p:pic>
        <p:nvPicPr>
          <p:cNvPr id="19461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288" y="1509712"/>
            <a:ext cx="10297511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868585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algorithmicthoughts.files.wordpress.com/2012/12/searchtree.png?w=700&amp;h=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7319" y="549613"/>
            <a:ext cx="5585449" cy="3079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161345" y="1651084"/>
            <a:ext cx="958543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15925" indent="-342900">
              <a:buFont typeface="Wingdings" panose="05000000000000000000" pitchFamily="2" charset="2"/>
              <a:buChar char="§"/>
            </a:pPr>
            <a:r>
              <a:rPr lang="en-US" altLang="en-US" sz="2400" dirty="0">
                <a:solidFill>
                  <a:srgbClr val="000000"/>
                </a:solidFill>
              </a:rPr>
              <a:t>Expand the least-cost unexpanded node</a:t>
            </a:r>
          </a:p>
          <a:p>
            <a:pPr marL="415925" indent="-342900">
              <a:buFont typeface="Wingdings" panose="05000000000000000000" pitchFamily="2" charset="2"/>
              <a:buChar char="§"/>
            </a:pPr>
            <a:r>
              <a:rPr lang="en-US" altLang="en-US" sz="2400" dirty="0">
                <a:solidFill>
                  <a:srgbClr val="000000"/>
                </a:solidFill>
              </a:rPr>
              <a:t>Implementation: </a:t>
            </a:r>
            <a:r>
              <a:rPr lang="en-US" altLang="en-US" sz="2400" i="1" dirty="0">
                <a:solidFill>
                  <a:srgbClr val="0000FF"/>
                </a:solidFill>
              </a:rPr>
              <a:t>frontier </a:t>
            </a:r>
            <a:r>
              <a:rPr lang="en-US" altLang="en-US" sz="2400" dirty="0">
                <a:solidFill>
                  <a:srgbClr val="000000"/>
                </a:solidFill>
              </a:rPr>
              <a:t>is a queue ordered by path cost</a:t>
            </a:r>
          </a:p>
          <a:p>
            <a:pPr marL="415925" indent="-342900">
              <a:buFont typeface="Wingdings" panose="05000000000000000000" pitchFamily="2" charset="2"/>
              <a:buChar char="§"/>
            </a:pPr>
            <a:r>
              <a:rPr lang="en-US" altLang="en-US" sz="2400" dirty="0">
                <a:solidFill>
                  <a:srgbClr val="000000"/>
                </a:solidFill>
              </a:rPr>
              <a:t>Equivalent to breadth-first if step costs are all equal</a:t>
            </a:r>
            <a:endParaRPr lang="en-US" sz="2400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277007" y="901515"/>
            <a:ext cx="7793037" cy="852487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r>
              <a:rPr lang="en-US" dirty="0"/>
              <a:t>Uniform Cost search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F413DC-E8B2-2E32-D20E-31DC3E9405C2}"/>
              </a:ext>
            </a:extLst>
          </p:cNvPr>
          <p:cNvSpPr txBox="1"/>
          <p:nvPr/>
        </p:nvSpPr>
        <p:spPr>
          <a:xfrm>
            <a:off x="671209" y="3064213"/>
            <a:ext cx="50292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Frontier		expansion	explored</a:t>
            </a:r>
          </a:p>
          <a:p>
            <a:r>
              <a:rPr lang="en-US" dirty="0"/>
              <a:t>(S,0)			S	{}</a:t>
            </a:r>
          </a:p>
          <a:p>
            <a:r>
              <a:rPr lang="en-US" dirty="0"/>
              <a:t>(S-&gt;A,1)(S-&gt;G,12)		A	S</a:t>
            </a:r>
          </a:p>
          <a:p>
            <a:r>
              <a:rPr lang="en-US" dirty="0"/>
              <a:t>(A-&gt;B,4) (A,C,2)(S,G,12)	C	S,A</a:t>
            </a:r>
          </a:p>
          <a:p>
            <a:r>
              <a:rPr lang="en-US" dirty="0"/>
              <a:t>(A,B,4)(S,G,12),(C,D,3)(C,G,4)	D	S,A,C</a:t>
            </a:r>
          </a:p>
          <a:p>
            <a:r>
              <a:rPr lang="en-US" dirty="0"/>
              <a:t>(D,G,6)(A,B,4)(S,G,12)(C,G,4)	G	S,A,C,D</a:t>
            </a:r>
          </a:p>
        </p:txBody>
      </p:sp>
    </p:spTree>
    <p:extLst>
      <p:ext uri="{BB962C8B-B14F-4D97-AF65-F5344CB8AC3E}">
        <p14:creationId xmlns:p14="http://schemas.microsoft.com/office/powerpoint/2010/main" val="21772142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239894" y="846410"/>
            <a:ext cx="7793037" cy="852487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r>
              <a:rPr lang="en-US" dirty="0"/>
              <a:t>Uniform Cost search 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3200401" y="1844566"/>
            <a:ext cx="6889530" cy="4787465"/>
            <a:chOff x="2362200" y="1387215"/>
            <a:chExt cx="4191000" cy="5165985"/>
          </a:xfrm>
        </p:grpSpPr>
        <p:sp>
          <p:nvSpPr>
            <p:cNvPr id="29" name="Rectangle 28"/>
            <p:cNvSpPr/>
            <p:nvPr/>
          </p:nvSpPr>
          <p:spPr bwMode="auto">
            <a:xfrm>
              <a:off x="4419600" y="5576300"/>
              <a:ext cx="533400" cy="3673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ahoma" pitchFamily="34" charset="0"/>
                </a:rPr>
                <a:t>3</a:t>
              </a:r>
            </a:p>
          </p:txBody>
        </p:sp>
        <p:sp>
          <p:nvSpPr>
            <p:cNvPr id="31" name="Rectangle 30"/>
            <p:cNvSpPr/>
            <p:nvPr/>
          </p:nvSpPr>
          <p:spPr bwMode="auto">
            <a:xfrm>
              <a:off x="4343400" y="4419600"/>
              <a:ext cx="533400" cy="3673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ahoma" pitchFamily="34" charset="0"/>
                </a:rPr>
                <a:t>1</a:t>
              </a:r>
            </a:p>
          </p:txBody>
        </p:sp>
        <p:sp>
          <p:nvSpPr>
            <p:cNvPr id="34" name="Rectangle 33"/>
            <p:cNvSpPr/>
            <p:nvPr/>
          </p:nvSpPr>
          <p:spPr bwMode="auto">
            <a:xfrm>
              <a:off x="4038600" y="3048000"/>
              <a:ext cx="533400" cy="3673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ahoma" pitchFamily="34" charset="0"/>
                </a:rPr>
                <a:t>1</a:t>
              </a:r>
            </a:p>
          </p:txBody>
        </p:sp>
        <p:sp>
          <p:nvSpPr>
            <p:cNvPr id="28" name="Rectangle 27"/>
            <p:cNvSpPr/>
            <p:nvPr/>
          </p:nvSpPr>
          <p:spPr bwMode="auto">
            <a:xfrm>
              <a:off x="5330778" y="1810083"/>
              <a:ext cx="533400" cy="3673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ahoma" pitchFamily="34" charset="0"/>
                </a:rPr>
                <a:t>12</a:t>
              </a:r>
            </a:p>
          </p:txBody>
        </p:sp>
        <p:sp>
          <p:nvSpPr>
            <p:cNvPr id="33" name="Rectangle 32"/>
            <p:cNvSpPr/>
            <p:nvPr/>
          </p:nvSpPr>
          <p:spPr bwMode="auto">
            <a:xfrm>
              <a:off x="5257800" y="4128500"/>
              <a:ext cx="533400" cy="3673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ahoma" pitchFamily="34" charset="0"/>
                </a:rPr>
                <a:t>2</a:t>
              </a:r>
            </a:p>
          </p:txBody>
        </p:sp>
        <p:sp>
          <p:nvSpPr>
            <p:cNvPr id="36" name="Rectangle 35"/>
            <p:cNvSpPr/>
            <p:nvPr/>
          </p:nvSpPr>
          <p:spPr bwMode="auto">
            <a:xfrm>
              <a:off x="2514600" y="5576300"/>
              <a:ext cx="533400" cy="3673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ahoma" pitchFamily="34" charset="0"/>
                </a:rPr>
                <a:t>3</a:t>
              </a:r>
            </a:p>
          </p:txBody>
        </p:sp>
        <p:sp>
          <p:nvSpPr>
            <p:cNvPr id="27" name="Rectangle 26"/>
            <p:cNvSpPr/>
            <p:nvPr/>
          </p:nvSpPr>
          <p:spPr bwMode="auto">
            <a:xfrm>
              <a:off x="2743200" y="3061700"/>
              <a:ext cx="533400" cy="3673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ahoma" pitchFamily="34" charset="0"/>
                </a:rPr>
                <a:t>3</a:t>
              </a:r>
            </a:p>
          </p:txBody>
        </p:sp>
        <p:sp>
          <p:nvSpPr>
            <p:cNvPr id="20" name="Rectangle 19"/>
            <p:cNvSpPr/>
            <p:nvPr/>
          </p:nvSpPr>
          <p:spPr bwMode="auto">
            <a:xfrm>
              <a:off x="3810000" y="1842500"/>
              <a:ext cx="533400" cy="3673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ahoma" pitchFamily="34" charset="0"/>
                </a:rPr>
                <a:t>1</a:t>
              </a:r>
            </a:p>
          </p:txBody>
        </p:sp>
        <p:sp>
          <p:nvSpPr>
            <p:cNvPr id="7" name="Oval 6"/>
            <p:cNvSpPr/>
            <p:nvPr/>
          </p:nvSpPr>
          <p:spPr bwMode="auto">
            <a:xfrm>
              <a:off x="4507810" y="1387215"/>
              <a:ext cx="609600" cy="533400"/>
            </a:xfrm>
            <a:prstGeom prst="ellipse">
              <a:avLst/>
            </a:prstGeom>
            <a:solidFill>
              <a:schemeClr val="accent1">
                <a:alpha val="5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dirty="0">
                  <a:latin typeface="Tahoma" pitchFamily="34" charset="0"/>
                </a:rPr>
                <a:t>S</a:t>
              </a:r>
            </a:p>
          </p:txBody>
        </p:sp>
        <p:sp>
          <p:nvSpPr>
            <p:cNvPr id="8" name="Oval 7"/>
            <p:cNvSpPr/>
            <p:nvPr/>
          </p:nvSpPr>
          <p:spPr bwMode="auto">
            <a:xfrm>
              <a:off x="3266607" y="2514600"/>
              <a:ext cx="609600" cy="533400"/>
            </a:xfrm>
            <a:prstGeom prst="ellipse">
              <a:avLst/>
            </a:prstGeom>
            <a:solidFill>
              <a:schemeClr val="accent1">
                <a:alpha val="5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dirty="0">
                  <a:latin typeface="Tahoma" pitchFamily="34" charset="0"/>
                </a:rPr>
                <a:t>A</a:t>
              </a:r>
            </a:p>
          </p:txBody>
        </p:sp>
        <p:sp>
          <p:nvSpPr>
            <p:cNvPr id="9" name="Oval 8"/>
            <p:cNvSpPr/>
            <p:nvPr/>
          </p:nvSpPr>
          <p:spPr bwMode="auto">
            <a:xfrm>
              <a:off x="2590800" y="3744418"/>
              <a:ext cx="609600" cy="533400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dirty="0">
                  <a:latin typeface="Tahoma" pitchFamily="34" charset="0"/>
                </a:rPr>
                <a:t>B</a:t>
              </a:r>
            </a:p>
          </p:txBody>
        </p:sp>
        <p:sp>
          <p:nvSpPr>
            <p:cNvPr id="10" name="Oval 9"/>
            <p:cNvSpPr/>
            <p:nvPr/>
          </p:nvSpPr>
          <p:spPr bwMode="auto">
            <a:xfrm>
              <a:off x="2647014" y="4974236"/>
              <a:ext cx="609600" cy="533400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dirty="0">
                  <a:latin typeface="Tahoma" pitchFamily="34" charset="0"/>
                </a:rPr>
                <a:t>D</a:t>
              </a:r>
            </a:p>
          </p:txBody>
        </p:sp>
        <p:sp>
          <p:nvSpPr>
            <p:cNvPr id="11" name="Oval 10"/>
            <p:cNvSpPr/>
            <p:nvPr/>
          </p:nvSpPr>
          <p:spPr bwMode="auto">
            <a:xfrm>
              <a:off x="2657007" y="6002936"/>
              <a:ext cx="609600" cy="533400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dirty="0">
                  <a:latin typeface="Tahoma" pitchFamily="34" charset="0"/>
                </a:rPr>
                <a:t>G</a:t>
              </a:r>
            </a:p>
          </p:txBody>
        </p:sp>
        <p:sp>
          <p:nvSpPr>
            <p:cNvPr id="12" name="Oval 11"/>
            <p:cNvSpPr/>
            <p:nvPr/>
          </p:nvSpPr>
          <p:spPr bwMode="auto">
            <a:xfrm>
              <a:off x="4512807" y="6019800"/>
              <a:ext cx="609600" cy="533400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dirty="0">
                  <a:latin typeface="Tahoma" pitchFamily="34" charset="0"/>
                </a:rPr>
                <a:t>G</a:t>
              </a:r>
            </a:p>
          </p:txBody>
        </p:sp>
        <p:sp>
          <p:nvSpPr>
            <p:cNvPr id="13" name="Oval 12"/>
            <p:cNvSpPr/>
            <p:nvPr/>
          </p:nvSpPr>
          <p:spPr bwMode="auto">
            <a:xfrm>
              <a:off x="4507810" y="4979233"/>
              <a:ext cx="609600" cy="533400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dirty="0">
                  <a:latin typeface="Tahoma" pitchFamily="34" charset="0"/>
                </a:rPr>
                <a:t>D</a:t>
              </a:r>
            </a:p>
          </p:txBody>
        </p:sp>
        <p:sp>
          <p:nvSpPr>
            <p:cNvPr id="14" name="Oval 13"/>
            <p:cNvSpPr/>
            <p:nvPr/>
          </p:nvSpPr>
          <p:spPr bwMode="auto">
            <a:xfrm>
              <a:off x="4486574" y="3744418"/>
              <a:ext cx="609600" cy="533400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dirty="0">
                  <a:latin typeface="Tahoma" pitchFamily="34" charset="0"/>
                </a:rPr>
                <a:t>C</a:t>
              </a:r>
            </a:p>
          </p:txBody>
        </p:sp>
        <p:sp>
          <p:nvSpPr>
            <p:cNvPr id="15" name="Oval 14"/>
            <p:cNvSpPr/>
            <p:nvPr/>
          </p:nvSpPr>
          <p:spPr bwMode="auto">
            <a:xfrm>
              <a:off x="5733738" y="4974236"/>
              <a:ext cx="609600" cy="533400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dirty="0">
                  <a:latin typeface="Tahoma" pitchFamily="34" charset="0"/>
                </a:rPr>
                <a:t>G</a:t>
              </a:r>
            </a:p>
          </p:txBody>
        </p:sp>
        <p:sp>
          <p:nvSpPr>
            <p:cNvPr id="16" name="Oval 15"/>
            <p:cNvSpPr/>
            <p:nvPr/>
          </p:nvSpPr>
          <p:spPr bwMode="auto">
            <a:xfrm>
              <a:off x="5943600" y="2514600"/>
              <a:ext cx="609600" cy="533400"/>
            </a:xfrm>
            <a:prstGeom prst="ellipse">
              <a:avLst/>
            </a:prstGeom>
            <a:solidFill>
              <a:schemeClr val="accent1">
                <a:alpha val="5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dirty="0">
                  <a:latin typeface="Tahoma" pitchFamily="34" charset="0"/>
                </a:rPr>
                <a:t>G</a:t>
              </a:r>
            </a:p>
          </p:txBody>
        </p:sp>
        <p:cxnSp>
          <p:nvCxnSpPr>
            <p:cNvPr id="18" name="Straight Connector 17"/>
            <p:cNvCxnSpPr>
              <a:stCxn id="7" idx="3"/>
              <a:endCxn id="8" idx="7"/>
            </p:cNvCxnSpPr>
            <p:nvPr/>
          </p:nvCxnSpPr>
          <p:spPr bwMode="auto">
            <a:xfrm flipH="1">
              <a:off x="3786933" y="1842500"/>
              <a:ext cx="810151" cy="750215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>
              <a:stCxn id="7" idx="5"/>
              <a:endCxn id="16" idx="1"/>
            </p:cNvCxnSpPr>
            <p:nvPr/>
          </p:nvCxnSpPr>
          <p:spPr bwMode="auto">
            <a:xfrm>
              <a:off x="5028136" y="1842500"/>
              <a:ext cx="1004738" cy="750215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4" name="Straight Connector 23"/>
            <p:cNvCxnSpPr>
              <a:stCxn id="8" idx="3"/>
              <a:endCxn id="9" idx="0"/>
            </p:cNvCxnSpPr>
            <p:nvPr/>
          </p:nvCxnSpPr>
          <p:spPr bwMode="auto">
            <a:xfrm flipH="1">
              <a:off x="2895600" y="2969885"/>
              <a:ext cx="460281" cy="774533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>
              <a:stCxn id="8" idx="5"/>
              <a:endCxn id="14" idx="1"/>
            </p:cNvCxnSpPr>
            <p:nvPr/>
          </p:nvCxnSpPr>
          <p:spPr bwMode="auto">
            <a:xfrm>
              <a:off x="3786933" y="2969885"/>
              <a:ext cx="788915" cy="85264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0" name="Straight Connector 29"/>
            <p:cNvCxnSpPr>
              <a:stCxn id="9" idx="4"/>
            </p:cNvCxnSpPr>
            <p:nvPr/>
          </p:nvCxnSpPr>
          <p:spPr bwMode="auto">
            <a:xfrm>
              <a:off x="2895600" y="4277818"/>
              <a:ext cx="0" cy="69641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2" name="Straight Connector 31"/>
            <p:cNvCxnSpPr>
              <a:stCxn id="10" idx="4"/>
              <a:endCxn id="11" idx="0"/>
            </p:cNvCxnSpPr>
            <p:nvPr/>
          </p:nvCxnSpPr>
          <p:spPr bwMode="auto">
            <a:xfrm>
              <a:off x="2951814" y="5507636"/>
              <a:ext cx="9993" cy="4953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" name="Straight Connector 2"/>
            <p:cNvCxnSpPr>
              <a:stCxn id="14" idx="4"/>
              <a:endCxn id="13" idx="0"/>
            </p:cNvCxnSpPr>
            <p:nvPr/>
          </p:nvCxnSpPr>
          <p:spPr bwMode="auto">
            <a:xfrm>
              <a:off x="4791374" y="4277818"/>
              <a:ext cx="21236" cy="701415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" name="Straight Connector 4"/>
            <p:cNvCxnSpPr>
              <a:stCxn id="13" idx="4"/>
              <a:endCxn id="12" idx="0"/>
            </p:cNvCxnSpPr>
            <p:nvPr/>
          </p:nvCxnSpPr>
          <p:spPr bwMode="auto">
            <a:xfrm>
              <a:off x="4812610" y="5512633"/>
              <a:ext cx="4997" cy="507167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9" name="Straight Connector 18"/>
            <p:cNvCxnSpPr>
              <a:stCxn id="14" idx="5"/>
              <a:endCxn id="15" idx="1"/>
            </p:cNvCxnSpPr>
            <p:nvPr/>
          </p:nvCxnSpPr>
          <p:spPr bwMode="auto">
            <a:xfrm>
              <a:off x="5006900" y="4199703"/>
              <a:ext cx="816112" cy="85264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5" name="Rectangle 34"/>
            <p:cNvSpPr/>
            <p:nvPr/>
          </p:nvSpPr>
          <p:spPr bwMode="auto">
            <a:xfrm>
              <a:off x="2362200" y="4419600"/>
              <a:ext cx="533400" cy="3673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ahoma" pitchFamily="34" charset="0"/>
                </a:rPr>
                <a:t>3</a:t>
              </a:r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767099" y="3007002"/>
            <a:ext cx="1752600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frontier (P.Q)</a:t>
            </a:r>
          </a:p>
          <a:p>
            <a:r>
              <a:rPr lang="en-US" strike="sngStrike" dirty="0"/>
              <a:t>S      0</a:t>
            </a:r>
          </a:p>
          <a:p>
            <a:r>
              <a:rPr lang="en-US" dirty="0"/>
              <a:t>A      1</a:t>
            </a:r>
          </a:p>
          <a:p>
            <a:r>
              <a:rPr lang="en-US" dirty="0"/>
              <a:t>G      12</a:t>
            </a:r>
          </a:p>
        </p:txBody>
      </p:sp>
    </p:spTree>
    <p:extLst>
      <p:ext uri="{BB962C8B-B14F-4D97-AF65-F5344CB8AC3E}">
        <p14:creationId xmlns:p14="http://schemas.microsoft.com/office/powerpoint/2010/main" val="36546412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198888" y="827288"/>
            <a:ext cx="7793037" cy="852487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r>
              <a:rPr lang="en-US" dirty="0"/>
              <a:t>Uniform Cost search 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3886200" y="1387215"/>
            <a:ext cx="4191000" cy="5165985"/>
            <a:chOff x="3886200" y="1387215"/>
            <a:chExt cx="4191000" cy="5165985"/>
          </a:xfrm>
        </p:grpSpPr>
        <p:sp>
          <p:nvSpPr>
            <p:cNvPr id="29" name="Rectangle 28"/>
            <p:cNvSpPr/>
            <p:nvPr/>
          </p:nvSpPr>
          <p:spPr bwMode="auto">
            <a:xfrm>
              <a:off x="5943600" y="5576300"/>
              <a:ext cx="533400" cy="3673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ahoma" pitchFamily="34" charset="0"/>
                </a:rPr>
                <a:t>3</a:t>
              </a:r>
            </a:p>
          </p:txBody>
        </p:sp>
        <p:sp>
          <p:nvSpPr>
            <p:cNvPr id="31" name="Rectangle 30"/>
            <p:cNvSpPr/>
            <p:nvPr/>
          </p:nvSpPr>
          <p:spPr bwMode="auto">
            <a:xfrm>
              <a:off x="5867400" y="4419600"/>
              <a:ext cx="533400" cy="3673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ahoma" pitchFamily="34" charset="0"/>
                </a:rPr>
                <a:t>1</a:t>
              </a:r>
            </a:p>
          </p:txBody>
        </p:sp>
        <p:sp>
          <p:nvSpPr>
            <p:cNvPr id="34" name="Rectangle 33"/>
            <p:cNvSpPr/>
            <p:nvPr/>
          </p:nvSpPr>
          <p:spPr bwMode="auto">
            <a:xfrm>
              <a:off x="5562600" y="3048000"/>
              <a:ext cx="533400" cy="3673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ahoma" pitchFamily="34" charset="0"/>
                </a:rPr>
                <a:t>1</a:t>
              </a:r>
            </a:p>
          </p:txBody>
        </p:sp>
        <p:sp>
          <p:nvSpPr>
            <p:cNvPr id="28" name="Rectangle 27"/>
            <p:cNvSpPr/>
            <p:nvPr/>
          </p:nvSpPr>
          <p:spPr bwMode="auto">
            <a:xfrm>
              <a:off x="6854778" y="1810083"/>
              <a:ext cx="533400" cy="3673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ahoma" pitchFamily="34" charset="0"/>
                </a:rPr>
                <a:t>12</a:t>
              </a:r>
            </a:p>
          </p:txBody>
        </p:sp>
        <p:sp>
          <p:nvSpPr>
            <p:cNvPr id="33" name="Rectangle 32"/>
            <p:cNvSpPr/>
            <p:nvPr/>
          </p:nvSpPr>
          <p:spPr bwMode="auto">
            <a:xfrm>
              <a:off x="6781800" y="4128500"/>
              <a:ext cx="533400" cy="3673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ahoma" pitchFamily="34" charset="0"/>
                </a:rPr>
                <a:t>2</a:t>
              </a:r>
            </a:p>
          </p:txBody>
        </p:sp>
        <p:sp>
          <p:nvSpPr>
            <p:cNvPr id="36" name="Rectangle 35"/>
            <p:cNvSpPr/>
            <p:nvPr/>
          </p:nvSpPr>
          <p:spPr bwMode="auto">
            <a:xfrm>
              <a:off x="4038600" y="5576300"/>
              <a:ext cx="533400" cy="3673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ahoma" pitchFamily="34" charset="0"/>
                </a:rPr>
                <a:t>3</a:t>
              </a:r>
            </a:p>
          </p:txBody>
        </p:sp>
        <p:sp>
          <p:nvSpPr>
            <p:cNvPr id="27" name="Rectangle 26"/>
            <p:cNvSpPr/>
            <p:nvPr/>
          </p:nvSpPr>
          <p:spPr bwMode="auto">
            <a:xfrm>
              <a:off x="4267200" y="3061700"/>
              <a:ext cx="533400" cy="3673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ahoma" pitchFamily="34" charset="0"/>
                </a:rPr>
                <a:t>3</a:t>
              </a:r>
            </a:p>
          </p:txBody>
        </p:sp>
        <p:sp>
          <p:nvSpPr>
            <p:cNvPr id="20" name="Rectangle 19"/>
            <p:cNvSpPr/>
            <p:nvPr/>
          </p:nvSpPr>
          <p:spPr bwMode="auto">
            <a:xfrm>
              <a:off x="5334000" y="1842500"/>
              <a:ext cx="533400" cy="3673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ahoma" pitchFamily="34" charset="0"/>
                </a:rPr>
                <a:t>1</a:t>
              </a:r>
            </a:p>
          </p:txBody>
        </p:sp>
        <p:sp>
          <p:nvSpPr>
            <p:cNvPr id="7" name="Oval 6"/>
            <p:cNvSpPr/>
            <p:nvPr/>
          </p:nvSpPr>
          <p:spPr bwMode="auto">
            <a:xfrm>
              <a:off x="6031810" y="1387215"/>
              <a:ext cx="609600" cy="533400"/>
            </a:xfrm>
            <a:prstGeom prst="ellipse">
              <a:avLst/>
            </a:prstGeom>
            <a:solidFill>
              <a:schemeClr val="accent1">
                <a:alpha val="5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dirty="0">
                  <a:latin typeface="Tahoma" pitchFamily="34" charset="0"/>
                </a:rPr>
                <a:t>S</a:t>
              </a:r>
            </a:p>
          </p:txBody>
        </p:sp>
        <p:sp>
          <p:nvSpPr>
            <p:cNvPr id="8" name="Oval 7"/>
            <p:cNvSpPr/>
            <p:nvPr/>
          </p:nvSpPr>
          <p:spPr bwMode="auto">
            <a:xfrm>
              <a:off x="4790607" y="2514600"/>
              <a:ext cx="609600" cy="533400"/>
            </a:xfrm>
            <a:prstGeom prst="ellipse">
              <a:avLst/>
            </a:prstGeom>
            <a:solidFill>
              <a:schemeClr val="accent1">
                <a:alpha val="5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dirty="0">
                  <a:latin typeface="Tahoma" pitchFamily="34" charset="0"/>
                </a:rPr>
                <a:t>A</a:t>
              </a:r>
            </a:p>
          </p:txBody>
        </p:sp>
        <p:sp>
          <p:nvSpPr>
            <p:cNvPr id="9" name="Oval 8"/>
            <p:cNvSpPr/>
            <p:nvPr/>
          </p:nvSpPr>
          <p:spPr bwMode="auto">
            <a:xfrm>
              <a:off x="4114800" y="3744418"/>
              <a:ext cx="609600" cy="533400"/>
            </a:xfrm>
            <a:prstGeom prst="ellipse">
              <a:avLst/>
            </a:prstGeom>
            <a:solidFill>
              <a:schemeClr val="accent1">
                <a:alpha val="5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dirty="0">
                  <a:latin typeface="Tahoma" pitchFamily="34" charset="0"/>
                </a:rPr>
                <a:t>B</a:t>
              </a:r>
            </a:p>
          </p:txBody>
        </p:sp>
        <p:sp>
          <p:nvSpPr>
            <p:cNvPr id="10" name="Oval 9"/>
            <p:cNvSpPr/>
            <p:nvPr/>
          </p:nvSpPr>
          <p:spPr bwMode="auto">
            <a:xfrm>
              <a:off x="4171014" y="4974236"/>
              <a:ext cx="609600" cy="533400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dirty="0">
                  <a:latin typeface="Tahoma" pitchFamily="34" charset="0"/>
                </a:rPr>
                <a:t>D</a:t>
              </a:r>
            </a:p>
          </p:txBody>
        </p:sp>
        <p:sp>
          <p:nvSpPr>
            <p:cNvPr id="11" name="Oval 10"/>
            <p:cNvSpPr/>
            <p:nvPr/>
          </p:nvSpPr>
          <p:spPr bwMode="auto">
            <a:xfrm>
              <a:off x="4181007" y="6002936"/>
              <a:ext cx="609600" cy="533400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dirty="0">
                  <a:latin typeface="Tahoma" pitchFamily="34" charset="0"/>
                </a:rPr>
                <a:t>G</a:t>
              </a:r>
            </a:p>
          </p:txBody>
        </p:sp>
        <p:sp>
          <p:nvSpPr>
            <p:cNvPr id="12" name="Oval 11"/>
            <p:cNvSpPr/>
            <p:nvPr/>
          </p:nvSpPr>
          <p:spPr bwMode="auto">
            <a:xfrm>
              <a:off x="6036807" y="6019800"/>
              <a:ext cx="609600" cy="533400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dirty="0">
                  <a:latin typeface="Tahoma" pitchFamily="34" charset="0"/>
                </a:rPr>
                <a:t>G</a:t>
              </a:r>
            </a:p>
          </p:txBody>
        </p:sp>
        <p:sp>
          <p:nvSpPr>
            <p:cNvPr id="13" name="Oval 12"/>
            <p:cNvSpPr/>
            <p:nvPr/>
          </p:nvSpPr>
          <p:spPr bwMode="auto">
            <a:xfrm>
              <a:off x="6031810" y="4979233"/>
              <a:ext cx="609600" cy="533400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dirty="0">
                  <a:latin typeface="Tahoma" pitchFamily="34" charset="0"/>
                </a:rPr>
                <a:t>D</a:t>
              </a:r>
            </a:p>
          </p:txBody>
        </p:sp>
        <p:sp>
          <p:nvSpPr>
            <p:cNvPr id="14" name="Oval 13"/>
            <p:cNvSpPr/>
            <p:nvPr/>
          </p:nvSpPr>
          <p:spPr bwMode="auto">
            <a:xfrm>
              <a:off x="6010574" y="3744418"/>
              <a:ext cx="609600" cy="533400"/>
            </a:xfrm>
            <a:prstGeom prst="ellipse">
              <a:avLst/>
            </a:prstGeom>
            <a:solidFill>
              <a:schemeClr val="accent1">
                <a:alpha val="5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dirty="0">
                  <a:latin typeface="Tahoma" pitchFamily="34" charset="0"/>
                </a:rPr>
                <a:t>C</a:t>
              </a:r>
            </a:p>
          </p:txBody>
        </p:sp>
        <p:sp>
          <p:nvSpPr>
            <p:cNvPr id="15" name="Oval 14"/>
            <p:cNvSpPr/>
            <p:nvPr/>
          </p:nvSpPr>
          <p:spPr bwMode="auto">
            <a:xfrm>
              <a:off x="7257738" y="4974236"/>
              <a:ext cx="609600" cy="533400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dirty="0">
                  <a:latin typeface="Tahoma" pitchFamily="34" charset="0"/>
                </a:rPr>
                <a:t>G</a:t>
              </a:r>
            </a:p>
          </p:txBody>
        </p:sp>
        <p:sp>
          <p:nvSpPr>
            <p:cNvPr id="16" name="Oval 15"/>
            <p:cNvSpPr/>
            <p:nvPr/>
          </p:nvSpPr>
          <p:spPr bwMode="auto">
            <a:xfrm>
              <a:off x="7467600" y="2514600"/>
              <a:ext cx="609600" cy="533400"/>
            </a:xfrm>
            <a:prstGeom prst="ellipse">
              <a:avLst/>
            </a:prstGeom>
            <a:solidFill>
              <a:schemeClr val="accent1">
                <a:alpha val="5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dirty="0">
                  <a:latin typeface="Tahoma" pitchFamily="34" charset="0"/>
                </a:rPr>
                <a:t>G</a:t>
              </a:r>
            </a:p>
          </p:txBody>
        </p:sp>
        <p:cxnSp>
          <p:nvCxnSpPr>
            <p:cNvPr id="18" name="Straight Connector 17"/>
            <p:cNvCxnSpPr>
              <a:stCxn id="7" idx="3"/>
              <a:endCxn id="8" idx="7"/>
            </p:cNvCxnSpPr>
            <p:nvPr/>
          </p:nvCxnSpPr>
          <p:spPr bwMode="auto">
            <a:xfrm flipH="1">
              <a:off x="5310934" y="1842501"/>
              <a:ext cx="810151" cy="750215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>
              <a:stCxn id="7" idx="5"/>
              <a:endCxn id="16" idx="1"/>
            </p:cNvCxnSpPr>
            <p:nvPr/>
          </p:nvCxnSpPr>
          <p:spPr bwMode="auto">
            <a:xfrm>
              <a:off x="6552136" y="1842501"/>
              <a:ext cx="1004738" cy="750215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4" name="Straight Connector 23"/>
            <p:cNvCxnSpPr>
              <a:stCxn id="8" idx="3"/>
              <a:endCxn id="9" idx="0"/>
            </p:cNvCxnSpPr>
            <p:nvPr/>
          </p:nvCxnSpPr>
          <p:spPr bwMode="auto">
            <a:xfrm flipH="1">
              <a:off x="4419601" y="2969886"/>
              <a:ext cx="460281" cy="774533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>
              <a:stCxn id="8" idx="5"/>
              <a:endCxn id="14" idx="1"/>
            </p:cNvCxnSpPr>
            <p:nvPr/>
          </p:nvCxnSpPr>
          <p:spPr bwMode="auto">
            <a:xfrm>
              <a:off x="5310934" y="2969885"/>
              <a:ext cx="788915" cy="85264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0" name="Straight Connector 29"/>
            <p:cNvCxnSpPr>
              <a:stCxn id="9" idx="4"/>
            </p:cNvCxnSpPr>
            <p:nvPr/>
          </p:nvCxnSpPr>
          <p:spPr bwMode="auto">
            <a:xfrm>
              <a:off x="4419600" y="4277818"/>
              <a:ext cx="0" cy="69641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2" name="Straight Connector 31"/>
            <p:cNvCxnSpPr>
              <a:stCxn id="10" idx="4"/>
              <a:endCxn id="11" idx="0"/>
            </p:cNvCxnSpPr>
            <p:nvPr/>
          </p:nvCxnSpPr>
          <p:spPr bwMode="auto">
            <a:xfrm>
              <a:off x="4475815" y="5507636"/>
              <a:ext cx="9993" cy="4953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" name="Straight Connector 2"/>
            <p:cNvCxnSpPr>
              <a:stCxn id="14" idx="4"/>
              <a:endCxn id="13" idx="0"/>
            </p:cNvCxnSpPr>
            <p:nvPr/>
          </p:nvCxnSpPr>
          <p:spPr bwMode="auto">
            <a:xfrm>
              <a:off x="6315374" y="4277819"/>
              <a:ext cx="21236" cy="701415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" name="Straight Connector 4"/>
            <p:cNvCxnSpPr>
              <a:stCxn id="13" idx="4"/>
              <a:endCxn id="12" idx="0"/>
            </p:cNvCxnSpPr>
            <p:nvPr/>
          </p:nvCxnSpPr>
          <p:spPr bwMode="auto">
            <a:xfrm>
              <a:off x="6336611" y="5512634"/>
              <a:ext cx="4997" cy="507167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9" name="Straight Connector 18"/>
            <p:cNvCxnSpPr>
              <a:stCxn id="14" idx="5"/>
              <a:endCxn id="15" idx="1"/>
            </p:cNvCxnSpPr>
            <p:nvPr/>
          </p:nvCxnSpPr>
          <p:spPr bwMode="auto">
            <a:xfrm>
              <a:off x="6530900" y="4199703"/>
              <a:ext cx="816112" cy="85264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5" name="Rectangle 34"/>
            <p:cNvSpPr/>
            <p:nvPr/>
          </p:nvSpPr>
          <p:spPr bwMode="auto">
            <a:xfrm>
              <a:off x="3886200" y="4419600"/>
              <a:ext cx="533400" cy="3673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ahoma" pitchFamily="34" charset="0"/>
                </a:rPr>
                <a:t>3</a:t>
              </a:r>
            </a:p>
          </p:txBody>
        </p:sp>
      </p:grpSp>
      <p:sp>
        <p:nvSpPr>
          <p:cNvPr id="37" name="TextBox 36"/>
          <p:cNvSpPr txBox="1"/>
          <p:nvPr/>
        </p:nvSpPr>
        <p:spPr>
          <a:xfrm>
            <a:off x="1160155" y="3048000"/>
            <a:ext cx="1752600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frontier (P.Q)</a:t>
            </a:r>
          </a:p>
          <a:p>
            <a:r>
              <a:rPr lang="en-US" strike="sngStrike" dirty="0"/>
              <a:t>S      0</a:t>
            </a:r>
          </a:p>
          <a:p>
            <a:r>
              <a:rPr lang="en-US" strike="sngStrike" dirty="0"/>
              <a:t>A      1</a:t>
            </a:r>
          </a:p>
          <a:p>
            <a:r>
              <a:rPr lang="en-US" dirty="0"/>
              <a:t>C      2</a:t>
            </a:r>
          </a:p>
          <a:p>
            <a:r>
              <a:rPr lang="en-US" dirty="0"/>
              <a:t>B      4</a:t>
            </a:r>
          </a:p>
          <a:p>
            <a:r>
              <a:rPr lang="en-US" dirty="0"/>
              <a:t>G      12</a:t>
            </a:r>
          </a:p>
        </p:txBody>
      </p:sp>
    </p:spTree>
    <p:extLst>
      <p:ext uri="{BB962C8B-B14F-4D97-AF65-F5344CB8AC3E}">
        <p14:creationId xmlns:p14="http://schemas.microsoft.com/office/powerpoint/2010/main" val="29201026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 bwMode="auto">
          <a:xfrm>
            <a:off x="5943600" y="5576300"/>
            <a:ext cx="533400" cy="3673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 pitchFamily="34" charset="0"/>
              </a:rPr>
              <a:t>3</a:t>
            </a:r>
          </a:p>
        </p:txBody>
      </p:sp>
      <p:sp>
        <p:nvSpPr>
          <p:cNvPr id="31" name="Rectangle 30"/>
          <p:cNvSpPr/>
          <p:nvPr/>
        </p:nvSpPr>
        <p:spPr bwMode="auto">
          <a:xfrm>
            <a:off x="5867400" y="4419600"/>
            <a:ext cx="533400" cy="3673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 pitchFamily="34" charset="0"/>
              </a:rPr>
              <a:t>1</a:t>
            </a:r>
          </a:p>
        </p:txBody>
      </p:sp>
      <p:sp>
        <p:nvSpPr>
          <p:cNvPr id="34" name="Rectangle 33"/>
          <p:cNvSpPr/>
          <p:nvPr/>
        </p:nvSpPr>
        <p:spPr bwMode="auto">
          <a:xfrm>
            <a:off x="5562600" y="3048000"/>
            <a:ext cx="533400" cy="3673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 pitchFamily="34" charset="0"/>
              </a:rPr>
              <a:t>1</a:t>
            </a:r>
          </a:p>
        </p:txBody>
      </p:sp>
      <p:sp>
        <p:nvSpPr>
          <p:cNvPr id="28" name="Rectangle 27"/>
          <p:cNvSpPr/>
          <p:nvPr/>
        </p:nvSpPr>
        <p:spPr bwMode="auto">
          <a:xfrm>
            <a:off x="6854778" y="1810083"/>
            <a:ext cx="533400" cy="3673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 pitchFamily="34" charset="0"/>
              </a:rPr>
              <a:t>12</a:t>
            </a:r>
          </a:p>
        </p:txBody>
      </p:sp>
      <p:sp>
        <p:nvSpPr>
          <p:cNvPr id="33" name="Rectangle 32"/>
          <p:cNvSpPr/>
          <p:nvPr/>
        </p:nvSpPr>
        <p:spPr bwMode="auto">
          <a:xfrm>
            <a:off x="6781800" y="4128500"/>
            <a:ext cx="533400" cy="3673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 pitchFamily="34" charset="0"/>
              </a:rPr>
              <a:t>2</a:t>
            </a:r>
          </a:p>
        </p:txBody>
      </p:sp>
      <p:sp>
        <p:nvSpPr>
          <p:cNvPr id="36" name="Rectangle 35"/>
          <p:cNvSpPr/>
          <p:nvPr/>
        </p:nvSpPr>
        <p:spPr bwMode="auto">
          <a:xfrm>
            <a:off x="4038600" y="5576300"/>
            <a:ext cx="533400" cy="3673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 pitchFamily="34" charset="0"/>
              </a:rPr>
              <a:t>2</a:t>
            </a:r>
          </a:p>
        </p:txBody>
      </p:sp>
      <p:sp>
        <p:nvSpPr>
          <p:cNvPr id="27" name="Rectangle 26"/>
          <p:cNvSpPr/>
          <p:nvPr/>
        </p:nvSpPr>
        <p:spPr bwMode="auto">
          <a:xfrm>
            <a:off x="4267200" y="3061700"/>
            <a:ext cx="533400" cy="3673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 pitchFamily="34" charset="0"/>
              </a:rPr>
              <a:t>4</a:t>
            </a:r>
          </a:p>
        </p:txBody>
      </p:sp>
      <p:sp>
        <p:nvSpPr>
          <p:cNvPr id="20" name="Rectangle 19"/>
          <p:cNvSpPr/>
          <p:nvPr/>
        </p:nvSpPr>
        <p:spPr bwMode="auto">
          <a:xfrm>
            <a:off x="5334000" y="1842500"/>
            <a:ext cx="533400" cy="3673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 pitchFamily="34" charset="0"/>
              </a:rPr>
              <a:t>1</a:t>
            </a: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298673" y="857923"/>
            <a:ext cx="7793037" cy="852487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r>
              <a:rPr lang="en-US" dirty="0"/>
              <a:t>Uniform Cost search </a:t>
            </a:r>
          </a:p>
        </p:txBody>
      </p:sp>
      <p:sp>
        <p:nvSpPr>
          <p:cNvPr id="7" name="Oval 6"/>
          <p:cNvSpPr/>
          <p:nvPr/>
        </p:nvSpPr>
        <p:spPr bwMode="auto">
          <a:xfrm>
            <a:off x="6031810" y="1387215"/>
            <a:ext cx="609600" cy="533400"/>
          </a:xfrm>
          <a:prstGeom prst="ellipse">
            <a:avLst/>
          </a:prstGeom>
          <a:solidFill>
            <a:schemeClr val="accent1">
              <a:alpha val="5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Tahoma" pitchFamily="34" charset="0"/>
              </a:rPr>
              <a:t>S</a:t>
            </a:r>
          </a:p>
        </p:txBody>
      </p:sp>
      <p:sp>
        <p:nvSpPr>
          <p:cNvPr id="8" name="Oval 7"/>
          <p:cNvSpPr/>
          <p:nvPr/>
        </p:nvSpPr>
        <p:spPr bwMode="auto">
          <a:xfrm>
            <a:off x="4790607" y="2514600"/>
            <a:ext cx="609600" cy="533400"/>
          </a:xfrm>
          <a:prstGeom prst="ellipse">
            <a:avLst/>
          </a:prstGeom>
          <a:solidFill>
            <a:schemeClr val="accent1">
              <a:alpha val="5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Tahoma" pitchFamily="34" charset="0"/>
              </a:rPr>
              <a:t>A</a:t>
            </a:r>
          </a:p>
        </p:txBody>
      </p:sp>
      <p:sp>
        <p:nvSpPr>
          <p:cNvPr id="9" name="Oval 8"/>
          <p:cNvSpPr/>
          <p:nvPr/>
        </p:nvSpPr>
        <p:spPr bwMode="auto">
          <a:xfrm>
            <a:off x="4114800" y="3744418"/>
            <a:ext cx="609600" cy="533400"/>
          </a:xfrm>
          <a:prstGeom prst="ellipse">
            <a:avLst/>
          </a:prstGeom>
          <a:solidFill>
            <a:schemeClr val="accent1">
              <a:alpha val="5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Tahoma" pitchFamily="34" charset="0"/>
              </a:rPr>
              <a:t>B</a:t>
            </a:r>
          </a:p>
        </p:txBody>
      </p:sp>
      <p:sp>
        <p:nvSpPr>
          <p:cNvPr id="10" name="Oval 9"/>
          <p:cNvSpPr/>
          <p:nvPr/>
        </p:nvSpPr>
        <p:spPr bwMode="auto">
          <a:xfrm>
            <a:off x="4171014" y="4974236"/>
            <a:ext cx="609600" cy="533400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Tahoma" pitchFamily="34" charset="0"/>
              </a:rPr>
              <a:t>D</a:t>
            </a:r>
          </a:p>
        </p:txBody>
      </p:sp>
      <p:sp>
        <p:nvSpPr>
          <p:cNvPr id="11" name="Oval 10"/>
          <p:cNvSpPr/>
          <p:nvPr/>
        </p:nvSpPr>
        <p:spPr bwMode="auto">
          <a:xfrm>
            <a:off x="4181007" y="6002936"/>
            <a:ext cx="609600" cy="533400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Tahoma" pitchFamily="34" charset="0"/>
              </a:rPr>
              <a:t>G</a:t>
            </a:r>
          </a:p>
        </p:txBody>
      </p:sp>
      <p:sp>
        <p:nvSpPr>
          <p:cNvPr id="12" name="Oval 11"/>
          <p:cNvSpPr/>
          <p:nvPr/>
        </p:nvSpPr>
        <p:spPr bwMode="auto">
          <a:xfrm>
            <a:off x="6036807" y="6019800"/>
            <a:ext cx="609600" cy="533400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Tahoma" pitchFamily="34" charset="0"/>
              </a:rPr>
              <a:t>G</a:t>
            </a:r>
          </a:p>
        </p:txBody>
      </p:sp>
      <p:sp>
        <p:nvSpPr>
          <p:cNvPr id="13" name="Oval 12"/>
          <p:cNvSpPr/>
          <p:nvPr/>
        </p:nvSpPr>
        <p:spPr bwMode="auto">
          <a:xfrm>
            <a:off x="6031810" y="4979233"/>
            <a:ext cx="609600" cy="533400"/>
          </a:xfrm>
          <a:prstGeom prst="ellipse">
            <a:avLst/>
          </a:prstGeom>
          <a:solidFill>
            <a:schemeClr val="accent1">
              <a:alpha val="5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Tahoma" pitchFamily="34" charset="0"/>
              </a:rPr>
              <a:t>D</a:t>
            </a:r>
          </a:p>
        </p:txBody>
      </p:sp>
      <p:sp>
        <p:nvSpPr>
          <p:cNvPr id="14" name="Oval 13"/>
          <p:cNvSpPr/>
          <p:nvPr/>
        </p:nvSpPr>
        <p:spPr bwMode="auto">
          <a:xfrm>
            <a:off x="6010574" y="3744418"/>
            <a:ext cx="609600" cy="533400"/>
          </a:xfrm>
          <a:prstGeom prst="ellipse">
            <a:avLst/>
          </a:prstGeom>
          <a:solidFill>
            <a:schemeClr val="accent1">
              <a:alpha val="5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Tahoma" pitchFamily="34" charset="0"/>
              </a:rPr>
              <a:t>C</a:t>
            </a:r>
          </a:p>
        </p:txBody>
      </p:sp>
      <p:sp>
        <p:nvSpPr>
          <p:cNvPr id="15" name="Oval 14"/>
          <p:cNvSpPr/>
          <p:nvPr/>
        </p:nvSpPr>
        <p:spPr bwMode="auto">
          <a:xfrm>
            <a:off x="7257738" y="4974236"/>
            <a:ext cx="609600" cy="533400"/>
          </a:xfrm>
          <a:prstGeom prst="ellipse">
            <a:avLst/>
          </a:prstGeom>
          <a:solidFill>
            <a:schemeClr val="accent1">
              <a:alpha val="5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Tahoma" pitchFamily="34" charset="0"/>
              </a:rPr>
              <a:t>G</a:t>
            </a:r>
          </a:p>
        </p:txBody>
      </p:sp>
      <p:sp>
        <p:nvSpPr>
          <p:cNvPr id="16" name="Oval 15"/>
          <p:cNvSpPr/>
          <p:nvPr/>
        </p:nvSpPr>
        <p:spPr bwMode="auto">
          <a:xfrm>
            <a:off x="7467600" y="2514600"/>
            <a:ext cx="609600" cy="533400"/>
          </a:xfrm>
          <a:prstGeom prst="ellipse">
            <a:avLst/>
          </a:prstGeom>
          <a:solidFill>
            <a:schemeClr val="accent1">
              <a:alpha val="5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Tahoma" pitchFamily="34" charset="0"/>
              </a:rPr>
              <a:t>G</a:t>
            </a:r>
          </a:p>
        </p:txBody>
      </p:sp>
      <p:cxnSp>
        <p:nvCxnSpPr>
          <p:cNvPr id="18" name="Straight Connector 17"/>
          <p:cNvCxnSpPr>
            <a:stCxn id="7" idx="3"/>
            <a:endCxn id="8" idx="7"/>
          </p:cNvCxnSpPr>
          <p:nvPr/>
        </p:nvCxnSpPr>
        <p:spPr bwMode="auto">
          <a:xfrm flipH="1">
            <a:off x="5310934" y="1842501"/>
            <a:ext cx="810151" cy="750215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7" idx="5"/>
            <a:endCxn id="16" idx="1"/>
          </p:cNvCxnSpPr>
          <p:nvPr/>
        </p:nvCxnSpPr>
        <p:spPr bwMode="auto">
          <a:xfrm>
            <a:off x="6552136" y="1842501"/>
            <a:ext cx="1004738" cy="75021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4" name="Straight Connector 23"/>
          <p:cNvCxnSpPr>
            <a:stCxn id="8" idx="3"/>
            <a:endCxn id="9" idx="0"/>
          </p:cNvCxnSpPr>
          <p:nvPr/>
        </p:nvCxnSpPr>
        <p:spPr bwMode="auto">
          <a:xfrm flipH="1">
            <a:off x="4419601" y="2969886"/>
            <a:ext cx="460281" cy="774533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/>
          <p:cNvCxnSpPr>
            <a:stCxn id="8" idx="5"/>
            <a:endCxn id="14" idx="1"/>
          </p:cNvCxnSpPr>
          <p:nvPr/>
        </p:nvCxnSpPr>
        <p:spPr bwMode="auto">
          <a:xfrm>
            <a:off x="5310934" y="2969885"/>
            <a:ext cx="788915" cy="85264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0" name="Straight Connector 29"/>
          <p:cNvCxnSpPr>
            <a:stCxn id="9" idx="4"/>
          </p:cNvCxnSpPr>
          <p:nvPr/>
        </p:nvCxnSpPr>
        <p:spPr bwMode="auto">
          <a:xfrm>
            <a:off x="4419600" y="4277818"/>
            <a:ext cx="0" cy="69641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2" name="Straight Connector 31"/>
          <p:cNvCxnSpPr>
            <a:stCxn id="10" idx="4"/>
            <a:endCxn id="11" idx="0"/>
          </p:cNvCxnSpPr>
          <p:nvPr/>
        </p:nvCxnSpPr>
        <p:spPr bwMode="auto">
          <a:xfrm>
            <a:off x="4475815" y="5507636"/>
            <a:ext cx="9993" cy="4953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" name="Straight Connector 2"/>
          <p:cNvCxnSpPr>
            <a:stCxn id="14" idx="4"/>
            <a:endCxn id="13" idx="0"/>
          </p:cNvCxnSpPr>
          <p:nvPr/>
        </p:nvCxnSpPr>
        <p:spPr bwMode="auto">
          <a:xfrm>
            <a:off x="6315374" y="4277819"/>
            <a:ext cx="21236" cy="70141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" name="Straight Connector 4"/>
          <p:cNvCxnSpPr>
            <a:stCxn id="13" idx="4"/>
            <a:endCxn id="12" idx="0"/>
          </p:cNvCxnSpPr>
          <p:nvPr/>
        </p:nvCxnSpPr>
        <p:spPr bwMode="auto">
          <a:xfrm>
            <a:off x="6336611" y="5512634"/>
            <a:ext cx="4997" cy="507167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9" name="Straight Connector 18"/>
          <p:cNvCxnSpPr>
            <a:endCxn id="15" idx="1"/>
          </p:cNvCxnSpPr>
          <p:nvPr/>
        </p:nvCxnSpPr>
        <p:spPr bwMode="auto">
          <a:xfrm>
            <a:off x="6532682" y="4199703"/>
            <a:ext cx="814331" cy="85264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5" name="Rectangle 34"/>
          <p:cNvSpPr/>
          <p:nvPr/>
        </p:nvSpPr>
        <p:spPr bwMode="auto">
          <a:xfrm>
            <a:off x="3886200" y="4419600"/>
            <a:ext cx="533400" cy="3673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 pitchFamily="34" charset="0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1702" y="3004044"/>
            <a:ext cx="1752600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frontier (P.Q)</a:t>
            </a:r>
          </a:p>
          <a:p>
            <a:r>
              <a:rPr lang="en-US" strike="sngStrike" dirty="0"/>
              <a:t>S      0</a:t>
            </a:r>
          </a:p>
          <a:p>
            <a:r>
              <a:rPr lang="en-US" strike="sngStrike" dirty="0"/>
              <a:t>A      1</a:t>
            </a:r>
          </a:p>
          <a:p>
            <a:r>
              <a:rPr lang="en-US" strike="sngStrike" dirty="0"/>
              <a:t>C      2</a:t>
            </a:r>
          </a:p>
          <a:p>
            <a:r>
              <a:rPr lang="en-US" dirty="0"/>
              <a:t>D      3</a:t>
            </a:r>
          </a:p>
          <a:p>
            <a:r>
              <a:rPr lang="en-US" dirty="0"/>
              <a:t>G      4</a:t>
            </a:r>
          </a:p>
          <a:p>
            <a:r>
              <a:rPr lang="en-US" dirty="0"/>
              <a:t>B      4</a:t>
            </a:r>
          </a:p>
          <a:p>
            <a:r>
              <a:rPr lang="en-US" dirty="0"/>
              <a:t>G      12</a:t>
            </a:r>
          </a:p>
        </p:txBody>
      </p:sp>
    </p:spTree>
    <p:extLst>
      <p:ext uri="{BB962C8B-B14F-4D97-AF65-F5344CB8AC3E}">
        <p14:creationId xmlns:p14="http://schemas.microsoft.com/office/powerpoint/2010/main" val="140268943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 bwMode="auto">
          <a:xfrm>
            <a:off x="5943600" y="5576300"/>
            <a:ext cx="533400" cy="3673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 pitchFamily="34" charset="0"/>
              </a:rPr>
              <a:t>3</a:t>
            </a:r>
          </a:p>
        </p:txBody>
      </p:sp>
      <p:sp>
        <p:nvSpPr>
          <p:cNvPr id="31" name="Rectangle 30"/>
          <p:cNvSpPr/>
          <p:nvPr/>
        </p:nvSpPr>
        <p:spPr bwMode="auto">
          <a:xfrm>
            <a:off x="5867400" y="4419600"/>
            <a:ext cx="533400" cy="3673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 pitchFamily="34" charset="0"/>
              </a:rPr>
              <a:t>1</a:t>
            </a:r>
          </a:p>
        </p:txBody>
      </p:sp>
      <p:sp>
        <p:nvSpPr>
          <p:cNvPr id="34" name="Rectangle 33"/>
          <p:cNvSpPr/>
          <p:nvPr/>
        </p:nvSpPr>
        <p:spPr bwMode="auto">
          <a:xfrm>
            <a:off x="5562600" y="3048000"/>
            <a:ext cx="533400" cy="3673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 pitchFamily="34" charset="0"/>
              </a:rPr>
              <a:t>1</a:t>
            </a:r>
          </a:p>
        </p:txBody>
      </p:sp>
      <p:sp>
        <p:nvSpPr>
          <p:cNvPr id="28" name="Rectangle 27"/>
          <p:cNvSpPr/>
          <p:nvPr/>
        </p:nvSpPr>
        <p:spPr bwMode="auto">
          <a:xfrm>
            <a:off x="6854778" y="1810083"/>
            <a:ext cx="533400" cy="3673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 pitchFamily="34" charset="0"/>
              </a:rPr>
              <a:t>12</a:t>
            </a:r>
          </a:p>
        </p:txBody>
      </p:sp>
      <p:sp>
        <p:nvSpPr>
          <p:cNvPr id="33" name="Rectangle 32"/>
          <p:cNvSpPr/>
          <p:nvPr/>
        </p:nvSpPr>
        <p:spPr bwMode="auto">
          <a:xfrm>
            <a:off x="6781800" y="4128500"/>
            <a:ext cx="533400" cy="3673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 pitchFamily="34" charset="0"/>
              </a:rPr>
              <a:t>2</a:t>
            </a:r>
          </a:p>
        </p:txBody>
      </p:sp>
      <p:sp>
        <p:nvSpPr>
          <p:cNvPr id="36" name="Rectangle 35"/>
          <p:cNvSpPr/>
          <p:nvPr/>
        </p:nvSpPr>
        <p:spPr bwMode="auto">
          <a:xfrm>
            <a:off x="4038600" y="5576300"/>
            <a:ext cx="533400" cy="3673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 pitchFamily="34" charset="0"/>
              </a:rPr>
              <a:t>3</a:t>
            </a:r>
          </a:p>
        </p:txBody>
      </p:sp>
      <p:sp>
        <p:nvSpPr>
          <p:cNvPr id="27" name="Rectangle 26"/>
          <p:cNvSpPr/>
          <p:nvPr/>
        </p:nvSpPr>
        <p:spPr bwMode="auto">
          <a:xfrm>
            <a:off x="4267200" y="3061700"/>
            <a:ext cx="533400" cy="3673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 pitchFamily="34" charset="0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 bwMode="auto">
          <a:xfrm>
            <a:off x="5334000" y="1842500"/>
            <a:ext cx="533400" cy="3673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 pitchFamily="34" charset="0"/>
              </a:rPr>
              <a:t>1</a:t>
            </a: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198888" y="842317"/>
            <a:ext cx="7793037" cy="852487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r>
              <a:rPr lang="en-US" dirty="0"/>
              <a:t>Uniform Cost search </a:t>
            </a:r>
          </a:p>
        </p:txBody>
      </p:sp>
      <p:sp>
        <p:nvSpPr>
          <p:cNvPr id="7" name="Oval 6"/>
          <p:cNvSpPr/>
          <p:nvPr/>
        </p:nvSpPr>
        <p:spPr bwMode="auto">
          <a:xfrm>
            <a:off x="6031810" y="1387215"/>
            <a:ext cx="609600" cy="533400"/>
          </a:xfrm>
          <a:prstGeom prst="ellipse">
            <a:avLst/>
          </a:prstGeom>
          <a:solidFill>
            <a:schemeClr val="accent1">
              <a:alpha val="5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Tahoma" pitchFamily="34" charset="0"/>
              </a:rPr>
              <a:t>S</a:t>
            </a:r>
          </a:p>
        </p:txBody>
      </p:sp>
      <p:sp>
        <p:nvSpPr>
          <p:cNvPr id="8" name="Oval 7"/>
          <p:cNvSpPr/>
          <p:nvPr/>
        </p:nvSpPr>
        <p:spPr bwMode="auto">
          <a:xfrm>
            <a:off x="4790607" y="2514600"/>
            <a:ext cx="609600" cy="533400"/>
          </a:xfrm>
          <a:prstGeom prst="ellipse">
            <a:avLst/>
          </a:prstGeom>
          <a:solidFill>
            <a:schemeClr val="accent1">
              <a:alpha val="5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Tahoma" pitchFamily="34" charset="0"/>
              </a:rPr>
              <a:t>A</a:t>
            </a:r>
          </a:p>
        </p:txBody>
      </p:sp>
      <p:sp>
        <p:nvSpPr>
          <p:cNvPr id="9" name="Oval 8"/>
          <p:cNvSpPr/>
          <p:nvPr/>
        </p:nvSpPr>
        <p:spPr bwMode="auto">
          <a:xfrm>
            <a:off x="4114800" y="3744418"/>
            <a:ext cx="609600" cy="533400"/>
          </a:xfrm>
          <a:prstGeom prst="ellipse">
            <a:avLst/>
          </a:prstGeom>
          <a:solidFill>
            <a:schemeClr val="accent1">
              <a:alpha val="5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Tahoma" pitchFamily="34" charset="0"/>
              </a:rPr>
              <a:t>B</a:t>
            </a:r>
          </a:p>
        </p:txBody>
      </p:sp>
      <p:sp>
        <p:nvSpPr>
          <p:cNvPr id="10" name="Oval 9"/>
          <p:cNvSpPr/>
          <p:nvPr/>
        </p:nvSpPr>
        <p:spPr bwMode="auto">
          <a:xfrm>
            <a:off x="4171014" y="4974236"/>
            <a:ext cx="609600" cy="533400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Tahoma" pitchFamily="34" charset="0"/>
              </a:rPr>
              <a:t>D</a:t>
            </a:r>
          </a:p>
        </p:txBody>
      </p:sp>
      <p:sp>
        <p:nvSpPr>
          <p:cNvPr id="11" name="Oval 10"/>
          <p:cNvSpPr/>
          <p:nvPr/>
        </p:nvSpPr>
        <p:spPr bwMode="auto">
          <a:xfrm>
            <a:off x="4181007" y="6002936"/>
            <a:ext cx="609600" cy="533400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Tahoma" pitchFamily="34" charset="0"/>
              </a:rPr>
              <a:t>G</a:t>
            </a:r>
          </a:p>
        </p:txBody>
      </p:sp>
      <p:sp>
        <p:nvSpPr>
          <p:cNvPr id="12" name="Oval 11"/>
          <p:cNvSpPr/>
          <p:nvPr/>
        </p:nvSpPr>
        <p:spPr bwMode="auto">
          <a:xfrm>
            <a:off x="6036807" y="6019800"/>
            <a:ext cx="609600" cy="533400"/>
          </a:xfrm>
          <a:prstGeom prst="ellipse">
            <a:avLst/>
          </a:prstGeom>
          <a:solidFill>
            <a:schemeClr val="accent1">
              <a:alpha val="5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Tahoma" pitchFamily="34" charset="0"/>
              </a:rPr>
              <a:t>G</a:t>
            </a:r>
          </a:p>
        </p:txBody>
      </p:sp>
      <p:sp>
        <p:nvSpPr>
          <p:cNvPr id="13" name="Oval 12"/>
          <p:cNvSpPr/>
          <p:nvPr/>
        </p:nvSpPr>
        <p:spPr bwMode="auto">
          <a:xfrm>
            <a:off x="6031810" y="4979233"/>
            <a:ext cx="609600" cy="533400"/>
          </a:xfrm>
          <a:prstGeom prst="ellipse">
            <a:avLst/>
          </a:prstGeom>
          <a:solidFill>
            <a:schemeClr val="accent1">
              <a:alpha val="5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Tahoma" pitchFamily="34" charset="0"/>
              </a:rPr>
              <a:t>D</a:t>
            </a:r>
          </a:p>
        </p:txBody>
      </p:sp>
      <p:sp>
        <p:nvSpPr>
          <p:cNvPr id="14" name="Oval 13"/>
          <p:cNvSpPr/>
          <p:nvPr/>
        </p:nvSpPr>
        <p:spPr bwMode="auto">
          <a:xfrm>
            <a:off x="6010574" y="3744418"/>
            <a:ext cx="609600" cy="533400"/>
          </a:xfrm>
          <a:prstGeom prst="ellipse">
            <a:avLst/>
          </a:prstGeom>
          <a:solidFill>
            <a:schemeClr val="accent1">
              <a:alpha val="5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Tahoma" pitchFamily="34" charset="0"/>
              </a:rPr>
              <a:t>C</a:t>
            </a:r>
          </a:p>
        </p:txBody>
      </p:sp>
      <p:sp>
        <p:nvSpPr>
          <p:cNvPr id="15" name="Oval 14"/>
          <p:cNvSpPr/>
          <p:nvPr/>
        </p:nvSpPr>
        <p:spPr bwMode="auto">
          <a:xfrm>
            <a:off x="7239000" y="4974236"/>
            <a:ext cx="609600" cy="533400"/>
          </a:xfrm>
          <a:prstGeom prst="ellipse">
            <a:avLst/>
          </a:prstGeom>
          <a:solidFill>
            <a:schemeClr val="accent1">
              <a:alpha val="5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Tahoma" pitchFamily="34" charset="0"/>
              </a:rPr>
              <a:t>G</a:t>
            </a:r>
          </a:p>
        </p:txBody>
      </p:sp>
      <p:sp>
        <p:nvSpPr>
          <p:cNvPr id="16" name="Oval 15"/>
          <p:cNvSpPr/>
          <p:nvPr/>
        </p:nvSpPr>
        <p:spPr bwMode="auto">
          <a:xfrm>
            <a:off x="7467600" y="2514600"/>
            <a:ext cx="609600" cy="533400"/>
          </a:xfrm>
          <a:prstGeom prst="ellipse">
            <a:avLst/>
          </a:prstGeom>
          <a:solidFill>
            <a:schemeClr val="accent1">
              <a:alpha val="5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Tahoma" pitchFamily="34" charset="0"/>
              </a:rPr>
              <a:t>G</a:t>
            </a:r>
          </a:p>
        </p:txBody>
      </p:sp>
      <p:cxnSp>
        <p:nvCxnSpPr>
          <p:cNvPr id="18" name="Straight Connector 17"/>
          <p:cNvCxnSpPr>
            <a:stCxn id="7" idx="3"/>
            <a:endCxn id="8" idx="7"/>
          </p:cNvCxnSpPr>
          <p:nvPr/>
        </p:nvCxnSpPr>
        <p:spPr bwMode="auto">
          <a:xfrm flipH="1">
            <a:off x="5310934" y="1842501"/>
            <a:ext cx="810151" cy="750215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7" idx="5"/>
            <a:endCxn id="16" idx="1"/>
          </p:cNvCxnSpPr>
          <p:nvPr/>
        </p:nvCxnSpPr>
        <p:spPr bwMode="auto">
          <a:xfrm>
            <a:off x="6552136" y="1842501"/>
            <a:ext cx="1004738" cy="75021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4" name="Straight Connector 23"/>
          <p:cNvCxnSpPr>
            <a:stCxn id="8" idx="3"/>
            <a:endCxn id="9" idx="0"/>
          </p:cNvCxnSpPr>
          <p:nvPr/>
        </p:nvCxnSpPr>
        <p:spPr bwMode="auto">
          <a:xfrm flipH="1">
            <a:off x="4419601" y="2969886"/>
            <a:ext cx="460281" cy="774533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/>
          <p:cNvCxnSpPr>
            <a:stCxn id="8" idx="5"/>
            <a:endCxn id="14" idx="1"/>
          </p:cNvCxnSpPr>
          <p:nvPr/>
        </p:nvCxnSpPr>
        <p:spPr bwMode="auto">
          <a:xfrm>
            <a:off x="5310934" y="2969885"/>
            <a:ext cx="788915" cy="85264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0" name="Straight Connector 29"/>
          <p:cNvCxnSpPr>
            <a:stCxn id="9" idx="4"/>
          </p:cNvCxnSpPr>
          <p:nvPr/>
        </p:nvCxnSpPr>
        <p:spPr bwMode="auto">
          <a:xfrm>
            <a:off x="4419600" y="4277818"/>
            <a:ext cx="0" cy="69641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2" name="Straight Connector 31"/>
          <p:cNvCxnSpPr>
            <a:stCxn id="10" idx="4"/>
            <a:endCxn id="11" idx="0"/>
          </p:cNvCxnSpPr>
          <p:nvPr/>
        </p:nvCxnSpPr>
        <p:spPr bwMode="auto">
          <a:xfrm>
            <a:off x="4475815" y="5507636"/>
            <a:ext cx="9993" cy="4953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" name="Straight Connector 2"/>
          <p:cNvCxnSpPr>
            <a:stCxn id="14" idx="4"/>
            <a:endCxn id="13" idx="0"/>
          </p:cNvCxnSpPr>
          <p:nvPr/>
        </p:nvCxnSpPr>
        <p:spPr bwMode="auto">
          <a:xfrm>
            <a:off x="6315374" y="4277819"/>
            <a:ext cx="21236" cy="70141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" name="Straight Connector 4"/>
          <p:cNvCxnSpPr>
            <a:stCxn id="13" idx="4"/>
            <a:endCxn id="12" idx="0"/>
          </p:cNvCxnSpPr>
          <p:nvPr/>
        </p:nvCxnSpPr>
        <p:spPr bwMode="auto">
          <a:xfrm>
            <a:off x="6336611" y="5512634"/>
            <a:ext cx="4997" cy="507167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9" name="Straight Connector 18"/>
          <p:cNvCxnSpPr>
            <a:stCxn id="14" idx="5"/>
            <a:endCxn id="15" idx="1"/>
          </p:cNvCxnSpPr>
          <p:nvPr/>
        </p:nvCxnSpPr>
        <p:spPr bwMode="auto">
          <a:xfrm>
            <a:off x="6530900" y="4199703"/>
            <a:ext cx="797374" cy="85264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5" name="Rectangle 34"/>
          <p:cNvSpPr/>
          <p:nvPr/>
        </p:nvSpPr>
        <p:spPr bwMode="auto">
          <a:xfrm>
            <a:off x="3886200" y="4419600"/>
            <a:ext cx="533400" cy="3673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 pitchFamily="34" charset="0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8598" y="3061700"/>
            <a:ext cx="1752600" cy="258532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frontier (P.Q)</a:t>
            </a:r>
          </a:p>
          <a:p>
            <a:r>
              <a:rPr lang="en-US" strike="sngStrike" dirty="0"/>
              <a:t>S      0</a:t>
            </a:r>
          </a:p>
          <a:p>
            <a:r>
              <a:rPr lang="en-US" strike="sngStrike" dirty="0"/>
              <a:t>A      1</a:t>
            </a:r>
          </a:p>
          <a:p>
            <a:r>
              <a:rPr lang="en-US" strike="sngStrike" dirty="0"/>
              <a:t>C      2</a:t>
            </a:r>
          </a:p>
          <a:p>
            <a:r>
              <a:rPr lang="en-US" strike="sngStrike" dirty="0"/>
              <a:t>D      3</a:t>
            </a:r>
          </a:p>
          <a:p>
            <a:r>
              <a:rPr lang="en-US" strike="sngStrike" dirty="0">
                <a:solidFill>
                  <a:srgbClr val="00B050"/>
                </a:solidFill>
              </a:rPr>
              <a:t>G      4</a:t>
            </a:r>
          </a:p>
          <a:p>
            <a:r>
              <a:rPr lang="en-US" dirty="0"/>
              <a:t>B      4</a:t>
            </a:r>
          </a:p>
          <a:p>
            <a:r>
              <a:rPr lang="en-US" dirty="0"/>
              <a:t>G      6</a:t>
            </a:r>
          </a:p>
          <a:p>
            <a:r>
              <a:rPr lang="en-US" dirty="0"/>
              <a:t>G      12</a:t>
            </a:r>
          </a:p>
        </p:txBody>
      </p:sp>
      <p:cxnSp>
        <p:nvCxnSpPr>
          <p:cNvPr id="38" name="Straight Connector 37"/>
          <p:cNvCxnSpPr/>
          <p:nvPr/>
        </p:nvCxnSpPr>
        <p:spPr bwMode="auto">
          <a:xfrm flipH="1">
            <a:off x="5486400" y="2005518"/>
            <a:ext cx="661600" cy="661482"/>
          </a:xfrm>
          <a:prstGeom prst="line">
            <a:avLst/>
          </a:prstGeom>
          <a:ln w="25400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 bwMode="auto">
          <a:xfrm>
            <a:off x="5486400" y="2910468"/>
            <a:ext cx="635748" cy="747133"/>
          </a:xfrm>
          <a:prstGeom prst="line">
            <a:avLst/>
          </a:prstGeom>
          <a:ln w="25400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 bwMode="auto">
          <a:xfrm>
            <a:off x="6675660" y="4111151"/>
            <a:ext cx="712519" cy="805606"/>
          </a:xfrm>
          <a:prstGeom prst="line">
            <a:avLst/>
          </a:prstGeom>
          <a:ln w="25400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 bwMode="auto">
          <a:xfrm>
            <a:off x="7239000" y="4968766"/>
            <a:ext cx="609600" cy="533400"/>
          </a:xfrm>
          <a:prstGeom prst="ellipse">
            <a:avLst/>
          </a:prstGeom>
          <a:solidFill>
            <a:srgbClr val="0070C0">
              <a:alpha val="50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Tahoma" pitchFamily="34" charset="0"/>
              </a:rPr>
              <a:t>G</a:t>
            </a:r>
          </a:p>
        </p:txBody>
      </p:sp>
    </p:spTree>
    <p:extLst>
      <p:ext uri="{BB962C8B-B14F-4D97-AF65-F5344CB8AC3E}">
        <p14:creationId xmlns:p14="http://schemas.microsoft.com/office/powerpoint/2010/main" val="3684751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7" name="Rectangle 2"/>
          <p:cNvSpPr>
            <a:spLocks noGrp="1" noChangeArrowheads="1"/>
          </p:cNvSpPr>
          <p:nvPr>
            <p:ph type="title"/>
          </p:nvPr>
        </p:nvSpPr>
        <p:spPr>
          <a:xfrm>
            <a:off x="1261241" y="823914"/>
            <a:ext cx="7793037" cy="852487"/>
          </a:xfrm>
        </p:spPr>
        <p:txBody>
          <a:bodyPr/>
          <a:lstStyle/>
          <a:p>
            <a:pPr eaLnBrk="1" hangingPunct="1"/>
            <a:r>
              <a:rPr lang="en-US" dirty="0"/>
              <a:t>Uniform-cost Search</a:t>
            </a:r>
          </a:p>
        </p:txBody>
      </p:sp>
      <p:sp>
        <p:nvSpPr>
          <p:cNvPr id="3379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61241" y="1878729"/>
            <a:ext cx="9680028" cy="4608513"/>
          </a:xfrm>
        </p:spPr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The search is guided by the path cost instead of depths, so complexity cannot be easily characterized by </a:t>
            </a:r>
            <a:r>
              <a:rPr lang="en-US" sz="2400" i="1" dirty="0"/>
              <a:t>b</a:t>
            </a:r>
            <a:r>
              <a:rPr lang="en-US" sz="2400" dirty="0"/>
              <a:t> and </a:t>
            </a:r>
            <a:r>
              <a:rPr lang="en-US" sz="2400" i="1" dirty="0"/>
              <a:t>d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Let </a:t>
            </a:r>
            <a:r>
              <a:rPr lang="en-US" sz="2400" i="1" dirty="0"/>
              <a:t>C </a:t>
            </a:r>
            <a:r>
              <a:rPr lang="en-US" sz="2400" baseline="30000" dirty="0"/>
              <a:t>*</a:t>
            </a:r>
            <a:r>
              <a:rPr lang="en-US" sz="2400" dirty="0"/>
              <a:t> is the cost of the optimal solution and every action cost is at least </a:t>
            </a:r>
            <a:r>
              <a:rPr lang="el-GR" sz="2400" dirty="0">
                <a:cs typeface="Arial" pitchFamily="34" charset="0"/>
              </a:rPr>
              <a:t>ε</a:t>
            </a:r>
            <a:endParaRPr lang="en-US" sz="2400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sz="2400" u="sng" dirty="0">
                <a:solidFill>
                  <a:srgbClr val="CC0099"/>
                </a:solidFill>
              </a:rPr>
              <a:t>Complete?</a:t>
            </a:r>
            <a:r>
              <a:rPr lang="en-US" sz="2400" dirty="0"/>
              <a:t> Yes, if step cost </a:t>
            </a:r>
            <a:r>
              <a:rPr lang="en-US" sz="2400" dirty="0">
                <a:cs typeface="Arial" pitchFamily="34" charset="0"/>
              </a:rPr>
              <a:t>≥ </a:t>
            </a:r>
            <a:r>
              <a:rPr lang="el-GR" sz="2400" dirty="0">
                <a:cs typeface="Arial" pitchFamily="34" charset="0"/>
              </a:rPr>
              <a:t>ε</a:t>
            </a:r>
            <a:r>
              <a:rPr lang="en-US" sz="2400" dirty="0">
                <a:cs typeface="Arial" pitchFamily="34" charset="0"/>
              </a:rPr>
              <a:t>, a positive number</a:t>
            </a:r>
            <a:endParaRPr lang="en-US" sz="2400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sz="2400" u="sng" dirty="0">
                <a:solidFill>
                  <a:srgbClr val="CC0099"/>
                </a:solidFill>
              </a:rPr>
              <a:t>Optimal?</a:t>
            </a:r>
            <a:r>
              <a:rPr lang="en-US" sz="2400" dirty="0"/>
              <a:t> Yes – nodes expanded in increasing order of </a:t>
            </a:r>
            <a:r>
              <a:rPr lang="en-US" sz="2400" i="1" dirty="0"/>
              <a:t>g(n)</a:t>
            </a:r>
            <a:endParaRPr lang="en-US" sz="2400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sz="2400" u="sng" dirty="0">
                <a:solidFill>
                  <a:srgbClr val="CC0099"/>
                </a:solidFill>
              </a:rPr>
              <a:t>Time?</a:t>
            </a:r>
            <a:r>
              <a:rPr lang="en-US" sz="2400" dirty="0"/>
              <a:t> # of nodes with </a:t>
            </a:r>
            <a:r>
              <a:rPr lang="en-US" sz="2400" i="1" dirty="0"/>
              <a:t>g </a:t>
            </a:r>
            <a:r>
              <a:rPr lang="en-US" sz="2400" dirty="0">
                <a:cs typeface="Arial" pitchFamily="34" charset="0"/>
              </a:rPr>
              <a:t>≤</a:t>
            </a:r>
            <a:r>
              <a:rPr lang="en-US" sz="2400" dirty="0"/>
              <a:t> cost of optimal solution,    </a:t>
            </a:r>
            <a:r>
              <a:rPr lang="en-US" sz="2400" i="1" dirty="0"/>
              <a:t>O(b</a:t>
            </a:r>
            <a:r>
              <a:rPr lang="en-US" sz="2400" i="1" baseline="30000" dirty="0"/>
              <a:t>[C*/ </a:t>
            </a:r>
            <a:r>
              <a:rPr lang="el-GR" sz="2400" i="1" baseline="30000" dirty="0">
                <a:cs typeface="Arial" pitchFamily="34" charset="0"/>
              </a:rPr>
              <a:t>ε</a:t>
            </a:r>
            <a:r>
              <a:rPr lang="en-US" sz="2400" i="1" baseline="30000" dirty="0">
                <a:cs typeface="Arial" pitchFamily="34" charset="0"/>
              </a:rPr>
              <a:t>]</a:t>
            </a:r>
            <a:r>
              <a:rPr lang="en-US" sz="2400" i="1" dirty="0"/>
              <a:t>)</a:t>
            </a:r>
            <a:r>
              <a:rPr lang="en-US" sz="2400" dirty="0"/>
              <a:t>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sz="2400" u="sng" dirty="0">
                <a:solidFill>
                  <a:srgbClr val="CC0099"/>
                </a:solidFill>
              </a:rPr>
              <a:t>Space?</a:t>
            </a:r>
            <a:r>
              <a:rPr lang="en-US" sz="2400" dirty="0"/>
              <a:t> # of nodes with </a:t>
            </a:r>
            <a:r>
              <a:rPr lang="en-US" sz="2400" i="1" dirty="0"/>
              <a:t>g</a:t>
            </a:r>
            <a:r>
              <a:rPr lang="en-US" sz="2400" dirty="0"/>
              <a:t> </a:t>
            </a:r>
            <a:r>
              <a:rPr lang="en-US" sz="2400" dirty="0">
                <a:cs typeface="Arial" pitchFamily="34" charset="0"/>
              </a:rPr>
              <a:t>≤ </a:t>
            </a:r>
            <a:r>
              <a:rPr lang="en-US" sz="2400" dirty="0"/>
              <a:t>cost of optimal solution,  </a:t>
            </a:r>
            <a:r>
              <a:rPr lang="en-US" sz="2400" i="1" dirty="0"/>
              <a:t>O(b</a:t>
            </a:r>
            <a:r>
              <a:rPr lang="en-US" sz="2400" i="1" baseline="30000" dirty="0"/>
              <a:t>[C*/ </a:t>
            </a:r>
            <a:r>
              <a:rPr lang="el-GR" sz="2400" i="1" baseline="30000" dirty="0">
                <a:cs typeface="Arial" pitchFamily="34" charset="0"/>
              </a:rPr>
              <a:t>ε</a:t>
            </a:r>
            <a:r>
              <a:rPr lang="en-US" sz="2400" i="1" baseline="30000" dirty="0">
                <a:cs typeface="Arial" pitchFamily="34" charset="0"/>
              </a:rPr>
              <a:t>]</a:t>
            </a:r>
            <a:r>
              <a:rPr lang="en-US" sz="2400" i="1" dirty="0"/>
              <a:t>)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763000" y="6400800"/>
            <a:ext cx="1905000" cy="457200"/>
          </a:xfrm>
        </p:spPr>
        <p:txBody>
          <a:bodyPr/>
          <a:lstStyle/>
          <a:p>
            <a:fld id="{4554FA1C-AE11-4D94-9C38-1A203D2294EB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3072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1895</TotalTime>
  <Words>2074</Words>
  <Application>Microsoft Office PowerPoint</Application>
  <PresentationFormat>Widescreen</PresentationFormat>
  <Paragraphs>342</Paragraphs>
  <Slides>30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9" baseType="lpstr">
      <vt:lpstr>Arial</vt:lpstr>
      <vt:lpstr>Arial Narrow</vt:lpstr>
      <vt:lpstr>Book Antiqua</vt:lpstr>
      <vt:lpstr>Calibri</vt:lpstr>
      <vt:lpstr>Cambria Math</vt:lpstr>
      <vt:lpstr>Tahoma</vt:lpstr>
      <vt:lpstr>Times New Roman</vt:lpstr>
      <vt:lpstr>Wingdings</vt:lpstr>
      <vt:lpstr>Office Theme</vt:lpstr>
      <vt:lpstr>  Artificial Intelligence </vt:lpstr>
      <vt:lpstr>Depth-first Search</vt:lpstr>
      <vt:lpstr>Depth-first Search</vt:lpstr>
      <vt:lpstr>Depth-first Search</vt:lpstr>
      <vt:lpstr>Depth-first Search</vt:lpstr>
      <vt:lpstr>Depth-first Search</vt:lpstr>
      <vt:lpstr>Depth-first Search</vt:lpstr>
      <vt:lpstr>Depth-first Search</vt:lpstr>
      <vt:lpstr>Depth-first Search</vt:lpstr>
      <vt:lpstr>Depth-first Search</vt:lpstr>
      <vt:lpstr>Depth-first Search</vt:lpstr>
      <vt:lpstr>Properties of Depth-first Search</vt:lpstr>
      <vt:lpstr>Depth-Limited Search (DLS)</vt:lpstr>
      <vt:lpstr>Depth-Limited Search (DLS)</vt:lpstr>
      <vt:lpstr>Iterative Deepening Search</vt:lpstr>
      <vt:lpstr>PowerPoint Presentation</vt:lpstr>
      <vt:lpstr>PowerPoint Presentation</vt:lpstr>
      <vt:lpstr>Click to edit Master title style</vt:lpstr>
      <vt:lpstr>Click to edit Master title style</vt:lpstr>
      <vt:lpstr>Properties of Iterative Deepening Search</vt:lpstr>
      <vt:lpstr>Example</vt:lpstr>
      <vt:lpstr>Iterative Deepening Search</vt:lpstr>
      <vt:lpstr>Uniform-cost Search</vt:lpstr>
      <vt:lpstr>Uniform Cost search </vt:lpstr>
      <vt:lpstr>Uniform Cost search </vt:lpstr>
      <vt:lpstr>Uniform Cost search </vt:lpstr>
      <vt:lpstr>Uniform Cost search </vt:lpstr>
      <vt:lpstr>Uniform Cost search </vt:lpstr>
      <vt:lpstr>Uniform Cost search </vt:lpstr>
      <vt:lpstr>Uniform-cost Search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Sikandar S. Toor</dc:creator>
  <cp:lastModifiedBy>Hina Tahir</cp:lastModifiedBy>
  <cp:revision>244</cp:revision>
  <dcterms:created xsi:type="dcterms:W3CDTF">2019-07-02T12:12:32Z</dcterms:created>
  <dcterms:modified xsi:type="dcterms:W3CDTF">2026-03-18T04:38:58Z</dcterms:modified>
</cp:coreProperties>
</file>