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0" r:id="rId2"/>
    <p:sldId id="459" r:id="rId3"/>
    <p:sldId id="460" r:id="rId4"/>
    <p:sldId id="476" r:id="rId5"/>
    <p:sldId id="477" r:id="rId6"/>
    <p:sldId id="479" r:id="rId7"/>
    <p:sldId id="497" r:id="rId8"/>
    <p:sldId id="481" r:id="rId9"/>
    <p:sldId id="482" r:id="rId10"/>
    <p:sldId id="4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278" autoAdjust="0"/>
  </p:normalViewPr>
  <p:slideViewPr>
    <p:cSldViewPr snapToGrid="0">
      <p:cViewPr varScale="1">
        <p:scale>
          <a:sx n="73" d="100"/>
          <a:sy n="73" d="100"/>
        </p:scale>
        <p:origin x="10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EE72B4-1258-4A50-B001-2FA0E6440954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AC34B4-D2E5-4257-8EB4-6A0ED23460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94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491520</a:t>
            </a:r>
          </a:p>
          <a:p>
            <a:endParaRPr lang="en-US" dirty="0"/>
          </a:p>
          <a:p>
            <a:r>
              <a:rPr lang="en-US" dirty="0"/>
              <a:t>2^8 * 8</a:t>
            </a:r>
            <a:r>
              <a:rPr lang="en-US" baseline="0" dirty="0"/>
              <a:t> * 8* 3 * 2 *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07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 an explicit search tree that is generated by an initial state and successor function, together</a:t>
            </a:r>
            <a:r>
              <a:rPr lang="en-US" baseline="0" dirty="0"/>
              <a:t> they define the state space.</a:t>
            </a:r>
          </a:p>
          <a:p>
            <a:r>
              <a:rPr lang="en-US" baseline="0" dirty="0"/>
              <a:t>We may have a search graph rather than a search tree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02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They don’t have any additional information about state</a:t>
            </a:r>
            <a:r>
              <a:rPr lang="en-US" baseline="0" dirty="0"/>
              <a:t> beyond that is provided in the problem definition.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453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77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Space is a bigger problem than cost</a:t>
            </a:r>
          </a:p>
          <a:p>
            <a:r>
              <a:rPr lang="en-US" dirty="0"/>
              <a:t>d is the depth of the lowest cost solution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EEEC92-9AE2-40B1-BEDA-C04DC176BF8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194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0B05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81608" y="6356350"/>
            <a:ext cx="2743200" cy="365125"/>
          </a:xfrm>
        </p:spPr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74420" y="6356350"/>
            <a:ext cx="2743200" cy="365125"/>
          </a:xfrm>
        </p:spPr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1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463550" indent="-463550">
              <a:buFont typeface="Wingdings" panose="05000000000000000000" pitchFamily="2" charset="2"/>
              <a:buChar char="v"/>
              <a:defRPr/>
            </a:lvl1pPr>
            <a:lvl2pPr marL="795338" indent="-338138">
              <a:buFont typeface="Wingdings" panose="05000000000000000000" pitchFamily="2" charset="2"/>
              <a:buChar char="§"/>
              <a:defRPr/>
            </a:lvl2pPr>
            <a:lvl3pPr marL="1258888" indent="-344488">
              <a:buFont typeface="Wingdings" panose="05000000000000000000" pitchFamily="2" charset="2"/>
              <a:buChar char="Ø"/>
              <a:defRPr/>
            </a:lvl3pPr>
            <a:lvl4pPr marL="1709738" indent="-338138">
              <a:buFont typeface="Wingdings" panose="05000000000000000000" pitchFamily="2" charset="2"/>
              <a:buChar char="ü"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7460779"/>
            <a:ext cx="3381186" cy="97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9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B050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7005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822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834887" y="1683025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291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526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834887" y="144448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133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6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51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834887" y="1762539"/>
            <a:ext cx="10518913" cy="1325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2497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892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01113"/>
            <a:ext cx="10058400" cy="1450757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60260"/>
            <a:ext cx="10058400" cy="4023360"/>
          </a:xfrm>
        </p:spPr>
        <p:txBody>
          <a:bodyPr/>
          <a:lstStyle>
            <a:lvl1pPr marL="347663" indent="-347663">
              <a:buFont typeface="Wingdings" panose="05000000000000000000" pitchFamily="2" charset="2"/>
              <a:buChar char="v"/>
              <a:defRPr/>
            </a:lvl1pPr>
            <a:lvl2pPr marL="682625" indent="-334963">
              <a:buFont typeface="Wingdings" panose="05000000000000000000" pitchFamily="2" charset="2"/>
              <a:buChar char="q"/>
              <a:defRPr/>
            </a:lvl2pPr>
            <a:lvl3pPr marL="914400" indent="-231775">
              <a:buFont typeface="Wingdings" panose="05000000000000000000" pitchFamily="2" charset="2"/>
              <a:buChar char="§"/>
              <a:defRPr/>
            </a:lvl3pPr>
            <a:lvl4pPr marL="1146175" indent="-231775">
              <a:defRPr/>
            </a:lvl4pPr>
            <a:lvl5pPr marL="1379538" indent="-231775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B9DE3-69F7-4C71-A116-E31BF97F5FAD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4036B-9B09-4361-9AAE-7166081CB66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1207658" y="1741714"/>
            <a:ext cx="9948022" cy="18143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473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63550" lvl="0" indent="-463550">
              <a:buFont typeface="Wingdings" panose="05000000000000000000" pitchFamily="2" charset="2"/>
              <a:buChar char="v"/>
            </a:pPr>
            <a:r>
              <a:rPr lang="en-US" dirty="0"/>
              <a:t>Click to edit Master text styles</a:t>
            </a:r>
          </a:p>
          <a:p>
            <a:pPr marL="795338" lvl="1" indent="-338138">
              <a:buFont typeface="Wingdings" panose="05000000000000000000" pitchFamily="2" charset="2"/>
              <a:buChar char="§"/>
            </a:pPr>
            <a:r>
              <a:rPr lang="en-US" dirty="0"/>
              <a:t>Second level</a:t>
            </a:r>
          </a:p>
          <a:p>
            <a:pPr marL="1258888" lvl="2" indent="-344488">
              <a:buFont typeface="Wingdings" panose="05000000000000000000" pitchFamily="2" charset="2"/>
              <a:buChar char="Ø"/>
            </a:pPr>
            <a:r>
              <a:rPr lang="en-US" dirty="0"/>
              <a:t>Third level</a:t>
            </a:r>
          </a:p>
          <a:p>
            <a:pPr marL="1709738" lvl="3" indent="-338138">
              <a:buFont typeface="Wingdings" panose="05000000000000000000" pitchFamily="2" charset="2"/>
              <a:buChar char="ü"/>
            </a:pPr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DFCAB-F758-4332-A193-2A2770332BF3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D4AE8-9B61-40EB-BDB6-99E49719199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7" descr="http://www.uol.edu.pk/portals/0/Images/branding-logo.png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4" y="92559"/>
            <a:ext cx="2438332" cy="702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 userDrawn="1"/>
        </p:nvSpPr>
        <p:spPr>
          <a:xfrm>
            <a:off x="8534399" y="119269"/>
            <a:ext cx="26769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Department of </a:t>
            </a:r>
          </a:p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Arial Narrow" panose="020B0606020202030204" pitchFamily="34" charset="0"/>
              </a:rPr>
              <a:t>Software Engineering </a:t>
            </a:r>
          </a:p>
        </p:txBody>
      </p:sp>
      <p:pic>
        <p:nvPicPr>
          <p:cNvPr id="9" name="Picture 8"/>
          <p:cNvPicPr/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1768" y="132517"/>
            <a:ext cx="593335" cy="6946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671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2012" y="1990165"/>
            <a:ext cx="10945906" cy="1680880"/>
          </a:xfrm>
        </p:spPr>
        <p:txBody>
          <a:bodyPr/>
          <a:lstStyle/>
          <a:p>
            <a:b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Artificial Intelligence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2612" y="3834274"/>
            <a:ext cx="7924800" cy="2091396"/>
          </a:xfrm>
        </p:spPr>
        <p:txBody>
          <a:bodyPr>
            <a:normAutofit/>
          </a:bodyPr>
          <a:lstStyle/>
          <a:p>
            <a:pPr algn="l"/>
            <a:endParaRPr lang="en-US" sz="40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4170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2847" y="881716"/>
            <a:ext cx="7335837" cy="852487"/>
          </a:xfrm>
        </p:spPr>
        <p:txBody>
          <a:bodyPr/>
          <a:lstStyle/>
          <a:p>
            <a:r>
              <a:rPr lang="en-US" dirty="0"/>
              <a:t>State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2847" y="1844565"/>
            <a:ext cx="10092559" cy="4619297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Number of states can increase exponentially by adding just a few parameters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We need efficient algorithms to search the state space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Vacuum World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2 rooms, each have 2 states (may or may not be dirty)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Total number of states = 2 * 2 * 2 = 8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Vacuum World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Number of rooms = 8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Vacuum cleaner can have On/Off/Sleep modes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It has a camera which can be On/Off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Cleaning brush has 5 heights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000" dirty="0"/>
              <a:t>Number of States = ? </a:t>
            </a:r>
          </a:p>
        </p:txBody>
      </p:sp>
    </p:spTree>
    <p:extLst>
      <p:ext uri="{BB962C8B-B14F-4D97-AF65-F5344CB8AC3E}">
        <p14:creationId xmlns:p14="http://schemas.microsoft.com/office/powerpoint/2010/main" val="7929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647" y="866231"/>
            <a:ext cx="7716837" cy="852487"/>
          </a:xfrm>
        </p:spPr>
        <p:txBody>
          <a:bodyPr/>
          <a:lstStyle/>
          <a:p>
            <a:r>
              <a:rPr lang="en-US" dirty="0"/>
              <a:t>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2647" y="1755502"/>
            <a:ext cx="9863574" cy="46085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solve problems by </a:t>
            </a:r>
            <a:r>
              <a:rPr lang="en-US" dirty="0">
                <a:solidFill>
                  <a:srgbClr val="00B050"/>
                </a:solidFill>
              </a:rPr>
              <a:t>searching</a:t>
            </a:r>
            <a:r>
              <a:rPr lang="en-US" dirty="0"/>
              <a:t> the state space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State space is represented by a graph or a tree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 start at root node, check if it is a goal state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If not, apply the </a:t>
            </a:r>
            <a:r>
              <a:rPr lang="en-US" dirty="0">
                <a:solidFill>
                  <a:srgbClr val="00B050"/>
                </a:solidFill>
              </a:rPr>
              <a:t>Result function</a:t>
            </a:r>
            <a:r>
              <a:rPr lang="en-US" dirty="0"/>
              <a:t> to generate new state(s) (node(s))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 choice of which state to expand is determined by the </a:t>
            </a:r>
            <a:r>
              <a:rPr lang="en-US" dirty="0">
                <a:solidFill>
                  <a:schemeClr val="accent1"/>
                </a:solidFill>
              </a:rPr>
              <a:t>search strategy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AB1DFDE3-7CE1-4F76-BE68-C83E81872652}" type="slidenum">
              <a:rPr lang="en-US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097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8179" y="839679"/>
            <a:ext cx="7793037" cy="852487"/>
          </a:xfrm>
        </p:spPr>
        <p:txBody>
          <a:bodyPr/>
          <a:lstStyle/>
          <a:p>
            <a:r>
              <a:rPr lang="en-US" dirty="0"/>
              <a:t>Search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8179" y="2033752"/>
            <a:ext cx="9995338" cy="459564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Blind (Un-informed) Searches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We wonder in the search space without any clue where the goal could be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Heuristic (Informed) Searches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Heuristic function guides us whether we are getting near or far from the goal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Adversarial Searches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When two agents have conflicting goals, such as in playing games</a:t>
            </a:r>
          </a:p>
        </p:txBody>
      </p:sp>
    </p:spTree>
    <p:extLst>
      <p:ext uri="{BB962C8B-B14F-4D97-AF65-F5344CB8AC3E}">
        <p14:creationId xmlns:p14="http://schemas.microsoft.com/office/powerpoint/2010/main" val="3596593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3" name="Rectangle 2"/>
          <p:cNvSpPr>
            <a:spLocks noGrp="1" noChangeArrowheads="1"/>
          </p:cNvSpPr>
          <p:nvPr>
            <p:ph type="title"/>
          </p:nvPr>
        </p:nvSpPr>
        <p:spPr>
          <a:xfrm>
            <a:off x="1301040" y="842309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Blind Search Strategies</a:t>
            </a:r>
          </a:p>
        </p:txBody>
      </p:sp>
      <p:sp>
        <p:nvSpPr>
          <p:cNvPr id="27654" name="Rectangle 3"/>
          <p:cNvSpPr>
            <a:spLocks noGrp="1" noChangeArrowheads="1"/>
          </p:cNvSpPr>
          <p:nvPr>
            <p:ph idx="1"/>
          </p:nvPr>
        </p:nvSpPr>
        <p:spPr>
          <a:xfrm>
            <a:off x="1301039" y="1820924"/>
            <a:ext cx="9971305" cy="394925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</a:rPr>
              <a:t>Blind (Uninformed) </a:t>
            </a:r>
            <a:r>
              <a:rPr lang="en-US" dirty="0"/>
              <a:t>search strategies use only the information available in the problem definition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They don’t have any additional information about  a state beyond that is provided in the problem definition.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Breadth-first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Depth-first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Uniform-cost search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Iterative deepening search</a:t>
            </a:r>
          </a:p>
        </p:txBody>
      </p:sp>
    </p:spTree>
    <p:extLst>
      <p:ext uri="{BB962C8B-B14F-4D97-AF65-F5344CB8AC3E}">
        <p14:creationId xmlns:p14="http://schemas.microsoft.com/office/powerpoint/2010/main" val="3353978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9" name="Picture 4" descr="bfs-progress1c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48400" y="3657601"/>
            <a:ext cx="4267200" cy="2589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7" name="Rectangle 2"/>
          <p:cNvSpPr>
            <a:spLocks noGrp="1" noChangeArrowheads="1"/>
          </p:cNvSpPr>
          <p:nvPr>
            <p:ph type="title"/>
          </p:nvPr>
        </p:nvSpPr>
        <p:spPr>
          <a:xfrm>
            <a:off x="1213945" y="856487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sp>
        <p:nvSpPr>
          <p:cNvPr id="286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82413" y="1891862"/>
            <a:ext cx="10152993" cy="45851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Expand shallowest node first, </a:t>
            </a:r>
            <a:r>
              <a:rPr lang="en-US" sz="2400" i="1" dirty="0"/>
              <a:t>i.e.,</a:t>
            </a:r>
            <a:r>
              <a:rPr lang="en-US" sz="2400" dirty="0"/>
              <a:t> nodes visited 1</a:t>
            </a:r>
            <a:r>
              <a:rPr lang="en-US" sz="2400" baseline="30000" dirty="0"/>
              <a:t>st</a:t>
            </a:r>
            <a:r>
              <a:rPr lang="en-US" sz="2400" dirty="0"/>
              <a:t> shall be expanded 1</a:t>
            </a:r>
            <a:r>
              <a:rPr lang="en-US" sz="2400" baseline="30000" dirty="0"/>
              <a:t>st</a:t>
            </a:r>
            <a:r>
              <a:rPr lang="en-US" sz="2400" dirty="0"/>
              <a:t>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accent2"/>
                </a:solidFill>
              </a:rPr>
              <a:t>Implementation</a:t>
            </a:r>
            <a:r>
              <a:rPr lang="en-US" sz="2400" dirty="0"/>
              <a:t>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Can be implemented by calling Tree-Search </a:t>
            </a:r>
            <a:r>
              <a:rPr lang="en-US" sz="2000" dirty="0" err="1"/>
              <a:t>algo</a:t>
            </a:r>
            <a:endParaRPr 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use the </a:t>
            </a:r>
            <a:r>
              <a:rPr lang="en-US" sz="2000" i="1" dirty="0"/>
              <a:t>fringe </a:t>
            </a:r>
            <a:r>
              <a:rPr lang="en-US" sz="2000" dirty="0"/>
              <a:t>as a </a:t>
            </a:r>
            <a:r>
              <a:rPr lang="en-US" sz="2000" dirty="0">
                <a:solidFill>
                  <a:srgbClr val="FF0000"/>
                </a:solidFill>
              </a:rPr>
              <a:t>Queue</a:t>
            </a:r>
            <a:r>
              <a:rPr lang="en-US" sz="2000" dirty="0"/>
              <a:t>, FIFO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Put the newly expanded node at the </a:t>
            </a:r>
            <a:r>
              <a:rPr lang="en-US" sz="2000" dirty="0">
                <a:solidFill>
                  <a:srgbClr val="FF0000"/>
                </a:solidFill>
              </a:rPr>
              <a:t>back</a:t>
            </a:r>
            <a:r>
              <a:rPr lang="en-US" sz="2000" dirty="0"/>
              <a:t> of the </a:t>
            </a:r>
            <a:r>
              <a:rPr lang="en-US" sz="2000" i="1" dirty="0"/>
              <a:t>frontier</a:t>
            </a:r>
            <a:endParaRPr lang="en-US" sz="2000" dirty="0"/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sz="2000" dirty="0"/>
              <a:t>Frontier = 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272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35571"/>
            <a:ext cx="10058400" cy="884767"/>
          </a:xfrm>
        </p:spPr>
        <p:txBody>
          <a:bodyPr/>
          <a:lstStyle/>
          <a:p>
            <a:r>
              <a:rPr lang="en-US" dirty="0">
                <a:latin typeface="Calibri" pitchFamily="34" charset="0"/>
                <a:cs typeface="Calibri" pitchFamily="34" charset="0"/>
              </a:rPr>
              <a:t>Breadth-first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Check if A is goal, it is not, expand A, remove 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Fringe = B,C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4" name="Picture 5" descr="bfs-progress2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57600" y="3200400"/>
            <a:ext cx="5562600" cy="3048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484027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5" name="Picture 5" descr="bfs-progress3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24200" y="3657601"/>
            <a:ext cx="5943600" cy="2855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74763" y="869538"/>
            <a:ext cx="7793037" cy="852487"/>
          </a:xfrm>
        </p:spPr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sp>
        <p:nvSpPr>
          <p:cNvPr id="307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Check if B is goal, it is not, expand B, remove B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Fringe = C, D, E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Check if C is goal, it is not, expand C, remove C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Frontier = D, E, F, 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9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9" name="Picture 5" descr="bfs-progress4c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3657600"/>
            <a:ext cx="4648200" cy="278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37976" y="877942"/>
            <a:ext cx="7793038" cy="838200"/>
          </a:xfrm>
        </p:spPr>
        <p:txBody>
          <a:bodyPr/>
          <a:lstStyle/>
          <a:p>
            <a:pPr eaLnBrk="1" hangingPunct="1"/>
            <a:r>
              <a:rPr lang="en-US" dirty="0"/>
              <a:t>Breadth-first Search</a:t>
            </a:r>
          </a:p>
        </p:txBody>
      </p:sp>
      <p:sp>
        <p:nvSpPr>
          <p:cNvPr id="317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Expand shallowest unexpanded node
Check if D is goal, it is not, no children so remove D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Fringe = E, F, G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400" dirty="0"/>
              <a:t>Search goes on until goal is found. Once it is found, the search terminates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28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3" name="Rectangle 2"/>
          <p:cNvSpPr>
            <a:spLocks noGrp="1" noChangeArrowheads="1"/>
          </p:cNvSpPr>
          <p:nvPr>
            <p:ph type="title"/>
          </p:nvPr>
        </p:nvSpPr>
        <p:spPr>
          <a:xfrm>
            <a:off x="1272137" y="823914"/>
            <a:ext cx="7793037" cy="852487"/>
          </a:xfrm>
        </p:spPr>
        <p:txBody>
          <a:bodyPr/>
          <a:lstStyle/>
          <a:p>
            <a:pPr eaLnBrk="1" hangingPunct="1"/>
            <a:r>
              <a:rPr lang="en-US" sz="4000" dirty="0"/>
              <a:t>Properties of Breadth-first </a:t>
            </a:r>
            <a:r>
              <a:rPr lang="en-US" dirty="0"/>
              <a:t>S</a:t>
            </a:r>
            <a:r>
              <a:rPr lang="en-US" sz="4000" dirty="0"/>
              <a:t>earch</a:t>
            </a:r>
          </a:p>
        </p:txBody>
      </p:sp>
      <p:sp>
        <p:nvSpPr>
          <p:cNvPr id="327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1412" y="1847196"/>
            <a:ext cx="10083636" cy="412793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Complete: </a:t>
            </a:r>
            <a:r>
              <a:rPr lang="en-US" dirty="0"/>
              <a:t>Yes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Optimal:</a:t>
            </a:r>
            <a:r>
              <a:rPr lang="en-US" dirty="0"/>
              <a:t> Yes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u="sng" dirty="0">
                <a:solidFill>
                  <a:srgbClr val="CC0099"/>
                </a:solidFill>
              </a:rPr>
              <a:t>Time: </a:t>
            </a:r>
            <a:r>
              <a:rPr lang="en-US" i="1" dirty="0"/>
              <a:t>O(b</a:t>
            </a:r>
            <a:r>
              <a:rPr lang="en-US" i="1" baseline="30000" dirty="0"/>
              <a:t>d</a:t>
            </a:r>
            <a:r>
              <a:rPr lang="en-US" i="1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763000" y="6400800"/>
            <a:ext cx="1905000" cy="457200"/>
          </a:xfrm>
        </p:spPr>
        <p:txBody>
          <a:bodyPr/>
          <a:lstStyle/>
          <a:p>
            <a:fld id="{4554FA1C-AE11-4D94-9C38-1A203D2294E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3247E8-B026-4F92-8203-3DCBD3EF3C84}"/>
              </a:ext>
            </a:extLst>
          </p:cNvPr>
          <p:cNvSpPr txBox="1"/>
          <p:nvPr/>
        </p:nvSpPr>
        <p:spPr>
          <a:xfrm>
            <a:off x="4025462" y="3846786"/>
            <a:ext cx="61275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B= branch factor</a:t>
            </a:r>
          </a:p>
          <a:p>
            <a:r>
              <a:rPr lang="en-US" dirty="0"/>
              <a:t>D = depth </a:t>
            </a:r>
          </a:p>
          <a:p>
            <a:r>
              <a:rPr lang="en-US" dirty="0" err="1"/>
              <a:t>e.g</a:t>
            </a:r>
            <a:endParaRPr lang="en-US" dirty="0"/>
          </a:p>
          <a:p>
            <a:r>
              <a:rPr lang="en-US" dirty="0"/>
              <a:t>B=3</a:t>
            </a:r>
          </a:p>
          <a:p>
            <a:r>
              <a:rPr lang="en-US" dirty="0"/>
              <a:t>D=2</a:t>
            </a:r>
          </a:p>
          <a:p>
            <a:r>
              <a:rPr lang="en-US" dirty="0"/>
              <a:t>3^2=9 searches 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46456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1576</TotalTime>
  <Words>545</Words>
  <Application>Microsoft Office PowerPoint</Application>
  <PresentationFormat>Widescreen</PresentationFormat>
  <Paragraphs>80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Narrow</vt:lpstr>
      <vt:lpstr>Calibri</vt:lpstr>
      <vt:lpstr>Calibri Light</vt:lpstr>
      <vt:lpstr>Wingdings</vt:lpstr>
      <vt:lpstr>Office Theme</vt:lpstr>
      <vt:lpstr>  Artificial Intelligence </vt:lpstr>
      <vt:lpstr>State Space</vt:lpstr>
      <vt:lpstr>Problem Solving</vt:lpstr>
      <vt:lpstr>Search Strategies</vt:lpstr>
      <vt:lpstr>Blind Search Strategies</vt:lpstr>
      <vt:lpstr>Breadth-first Search</vt:lpstr>
      <vt:lpstr>Breadth-first Search</vt:lpstr>
      <vt:lpstr>Breadth-first Search</vt:lpstr>
      <vt:lpstr>Breadth-first Search</vt:lpstr>
      <vt:lpstr>Properties of Breadth-first Search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sadia Aslam</dc:creator>
  <cp:lastModifiedBy>Sadia Aslam</cp:lastModifiedBy>
  <cp:revision>235</cp:revision>
  <dcterms:created xsi:type="dcterms:W3CDTF">2019-07-02T12:12:32Z</dcterms:created>
  <dcterms:modified xsi:type="dcterms:W3CDTF">2025-03-24T07:06:52Z</dcterms:modified>
</cp:coreProperties>
</file>